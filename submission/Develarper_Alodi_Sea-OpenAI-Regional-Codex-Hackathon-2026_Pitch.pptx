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9dda33c-cb03-3a95-d3ca-a2fa876d126d}">
          <p14:sldIdLst>
            <p14:sldId id="256"/>
            <p14:sldId id="257"/>
            <p14:sldId id="258"/>
          </p14:sldIdLst>
        </p14:section>
        <p14:section name="Problem" id="{6418ce34-12d0-e6c5-5444-e36d5bd7f888}">
          <p14:sldIdLst>
            <p14:sldId id="259"/>
            <p14:sldId id="260"/>
            <p14:sldId id="261"/>
          </p14:sldIdLst>
        </p14:section>
        <p14:section name="Alodi" id="{77fca869-c415-01bc-a8f4-5a50c34b8b64}">
          <p14:sldIdLst>
            <p14:sldId id="262"/>
            <p14:sldId id="263"/>
            <p14:sldId id="264"/>
          </p14:sldIdLst>
        </p14:section>
        <p14:section name="Technology" id="{566acb7a-c548-7a6c-5fdb-4941535079aa}">
          <p14:sldIdLst>
            <p14:sldId id="265"/>
            <p14:sldId id="266"/>
          </p14:sldIdLst>
        </p14:section>
        <p14:section name="Close" id="{6699d37b-b895-021d-8a99-b5aef2f4c857}">
          <p14:sldIdLst>
            <p14:sldId id="267"/>
            <p14:sldId id="268"/>
            <p14:sldId id="269"/>
          </p14:sldIdLst>
        </p14:section>
        <p14:section name="Appendix" id="{09ec0be8-215f-4e27-7831-fcf4b0ca25c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Loss a month (₫M)</c:v>
                </c:pt>
              </c:strCache>
            </c:strRef>
          </c:tx>
          <c:spPr>
            <a:solidFill>
              <a:schemeClr val="accent1"/>
            </a:solidFill>
            <a:ln w="9525" cap="flat">
              <a:solidFill>
                <a:srgbClr val="F9F9F9"/>
              </a:solidFill>
              <a:prstDash val="solid"/>
              <a:round/>
            </a:ln>
            <a:effectLst/>
          </c:spPr>
          <c:dPt>
            <c:idx val="0"/>
            <c:bubble3D val="0"/>
            <c:spPr>
              <a:solidFill>
                <a:srgbClr val="F05A00"/>
              </a:solidFill>
              <a:ln w="19050" cap="flat">
                <a:solidFill>
                  <a:srgbClr val="FFF1E7"/>
                </a:solidFill>
                <a:prstDash val="solid"/>
                <a:round/>
              </a:ln>
              <a:effectLst/>
            </c:spPr>
          </c:dPt>
          <c:dPt>
            <c:idx val="1"/>
            <c:bubble3D val="0"/>
            <c:spPr>
              <a:solidFill>
                <a:srgbClr val="1F2A44"/>
              </a:solidFill>
              <a:ln w="19050" cap="flat">
                <a:solidFill>
                  <a:srgbClr val="FFF1E7"/>
                </a:solidFill>
                <a:prstDash val="solid"/>
                <a:round/>
              </a:ln>
              <a:effectLst/>
            </c:spPr>
          </c:dPt>
          <c:dPt>
            <c:idx val="2"/>
            <c:bubble3D val="0"/>
            <c:spPr>
              <a:solidFill>
                <a:srgbClr val="7D8FB5"/>
              </a:solidFill>
              <a:ln w="19050" cap="flat">
                <a:solidFill>
                  <a:srgbClr val="FFF1E7"/>
                </a:solidFill>
                <a:prstDash val="solid"/>
                <a:round/>
              </a:ln>
              <a:effectLst/>
            </c:spPr>
          </c:dPt>
          <c:dPt>
            <c:idx val="3"/>
            <c:bubble3D val="0"/>
            <c:spPr>
              <a:solidFill>
                <a:srgbClr val="C9D4EA"/>
              </a:solidFill>
              <a:ln w="19050" cap="flat">
                <a:solidFill>
                  <a:srgbClr val="FFF1E7"/>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Return fees</c:v>
                </c:pt>
                <c:pt idx="1">
                  <c:v>Redelivery pay</c:v>
                </c:pt>
                <c:pt idx="2">
                  <c:v>CS call-backs</c:v>
                </c:pt>
                <c:pt idx="3">
                  <c:v>Door time</c:v>
                </c:pt>
              </c:strCache>
            </c:strRef>
          </c:cat>
          <c:val>
            <c:numRef>
              <c:f>Sheet1!$B$2:$B$5</c:f>
              <c:numCache>
                <c:ptCount val="4"/>
                <c:pt idx="0">
                  <c:v>288</c:v>
                </c:pt>
                <c:pt idx="1">
                  <c:v>101</c:v>
                </c:pt>
                <c:pt idx="2">
                  <c:v>45</c:v>
                </c:pt>
                <c:pt idx="3">
                  <c:v>39</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Lost a month (₫M)</c:v>
                </c:pt>
              </c:strCache>
            </c:strRef>
          </c:tx>
          <c:spPr>
            <a:solidFill>
              <a:srgbClr val="1F2A44"/>
            </a:solidFill>
            <a:effectLst/>
          </c:spPr>
          <c:invertIfNegative val="0"/>
          <c:dLbls>
            <c:numFmt formatCode="&quot;₫&quot;0&quot;M&quot;" sourceLinked="0"/>
            <c:txPr>
              <a:bodyPr/>
              <a:lstStyle/>
              <a:p>
                <a:pPr>
                  <a:defRPr b="1" i="0" strike="noStrike" sz="1500" u="none">
                    <a:solidFill>
                      <a:srgbClr val="121A2C"/>
                    </a:solidFill>
                    <a:latin typeface="Arial"/>
                  </a:defRPr>
                </a:pPr>
              </a:p>
            </c:txPr>
            <c:showLegendKey val="0"/>
            <c:showVal val="1"/>
            <c:showCatName val="0"/>
            <c:showSerName val="0"/>
            <c:showPercent val="0"/>
            <c:showBubbleSize val="0"/>
            <c:showLeaderLines val="0"/>
          </c:dLbls>
          <c:dPt>
            <c:idx val="0"/>
            <c:invertIfNegative val="0"/>
            <c:bubble3D val="0"/>
            <c:spPr>
              <a:solidFill>
                <a:srgbClr val="1F2A44"/>
              </a:solidFill>
              <a:effectLst/>
            </c:spPr>
          </c:dPt>
          <c:dPt>
            <c:idx val="1"/>
            <c:invertIfNegative val="0"/>
            <c:bubble3D val="0"/>
            <c:spPr>
              <a:solidFill>
                <a:srgbClr val="F05A00"/>
              </a:solidFill>
              <a:effectLst/>
            </c:spPr>
          </c:dPt>
          <c:cat>
            <c:multiLvlStrRef>
              <c:f>Sheet1!$A$2:$A$3</c:f>
              <c:multiLvlStrCache>
                <c:ptCount val="2"/>
                <c:lvl>
                  <c:pt idx="0">
                    <c:v>Lost today</c:v>
                  </c:pt>
                  <c:pt idx="1">
                    <c:v>With Alodi</c:v>
                  </c:pt>
                </c:lvl>
              </c:multiLvlStrCache>
            </c:multiLvlStrRef>
          </c:cat>
          <c:val>
            <c:numRef>
              <c:f>Sheet1!$B$2:$B$3</c:f>
              <c:numCache>
                <c:formatCode>General</c:formatCode>
                <c:ptCount val="2"/>
                <c:pt idx="0">
                  <c:v>473</c:v>
                </c:pt>
                <c:pt idx="1">
                  <c:v>286</c:v>
                </c:pt>
              </c:numCache>
            </c:numRef>
          </c:val>
        </c:ser>
        <c:dLbls>
          <c:numFmt formatCode="&quot;₫&quot;0&quot;M&quot;" sourceLinked="0"/>
          <c:txPr>
            <a:bodyPr/>
            <a:lstStyle/>
            <a:p>
              <a:pPr>
                <a:defRPr b="1" i="0" strike="noStrike" sz="1500" u="none">
                  <a:solidFill>
                    <a:srgbClr val="121A2C"/>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22B40"/>
                </a:solidFill>
                <a:latin typeface="Arial"/>
              </a:defRPr>
            </a:pPr>
            <a:endParaRPr lang="en-US"/>
          </a:p>
        </c:txPr>
        <c:crossAx val="2094734552"/>
        <c:crosses val="autoZero"/>
        <c:auto val="1"/>
        <c:lblAlgn val="ctr"/>
        <c:noMultiLvlLbl val="1"/>
      </c:catAx>
      <c:valAx>
        <c:axId val="2094734552"/>
        <c:scaling>
          <c:orientation val="minMax"/>
          <c:max val="5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Seconds</c:v>
                </c:pt>
              </c:strCache>
            </c:strRef>
          </c:tx>
          <c:spPr>
            <a:solidFill>
              <a:srgbClr val="1F2A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Answer to card</c:v>
                  </c:pt>
                </c:lvl>
              </c:multiLvlStrCache>
            </c:multiLvlStrRef>
          </c:cat>
          <c:val>
            <c:numRef>
              <c:f>Sheet1!$B$2:$B$2</c:f>
              <c:numCache>
                <c:formatCode>General</c:formatCode>
                <c:ptCount val="1"/>
                <c:pt idx="0">
                  <c:v>10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b"/>
        <c:numFmt formatCode="0&quot; s&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222B40"/>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name and the line: make the second drop land. Then roll the skit.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20-second skit starts by itself when this slide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breath: the shipper taps once, Alodi talks to the buyer, and the next attempt arrives with when, where and who. Anything about money or a buyer's record stays with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plainly and slowly, as your own story: we missed the call, we called back, we left a note, and the parcel still went back. Annoying for us, wasted trips for the shipper, a fee for the seller.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values are still the generated placeholders in prep/06-survey. Replace them with the interview export, then delete the status line, before quoting them as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story is not unusual. Sellers pay up to ₫40,000 per failed order, 8 to 12 percent are refused at the door, and buyers have no window to pick. For one area that models to about ₫473M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why we built Alodi. The buyer's answer never enters the system, so the agent collects it inside the carrier's rules and hands it to the next shipper. Anything about money or a buyer's record goes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film starts by itself when this slide opens and runs 2:05.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line, then switch to the live screen: the shipper's phone drives it, and the customer's phone, the dashboard and the agent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triage, voice, memo, agent. Every step is an API call behind one policy guard, and the API bill for one area is about ₫7.2M a month in the cost model: GPT-Live-1 ₫5.23M, Terra ₫1.50M, Luna ₫0.47M. Memos are costed on the local model in that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For the carrier: about ₫187M saved a month in one area, projected at a best-in-class rescue rate. For the people: under ten seconds from the buyer's answer to the card on the shipper's phone, our target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full build in November, shadow mode at one area in Q1 2027 with no buyer contact, then controlled real channels, a region and national scale by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each: who we are and what each of us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make the second drop land.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every reference marker in the deck points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private/tmp/claude-503/-Users-davark-Downloads-Everything-Github-Alodi-Regional-Codex-Hackathon-2026/91e569a8-486f-4c0b-b683-a4991468f039/scratchpad/deck/assets/logo-navy.png">    </p:cNvPr>
          <p:cNvPicPr>
            <a:picLocks noChangeAspect="1"/>
          </p:cNvPicPr>
          <p:nvPr/>
        </p:nvPicPr>
        <p:blipFill>
          <a:blip r:embed="rId1"/>
          <a:stretch>
            <a:fillRect/>
          </a:stretch>
        </p:blipFill>
        <p:spPr>
          <a:xfrm>
            <a:off x="548640" y="6419088"/>
            <a:ext cx="420624" cy="182880"/>
          </a:xfrm>
          <a:prstGeom prst="rect">
            <a:avLst/>
          </a:prstGeom>
        </p:spPr>
      </p:pic>
      <p:sp>
        <p:nvSpPr>
          <p:cNvPr id="3" name="Text 0"/>
          <p:cNvSpPr/>
          <p:nvPr/>
        </p:nvSpPr>
        <p:spPr>
          <a:xfrm>
            <a:off x="3813048" y="6400800"/>
            <a:ext cx="4572000" cy="219456"/>
          </a:xfrm>
          <a:prstGeom prst="rect">
            <a:avLst/>
          </a:prstGeom>
          <a:noFill/>
          <a:ln/>
        </p:spPr>
        <p:txBody>
          <a:bodyPr wrap="square" lIns="0" tIns="0" rIns="0" bIns="0" rtlCol="0" anchor="ctr"/>
          <a:lstStyle/>
          <a:p>
            <a:pPr algn="ctr" indent="0" marL="0">
              <a:buNone/>
            </a:pPr>
            <a:r>
              <a:rPr lang="en-US" sz="900" spc="100" kern="0" dirty="0">
                <a:solidFill>
                  <a:schemeClr val="accent3"/>
                </a:solidFill>
              </a:rPr>
              <a:t>Sea × OpenAI Regional Codex Hackathon · October 2026</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A2C"/>
        </a:solidFill>
      </p:bgPr>
    </p:bg>
    <p:spTree>
      <p:nvGrpSpPr>
        <p:cNvPr id="1" name=""/>
        <p:cNvGrpSpPr/>
        <p:nvPr/>
      </p:nvGrpSpPr>
      <p:grpSpPr>
        <a:xfrm>
          <a:off x="0" y="0"/>
          <a:ext cx="0" cy="0"/>
          <a:chOff x="0" y="0"/>
          <a:chExt cx="0" cy="0"/>
        </a:xfrm>
      </p:grpSpPr>
      <p:pic>
        <p:nvPicPr>
          <p:cNvPr id="2" name="Image 0" descr="/private/tmp/claude-503/-Users-davark-Downloads-Everything-Github-Alodi-Regional-Codex-Hackathon-2026/91e569a8-486f-4c0b-b683-a4991468f039/scratchpad/deck/assets/logo-white.png">    </p:cNvPr>
          <p:cNvPicPr>
            <a:picLocks noChangeAspect="1"/>
          </p:cNvPicPr>
          <p:nvPr/>
        </p:nvPicPr>
        <p:blipFill>
          <a:blip r:embed="rId1"/>
          <a:stretch>
            <a:fillRect/>
          </a:stretch>
        </p:blipFill>
        <p:spPr>
          <a:xfrm>
            <a:off x="548640" y="6419088"/>
            <a:ext cx="420624" cy="182880"/>
          </a:xfrm>
          <a:prstGeom prst="rect">
            <a:avLst/>
          </a:prstGeom>
        </p:spPr>
      </p:pic>
      <p:sp>
        <p:nvSpPr>
          <p:cNvPr id="3" name="Text 0"/>
          <p:cNvSpPr/>
          <p:nvPr/>
        </p:nvSpPr>
        <p:spPr>
          <a:xfrm>
            <a:off x="3813048" y="6400800"/>
            <a:ext cx="4572000" cy="219456"/>
          </a:xfrm>
          <a:prstGeom prst="rect">
            <a:avLst/>
          </a:prstGeom>
          <a:noFill/>
          <a:ln/>
        </p:spPr>
        <p:txBody>
          <a:bodyPr wrap="square" lIns="0" tIns="0" rIns="0" bIns="0" rtlCol="0" anchor="ctr"/>
          <a:lstStyle/>
          <a:p>
            <a:pPr algn="ctr" indent="0" marL="0">
              <a:buNone/>
            </a:pPr>
            <a:r>
              <a:rPr lang="en-US" sz="900" spc="100" kern="0" dirty="0">
                <a:solidFill>
                  <a:schemeClr val="accent4"/>
                </a:solidFill>
              </a:rPr>
              <a:t>Sea × OpenAI Regional Codex Hackathon · October 2026</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ull bleed">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7.png"/><Relationship Id="rId9" Type="http://schemas.openxmlformats.org/officeDocument/2006/relationships/image" Target="../media/image-1-9.png"/><Relationship Id="rId10" Type="http://schemas.openxmlformats.org/officeDocument/2006/relationships/slideLayout" Target="../slideLayouts/slideLayout4.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3.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image" Target="../media/image-5-31.png"/><Relationship Id="rId32" Type="http://schemas.openxmlformats.org/officeDocument/2006/relationships/image" Target="../media/image-5-32.png"/><Relationship Id="rId33" Type="http://schemas.openxmlformats.org/officeDocument/2006/relationships/image" Target="../media/image-5-33.png"/><Relationship Id="rId34" Type="http://schemas.openxmlformats.org/officeDocument/2006/relationships/image" Target="../media/image-5-34.png"/><Relationship Id="rId35" Type="http://schemas.openxmlformats.org/officeDocument/2006/relationships/image" Target="../media/image-5-35.png"/><Relationship Id="rId36" Type="http://schemas.openxmlformats.org/officeDocument/2006/relationships/image" Target="../media/image-5-36.png"/><Relationship Id="rId37" Type="http://schemas.openxmlformats.org/officeDocument/2006/relationships/image" Target="../media/image-5-37.png"/><Relationship Id="rId38" Type="http://schemas.openxmlformats.org/officeDocument/2006/relationships/image" Target="../media/image-5-38.png"/><Relationship Id="rId39" Type="http://schemas.openxmlformats.org/officeDocument/2006/relationships/image" Target="../media/image-5-39.png"/><Relationship Id="rId40" Type="http://schemas.openxmlformats.org/officeDocument/2006/relationships/image" Target="../media/image-5-40.png"/><Relationship Id="rId41" Type="http://schemas.openxmlformats.org/officeDocument/2006/relationships/image" Target="../media/image-5-41.png"/><Relationship Id="rId42" Type="http://schemas.openxmlformats.org/officeDocument/2006/relationships/image" Target="../media/image-5-42.png"/><Relationship Id="rId43" Type="http://schemas.openxmlformats.org/officeDocument/2006/relationships/image" Target="../media/image-5-43.png"/><Relationship Id="rId44" Type="http://schemas.openxmlformats.org/officeDocument/2006/relationships/image" Target="../media/image-5-44.png"/><Relationship Id="rId45" Type="http://schemas.openxmlformats.org/officeDocument/2006/relationships/image" Target="../media/image-5-45.png"/><Relationship Id="rId46" Type="http://schemas.openxmlformats.org/officeDocument/2006/relationships/image" Target="../media/image-5-46.png"/><Relationship Id="rId47" Type="http://schemas.openxmlformats.org/officeDocument/2006/relationships/image" Target="../media/image-5-47.png"/><Relationship Id="rId48" Type="http://schemas.openxmlformats.org/officeDocument/2006/relationships/image" Target="../media/image-5-48.png"/><Relationship Id="rId49" Type="http://schemas.openxmlformats.org/officeDocument/2006/relationships/slideLayout" Target="../slideLayouts/slideLayout2.xml"/><Relationship Id="rId5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image" Target="../media/image-10-1.png"/><Relationship Id="rId8" Type="http://schemas.openxmlformats.org/officeDocument/2006/relationships/image" Target="../media/image-10-1.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5.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ivate/tmp/claude-503/-Users-davark-Downloads-Everything-Github-Alodi-Regional-Codex-Hackathon-2026/91e569a8-486f-4c0b-b683-a4991468f039/scratchpad/deck/assets/logo-navy.png">    </p:cNvPr>
          <p:cNvPicPr>
            <a:picLocks noChangeAspect="1"/>
          </p:cNvPicPr>
          <p:nvPr/>
        </p:nvPicPr>
        <p:blipFill>
          <a:blip r:embed="rId1"/>
          <a:stretch>
            <a:fillRect/>
          </a:stretch>
        </p:blipFill>
        <p:spPr>
          <a:xfrm>
            <a:off x="548640" y="548640"/>
            <a:ext cx="914400" cy="393192"/>
          </a:xfrm>
          <a:prstGeom prst="rect">
            <a:avLst/>
          </a:prstGeom>
        </p:spPr>
      </p:pic>
      <p:sp>
        <p:nvSpPr>
          <p:cNvPr id="3" name="Text 0"/>
          <p:cNvSpPr txBox="1"/>
          <p:nvPr/>
        </p:nvSpPr>
        <p:spPr>
          <a:xfrm>
            <a:off x="548640" y="1645920"/>
            <a:ext cx="5577840" cy="365760"/>
          </a:xfrm>
          <a:prstGeom prst="rect">
            <a:avLst/>
          </a:prstGeom>
          <a:noFill/>
          <a:ln/>
        </p:spPr>
        <p:txBody>
          <a:bodyPr wrap="square" lIns="0" tIns="0" rIns="0" bIns="0" rtlCol="0" anchor="ctr"/>
          <a:lstStyle/>
          <a:p>
            <a:pPr indent="0" marL="0">
              <a:buNone/>
            </a:pPr>
            <a:r>
              <a:rPr lang="en-US" sz="1300" b="1" spc="50" kern="0" dirty="0">
                <a:solidFill>
                  <a:srgbClr val="F05A00"/>
                </a:solidFill>
                <a:latin typeface="Arial" pitchFamily="34" charset="0"/>
                <a:ea typeface="Arial" pitchFamily="34" charset="-122"/>
                <a:cs typeface="Arial" pitchFamily="34" charset="-120"/>
              </a:rPr>
              <a:t>SEA × OPENAI REGIONAL CODEX HACKATHON · OCTOBER 2026</a:t>
            </a:r>
            <a:endParaRPr lang="en-US" sz="1300" dirty="0"/>
          </a:p>
        </p:txBody>
      </p:sp>
      <p:sp>
        <p:nvSpPr>
          <p:cNvPr id="4" name="Text 1"/>
          <p:cNvSpPr txBox="1"/>
          <p:nvPr/>
        </p:nvSpPr>
        <p:spPr>
          <a:xfrm>
            <a:off x="548640" y="2148840"/>
            <a:ext cx="5852160" cy="1828800"/>
          </a:xfrm>
          <a:prstGeom prst="rect">
            <a:avLst/>
          </a:prstGeom>
          <a:noFill/>
          <a:ln/>
        </p:spPr>
        <p:txBody>
          <a:bodyPr wrap="square" lIns="0" tIns="0" rIns="0" bIns="0" rtlCol="0" anchor="ctr"/>
          <a:lstStyle/>
          <a:p>
            <a:pPr indent="0" marL="0">
              <a:lnSpc>
                <a:spcPct val="92000"/>
              </a:lnSpc>
              <a:buNone/>
            </a:pPr>
            <a:r>
              <a:rPr lang="en-US" sz="5600" i="1" dirty="0">
                <a:solidFill>
                  <a:srgbClr val="121A2C"/>
                </a:solidFill>
                <a:latin typeface="Cambria" pitchFamily="34" charset="0"/>
                <a:ea typeface="Cambria" pitchFamily="34" charset="-122"/>
                <a:cs typeface="Cambria" pitchFamily="34" charset="-120"/>
              </a:rPr>
              <a:t>Make the second</a:t>
            </a:r>
            <a:endParaRPr lang="en-US" sz="5600" dirty="0"/>
          </a:p>
          <a:p>
            <a:pPr indent="0" marL="0">
              <a:lnSpc>
                <a:spcPct val="92000"/>
              </a:lnSpc>
              <a:buNone/>
            </a:pPr>
            <a:r>
              <a:rPr lang="en-US" sz="5600" i="1" dirty="0">
                <a:solidFill>
                  <a:srgbClr val="F05A00"/>
                </a:solidFill>
                <a:latin typeface="Cambria" pitchFamily="34" charset="0"/>
                <a:ea typeface="Cambria" pitchFamily="34" charset="-122"/>
                <a:cs typeface="Cambria" pitchFamily="34" charset="-120"/>
              </a:rPr>
              <a:t>drop land.</a:t>
            </a:r>
            <a:endParaRPr lang="en-US" sz="5600" dirty="0"/>
          </a:p>
        </p:txBody>
      </p:sp>
      <p:sp>
        <p:nvSpPr>
          <p:cNvPr id="5" name="Text 2"/>
          <p:cNvSpPr txBox="1"/>
          <p:nvPr/>
        </p:nvSpPr>
        <p:spPr>
          <a:xfrm>
            <a:off x="548640" y="4023360"/>
            <a:ext cx="5120640" cy="822960"/>
          </a:xfrm>
          <a:prstGeom prst="rect">
            <a:avLst/>
          </a:prstGeom>
          <a:noFill/>
          <a:ln/>
        </p:spPr>
        <p:txBody>
          <a:bodyPr wrap="square" lIns="0" tIns="0" rIns="0" bIns="0" rtlCol="0" anchor="ctr"/>
          <a:lstStyle/>
          <a:p>
            <a:pPr indent="0" marL="0">
              <a:lnSpc>
                <a:spcPct val="110000"/>
              </a:lnSpc>
              <a:buNone/>
            </a:pPr>
            <a:r>
              <a:rPr lang="en-US" sz="1400" b="1" dirty="0">
                <a:solidFill>
                  <a:srgbClr val="121A2C"/>
                </a:solidFill>
                <a:latin typeface="Arial" pitchFamily="34" charset="0"/>
                <a:ea typeface="Arial" pitchFamily="34" charset="-122"/>
                <a:cs typeface="Arial" pitchFamily="34" charset="-120"/>
              </a:rPr>
              <a:t>Every failed delivery, rescued with one tap. </a:t>
            </a:r>
            <a:pPr indent="0" marL="0">
              <a:lnSpc>
                <a:spcPct val="110000"/>
              </a:lnSpc>
              <a:buNone/>
            </a:pPr>
            <a:r>
              <a:rPr lang="en-US" sz="1400" dirty="0">
                <a:solidFill>
                  <a:srgbClr val="3A4358"/>
                </a:solidFill>
                <a:latin typeface="Arial" pitchFamily="34" charset="0"/>
                <a:ea typeface="Arial" pitchFamily="34" charset="-122"/>
                <a:cs typeface="Arial" pitchFamily="34" charset="-120"/>
              </a:rPr>
              <a:t>The shipper taps once; Alodi chats, calls and hands the next shipper when, where and who.</a:t>
            </a:r>
            <a:endParaRPr lang="en-US" sz="1400" dirty="0"/>
          </a:p>
        </p:txBody>
      </p:sp>
      <p:pic>
        <p:nvPicPr>
          <p:cNvPr id="6" name="Avatar 1" descr="preencoded.png">    </p:cNvPr>
          <p:cNvPicPr>
            <a:picLocks noChangeAspect="1"/>
          </p:cNvPicPr>
          <p:nvPr/>
        </p:nvPicPr>
        <p:blipFill>
          <a:blip r:embed="rId2"/>
          <a:stretch>
            <a:fillRect/>
          </a:stretch>
        </p:blipFill>
        <p:spPr>
          <a:xfrm>
            <a:off x="548640" y="5760720"/>
            <a:ext cx="420624" cy="420624"/>
          </a:xfrm>
          <a:prstGeom prst="rect">
            <a:avLst/>
          </a:prstGeom>
        </p:spPr>
      </p:pic>
      <p:pic>
        <p:nvPicPr>
          <p:cNvPr id="7" name="Avatar 2" descr="preencoded.png">    </p:cNvPr>
          <p:cNvPicPr>
            <a:picLocks noChangeAspect="1"/>
          </p:cNvPicPr>
          <p:nvPr/>
        </p:nvPicPr>
        <p:blipFill>
          <a:blip r:embed="rId3"/>
          <a:stretch>
            <a:fillRect/>
          </a:stretch>
        </p:blipFill>
        <p:spPr>
          <a:xfrm>
            <a:off x="859536" y="5760720"/>
            <a:ext cx="420624" cy="420624"/>
          </a:xfrm>
          <a:prstGeom prst="rect">
            <a:avLst/>
          </a:prstGeom>
        </p:spPr>
      </p:pic>
      <p:pic>
        <p:nvPicPr>
          <p:cNvPr id="8" name="Avatar 3" descr="preencoded.png">    </p:cNvPr>
          <p:cNvPicPr>
            <a:picLocks noChangeAspect="1"/>
          </p:cNvPicPr>
          <p:nvPr/>
        </p:nvPicPr>
        <p:blipFill>
          <a:blip r:embed="rId4"/>
          <a:stretch>
            <a:fillRect/>
          </a:stretch>
        </p:blipFill>
        <p:spPr>
          <a:xfrm>
            <a:off x="1170432" y="5760720"/>
            <a:ext cx="420624" cy="420624"/>
          </a:xfrm>
          <a:prstGeom prst="rect">
            <a:avLst/>
          </a:prstGeom>
        </p:spPr>
      </p:pic>
      <p:pic>
        <p:nvPicPr>
          <p:cNvPr id="9" name="Avatar 4" descr="preencoded.png">    </p:cNvPr>
          <p:cNvPicPr>
            <a:picLocks noChangeAspect="1"/>
          </p:cNvPicPr>
          <p:nvPr/>
        </p:nvPicPr>
        <p:blipFill>
          <a:blip r:embed="rId5"/>
          <a:stretch>
            <a:fillRect/>
          </a:stretch>
        </p:blipFill>
        <p:spPr>
          <a:xfrm>
            <a:off x="1481328" y="5760720"/>
            <a:ext cx="420624" cy="420624"/>
          </a:xfrm>
          <a:prstGeom prst="rect">
            <a:avLst/>
          </a:prstGeom>
        </p:spPr>
      </p:pic>
      <p:sp>
        <p:nvSpPr>
          <p:cNvPr id="10" name="Text 3"/>
          <p:cNvSpPr txBox="1"/>
          <p:nvPr/>
        </p:nvSpPr>
        <p:spPr>
          <a:xfrm>
            <a:off x="2057400" y="5760720"/>
            <a:ext cx="3657600" cy="438912"/>
          </a:xfrm>
          <a:prstGeom prst="rect">
            <a:avLst/>
          </a:prstGeom>
          <a:noFill/>
          <a:ln/>
        </p:spPr>
        <p:txBody>
          <a:bodyPr wrap="square" lIns="0" tIns="0" rIns="0" bIns="0" rtlCol="0" anchor="ctr"/>
          <a:lstStyle/>
          <a:p>
            <a:pPr indent="0" marL="0">
              <a:buNone/>
            </a:pPr>
            <a:r>
              <a:rPr lang="en-US" sz="1050" b="1" dirty="0">
                <a:solidFill>
                  <a:srgbClr val="121A2C"/>
                </a:solidFill>
                <a:latin typeface="Arial" pitchFamily="34" charset="0"/>
                <a:ea typeface="Arial" pitchFamily="34" charset="-122"/>
                <a:cs typeface="Arial" pitchFamily="34" charset="-120"/>
              </a:rPr>
              <a:t>Team Develarper</a:t>
            </a:r>
            <a:endParaRPr lang="en-US" sz="1050" dirty="0"/>
          </a:p>
          <a:p>
            <a:pPr indent="0" marL="0">
              <a:buNone/>
            </a:pPr>
            <a:r>
              <a:rPr lang="en-US" sz="1050" dirty="0">
                <a:solidFill>
                  <a:srgbClr val="3A4358"/>
                </a:solidFill>
                <a:latin typeface="Arial" pitchFamily="34" charset="0"/>
                <a:ea typeface="Arial" pitchFamily="34" charset="-122"/>
                <a:cs typeface="Arial" pitchFamily="34" charset="-120"/>
              </a:rPr>
              <a:t>Built with OpenAI and Codex</a:t>
            </a:r>
            <a:endParaRPr lang="en-US" sz="1050" dirty="0"/>
          </a:p>
        </p:txBody>
      </p:sp>
      <p:pic>
        <p:nvPicPr>
          <p:cNvPr id="11" name="Cover photo" descr="Riders in evening traffic, Ho Chi Minh City">    </p:cNvPr>
          <p:cNvPicPr>
            <a:picLocks noChangeAspect="1"/>
          </p:cNvPicPr>
          <p:nvPr/>
        </p:nvPicPr>
        <p:blipFill>
          <a:blip r:embed="rId6"/>
          <a:stretch>
            <a:fillRect/>
          </a:stretch>
        </p:blipFill>
        <p:spPr>
          <a:xfrm>
            <a:off x="6199632" y="457200"/>
            <a:ext cx="5440680" cy="5943600"/>
          </a:xfrm>
          <a:prstGeom prst="rect">
            <a:avLst/>
          </a:prstGeom>
        </p:spPr>
      </p:pic>
      <p:sp>
        <p:nvSpPr>
          <p:cNvPr id="12" name="Rescue card"/>
          <p:cNvSpPr/>
          <p:nvPr/>
        </p:nvSpPr>
        <p:spPr>
          <a:xfrm>
            <a:off x="6583680" y="3840480"/>
            <a:ext cx="3749040" cy="2194560"/>
          </a:xfrm>
          <a:prstGeom prst="roundRect">
            <a:avLst>
              <a:gd name="adj" fmla="val 6667"/>
            </a:avLst>
          </a:prstGeom>
          <a:solidFill>
            <a:srgbClr val="FFFFFF"/>
          </a:solidFill>
          <a:ln/>
          <a:effectLst>
            <a:outerShdw sx="100000" sy="100000" kx="0" ky="0" algn="bl" rotWithShape="0" blurRad="177800" dist="38100" dir="5400000">
              <a:srgbClr val="121A2C">
                <a:alpha val="16000"/>
              </a:srgbClr>
            </a:outerShdw>
          </a:effectLst>
        </p:spPr>
      </p:sp>
      <p:sp>
        <p:nvSpPr>
          <p:cNvPr id="13" name="Text 5"/>
          <p:cNvSpPr txBox="1"/>
          <p:nvPr/>
        </p:nvSpPr>
        <p:spPr>
          <a:xfrm>
            <a:off x="6812280" y="4023360"/>
            <a:ext cx="3291840" cy="201168"/>
          </a:xfrm>
          <a:prstGeom prst="rect">
            <a:avLst/>
          </a:prstGeom>
          <a:noFill/>
          <a:ln/>
        </p:spPr>
        <p:txBody>
          <a:bodyPr wrap="square" lIns="0" tIns="0" rIns="0" bIns="0" rtlCol="0" anchor="ctr"/>
          <a:lstStyle/>
          <a:p>
            <a:pPr indent="0" marL="0">
              <a:buNone/>
            </a:pPr>
            <a:r>
              <a:rPr lang="en-US" sz="800" spc="150" kern="0" dirty="0">
                <a:solidFill>
                  <a:srgbClr val="3A4358"/>
                </a:solidFill>
                <a:latin typeface="Arial" pitchFamily="34" charset="0"/>
                <a:ea typeface="Arial" pitchFamily="34" charset="-122"/>
                <a:cs typeface="Arial" pitchFamily="34" charset="-120"/>
              </a:rPr>
              <a:t>RESCUE · SPXVN0123456789</a:t>
            </a:r>
            <a:endParaRPr lang="en-US" sz="800" dirty="0"/>
          </a:p>
        </p:txBody>
      </p:sp>
      <p:sp>
        <p:nvSpPr>
          <p:cNvPr id="14" name="Row rule 0"/>
          <p:cNvSpPr/>
          <p:nvPr/>
        </p:nvSpPr>
        <p:spPr>
          <a:xfrm>
            <a:off x="6812280" y="4306824"/>
            <a:ext cx="3291840" cy="0"/>
          </a:xfrm>
          <a:prstGeom prst="line">
            <a:avLst/>
          </a:prstGeom>
          <a:noFill/>
          <a:ln w="6350">
            <a:solidFill>
              <a:srgbClr val="D5D9E2"/>
            </a:solidFill>
            <a:prstDash val="solid"/>
          </a:ln>
        </p:spPr>
      </p:sp>
      <p:pic>
        <p:nvPicPr>
          <p:cNvPr id="15" name="Row icon 0" descr="/private/tmp/claude-503/-Users-davark-Downloads-Everything-Github-Alodi-Regional-Codex-Hackathon-2026/91e569a8-486f-4c0b-b683-a4991468f039/scratchpad/deck/assets/mark-dot-navy.png">    </p:cNvPr>
          <p:cNvPicPr>
            <a:picLocks noChangeAspect="1"/>
          </p:cNvPicPr>
          <p:nvPr/>
        </p:nvPicPr>
        <p:blipFill>
          <a:blip r:embed="rId7"/>
          <a:stretch>
            <a:fillRect/>
          </a:stretch>
        </p:blipFill>
        <p:spPr>
          <a:xfrm>
            <a:off x="6812280" y="4407408"/>
            <a:ext cx="219456" cy="219456"/>
          </a:xfrm>
          <a:prstGeom prst="rect">
            <a:avLst/>
          </a:prstGeom>
        </p:spPr>
      </p:pic>
      <p:sp>
        <p:nvSpPr>
          <p:cNvPr id="16" name="Text 7"/>
          <p:cNvSpPr txBox="1"/>
          <p:nvPr/>
        </p:nvSpPr>
        <p:spPr>
          <a:xfrm>
            <a:off x="7132320" y="4389120"/>
            <a:ext cx="2468880" cy="274320"/>
          </a:xfrm>
          <a:prstGeom prst="rect">
            <a:avLst/>
          </a:prstGeom>
          <a:noFill/>
          <a:ln/>
        </p:spPr>
        <p:txBody>
          <a:bodyPr wrap="square" lIns="0" tIns="0" rIns="0" bIns="0" rtlCol="0" anchor="ctr"/>
          <a:lstStyle/>
          <a:p>
            <a:pPr indent="0" marL="0">
              <a:buNone/>
            </a:pPr>
            <a:r>
              <a:rPr lang="en-US" sz="1200" dirty="0">
                <a:solidFill>
                  <a:srgbClr val="1F2A44"/>
                </a:solidFill>
                <a:latin typeface="Arial" pitchFamily="34" charset="0"/>
                <a:ea typeface="Arial" pitchFamily="34" charset="-122"/>
                <a:cs typeface="Arial" pitchFamily="34" charset="-120"/>
              </a:rPr>
              <a:t>Shipper taps · No answer</a:t>
            </a:r>
            <a:endParaRPr lang="en-US" sz="1200" dirty="0"/>
          </a:p>
        </p:txBody>
      </p:sp>
      <p:sp>
        <p:nvSpPr>
          <p:cNvPr id="17" name="Text 8"/>
          <p:cNvSpPr txBox="1"/>
          <p:nvPr/>
        </p:nvSpPr>
        <p:spPr>
          <a:xfrm>
            <a:off x="9555480" y="4407408"/>
            <a:ext cx="548640" cy="237744"/>
          </a:xfrm>
          <a:prstGeom prst="rect">
            <a:avLst/>
          </a:prstGeom>
          <a:noFill/>
          <a:ln/>
        </p:spPr>
        <p:txBody>
          <a:bodyPr wrap="square" lIns="0" tIns="0" rIns="0" bIns="0" rtlCol="0" anchor="ctr"/>
          <a:lstStyle/>
          <a:p>
            <a:pPr algn="r" indent="0" marL="0">
              <a:buNone/>
            </a:pPr>
            <a:r>
              <a:rPr lang="en-US" sz="950" dirty="0">
                <a:solidFill>
                  <a:srgbClr val="3A4358"/>
                </a:solidFill>
                <a:latin typeface="Arial" pitchFamily="34" charset="0"/>
                <a:ea typeface="Arial" pitchFamily="34" charset="-122"/>
                <a:cs typeface="Arial" pitchFamily="34" charset="-120"/>
              </a:rPr>
              <a:t>10:02</a:t>
            </a:r>
            <a:endParaRPr lang="en-US" sz="950" dirty="0"/>
          </a:p>
        </p:txBody>
      </p:sp>
      <p:sp>
        <p:nvSpPr>
          <p:cNvPr id="18" name="Row rule 1"/>
          <p:cNvSpPr/>
          <p:nvPr/>
        </p:nvSpPr>
        <p:spPr>
          <a:xfrm>
            <a:off x="6812280" y="4809744"/>
            <a:ext cx="3291840" cy="0"/>
          </a:xfrm>
          <a:prstGeom prst="line">
            <a:avLst/>
          </a:prstGeom>
          <a:noFill/>
          <a:ln w="6350">
            <a:solidFill>
              <a:srgbClr val="D5D9E2"/>
            </a:solidFill>
            <a:prstDash val="solid"/>
          </a:ln>
        </p:spPr>
      </p:sp>
      <p:pic>
        <p:nvPicPr>
          <p:cNvPr id="19" name="Row icon 1" descr="/private/tmp/claude-503/-Users-davark-Downloads-Everything-Github-Alodi-Regional-Codex-Hackathon-2026/91e569a8-486f-4c0b-b683-a4991468f039/scratchpad/deck/assets/mark-dot-navy.png">    </p:cNvPr>
          <p:cNvPicPr>
            <a:picLocks noChangeAspect="1"/>
          </p:cNvPicPr>
          <p:nvPr/>
        </p:nvPicPr>
        <p:blipFill>
          <a:blip r:embed="rId8"/>
          <a:stretch>
            <a:fillRect/>
          </a:stretch>
        </p:blipFill>
        <p:spPr>
          <a:xfrm>
            <a:off x="6812280" y="4910328"/>
            <a:ext cx="219456" cy="219456"/>
          </a:xfrm>
          <a:prstGeom prst="rect">
            <a:avLst/>
          </a:prstGeom>
        </p:spPr>
      </p:pic>
      <p:sp>
        <p:nvSpPr>
          <p:cNvPr id="20" name="Text 10"/>
          <p:cNvSpPr txBox="1"/>
          <p:nvPr/>
        </p:nvSpPr>
        <p:spPr>
          <a:xfrm>
            <a:off x="7132320" y="4892040"/>
            <a:ext cx="2468880" cy="274320"/>
          </a:xfrm>
          <a:prstGeom prst="rect">
            <a:avLst/>
          </a:prstGeom>
          <a:noFill/>
          <a:ln/>
        </p:spPr>
        <p:txBody>
          <a:bodyPr wrap="square" lIns="0" tIns="0" rIns="0" bIns="0" rtlCol="0" anchor="ctr"/>
          <a:lstStyle/>
          <a:p>
            <a:pPr indent="0" marL="0">
              <a:buNone/>
            </a:pPr>
            <a:r>
              <a:rPr lang="en-US" sz="1200" dirty="0">
                <a:solidFill>
                  <a:srgbClr val="1F2A44"/>
                </a:solidFill>
                <a:latin typeface="Arial" pitchFamily="34" charset="0"/>
                <a:ea typeface="Arial" pitchFamily="34" charset="-122"/>
                <a:cs typeface="Arial" pitchFamily="34" charset="-120"/>
              </a:rPr>
              <a:t>Chat sent to the buyer</a:t>
            </a:r>
            <a:endParaRPr lang="en-US" sz="1200" dirty="0"/>
          </a:p>
        </p:txBody>
      </p:sp>
      <p:sp>
        <p:nvSpPr>
          <p:cNvPr id="21" name="Text 11"/>
          <p:cNvSpPr txBox="1"/>
          <p:nvPr/>
        </p:nvSpPr>
        <p:spPr>
          <a:xfrm>
            <a:off x="9555480" y="4910328"/>
            <a:ext cx="548640" cy="237744"/>
          </a:xfrm>
          <a:prstGeom prst="rect">
            <a:avLst/>
          </a:prstGeom>
          <a:noFill/>
          <a:ln/>
        </p:spPr>
        <p:txBody>
          <a:bodyPr wrap="square" lIns="0" tIns="0" rIns="0" bIns="0" rtlCol="0" anchor="ctr"/>
          <a:lstStyle/>
          <a:p>
            <a:pPr algn="r" indent="0" marL="0">
              <a:buNone/>
            </a:pPr>
            <a:r>
              <a:rPr lang="en-US" sz="950" dirty="0">
                <a:solidFill>
                  <a:srgbClr val="3A4358"/>
                </a:solidFill>
                <a:latin typeface="Arial" pitchFamily="34" charset="0"/>
                <a:ea typeface="Arial" pitchFamily="34" charset="-122"/>
                <a:cs typeface="Arial" pitchFamily="34" charset="-120"/>
              </a:rPr>
              <a:t>10:02</a:t>
            </a:r>
            <a:endParaRPr lang="en-US" sz="950" dirty="0"/>
          </a:p>
        </p:txBody>
      </p:sp>
      <p:sp>
        <p:nvSpPr>
          <p:cNvPr id="22" name="Row rule 2"/>
          <p:cNvSpPr/>
          <p:nvPr/>
        </p:nvSpPr>
        <p:spPr>
          <a:xfrm>
            <a:off x="6812280" y="5312664"/>
            <a:ext cx="3291840" cy="0"/>
          </a:xfrm>
          <a:prstGeom prst="line">
            <a:avLst/>
          </a:prstGeom>
          <a:noFill/>
          <a:ln w="6350">
            <a:solidFill>
              <a:srgbClr val="D5D9E2"/>
            </a:solidFill>
            <a:prstDash val="solid"/>
          </a:ln>
        </p:spPr>
      </p:sp>
      <p:pic>
        <p:nvPicPr>
          <p:cNvPr id="23" name="Row icon 2" descr="/private/tmp/claude-503/-Users-davark-Downloads-Everything-Github-Alodi-Regional-Codex-Hackathon-2026/91e569a8-486f-4c0b-b683-a4991468f039/scratchpad/deck/assets/mark-check-orange.png">    </p:cNvPr>
          <p:cNvPicPr>
            <a:picLocks noChangeAspect="1"/>
          </p:cNvPicPr>
          <p:nvPr/>
        </p:nvPicPr>
        <p:blipFill>
          <a:blip r:embed="rId9"/>
          <a:stretch>
            <a:fillRect/>
          </a:stretch>
        </p:blipFill>
        <p:spPr>
          <a:xfrm>
            <a:off x="6812280" y="5413248"/>
            <a:ext cx="219456" cy="219456"/>
          </a:xfrm>
          <a:prstGeom prst="rect">
            <a:avLst/>
          </a:prstGeom>
        </p:spPr>
      </p:pic>
      <p:sp>
        <p:nvSpPr>
          <p:cNvPr id="24" name="Text 13"/>
          <p:cNvSpPr txBox="1"/>
          <p:nvPr/>
        </p:nvSpPr>
        <p:spPr>
          <a:xfrm>
            <a:off x="7132320" y="5394960"/>
            <a:ext cx="2468880" cy="274320"/>
          </a:xfrm>
          <a:prstGeom prst="rect">
            <a:avLst/>
          </a:prstGeom>
          <a:noFill/>
          <a:ln/>
        </p:spPr>
        <p:txBody>
          <a:bodyPr wrap="square" lIns="0" tIns="0" rIns="0" bIns="0" rtlCol="0" anchor="ctr"/>
          <a:lstStyle/>
          <a:p>
            <a:pPr indent="0" marL="0">
              <a:buNone/>
            </a:pPr>
            <a:r>
              <a:rPr lang="en-US" sz="1200" b="1" dirty="0">
                <a:solidFill>
                  <a:srgbClr val="F05A00"/>
                </a:solidFill>
                <a:latin typeface="Arial" pitchFamily="34" charset="0"/>
                <a:ea typeface="Arial" pitchFamily="34" charset="-122"/>
                <a:cs typeface="Arial" pitchFamily="34" charset="-120"/>
              </a:rPr>
              <a:t>Card ready · 1 Nov, 17–20h</a:t>
            </a:r>
            <a:endParaRPr lang="en-US" sz="1200" dirty="0"/>
          </a:p>
        </p:txBody>
      </p:sp>
      <p:sp>
        <p:nvSpPr>
          <p:cNvPr id="25" name="Text 14"/>
          <p:cNvSpPr txBox="1"/>
          <p:nvPr/>
        </p:nvSpPr>
        <p:spPr>
          <a:xfrm>
            <a:off x="9555480" y="5413248"/>
            <a:ext cx="548640" cy="237744"/>
          </a:xfrm>
          <a:prstGeom prst="rect">
            <a:avLst/>
          </a:prstGeom>
          <a:noFill/>
          <a:ln/>
        </p:spPr>
        <p:txBody>
          <a:bodyPr wrap="square" lIns="0" tIns="0" rIns="0" bIns="0" rtlCol="0" anchor="ctr"/>
          <a:lstStyle/>
          <a:p>
            <a:pPr algn="r" indent="0" marL="0">
              <a:buNone/>
            </a:pPr>
            <a:r>
              <a:rPr lang="en-US" sz="950" dirty="0">
                <a:solidFill>
                  <a:srgbClr val="3A4358"/>
                </a:solidFill>
                <a:latin typeface="Arial" pitchFamily="34" charset="0"/>
                <a:ea typeface="Arial" pitchFamily="34" charset="-122"/>
                <a:cs typeface="Arial" pitchFamily="34" charset="-120"/>
              </a:rPr>
              <a:t>11:15</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Skit">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01  </a:t>
            </a:r>
            <a:pPr indent="0" marL="0">
              <a:buNone/>
            </a:pPr>
            <a:r>
              <a:rPr lang="en-US" sz="1050" b="1" spc="200" kern="0" dirty="0">
                <a:solidFill>
                  <a:srgbClr val="1F2A44"/>
                </a:solidFill>
                <a:latin typeface="Arial" pitchFamily="34" charset="0"/>
                <a:ea typeface="Arial" pitchFamily="34" charset="-122"/>
                <a:cs typeface="Arial" pitchFamily="34" charset="-120"/>
              </a:rPr>
              <a:t>TL;DR</a:t>
            </a:r>
            <a:endParaRPr lang="en-US" sz="1050" dirty="0"/>
          </a:p>
        </p:txBody>
      </p:sp>
      <p:sp>
        <p:nvSpPr>
          <p:cNvPr id="4" name="Text 2"/>
          <p:cNvSpPr txBox="1"/>
          <p:nvPr/>
        </p:nvSpPr>
        <p:spPr>
          <a:xfrm>
            <a:off x="548640" y="841248"/>
            <a:ext cx="5349240" cy="1508760"/>
          </a:xfrm>
          <a:prstGeom prst="rect">
            <a:avLst/>
          </a:prstGeom>
          <a:noFill/>
          <a:ln/>
        </p:spPr>
        <p:txBody>
          <a:bodyPr wrap="square" lIns="0" tIns="0" rIns="0" bIns="0" rtlCol="0" anchor="t"/>
          <a:lstStyle/>
          <a:p>
            <a:pPr indent="0" marL="0">
              <a:lnSpc>
                <a:spcPct val="95000"/>
              </a:lnSpc>
              <a:buNone/>
            </a:pPr>
            <a:r>
              <a:rPr lang="en-US" sz="3000" b="1" dirty="0">
                <a:solidFill>
                  <a:srgbClr val="5F6F91"/>
                </a:solidFill>
                <a:latin typeface="Arial" pitchFamily="34" charset="0"/>
                <a:ea typeface="Arial" pitchFamily="34" charset="-122"/>
                <a:cs typeface="Arial" pitchFamily="34" charset="-120"/>
              </a:rPr>
              <a:t>Alodi is the AI agent </a:t>
            </a:r>
            <a:pPr indent="0" marL="0">
              <a:lnSpc>
                <a:spcPct val="95000"/>
              </a:lnSpc>
              <a:buNone/>
            </a:pPr>
            <a:r>
              <a:rPr lang="en-US" sz="3000" b="1" dirty="0">
                <a:solidFill>
                  <a:srgbClr val="121A2C"/>
                </a:solidFill>
                <a:latin typeface="Arial" pitchFamily="34" charset="0"/>
                <a:ea typeface="Arial" pitchFamily="34" charset="-122"/>
                <a:cs typeface="Arial" pitchFamily="34" charset="-120"/>
              </a:rPr>
              <a:t>that rescues failed deliveries.</a:t>
            </a:r>
            <a:endParaRPr lang="en-US" sz="3000" dirty="0"/>
          </a:p>
        </p:txBody>
      </p:sp>
      <p:sp>
        <p:nvSpPr>
          <p:cNvPr id="5" name="Fact rule 0"/>
          <p:cNvSpPr/>
          <p:nvPr/>
        </p:nvSpPr>
        <p:spPr>
          <a:xfrm>
            <a:off x="548640" y="2286000"/>
            <a:ext cx="5303520" cy="0"/>
          </a:xfrm>
          <a:prstGeom prst="line">
            <a:avLst/>
          </a:prstGeom>
          <a:noFill/>
          <a:ln w="12700">
            <a:solidFill>
              <a:srgbClr val="121A2C"/>
            </a:solidFill>
            <a:prstDash val="solid"/>
          </a:ln>
        </p:spPr>
      </p:sp>
      <p:sp>
        <p:nvSpPr>
          <p:cNvPr id="6" name="Text 4"/>
          <p:cNvSpPr txBox="1"/>
          <p:nvPr/>
        </p:nvSpPr>
        <p:spPr>
          <a:xfrm>
            <a:off x="548640" y="2395728"/>
            <a:ext cx="1371600" cy="694944"/>
          </a:xfrm>
          <a:prstGeom prst="rect">
            <a:avLst/>
          </a:prstGeom>
          <a:noFill/>
          <a:ln/>
        </p:spPr>
        <p:txBody>
          <a:bodyPr wrap="square" lIns="0" tIns="0" rIns="0" bIns="0" rtlCol="0" anchor="ctr"/>
          <a:lstStyle/>
          <a:p>
            <a:pPr indent="0" marL="0">
              <a:buNone/>
            </a:pPr>
            <a:r>
              <a:rPr lang="en-US" sz="1200" b="1" spc="80" kern="0" dirty="0">
                <a:solidFill>
                  <a:srgbClr val="F05A00"/>
                </a:solidFill>
                <a:latin typeface="Arial" pitchFamily="34" charset="0"/>
                <a:ea typeface="Arial" pitchFamily="34" charset="-122"/>
                <a:cs typeface="Arial" pitchFamily="34" charset="-120"/>
              </a:rPr>
              <a:t>FOR</a:t>
            </a:r>
            <a:endParaRPr lang="en-US" sz="1200" dirty="0"/>
          </a:p>
        </p:txBody>
      </p:sp>
      <p:sp>
        <p:nvSpPr>
          <p:cNvPr id="7" name="Text 5"/>
          <p:cNvSpPr txBox="1"/>
          <p:nvPr/>
        </p:nvSpPr>
        <p:spPr>
          <a:xfrm>
            <a:off x="1965960" y="2395728"/>
            <a:ext cx="3931920" cy="694944"/>
          </a:xfrm>
          <a:prstGeom prst="rect">
            <a:avLst/>
          </a:prstGeom>
          <a:noFill/>
          <a:ln/>
        </p:spPr>
        <p:txBody>
          <a:bodyPr wrap="square" lIns="0" tIns="0" rIns="0" bIns="0" rtlCol="0" anchor="ctr"/>
          <a:lstStyle/>
          <a:p>
            <a:pPr indent="0" marL="0">
              <a:buNone/>
            </a:pPr>
            <a:r>
              <a:rPr lang="en-US" sz="1600" b="1" dirty="0">
                <a:solidFill>
                  <a:srgbClr val="1F2A44"/>
                </a:solidFill>
                <a:latin typeface="Arial" pitchFamily="34" charset="0"/>
                <a:ea typeface="Arial" pitchFamily="34" charset="-122"/>
                <a:cs typeface="Arial" pitchFamily="34" charset="-120"/>
              </a:rPr>
              <a:t>Carriers like SPX, their shippers and buyers</a:t>
            </a:r>
            <a:endParaRPr lang="en-US" sz="1600" dirty="0"/>
          </a:p>
        </p:txBody>
      </p:sp>
      <p:sp>
        <p:nvSpPr>
          <p:cNvPr id="8" name="Fact rule 1"/>
          <p:cNvSpPr/>
          <p:nvPr/>
        </p:nvSpPr>
        <p:spPr>
          <a:xfrm>
            <a:off x="548640" y="3200400"/>
            <a:ext cx="5303520" cy="0"/>
          </a:xfrm>
          <a:prstGeom prst="line">
            <a:avLst/>
          </a:prstGeom>
          <a:noFill/>
          <a:ln w="9525">
            <a:solidFill>
              <a:srgbClr val="D5D9E2"/>
            </a:solidFill>
            <a:prstDash val="solid"/>
          </a:ln>
        </p:spPr>
      </p:sp>
      <p:sp>
        <p:nvSpPr>
          <p:cNvPr id="9" name="Text 7"/>
          <p:cNvSpPr txBox="1"/>
          <p:nvPr/>
        </p:nvSpPr>
        <p:spPr>
          <a:xfrm>
            <a:off x="548640" y="3310128"/>
            <a:ext cx="1371600" cy="694944"/>
          </a:xfrm>
          <a:prstGeom prst="rect">
            <a:avLst/>
          </a:prstGeom>
          <a:noFill/>
          <a:ln/>
        </p:spPr>
        <p:txBody>
          <a:bodyPr wrap="square" lIns="0" tIns="0" rIns="0" bIns="0" rtlCol="0" anchor="ctr"/>
          <a:lstStyle/>
          <a:p>
            <a:pPr indent="0" marL="0">
              <a:buNone/>
            </a:pPr>
            <a:r>
              <a:rPr lang="en-US" sz="1200" b="1" spc="80" kern="0" dirty="0">
                <a:solidFill>
                  <a:srgbClr val="F05A00"/>
                </a:solidFill>
                <a:latin typeface="Arial" pitchFamily="34" charset="0"/>
                <a:ea typeface="Arial" pitchFamily="34" charset="-122"/>
                <a:cs typeface="Arial" pitchFamily="34" charset="-120"/>
              </a:rPr>
              <a:t>STARTS WITH</a:t>
            </a:r>
            <a:endParaRPr lang="en-US" sz="1200" dirty="0"/>
          </a:p>
        </p:txBody>
      </p:sp>
      <p:sp>
        <p:nvSpPr>
          <p:cNvPr id="10" name="Text 8"/>
          <p:cNvSpPr txBox="1"/>
          <p:nvPr/>
        </p:nvSpPr>
        <p:spPr>
          <a:xfrm>
            <a:off x="1965960" y="3310128"/>
            <a:ext cx="3931920" cy="694944"/>
          </a:xfrm>
          <a:prstGeom prst="rect">
            <a:avLst/>
          </a:prstGeom>
          <a:noFill/>
          <a:ln/>
        </p:spPr>
        <p:txBody>
          <a:bodyPr wrap="square" lIns="0" tIns="0" rIns="0" bIns="0" rtlCol="0" anchor="ctr"/>
          <a:lstStyle/>
          <a:p>
            <a:pPr indent="0" marL="0">
              <a:buNone/>
            </a:pPr>
            <a:r>
              <a:rPr lang="en-US" sz="1600" b="1" dirty="0">
                <a:solidFill>
                  <a:srgbClr val="1F2A44"/>
                </a:solidFill>
                <a:latin typeface="Arial" pitchFamily="34" charset="0"/>
                <a:ea typeface="Arial" pitchFamily="34" charset="-122"/>
                <a:cs typeface="Arial" pitchFamily="34" charset="-120"/>
              </a:rPr>
              <a:t>One tap: No answer · Rescheduled · Refused</a:t>
            </a:r>
            <a:endParaRPr lang="en-US" sz="1600" dirty="0"/>
          </a:p>
        </p:txBody>
      </p:sp>
      <p:sp>
        <p:nvSpPr>
          <p:cNvPr id="11" name="Fact rule 2"/>
          <p:cNvSpPr/>
          <p:nvPr/>
        </p:nvSpPr>
        <p:spPr>
          <a:xfrm>
            <a:off x="548640" y="4114800"/>
            <a:ext cx="5303520" cy="0"/>
          </a:xfrm>
          <a:prstGeom prst="line">
            <a:avLst/>
          </a:prstGeom>
          <a:noFill/>
          <a:ln w="9525">
            <a:solidFill>
              <a:srgbClr val="D5D9E2"/>
            </a:solidFill>
            <a:prstDash val="solid"/>
          </a:ln>
        </p:spPr>
      </p:sp>
      <p:sp>
        <p:nvSpPr>
          <p:cNvPr id="12" name="Text 10"/>
          <p:cNvSpPr txBox="1"/>
          <p:nvPr/>
        </p:nvSpPr>
        <p:spPr>
          <a:xfrm>
            <a:off x="548640" y="4224528"/>
            <a:ext cx="1371600" cy="694944"/>
          </a:xfrm>
          <a:prstGeom prst="rect">
            <a:avLst/>
          </a:prstGeom>
          <a:noFill/>
          <a:ln/>
        </p:spPr>
        <p:txBody>
          <a:bodyPr wrap="square" lIns="0" tIns="0" rIns="0" bIns="0" rtlCol="0" anchor="ctr"/>
          <a:lstStyle/>
          <a:p>
            <a:pPr indent="0" marL="0">
              <a:buNone/>
            </a:pPr>
            <a:r>
              <a:rPr lang="en-US" sz="1200" b="1" spc="80" kern="0" dirty="0">
                <a:solidFill>
                  <a:srgbClr val="F05A00"/>
                </a:solidFill>
                <a:latin typeface="Arial" pitchFamily="34" charset="0"/>
                <a:ea typeface="Arial" pitchFamily="34" charset="-122"/>
                <a:cs typeface="Arial" pitchFamily="34" charset="-120"/>
              </a:rPr>
              <a:t>DOES</a:t>
            </a:r>
            <a:endParaRPr lang="en-US" sz="1200" dirty="0"/>
          </a:p>
        </p:txBody>
      </p:sp>
      <p:sp>
        <p:nvSpPr>
          <p:cNvPr id="13" name="Text 11"/>
          <p:cNvSpPr txBox="1"/>
          <p:nvPr/>
        </p:nvSpPr>
        <p:spPr>
          <a:xfrm>
            <a:off x="1965960" y="4224528"/>
            <a:ext cx="3931920" cy="694944"/>
          </a:xfrm>
          <a:prstGeom prst="rect">
            <a:avLst/>
          </a:prstGeom>
          <a:noFill/>
          <a:ln/>
        </p:spPr>
        <p:txBody>
          <a:bodyPr wrap="square" lIns="0" tIns="0" rIns="0" bIns="0" rtlCol="0" anchor="ctr"/>
          <a:lstStyle/>
          <a:p>
            <a:pPr indent="0" marL="0">
              <a:buNone/>
            </a:pPr>
            <a:r>
              <a:rPr lang="en-US" sz="1600" b="1" dirty="0">
                <a:solidFill>
                  <a:srgbClr val="1F2A44"/>
                </a:solidFill>
                <a:latin typeface="Arial" pitchFamily="34" charset="0"/>
                <a:ea typeface="Arial" pitchFamily="34" charset="-122"/>
                <a:cs typeface="Arial" pitchFamily="34" charset="-120"/>
              </a:rPr>
              <a:t>Chats now, calls if silent, writes a context card</a:t>
            </a:r>
            <a:endParaRPr lang="en-US" sz="1600" dirty="0"/>
          </a:p>
        </p:txBody>
      </p:sp>
      <p:sp>
        <p:nvSpPr>
          <p:cNvPr id="14" name="Fact rule 3"/>
          <p:cNvSpPr/>
          <p:nvPr/>
        </p:nvSpPr>
        <p:spPr>
          <a:xfrm>
            <a:off x="548640" y="5029200"/>
            <a:ext cx="5303520" cy="0"/>
          </a:xfrm>
          <a:prstGeom prst="line">
            <a:avLst/>
          </a:prstGeom>
          <a:noFill/>
          <a:ln w="9525">
            <a:solidFill>
              <a:srgbClr val="D5D9E2"/>
            </a:solidFill>
            <a:prstDash val="solid"/>
          </a:ln>
        </p:spPr>
      </p:sp>
      <p:sp>
        <p:nvSpPr>
          <p:cNvPr id="15" name="Text 13"/>
          <p:cNvSpPr txBox="1"/>
          <p:nvPr/>
        </p:nvSpPr>
        <p:spPr>
          <a:xfrm>
            <a:off x="548640" y="5138928"/>
            <a:ext cx="1371600" cy="694944"/>
          </a:xfrm>
          <a:prstGeom prst="rect">
            <a:avLst/>
          </a:prstGeom>
          <a:noFill/>
          <a:ln/>
        </p:spPr>
        <p:txBody>
          <a:bodyPr wrap="square" lIns="0" tIns="0" rIns="0" bIns="0" rtlCol="0" anchor="ctr"/>
          <a:lstStyle/>
          <a:p>
            <a:pPr indent="0" marL="0">
              <a:buNone/>
            </a:pPr>
            <a:r>
              <a:rPr lang="en-US" sz="1200" b="1" spc="80" kern="0" dirty="0">
                <a:solidFill>
                  <a:srgbClr val="F05A00"/>
                </a:solidFill>
                <a:latin typeface="Arial" pitchFamily="34" charset="0"/>
                <a:ea typeface="Arial" pitchFamily="34" charset="-122"/>
                <a:cs typeface="Arial" pitchFamily="34" charset="-120"/>
              </a:rPr>
              <a:t>NEVER</a:t>
            </a:r>
            <a:endParaRPr lang="en-US" sz="1200" dirty="0"/>
          </a:p>
        </p:txBody>
      </p:sp>
      <p:sp>
        <p:nvSpPr>
          <p:cNvPr id="16" name="Text 14"/>
          <p:cNvSpPr txBox="1"/>
          <p:nvPr/>
        </p:nvSpPr>
        <p:spPr>
          <a:xfrm>
            <a:off x="1965960" y="5138928"/>
            <a:ext cx="3931920" cy="694944"/>
          </a:xfrm>
          <a:prstGeom prst="rect">
            <a:avLst/>
          </a:prstGeom>
          <a:noFill/>
          <a:ln/>
        </p:spPr>
        <p:txBody>
          <a:bodyPr wrap="square" lIns="0" tIns="0" rIns="0" bIns="0" rtlCol="0" anchor="ctr"/>
          <a:lstStyle/>
          <a:p>
            <a:pPr indent="0" marL="0">
              <a:buNone/>
            </a:pPr>
            <a:r>
              <a:rPr lang="en-US" sz="1600" b="1" dirty="0">
                <a:solidFill>
                  <a:srgbClr val="1F2A44"/>
                </a:solidFill>
                <a:latin typeface="Arial" pitchFamily="34" charset="0"/>
                <a:ea typeface="Arial" pitchFamily="34" charset="-122"/>
                <a:cs typeface="Arial" pitchFamily="34" charset="-120"/>
              </a:rPr>
              <a:t>Labels or returns an order without a person</a:t>
            </a:r>
            <a:endParaRPr lang="en-US" sz="1600" dirty="0"/>
          </a:p>
        </p:txBody>
      </p:sp>
      <p:pic>
        <p:nvPicPr>
          <p:cNvPr id="17" name="Photo" descr="A rider carrying goods on a motorbike, Ho Chi Minh City">    </p:cNvPr>
          <p:cNvPicPr>
            <a:picLocks noChangeAspect="1"/>
          </p:cNvPicPr>
          <p:nvPr/>
        </p:nvPicPr>
        <p:blipFill>
          <a:blip r:embed="rId1"/>
          <a:stretch>
            <a:fillRect/>
          </a:stretch>
        </p:blipFill>
        <p:spPr>
          <a:xfrm>
            <a:off x="6199632" y="502920"/>
            <a:ext cx="5440680" cy="5486400"/>
          </a:xfrm>
          <a:prstGeom prst="rect">
            <a:avLst/>
          </a:prstGeom>
        </p:spPr>
      </p:pic>
      <p:sp>
        <p:nvSpPr>
          <p:cNvPr id="18" name="Context card"/>
          <p:cNvSpPr/>
          <p:nvPr/>
        </p:nvSpPr>
        <p:spPr>
          <a:xfrm>
            <a:off x="6537960" y="3520440"/>
            <a:ext cx="3611880" cy="2148840"/>
          </a:xfrm>
          <a:prstGeom prst="roundRect">
            <a:avLst>
              <a:gd name="adj" fmla="val 5957"/>
            </a:avLst>
          </a:prstGeom>
          <a:solidFill>
            <a:srgbClr val="FFFFFF"/>
          </a:solidFill>
          <a:ln/>
          <a:effectLst>
            <a:outerShdw sx="100000" sy="100000" kx="0" ky="0" algn="bl" rotWithShape="0" blurRad="177800" dist="38100" dir="5400000">
              <a:srgbClr val="121A2C">
                <a:alpha val="16000"/>
              </a:srgbClr>
            </a:outerShdw>
          </a:effectLst>
        </p:spPr>
      </p:sp>
      <p:sp>
        <p:nvSpPr>
          <p:cNvPr id="19" name="Text 16"/>
          <p:cNvSpPr txBox="1"/>
          <p:nvPr/>
        </p:nvSpPr>
        <p:spPr>
          <a:xfrm>
            <a:off x="6766560" y="3694176"/>
            <a:ext cx="3108960" cy="201168"/>
          </a:xfrm>
          <a:prstGeom prst="rect">
            <a:avLst/>
          </a:prstGeom>
          <a:noFill/>
          <a:ln/>
        </p:spPr>
        <p:txBody>
          <a:bodyPr wrap="square" lIns="0" tIns="0" rIns="0" bIns="0" rtlCol="0" anchor="ctr"/>
          <a:lstStyle/>
          <a:p>
            <a:pPr indent="0" marL="0">
              <a:buNone/>
            </a:pPr>
            <a:r>
              <a:rPr lang="en-US" sz="800" spc="150" kern="0" dirty="0">
                <a:solidFill>
                  <a:srgbClr val="3A4358"/>
                </a:solidFill>
                <a:latin typeface="Arial" pitchFamily="34" charset="0"/>
                <a:ea typeface="Arial" pitchFamily="34" charset="-122"/>
                <a:cs typeface="Arial" pitchFamily="34" charset="-120"/>
              </a:rPr>
              <a:t>WHAT THE NEXT SHIPPER SEES</a:t>
            </a:r>
            <a:endParaRPr lang="en-US" sz="800" dirty="0"/>
          </a:p>
        </p:txBody>
      </p:sp>
      <p:sp>
        <p:nvSpPr>
          <p:cNvPr id="20" name="Card rule 0"/>
          <p:cNvSpPr/>
          <p:nvPr/>
        </p:nvSpPr>
        <p:spPr>
          <a:xfrm>
            <a:off x="6766560" y="3986784"/>
            <a:ext cx="3154680" cy="0"/>
          </a:xfrm>
          <a:prstGeom prst="line">
            <a:avLst/>
          </a:prstGeom>
          <a:noFill/>
          <a:ln w="6350">
            <a:solidFill>
              <a:srgbClr val="D5D9E2"/>
            </a:solidFill>
            <a:prstDash val="solid"/>
          </a:ln>
        </p:spPr>
      </p:sp>
      <p:sp>
        <p:nvSpPr>
          <p:cNvPr id="21" name="Text 18"/>
          <p:cNvSpPr txBox="1"/>
          <p:nvPr/>
        </p:nvSpPr>
        <p:spPr>
          <a:xfrm>
            <a:off x="6766560" y="4059936"/>
            <a:ext cx="1097280" cy="256032"/>
          </a:xfrm>
          <a:prstGeom prst="rect">
            <a:avLst/>
          </a:prstGeom>
          <a:noFill/>
          <a:ln/>
        </p:spPr>
        <p:txBody>
          <a:bodyPr wrap="square" lIns="0" tIns="0" rIns="0" bIns="0" rtlCol="0" anchor="ctr"/>
          <a:lstStyle/>
          <a:p>
            <a:pPr indent="0" marL="0">
              <a:buNone/>
            </a:pPr>
            <a:r>
              <a:rPr lang="en-US" sz="1200" dirty="0">
                <a:solidFill>
                  <a:srgbClr val="1F2A44"/>
                </a:solidFill>
                <a:latin typeface="Arial" pitchFamily="34" charset="0"/>
                <a:ea typeface="Arial" pitchFamily="34" charset="-122"/>
                <a:cs typeface="Arial" pitchFamily="34" charset="-120"/>
              </a:rPr>
              <a:t>When</a:t>
            </a:r>
            <a:endParaRPr lang="en-US" sz="1200" dirty="0"/>
          </a:p>
        </p:txBody>
      </p:sp>
      <p:sp>
        <p:nvSpPr>
          <p:cNvPr id="22" name="Text 19"/>
          <p:cNvSpPr txBox="1"/>
          <p:nvPr/>
        </p:nvSpPr>
        <p:spPr>
          <a:xfrm>
            <a:off x="7772400" y="4059936"/>
            <a:ext cx="2148840" cy="256032"/>
          </a:xfrm>
          <a:prstGeom prst="rect">
            <a:avLst/>
          </a:prstGeom>
          <a:noFill/>
          <a:ln/>
        </p:spPr>
        <p:txBody>
          <a:bodyPr wrap="square" lIns="0" tIns="0" rIns="0" bIns="0" rtlCol="0" anchor="ctr"/>
          <a:lstStyle/>
          <a:p>
            <a:pPr algn="r" indent="0" marL="0">
              <a:buNone/>
            </a:pPr>
            <a:r>
              <a:rPr lang="en-US" sz="1200" b="1" dirty="0">
                <a:solidFill>
                  <a:srgbClr val="F05A00"/>
                </a:solidFill>
                <a:latin typeface="Arial" pitchFamily="34" charset="0"/>
                <a:ea typeface="Arial" pitchFamily="34" charset="-122"/>
                <a:cs typeface="Arial" pitchFamily="34" charset="-120"/>
              </a:rPr>
              <a:t>1 Nov, 17:00–20:00</a:t>
            </a:r>
            <a:endParaRPr lang="en-US" sz="1200" dirty="0"/>
          </a:p>
        </p:txBody>
      </p:sp>
      <p:sp>
        <p:nvSpPr>
          <p:cNvPr id="23" name="Card rule 1"/>
          <p:cNvSpPr/>
          <p:nvPr/>
        </p:nvSpPr>
        <p:spPr>
          <a:xfrm>
            <a:off x="6766560" y="4370832"/>
            <a:ext cx="3154680" cy="0"/>
          </a:xfrm>
          <a:prstGeom prst="line">
            <a:avLst/>
          </a:prstGeom>
          <a:noFill/>
          <a:ln w="6350">
            <a:solidFill>
              <a:srgbClr val="D5D9E2"/>
            </a:solidFill>
            <a:prstDash val="solid"/>
          </a:ln>
        </p:spPr>
      </p:sp>
      <p:sp>
        <p:nvSpPr>
          <p:cNvPr id="24" name="Text 21"/>
          <p:cNvSpPr txBox="1"/>
          <p:nvPr/>
        </p:nvSpPr>
        <p:spPr>
          <a:xfrm>
            <a:off x="6766560" y="4443984"/>
            <a:ext cx="1097280" cy="256032"/>
          </a:xfrm>
          <a:prstGeom prst="rect">
            <a:avLst/>
          </a:prstGeom>
          <a:noFill/>
          <a:ln/>
        </p:spPr>
        <p:txBody>
          <a:bodyPr wrap="square" lIns="0" tIns="0" rIns="0" bIns="0" rtlCol="0" anchor="ctr"/>
          <a:lstStyle/>
          <a:p>
            <a:pPr indent="0" marL="0">
              <a:buNone/>
            </a:pPr>
            <a:r>
              <a:rPr lang="en-US" sz="1200" dirty="0">
                <a:solidFill>
                  <a:srgbClr val="1F2A44"/>
                </a:solidFill>
                <a:latin typeface="Arial" pitchFamily="34" charset="0"/>
                <a:ea typeface="Arial" pitchFamily="34" charset="-122"/>
                <a:cs typeface="Arial" pitchFamily="34" charset="-120"/>
              </a:rPr>
              <a:t>Where</a:t>
            </a:r>
            <a:endParaRPr lang="en-US" sz="1200" dirty="0"/>
          </a:p>
        </p:txBody>
      </p:sp>
      <p:sp>
        <p:nvSpPr>
          <p:cNvPr id="25" name="Text 22"/>
          <p:cNvSpPr txBox="1"/>
          <p:nvPr/>
        </p:nvSpPr>
        <p:spPr>
          <a:xfrm>
            <a:off x="7772400" y="4443984"/>
            <a:ext cx="2148840" cy="256032"/>
          </a:xfrm>
          <a:prstGeom prst="rect">
            <a:avLst/>
          </a:prstGeom>
          <a:noFill/>
          <a:ln/>
        </p:spPr>
        <p:txBody>
          <a:bodyPr wrap="square" lIns="0" tIns="0" rIns="0" bIns="0" rtlCol="0" anchor="ctr"/>
          <a:lstStyle/>
          <a:p>
            <a:pPr algn="r" indent="0" marL="0">
              <a:buNone/>
            </a:pPr>
            <a:r>
              <a:rPr lang="en-US" sz="1200" dirty="0">
                <a:solidFill>
                  <a:srgbClr val="1F2A44"/>
                </a:solidFill>
                <a:latin typeface="Arial" pitchFamily="34" charset="0"/>
                <a:ea typeface="Arial" pitchFamily="34" charset="-122"/>
                <a:cs typeface="Arial" pitchFamily="34" charset="-120"/>
              </a:rPr>
              <a:t>Tower A reception</a:t>
            </a:r>
            <a:endParaRPr lang="en-US" sz="1200" dirty="0"/>
          </a:p>
        </p:txBody>
      </p:sp>
      <p:sp>
        <p:nvSpPr>
          <p:cNvPr id="26" name="Card rule 2"/>
          <p:cNvSpPr/>
          <p:nvPr/>
        </p:nvSpPr>
        <p:spPr>
          <a:xfrm>
            <a:off x="6766560" y="4754880"/>
            <a:ext cx="3154680" cy="0"/>
          </a:xfrm>
          <a:prstGeom prst="line">
            <a:avLst/>
          </a:prstGeom>
          <a:noFill/>
          <a:ln w="6350">
            <a:solidFill>
              <a:srgbClr val="D5D9E2"/>
            </a:solidFill>
            <a:prstDash val="solid"/>
          </a:ln>
        </p:spPr>
      </p:sp>
      <p:sp>
        <p:nvSpPr>
          <p:cNvPr id="27" name="Text 24"/>
          <p:cNvSpPr txBox="1"/>
          <p:nvPr/>
        </p:nvSpPr>
        <p:spPr>
          <a:xfrm>
            <a:off x="6766560" y="4828032"/>
            <a:ext cx="1097280" cy="256032"/>
          </a:xfrm>
          <a:prstGeom prst="rect">
            <a:avLst/>
          </a:prstGeom>
          <a:noFill/>
          <a:ln/>
        </p:spPr>
        <p:txBody>
          <a:bodyPr wrap="square" lIns="0" tIns="0" rIns="0" bIns="0" rtlCol="0" anchor="ctr"/>
          <a:lstStyle/>
          <a:p>
            <a:pPr indent="0" marL="0">
              <a:buNone/>
            </a:pPr>
            <a:r>
              <a:rPr lang="en-US" sz="1200" dirty="0">
                <a:solidFill>
                  <a:srgbClr val="1F2A44"/>
                </a:solidFill>
                <a:latin typeface="Arial" pitchFamily="34" charset="0"/>
                <a:ea typeface="Arial" pitchFamily="34" charset="-122"/>
                <a:cs typeface="Arial" pitchFamily="34" charset="-120"/>
              </a:rPr>
              <a:t>Who</a:t>
            </a:r>
            <a:endParaRPr lang="en-US" sz="1200" dirty="0"/>
          </a:p>
        </p:txBody>
      </p:sp>
      <p:sp>
        <p:nvSpPr>
          <p:cNvPr id="28" name="Text 25"/>
          <p:cNvSpPr txBox="1"/>
          <p:nvPr/>
        </p:nvSpPr>
        <p:spPr>
          <a:xfrm>
            <a:off x="7772400" y="4828032"/>
            <a:ext cx="2148840" cy="256032"/>
          </a:xfrm>
          <a:prstGeom prst="rect">
            <a:avLst/>
          </a:prstGeom>
          <a:noFill/>
          <a:ln/>
        </p:spPr>
        <p:txBody>
          <a:bodyPr wrap="square" lIns="0" tIns="0" rIns="0" bIns="0" rtlCol="0" anchor="ctr"/>
          <a:lstStyle/>
          <a:p>
            <a:pPr algn="r" indent="0" marL="0">
              <a:buNone/>
            </a:pPr>
            <a:r>
              <a:rPr lang="en-US" sz="1200" dirty="0">
                <a:solidFill>
                  <a:srgbClr val="1F2A44"/>
                </a:solidFill>
                <a:latin typeface="Arial" pitchFamily="34" charset="0"/>
                <a:ea typeface="Arial" pitchFamily="34" charset="-122"/>
                <a:cs typeface="Arial" pitchFamily="34" charset="-120"/>
              </a:rPr>
              <a:t>Receptionist can sign</a:t>
            </a:r>
            <a:endParaRPr lang="en-US" sz="1200" dirty="0"/>
          </a:p>
        </p:txBody>
      </p:sp>
      <p:sp>
        <p:nvSpPr>
          <p:cNvPr id="29" name="Card rule 3"/>
          <p:cNvSpPr/>
          <p:nvPr/>
        </p:nvSpPr>
        <p:spPr>
          <a:xfrm>
            <a:off x="6766560" y="5138928"/>
            <a:ext cx="3154680" cy="0"/>
          </a:xfrm>
          <a:prstGeom prst="line">
            <a:avLst/>
          </a:prstGeom>
          <a:noFill/>
          <a:ln w="6350">
            <a:solidFill>
              <a:srgbClr val="D5D9E2"/>
            </a:solidFill>
            <a:prstDash val="solid"/>
          </a:ln>
        </p:spPr>
      </p:sp>
      <p:sp>
        <p:nvSpPr>
          <p:cNvPr id="30" name="Text 27"/>
          <p:cNvSpPr txBox="1"/>
          <p:nvPr/>
        </p:nvSpPr>
        <p:spPr>
          <a:xfrm>
            <a:off x="6766560" y="5212080"/>
            <a:ext cx="1097280" cy="256032"/>
          </a:xfrm>
          <a:prstGeom prst="rect">
            <a:avLst/>
          </a:prstGeom>
          <a:noFill/>
          <a:ln/>
        </p:spPr>
        <p:txBody>
          <a:bodyPr wrap="square" lIns="0" tIns="0" rIns="0" bIns="0" rtlCol="0" anchor="ctr"/>
          <a:lstStyle/>
          <a:p>
            <a:pPr indent="0" marL="0">
              <a:buNone/>
            </a:pPr>
            <a:r>
              <a:rPr lang="en-US" sz="1200" dirty="0">
                <a:solidFill>
                  <a:srgbClr val="1F2A44"/>
                </a:solidFill>
                <a:latin typeface="Arial" pitchFamily="34" charset="0"/>
                <a:ea typeface="Arial" pitchFamily="34" charset="-122"/>
                <a:cs typeface="Arial" pitchFamily="34" charset="-120"/>
              </a:rPr>
              <a:t>Confidence</a:t>
            </a:r>
            <a:endParaRPr lang="en-US" sz="1200" dirty="0"/>
          </a:p>
        </p:txBody>
      </p:sp>
      <p:sp>
        <p:nvSpPr>
          <p:cNvPr id="31" name="Text 28"/>
          <p:cNvSpPr txBox="1"/>
          <p:nvPr/>
        </p:nvSpPr>
        <p:spPr>
          <a:xfrm>
            <a:off x="7772400" y="5212080"/>
            <a:ext cx="2148840" cy="256032"/>
          </a:xfrm>
          <a:prstGeom prst="rect">
            <a:avLst/>
          </a:prstGeom>
          <a:noFill/>
          <a:ln/>
        </p:spPr>
        <p:txBody>
          <a:bodyPr wrap="square" lIns="0" tIns="0" rIns="0" bIns="0" rtlCol="0" anchor="ctr"/>
          <a:lstStyle/>
          <a:p>
            <a:pPr algn="r" indent="0" marL="0">
              <a:buNone/>
            </a:pPr>
            <a:r>
              <a:rPr lang="en-US" sz="1200" dirty="0">
                <a:solidFill>
                  <a:srgbClr val="1F2A44"/>
                </a:solidFill>
                <a:latin typeface="Arial" pitchFamily="34" charset="0"/>
                <a:ea typeface="Arial" pitchFamily="34" charset="-122"/>
                <a:cs typeface="Arial" pitchFamily="34" charset="-120"/>
              </a:rPr>
              <a:t>0.92, applied</a:t>
            </a:r>
            <a:endParaRPr lang="en-US" sz="1200" dirty="0"/>
          </a:p>
        </p:txBody>
      </p:sp>
      <p:sp>
        <p:nvSpPr>
          <p:cNvPr id="32" name="Text 29"/>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03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ne photo" descr="A hand holding a smartphone">    </p:cNvPr>
          <p:cNvPicPr>
            <a:picLocks noChangeAspect="1"/>
          </p:cNvPicPr>
          <p:nvPr/>
        </p:nvPicPr>
        <p:blipFill>
          <a:blip r:embed="rId1"/>
          <a:stretch>
            <a:fillRect/>
          </a:stretch>
        </p:blipFill>
        <p:spPr>
          <a:xfrm>
            <a:off x="548640" y="502920"/>
            <a:ext cx="4480560" cy="5486400"/>
          </a:xfrm>
          <a:prstGeom prst="rect">
            <a:avLst/>
          </a:prstGeom>
        </p:spPr>
      </p:pic>
      <p:sp>
        <p:nvSpPr>
          <p:cNvPr id="3" name="Quote"/>
          <p:cNvSpPr/>
          <p:nvPr/>
        </p:nvSpPr>
        <p:spPr>
          <a:xfrm>
            <a:off x="822960" y="4846320"/>
            <a:ext cx="3931920" cy="822960"/>
          </a:xfrm>
          <a:prstGeom prst="roundRect">
            <a:avLst>
              <a:gd name="adj" fmla="val 15556"/>
            </a:avLst>
          </a:prstGeom>
          <a:solidFill>
            <a:srgbClr val="FFFFFF"/>
          </a:solidFill>
          <a:ln/>
          <a:effectLst>
            <a:outerShdw sx="100000" sy="100000" kx="0" ky="0" algn="bl" rotWithShape="0" blurRad="177800" dist="38100" dir="5400000">
              <a:srgbClr val="121A2C">
                <a:alpha val="16000"/>
              </a:srgbClr>
            </a:outerShdw>
          </a:effectLst>
        </p:spPr>
      </p:sp>
      <p:sp>
        <p:nvSpPr>
          <p:cNvPr id="4" name="Text 1"/>
          <p:cNvSpPr txBox="1"/>
          <p:nvPr/>
        </p:nvSpPr>
        <p:spPr>
          <a:xfrm>
            <a:off x="822960" y="4846320"/>
            <a:ext cx="3931920" cy="822960"/>
          </a:xfrm>
          <a:prstGeom prst="rect">
            <a:avLst/>
          </a:prstGeom>
          <a:noFill/>
          <a:ln/>
        </p:spPr>
        <p:txBody>
          <a:bodyPr wrap="square" lIns="0" tIns="0" rIns="0" bIns="0" rtlCol="0" anchor="ctr"/>
          <a:lstStyle/>
          <a:p>
            <a:pPr algn="ctr" indent="0" marL="0">
              <a:buNone/>
            </a:pPr>
            <a:r>
              <a:rPr lang="en-US" sz="2000" i="1" dirty="0">
                <a:solidFill>
                  <a:srgbClr val="121A2C"/>
                </a:solidFill>
                <a:latin typeface="Cambria" pitchFamily="34" charset="0"/>
                <a:ea typeface="Cambria" pitchFamily="34" charset="-122"/>
                <a:cs typeface="Cambria" pitchFamily="34" charset="-120"/>
              </a:rPr>
              <a:t>“Called twice. No answer.”</a:t>
            </a:r>
            <a:endParaRPr lang="en-US" sz="2000" dirty="0"/>
          </a:p>
        </p:txBody>
      </p:sp>
      <p:sp>
        <p:nvSpPr>
          <p:cNvPr id="5" name="Eyebrow rule"/>
          <p:cNvSpPr/>
          <p:nvPr/>
        </p:nvSpPr>
        <p:spPr>
          <a:xfrm>
            <a:off x="5440680" y="612648"/>
            <a:ext cx="292608" cy="0"/>
          </a:xfrm>
          <a:prstGeom prst="line">
            <a:avLst/>
          </a:prstGeom>
          <a:noFill/>
          <a:ln w="15875">
            <a:solidFill>
              <a:srgbClr val="F05A00"/>
            </a:solidFill>
            <a:prstDash val="solid"/>
          </a:ln>
        </p:spPr>
      </p:sp>
      <p:sp>
        <p:nvSpPr>
          <p:cNvPr id="6" name="Text 3"/>
          <p:cNvSpPr txBox="1"/>
          <p:nvPr/>
        </p:nvSpPr>
        <p:spPr>
          <a:xfrm>
            <a:off x="585216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02  </a:t>
            </a:r>
            <a:pPr indent="0" marL="0">
              <a:buNone/>
            </a:pPr>
            <a:r>
              <a:rPr lang="en-US" sz="1050" b="1" spc="200" kern="0" dirty="0">
                <a:solidFill>
                  <a:srgbClr val="1F2A44"/>
                </a:solidFill>
                <a:latin typeface="Arial" pitchFamily="34" charset="0"/>
                <a:ea typeface="Arial" pitchFamily="34" charset="-122"/>
                <a:cs typeface="Arial" pitchFamily="34" charset="-120"/>
              </a:rPr>
              <a:t>OUR STORY</a:t>
            </a:r>
            <a:endParaRPr lang="en-US" sz="1050" dirty="0"/>
          </a:p>
        </p:txBody>
      </p:sp>
      <p:sp>
        <p:nvSpPr>
          <p:cNvPr id="7" name="Text 4"/>
          <p:cNvSpPr txBox="1"/>
          <p:nvPr/>
        </p:nvSpPr>
        <p:spPr>
          <a:xfrm>
            <a:off x="5440680" y="841248"/>
            <a:ext cx="6217920" cy="548640"/>
          </a:xfrm>
          <a:prstGeom prst="rect">
            <a:avLst/>
          </a:prstGeom>
          <a:noFill/>
          <a:ln/>
        </p:spPr>
        <p:txBody>
          <a:bodyPr wrap="square" lIns="0" tIns="0" rIns="0" bIns="0" rtlCol="0" anchor="t"/>
          <a:lstStyle/>
          <a:p>
            <a:pPr indent="0" marL="0">
              <a:lnSpc>
                <a:spcPct val="95000"/>
              </a:lnSpc>
              <a:buNone/>
            </a:pPr>
            <a:r>
              <a:rPr lang="en-US" sz="2500" b="1" dirty="0">
                <a:solidFill>
                  <a:srgbClr val="5F6F91"/>
                </a:solidFill>
                <a:latin typeface="Arial" pitchFamily="34" charset="0"/>
                <a:ea typeface="Arial" pitchFamily="34" charset="-122"/>
                <a:cs typeface="Arial" pitchFamily="34" charset="-120"/>
              </a:rPr>
              <a:t>This happened to us. </a:t>
            </a:r>
            <a:pPr indent="0" marL="0">
              <a:lnSpc>
                <a:spcPct val="95000"/>
              </a:lnSpc>
              <a:buNone/>
            </a:pPr>
            <a:r>
              <a:rPr lang="en-US" sz="2500" b="1" dirty="0">
                <a:solidFill>
                  <a:srgbClr val="121A2C"/>
                </a:solidFill>
                <a:latin typeface="Arial" pitchFamily="34" charset="0"/>
                <a:ea typeface="Arial" pitchFamily="34" charset="-122"/>
                <a:cs typeface="Arial" pitchFamily="34" charset="-120"/>
              </a:rPr>
              <a:t>Again and again.</a:t>
            </a:r>
            <a:endParaRPr lang="en-US" sz="2500" dirty="0"/>
          </a:p>
        </p:txBody>
      </p:sp>
      <p:sp>
        <p:nvSpPr>
          <p:cNvPr id="8" name="Notification 1"/>
          <p:cNvSpPr/>
          <p:nvPr/>
        </p:nvSpPr>
        <p:spPr>
          <a:xfrm>
            <a:off x="5440680" y="1572768"/>
            <a:ext cx="6199632" cy="786384"/>
          </a:xfrm>
          <a:prstGeom prst="roundRect">
            <a:avLst>
              <a:gd name="adj" fmla="val 13953"/>
            </a:avLst>
          </a:prstGeom>
          <a:solidFill>
            <a:srgbClr val="F6F3F1"/>
          </a:solidFill>
          <a:ln w="9525">
            <a:solidFill>
              <a:srgbClr val="D5D9E2"/>
            </a:solidFill>
            <a:prstDash val="solid"/>
          </a:ln>
        </p:spPr>
      </p:sp>
      <p:pic>
        <p:nvPicPr>
          <p:cNvPr id="9" name="Person 1" descr="shipper">    </p:cNvPr>
          <p:cNvPicPr>
            <a:picLocks noChangeAspect="1"/>
          </p:cNvPicPr>
          <p:nvPr/>
        </p:nvPicPr>
        <p:blipFill>
          <a:blip r:embed="rId2"/>
          <a:stretch>
            <a:fillRect/>
          </a:stretch>
        </p:blipFill>
        <p:spPr>
          <a:xfrm>
            <a:off x="5577840" y="1691640"/>
            <a:ext cx="548640" cy="548640"/>
          </a:xfrm>
          <a:prstGeom prst="rect">
            <a:avLst/>
          </a:prstGeom>
        </p:spPr>
      </p:pic>
      <p:sp>
        <p:nvSpPr>
          <p:cNvPr id="10" name="Text 6"/>
          <p:cNvSpPr txBox="1"/>
          <p:nvPr/>
        </p:nvSpPr>
        <p:spPr>
          <a:xfrm>
            <a:off x="6263640" y="1691640"/>
            <a:ext cx="4297680" cy="274320"/>
          </a:xfrm>
          <a:prstGeom prst="rect">
            <a:avLst/>
          </a:prstGeom>
          <a:noFill/>
          <a:ln/>
        </p:spPr>
        <p:txBody>
          <a:bodyPr wrap="square" lIns="0" tIns="0" rIns="0" bIns="0" rtlCol="0" anchor="ctr"/>
          <a:lstStyle/>
          <a:p>
            <a:pPr indent="0" marL="0">
              <a:buNone/>
            </a:pPr>
            <a:r>
              <a:rPr lang="en-US" sz="1400" b="1" dirty="0">
                <a:solidFill>
                  <a:srgbClr val="121A2C"/>
                </a:solidFill>
                <a:latin typeface="Arial" pitchFamily="34" charset="0"/>
                <a:ea typeface="Arial" pitchFamily="34" charset="-122"/>
                <a:cs typeface="Arial" pitchFamily="34" charset="-120"/>
              </a:rPr>
              <a:t>Missed call from the shipper</a:t>
            </a:r>
            <a:endParaRPr lang="en-US" sz="1400" dirty="0"/>
          </a:p>
        </p:txBody>
      </p:sp>
      <p:sp>
        <p:nvSpPr>
          <p:cNvPr id="11" name="Text 7"/>
          <p:cNvSpPr txBox="1"/>
          <p:nvPr/>
        </p:nvSpPr>
        <p:spPr>
          <a:xfrm>
            <a:off x="6263640" y="1984248"/>
            <a:ext cx="4754880" cy="256032"/>
          </a:xfrm>
          <a:prstGeom prst="rect">
            <a:avLst/>
          </a:prstGeom>
          <a:noFill/>
          <a:ln/>
        </p:spPr>
        <p:txBody>
          <a:bodyPr wrap="square" lIns="0" tIns="0" rIns="0" bIns="0" rtlCol="0" anchor="ctr"/>
          <a:lstStyle/>
          <a:p>
            <a:pPr indent="0" marL="0">
              <a:buNone/>
            </a:pPr>
            <a:r>
              <a:rPr lang="en-US" sz="1250" dirty="0">
                <a:solidFill>
                  <a:srgbClr val="3A4358"/>
                </a:solidFill>
                <a:latin typeface="Arial" pitchFamily="34" charset="0"/>
                <a:ea typeface="Arial" pitchFamily="34" charset="-122"/>
                <a:cs typeface="Arial" pitchFamily="34" charset="-120"/>
              </a:rPr>
              <a:t>In a meeting. The phone was on silent.</a:t>
            </a:r>
            <a:endParaRPr lang="en-US" sz="1250" dirty="0"/>
          </a:p>
        </p:txBody>
      </p:sp>
      <p:sp>
        <p:nvSpPr>
          <p:cNvPr id="12" name="Text 8"/>
          <p:cNvSpPr txBox="1"/>
          <p:nvPr/>
        </p:nvSpPr>
        <p:spPr>
          <a:xfrm>
            <a:off x="10515600" y="1700784"/>
            <a:ext cx="960120" cy="219456"/>
          </a:xfrm>
          <a:prstGeom prst="rect">
            <a:avLst/>
          </a:prstGeom>
          <a:noFill/>
          <a:ln/>
        </p:spPr>
        <p:txBody>
          <a:bodyPr wrap="square" lIns="0" tIns="0" rIns="0" bIns="0" rtlCol="0" anchor="ctr"/>
          <a:lstStyle/>
          <a:p>
            <a:pPr algn="r" indent="0" marL="0">
              <a:buNone/>
            </a:pPr>
            <a:r>
              <a:rPr lang="en-US" sz="1050" dirty="0">
                <a:solidFill>
                  <a:srgbClr val="3A4358"/>
                </a:solidFill>
                <a:latin typeface="Arial" pitchFamily="34" charset="0"/>
                <a:ea typeface="Arial" pitchFamily="34" charset="-122"/>
                <a:cs typeface="Arial" pitchFamily="34" charset="-120"/>
              </a:rPr>
              <a:t>10:02</a:t>
            </a:r>
            <a:endParaRPr lang="en-US" sz="1050" dirty="0"/>
          </a:p>
        </p:txBody>
      </p:sp>
      <p:sp>
        <p:nvSpPr>
          <p:cNvPr id="13" name="Notification 2"/>
          <p:cNvSpPr/>
          <p:nvPr/>
        </p:nvSpPr>
        <p:spPr>
          <a:xfrm>
            <a:off x="5440680" y="2459736"/>
            <a:ext cx="6199632" cy="786384"/>
          </a:xfrm>
          <a:prstGeom prst="roundRect">
            <a:avLst>
              <a:gd name="adj" fmla="val 13953"/>
            </a:avLst>
          </a:prstGeom>
          <a:solidFill>
            <a:srgbClr val="F6F3F1"/>
          </a:solidFill>
          <a:ln w="9525">
            <a:solidFill>
              <a:srgbClr val="D5D9E2"/>
            </a:solidFill>
            <a:prstDash val="solid"/>
          </a:ln>
        </p:spPr>
      </p:sp>
      <p:pic>
        <p:nvPicPr>
          <p:cNvPr id="14" name="Person 2" descr="buyer">    </p:cNvPr>
          <p:cNvPicPr>
            <a:picLocks noChangeAspect="1"/>
          </p:cNvPicPr>
          <p:nvPr/>
        </p:nvPicPr>
        <p:blipFill>
          <a:blip r:embed="rId3"/>
          <a:stretch>
            <a:fillRect/>
          </a:stretch>
        </p:blipFill>
        <p:spPr>
          <a:xfrm>
            <a:off x="5577840" y="2578608"/>
            <a:ext cx="548640" cy="548640"/>
          </a:xfrm>
          <a:prstGeom prst="rect">
            <a:avLst/>
          </a:prstGeom>
        </p:spPr>
      </p:pic>
      <p:sp>
        <p:nvSpPr>
          <p:cNvPr id="15" name="Text 10"/>
          <p:cNvSpPr txBox="1"/>
          <p:nvPr/>
        </p:nvSpPr>
        <p:spPr>
          <a:xfrm>
            <a:off x="6263640" y="2578608"/>
            <a:ext cx="4297680" cy="274320"/>
          </a:xfrm>
          <a:prstGeom prst="rect">
            <a:avLst/>
          </a:prstGeom>
          <a:noFill/>
          <a:ln/>
        </p:spPr>
        <p:txBody>
          <a:bodyPr wrap="square" lIns="0" tIns="0" rIns="0" bIns="0" rtlCol="0" anchor="ctr"/>
          <a:lstStyle/>
          <a:p>
            <a:pPr indent="0" marL="0">
              <a:buNone/>
            </a:pPr>
            <a:r>
              <a:rPr lang="en-US" sz="1400" b="1" dirty="0">
                <a:solidFill>
                  <a:srgbClr val="121A2C"/>
                </a:solidFill>
                <a:latin typeface="Arial" pitchFamily="34" charset="0"/>
                <a:ea typeface="Arial" pitchFamily="34" charset="-122"/>
                <a:cs typeface="Arial" pitchFamily="34" charset="-120"/>
              </a:rPr>
              <a:t>We called back</a:t>
            </a:r>
            <a:endParaRPr lang="en-US" sz="1400" dirty="0"/>
          </a:p>
        </p:txBody>
      </p:sp>
      <p:sp>
        <p:nvSpPr>
          <p:cNvPr id="16" name="Text 11"/>
          <p:cNvSpPr txBox="1"/>
          <p:nvPr/>
        </p:nvSpPr>
        <p:spPr>
          <a:xfrm>
            <a:off x="6263640" y="2871216"/>
            <a:ext cx="4754880" cy="256032"/>
          </a:xfrm>
          <a:prstGeom prst="rect">
            <a:avLst/>
          </a:prstGeom>
          <a:noFill/>
          <a:ln/>
        </p:spPr>
        <p:txBody>
          <a:bodyPr wrap="square" lIns="0" tIns="0" rIns="0" bIns="0" rtlCol="0" anchor="ctr"/>
          <a:lstStyle/>
          <a:p>
            <a:pPr indent="0" marL="0">
              <a:buNone/>
            </a:pPr>
            <a:r>
              <a:rPr lang="en-US" sz="1250" dirty="0">
                <a:solidFill>
                  <a:srgbClr val="3A4358"/>
                </a:solidFill>
                <a:latin typeface="Arial" pitchFamily="34" charset="0"/>
                <a:ea typeface="Arial" pitchFamily="34" charset="-122"/>
                <a:cs typeface="Arial" pitchFamily="34" charset="-120"/>
              </a:rPr>
              <a:t>No answer. The shipper was already riding.</a:t>
            </a:r>
            <a:endParaRPr lang="en-US" sz="1250" dirty="0"/>
          </a:p>
        </p:txBody>
      </p:sp>
      <p:sp>
        <p:nvSpPr>
          <p:cNvPr id="17" name="Text 12"/>
          <p:cNvSpPr txBox="1"/>
          <p:nvPr/>
        </p:nvSpPr>
        <p:spPr>
          <a:xfrm>
            <a:off x="10515600" y="2587752"/>
            <a:ext cx="960120" cy="219456"/>
          </a:xfrm>
          <a:prstGeom prst="rect">
            <a:avLst/>
          </a:prstGeom>
          <a:noFill/>
          <a:ln/>
        </p:spPr>
        <p:txBody>
          <a:bodyPr wrap="square" lIns="0" tIns="0" rIns="0" bIns="0" rtlCol="0" anchor="ctr"/>
          <a:lstStyle/>
          <a:p>
            <a:pPr algn="r" indent="0" marL="0">
              <a:buNone/>
            </a:pPr>
            <a:r>
              <a:rPr lang="en-US" sz="1050" dirty="0">
                <a:solidFill>
                  <a:srgbClr val="3A4358"/>
                </a:solidFill>
                <a:latin typeface="Arial" pitchFamily="34" charset="0"/>
                <a:ea typeface="Arial" pitchFamily="34" charset="-122"/>
                <a:cs typeface="Arial" pitchFamily="34" charset="-120"/>
              </a:rPr>
              <a:t>10:40</a:t>
            </a:r>
            <a:endParaRPr lang="en-US" sz="1050" dirty="0"/>
          </a:p>
        </p:txBody>
      </p:sp>
      <p:sp>
        <p:nvSpPr>
          <p:cNvPr id="18" name="Notification 3"/>
          <p:cNvSpPr/>
          <p:nvPr/>
        </p:nvSpPr>
        <p:spPr>
          <a:xfrm>
            <a:off x="5440680" y="3346704"/>
            <a:ext cx="6199632" cy="786384"/>
          </a:xfrm>
          <a:prstGeom prst="roundRect">
            <a:avLst>
              <a:gd name="adj" fmla="val 13953"/>
            </a:avLst>
          </a:prstGeom>
          <a:solidFill>
            <a:srgbClr val="F6F3F1"/>
          </a:solidFill>
          <a:ln w="9525">
            <a:solidFill>
              <a:srgbClr val="D5D9E2"/>
            </a:solidFill>
            <a:prstDash val="solid"/>
          </a:ln>
        </p:spPr>
      </p:sp>
      <p:pic>
        <p:nvPicPr>
          <p:cNvPr id="19" name="Person 3" descr="buyer">    </p:cNvPr>
          <p:cNvPicPr>
            <a:picLocks noChangeAspect="1"/>
          </p:cNvPicPr>
          <p:nvPr/>
        </p:nvPicPr>
        <p:blipFill>
          <a:blip r:embed="rId4"/>
          <a:stretch>
            <a:fillRect/>
          </a:stretch>
        </p:blipFill>
        <p:spPr>
          <a:xfrm>
            <a:off x="5577840" y="3465576"/>
            <a:ext cx="548640" cy="548640"/>
          </a:xfrm>
          <a:prstGeom prst="rect">
            <a:avLst/>
          </a:prstGeom>
        </p:spPr>
      </p:pic>
      <p:sp>
        <p:nvSpPr>
          <p:cNvPr id="20" name="Text 14"/>
          <p:cNvSpPr txBox="1"/>
          <p:nvPr/>
        </p:nvSpPr>
        <p:spPr>
          <a:xfrm>
            <a:off x="6263640" y="3465576"/>
            <a:ext cx="4297680" cy="274320"/>
          </a:xfrm>
          <a:prstGeom prst="rect">
            <a:avLst/>
          </a:prstGeom>
          <a:noFill/>
          <a:ln/>
        </p:spPr>
        <p:txBody>
          <a:bodyPr wrap="square" lIns="0" tIns="0" rIns="0" bIns="0" rtlCol="0" anchor="ctr"/>
          <a:lstStyle/>
          <a:p>
            <a:pPr indent="0" marL="0">
              <a:buNone/>
            </a:pPr>
            <a:r>
              <a:rPr lang="en-US" sz="1400" b="1" dirty="0">
                <a:solidFill>
                  <a:srgbClr val="121A2C"/>
                </a:solidFill>
                <a:latin typeface="Arial" pitchFamily="34" charset="0"/>
                <a:ea typeface="Arial" pitchFamily="34" charset="-122"/>
                <a:cs typeface="Arial" pitchFamily="34" charset="-120"/>
              </a:rPr>
              <a:t>We left a note on the order</a:t>
            </a:r>
            <a:endParaRPr lang="en-US" sz="1400" dirty="0"/>
          </a:p>
        </p:txBody>
      </p:sp>
      <p:sp>
        <p:nvSpPr>
          <p:cNvPr id="21" name="Text 15"/>
          <p:cNvSpPr txBox="1"/>
          <p:nvPr/>
        </p:nvSpPr>
        <p:spPr>
          <a:xfrm>
            <a:off x="6263640" y="3758184"/>
            <a:ext cx="4754880" cy="256032"/>
          </a:xfrm>
          <a:prstGeom prst="rect">
            <a:avLst/>
          </a:prstGeom>
          <a:noFill/>
          <a:ln/>
        </p:spPr>
        <p:txBody>
          <a:bodyPr wrap="square" lIns="0" tIns="0" rIns="0" bIns="0" rtlCol="0" anchor="ctr"/>
          <a:lstStyle/>
          <a:p>
            <a:pPr indent="0" marL="0">
              <a:buNone/>
            </a:pPr>
            <a:r>
              <a:rPr lang="en-US" sz="1250" dirty="0">
                <a:solidFill>
                  <a:srgbClr val="3A4358"/>
                </a:solidFill>
                <a:latin typeface="Arial" pitchFamily="34" charset="0"/>
                <a:ea typeface="Arial" pitchFamily="34" charset="-122"/>
                <a:cs typeface="Arial" pitchFamily="34" charset="-120"/>
              </a:rPr>
              <a:t>“Please leave it at reception.” Nobody read it.</a:t>
            </a:r>
            <a:endParaRPr lang="en-US" sz="1250" dirty="0"/>
          </a:p>
        </p:txBody>
      </p:sp>
      <p:sp>
        <p:nvSpPr>
          <p:cNvPr id="22" name="Text 16"/>
          <p:cNvSpPr txBox="1"/>
          <p:nvPr/>
        </p:nvSpPr>
        <p:spPr>
          <a:xfrm>
            <a:off x="10515600" y="3474720"/>
            <a:ext cx="960120" cy="219456"/>
          </a:xfrm>
          <a:prstGeom prst="rect">
            <a:avLst/>
          </a:prstGeom>
          <a:noFill/>
          <a:ln/>
        </p:spPr>
        <p:txBody>
          <a:bodyPr wrap="square" lIns="0" tIns="0" rIns="0" bIns="0" rtlCol="0" anchor="ctr"/>
          <a:lstStyle/>
          <a:p>
            <a:pPr algn="r" indent="0" marL="0">
              <a:buNone/>
            </a:pPr>
            <a:r>
              <a:rPr lang="en-US" sz="1050" dirty="0">
                <a:solidFill>
                  <a:srgbClr val="3A4358"/>
                </a:solidFill>
                <a:latin typeface="Arial" pitchFamily="34" charset="0"/>
                <a:ea typeface="Arial" pitchFamily="34" charset="-122"/>
                <a:cs typeface="Arial" pitchFamily="34" charset="-120"/>
              </a:rPr>
              <a:t>11:15</a:t>
            </a:r>
            <a:endParaRPr lang="en-US" sz="1050" dirty="0"/>
          </a:p>
        </p:txBody>
      </p:sp>
      <p:sp>
        <p:nvSpPr>
          <p:cNvPr id="23" name="Notification 4"/>
          <p:cNvSpPr/>
          <p:nvPr/>
        </p:nvSpPr>
        <p:spPr>
          <a:xfrm>
            <a:off x="5440680" y="4233672"/>
            <a:ext cx="6199632" cy="786384"/>
          </a:xfrm>
          <a:prstGeom prst="roundRect">
            <a:avLst>
              <a:gd name="adj" fmla="val 13953"/>
            </a:avLst>
          </a:prstGeom>
          <a:solidFill>
            <a:srgbClr val="F6F3F1"/>
          </a:solidFill>
          <a:ln w="9525">
            <a:solidFill>
              <a:srgbClr val="D5D9E2"/>
            </a:solidFill>
            <a:prstDash val="solid"/>
          </a:ln>
        </p:spPr>
      </p:sp>
      <p:pic>
        <p:nvPicPr>
          <p:cNvPr id="24" name="Person 4" descr="shipper">    </p:cNvPr>
          <p:cNvPicPr>
            <a:picLocks noChangeAspect="1"/>
          </p:cNvPicPr>
          <p:nvPr/>
        </p:nvPicPr>
        <p:blipFill>
          <a:blip r:embed="rId5"/>
          <a:stretch>
            <a:fillRect/>
          </a:stretch>
        </p:blipFill>
        <p:spPr>
          <a:xfrm>
            <a:off x="5577840" y="4352544"/>
            <a:ext cx="548640" cy="548640"/>
          </a:xfrm>
          <a:prstGeom prst="rect">
            <a:avLst/>
          </a:prstGeom>
        </p:spPr>
      </p:pic>
      <p:sp>
        <p:nvSpPr>
          <p:cNvPr id="25" name="Text 18"/>
          <p:cNvSpPr txBox="1"/>
          <p:nvPr/>
        </p:nvSpPr>
        <p:spPr>
          <a:xfrm>
            <a:off x="6263640" y="4352544"/>
            <a:ext cx="4297680" cy="274320"/>
          </a:xfrm>
          <a:prstGeom prst="rect">
            <a:avLst/>
          </a:prstGeom>
          <a:noFill/>
          <a:ln/>
        </p:spPr>
        <p:txBody>
          <a:bodyPr wrap="square" lIns="0" tIns="0" rIns="0" bIns="0" rtlCol="0" anchor="ctr"/>
          <a:lstStyle/>
          <a:p>
            <a:pPr indent="0" marL="0">
              <a:buNone/>
            </a:pPr>
            <a:r>
              <a:rPr lang="en-US" sz="1400" b="1" dirty="0">
                <a:solidFill>
                  <a:srgbClr val="121A2C"/>
                </a:solidFill>
                <a:latin typeface="Arial" pitchFamily="34" charset="0"/>
                <a:ea typeface="Arial" pitchFamily="34" charset="-122"/>
                <a:cs typeface="Arial" pitchFamily="34" charset="-120"/>
              </a:rPr>
              <a:t>Delivery failed</a:t>
            </a:r>
            <a:endParaRPr lang="en-US" sz="1400" dirty="0"/>
          </a:p>
        </p:txBody>
      </p:sp>
      <p:sp>
        <p:nvSpPr>
          <p:cNvPr id="26" name="Text 19"/>
          <p:cNvSpPr txBox="1"/>
          <p:nvPr/>
        </p:nvSpPr>
        <p:spPr>
          <a:xfrm>
            <a:off x="6263640" y="4645152"/>
            <a:ext cx="4754880" cy="256032"/>
          </a:xfrm>
          <a:prstGeom prst="rect">
            <a:avLst/>
          </a:prstGeom>
          <a:noFill/>
          <a:ln/>
        </p:spPr>
        <p:txBody>
          <a:bodyPr wrap="square" lIns="0" tIns="0" rIns="0" bIns="0" rtlCol="0" anchor="ctr"/>
          <a:lstStyle/>
          <a:p>
            <a:pPr indent="0" marL="0">
              <a:buNone/>
            </a:pPr>
            <a:r>
              <a:rPr lang="en-US" sz="1250" dirty="0">
                <a:solidFill>
                  <a:srgbClr val="3A4358"/>
                </a:solidFill>
                <a:latin typeface="Arial" pitchFamily="34" charset="0"/>
                <a:ea typeface="Arial" pitchFamily="34" charset="-122"/>
                <a:cs typeface="Arial" pitchFamily="34" charset="-120"/>
              </a:rPr>
              <a:t>Reason on the app: buyer unreachable.</a:t>
            </a:r>
            <a:endParaRPr lang="en-US" sz="1250" dirty="0"/>
          </a:p>
        </p:txBody>
      </p:sp>
      <p:sp>
        <p:nvSpPr>
          <p:cNvPr id="27" name="Text 20"/>
          <p:cNvSpPr txBox="1"/>
          <p:nvPr/>
        </p:nvSpPr>
        <p:spPr>
          <a:xfrm>
            <a:off x="10515600" y="4361688"/>
            <a:ext cx="960120" cy="219456"/>
          </a:xfrm>
          <a:prstGeom prst="rect">
            <a:avLst/>
          </a:prstGeom>
          <a:noFill/>
          <a:ln/>
        </p:spPr>
        <p:txBody>
          <a:bodyPr wrap="square" lIns="0" tIns="0" rIns="0" bIns="0" rtlCol="0" anchor="ctr"/>
          <a:lstStyle/>
          <a:p>
            <a:pPr algn="r" indent="0" marL="0">
              <a:buNone/>
            </a:pPr>
            <a:r>
              <a:rPr lang="en-US" sz="1050" dirty="0">
                <a:solidFill>
                  <a:srgbClr val="3A4358"/>
                </a:solidFill>
                <a:latin typeface="Arial" pitchFamily="34" charset="0"/>
                <a:ea typeface="Arial" pitchFamily="34" charset="-122"/>
                <a:cs typeface="Arial" pitchFamily="34" charset="-120"/>
              </a:rPr>
              <a:t>12:30</a:t>
            </a:r>
            <a:endParaRPr lang="en-US" sz="1050" dirty="0"/>
          </a:p>
        </p:txBody>
      </p:sp>
      <p:sp>
        <p:nvSpPr>
          <p:cNvPr id="28" name="Notification 5"/>
          <p:cNvSpPr/>
          <p:nvPr/>
        </p:nvSpPr>
        <p:spPr>
          <a:xfrm>
            <a:off x="5440680" y="5120640"/>
            <a:ext cx="6199632" cy="786384"/>
          </a:xfrm>
          <a:prstGeom prst="roundRect">
            <a:avLst>
              <a:gd name="adj" fmla="val 13953"/>
            </a:avLst>
          </a:prstGeom>
          <a:solidFill>
            <a:srgbClr val="FFF1E7"/>
          </a:solidFill>
          <a:ln w="9525">
            <a:solidFill>
              <a:srgbClr val="FFCFB0"/>
            </a:solidFill>
            <a:prstDash val="solid"/>
          </a:ln>
        </p:spPr>
      </p:sp>
      <p:pic>
        <p:nvPicPr>
          <p:cNvPr id="29" name="Person 5" descr="seller">    </p:cNvPr>
          <p:cNvPicPr>
            <a:picLocks noChangeAspect="1"/>
          </p:cNvPicPr>
          <p:nvPr/>
        </p:nvPicPr>
        <p:blipFill>
          <a:blip r:embed="rId6"/>
          <a:stretch>
            <a:fillRect/>
          </a:stretch>
        </p:blipFill>
        <p:spPr>
          <a:xfrm>
            <a:off x="5577840" y="5239512"/>
            <a:ext cx="548640" cy="548640"/>
          </a:xfrm>
          <a:prstGeom prst="rect">
            <a:avLst/>
          </a:prstGeom>
        </p:spPr>
      </p:pic>
      <p:sp>
        <p:nvSpPr>
          <p:cNvPr id="30" name="Text 22"/>
          <p:cNvSpPr txBox="1"/>
          <p:nvPr/>
        </p:nvSpPr>
        <p:spPr>
          <a:xfrm>
            <a:off x="6263640" y="5239512"/>
            <a:ext cx="4297680" cy="274320"/>
          </a:xfrm>
          <a:prstGeom prst="rect">
            <a:avLst/>
          </a:prstGeom>
          <a:noFill/>
          <a:ln/>
        </p:spPr>
        <p:txBody>
          <a:bodyPr wrap="square" lIns="0" tIns="0" rIns="0" bIns="0" rtlCol="0" anchor="ctr"/>
          <a:lstStyle/>
          <a:p>
            <a:pPr indent="0" marL="0">
              <a:buNone/>
            </a:pPr>
            <a:r>
              <a:rPr lang="en-US" sz="1400" b="1" dirty="0">
                <a:solidFill>
                  <a:srgbClr val="F05A00"/>
                </a:solidFill>
                <a:latin typeface="Arial" pitchFamily="34" charset="0"/>
                <a:ea typeface="Arial" pitchFamily="34" charset="-122"/>
                <a:cs typeface="Arial" pitchFamily="34" charset="-120"/>
              </a:rPr>
              <a:t>Returned to seller</a:t>
            </a:r>
            <a:endParaRPr lang="en-US" sz="1400" dirty="0"/>
          </a:p>
        </p:txBody>
      </p:sp>
      <p:sp>
        <p:nvSpPr>
          <p:cNvPr id="31" name="Text 23"/>
          <p:cNvSpPr txBox="1"/>
          <p:nvPr/>
        </p:nvSpPr>
        <p:spPr>
          <a:xfrm>
            <a:off x="6263640" y="5532120"/>
            <a:ext cx="4754880" cy="256032"/>
          </a:xfrm>
          <a:prstGeom prst="rect">
            <a:avLst/>
          </a:prstGeom>
          <a:noFill/>
          <a:ln/>
        </p:spPr>
        <p:txBody>
          <a:bodyPr wrap="square" lIns="0" tIns="0" rIns="0" bIns="0" rtlCol="0" anchor="ctr"/>
          <a:lstStyle/>
          <a:p>
            <a:pPr indent="0" marL="0">
              <a:buNone/>
            </a:pPr>
            <a:r>
              <a:rPr lang="en-US" sz="1250" dirty="0">
                <a:solidFill>
                  <a:srgbClr val="3A4358"/>
                </a:solidFill>
                <a:latin typeface="Arial" pitchFamily="34" charset="0"/>
                <a:ea typeface="Arial" pitchFamily="34" charset="-122"/>
                <a:cs typeface="Arial" pitchFamily="34" charset="-120"/>
              </a:rPr>
              <a:t>We still wanted the parcel.</a:t>
            </a:r>
            <a:endParaRPr lang="en-US" sz="1250" dirty="0"/>
          </a:p>
        </p:txBody>
      </p:sp>
      <p:sp>
        <p:nvSpPr>
          <p:cNvPr id="32" name="Text 24"/>
          <p:cNvSpPr txBox="1"/>
          <p:nvPr/>
        </p:nvSpPr>
        <p:spPr>
          <a:xfrm>
            <a:off x="10515600" y="5248656"/>
            <a:ext cx="960120" cy="219456"/>
          </a:xfrm>
          <a:prstGeom prst="rect">
            <a:avLst/>
          </a:prstGeom>
          <a:noFill/>
          <a:ln/>
        </p:spPr>
        <p:txBody>
          <a:bodyPr wrap="square" lIns="0" tIns="0" rIns="0" bIns="0" rtlCol="0" anchor="ctr"/>
          <a:lstStyle/>
          <a:p>
            <a:pPr algn="r" indent="0" marL="0">
              <a:buNone/>
            </a:pPr>
            <a:r>
              <a:rPr lang="en-US" sz="1050" dirty="0">
                <a:solidFill>
                  <a:srgbClr val="3A4358"/>
                </a:solidFill>
                <a:latin typeface="Arial" pitchFamily="34" charset="0"/>
                <a:ea typeface="Arial" pitchFamily="34" charset="-122"/>
                <a:cs typeface="Arial" pitchFamily="34" charset="-120"/>
              </a:rPr>
              <a:t>Day 5</a:t>
            </a:r>
            <a:endParaRPr lang="en-US" sz="1050" dirty="0"/>
          </a:p>
        </p:txBody>
      </p:sp>
      <p:sp>
        <p:nvSpPr>
          <p:cNvPr id="33" name="Text 25"/>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rule"/>
          <p:cNvSpPr/>
          <p:nvPr/>
        </p:nvSpPr>
        <p:spPr>
          <a:xfrm>
            <a:off x="4800600" y="612648"/>
            <a:ext cx="292608" cy="0"/>
          </a:xfrm>
          <a:prstGeom prst="line">
            <a:avLst/>
          </a:prstGeom>
          <a:noFill/>
          <a:ln w="15875">
            <a:solidFill>
              <a:srgbClr val="F05A00"/>
            </a:solidFill>
            <a:prstDash val="solid"/>
          </a:ln>
        </p:spPr>
      </p:sp>
      <p:sp>
        <p:nvSpPr>
          <p:cNvPr id="3" name="Text 1"/>
          <p:cNvSpPr txBox="1"/>
          <p:nvPr/>
        </p:nvSpPr>
        <p:spPr>
          <a:xfrm>
            <a:off x="521208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03  </a:t>
            </a:r>
            <a:pPr indent="0" marL="0">
              <a:buNone/>
            </a:pPr>
            <a:r>
              <a:rPr lang="en-US" sz="1050" b="1" spc="200" kern="0" dirty="0">
                <a:solidFill>
                  <a:srgbClr val="1F2A44"/>
                </a:solidFill>
                <a:latin typeface="Arial" pitchFamily="34" charset="0"/>
                <a:ea typeface="Arial" pitchFamily="34" charset="-122"/>
                <a:cs typeface="Arial" pitchFamily="34" charset="-120"/>
              </a:rPr>
              <a:t>PROBLEM 1 · WHAT WE HEARD</a:t>
            </a:r>
            <a:endParaRPr lang="en-US" sz="1050" dirty="0"/>
          </a:p>
        </p:txBody>
      </p:sp>
      <p:sp>
        <p:nvSpPr>
          <p:cNvPr id="4" name="Text 2"/>
          <p:cNvSpPr txBox="1"/>
          <p:nvPr/>
        </p:nvSpPr>
        <p:spPr>
          <a:xfrm>
            <a:off x="4800600" y="841248"/>
            <a:ext cx="6858000" cy="548640"/>
          </a:xfrm>
          <a:prstGeom prst="rect">
            <a:avLst/>
          </a:prstGeom>
          <a:noFill/>
          <a:ln/>
        </p:spPr>
        <p:txBody>
          <a:bodyPr wrap="square" lIns="0" tIns="0" rIns="0" bIns="0" rtlCol="0" anchor="t"/>
          <a:lstStyle/>
          <a:p>
            <a:pPr indent="0" marL="0">
              <a:lnSpc>
                <a:spcPct val="95000"/>
              </a:lnSpc>
              <a:buNone/>
            </a:pPr>
            <a:r>
              <a:rPr lang="en-US" sz="2400" b="1" dirty="0">
                <a:solidFill>
                  <a:srgbClr val="5F6F91"/>
                </a:solidFill>
                <a:latin typeface="Arial" pitchFamily="34" charset="0"/>
                <a:ea typeface="Arial" pitchFamily="34" charset="-122"/>
                <a:cs typeface="Arial" pitchFamily="34" charset="-120"/>
              </a:rPr>
              <a:t>We asked both sides </a:t>
            </a:r>
            <a:pPr indent="0" marL="0">
              <a:lnSpc>
                <a:spcPct val="95000"/>
              </a:lnSpc>
              <a:buNone/>
            </a:pPr>
            <a:r>
              <a:rPr lang="en-US" sz="2400" b="1" dirty="0">
                <a:solidFill>
                  <a:srgbClr val="121A2C"/>
                </a:solidFill>
                <a:latin typeface="Arial" pitchFamily="34" charset="0"/>
                <a:ea typeface="Arial" pitchFamily="34" charset="-122"/>
                <a:cs typeface="Arial" pitchFamily="34" charset="-120"/>
              </a:rPr>
              <a:t>of the same missed call.</a:t>
            </a:r>
            <a:endParaRPr lang="en-US" sz="2400" dirty="0"/>
          </a:p>
        </p:txBody>
      </p:sp>
      <p:pic>
        <p:nvPicPr>
          <p:cNvPr id="5" name="Field photo" descr="SPX Express hub, Ho Chi Minh City">    </p:cNvPr>
          <p:cNvPicPr>
            <a:picLocks noChangeAspect="1"/>
          </p:cNvPicPr>
          <p:nvPr/>
        </p:nvPicPr>
        <p:blipFill>
          <a:blip r:embed="rId1"/>
          <a:stretch>
            <a:fillRect/>
          </a:stretch>
        </p:blipFill>
        <p:spPr>
          <a:xfrm>
            <a:off x="548640" y="502920"/>
            <a:ext cx="3886200" cy="5486400"/>
          </a:xfrm>
          <a:prstGeom prst="rect">
            <a:avLst/>
          </a:prstGeom>
        </p:spPr>
      </p:pic>
      <p:sp>
        <p:nvSpPr>
          <p:cNvPr id="6" name="Photo caption"/>
          <p:cNvSpPr/>
          <p:nvPr/>
        </p:nvSpPr>
        <p:spPr>
          <a:xfrm>
            <a:off x="731520" y="5349240"/>
            <a:ext cx="3520440" cy="457200"/>
          </a:xfrm>
          <a:prstGeom prst="roundRect">
            <a:avLst>
              <a:gd name="adj" fmla="val 20000"/>
            </a:avLst>
          </a:prstGeom>
          <a:solidFill>
            <a:srgbClr val="FFFFFF"/>
          </a:solidFill>
          <a:ln/>
          <a:effectLst>
            <a:outerShdw sx="100000" sy="100000" kx="0" ky="0" algn="bl" rotWithShape="0" blurRad="177800" dist="38100" dir="5400000">
              <a:srgbClr val="121A2C">
                <a:alpha val="16000"/>
              </a:srgbClr>
            </a:outerShdw>
          </a:effectLst>
        </p:spPr>
      </p:sp>
      <p:sp>
        <p:nvSpPr>
          <p:cNvPr id="7" name="Text 4"/>
          <p:cNvSpPr txBox="1"/>
          <p:nvPr/>
        </p:nvSpPr>
        <p:spPr>
          <a:xfrm>
            <a:off x="731520" y="5349240"/>
            <a:ext cx="3520440" cy="457200"/>
          </a:xfrm>
          <a:prstGeom prst="rect">
            <a:avLst/>
          </a:prstGeom>
          <a:noFill/>
          <a:ln/>
        </p:spPr>
        <p:txBody>
          <a:bodyPr wrap="square" lIns="0" tIns="0" rIns="0" bIns="0" rtlCol="0" anchor="ctr"/>
          <a:lstStyle/>
          <a:p>
            <a:pPr algn="ctr" indent="0" marL="0">
              <a:buNone/>
            </a:pPr>
            <a:r>
              <a:rPr lang="en-US" sz="850" b="1" spc="120" kern="0" dirty="0">
                <a:solidFill>
                  <a:srgbClr val="1F2A44"/>
                </a:solidFill>
                <a:latin typeface="Arial" pitchFamily="34" charset="0"/>
                <a:ea typeface="Arial" pitchFamily="34" charset="-122"/>
                <a:cs typeface="Arial" pitchFamily="34" charset="-120"/>
              </a:rPr>
              <a:t>FIELD VISIT · SPX EXPRESS HUB, HCMC</a:t>
            </a:r>
            <a:endParaRPr lang="en-US" sz="850" dirty="0"/>
          </a:p>
        </p:txBody>
      </p:sp>
      <p:sp>
        <p:nvSpPr>
          <p:cNvPr id="8" name="Group rule 0"/>
          <p:cNvSpPr/>
          <p:nvPr/>
        </p:nvSpPr>
        <p:spPr>
          <a:xfrm>
            <a:off x="4800600" y="1536192"/>
            <a:ext cx="6839712" cy="0"/>
          </a:xfrm>
          <a:prstGeom prst="line">
            <a:avLst/>
          </a:prstGeom>
          <a:noFill/>
          <a:ln w="12700">
            <a:solidFill>
              <a:srgbClr val="121A2C"/>
            </a:solidFill>
            <a:prstDash val="solid"/>
          </a:ln>
        </p:spPr>
      </p:sp>
      <p:pic>
        <p:nvPicPr>
          <p:cNvPr id="9" name="Face 00" descr="/private/tmp/claude-503/-Users-davark-Downloads-Everything-Github-Alodi-Regional-Codex-Hackathon-2026/91e569a8-486f-4c0b-b683-a4991468f039/scratchpad/deck/assets/b1.png">    </p:cNvPr>
          <p:cNvPicPr>
            <a:picLocks noChangeAspect="1"/>
          </p:cNvPicPr>
          <p:nvPr/>
        </p:nvPicPr>
        <p:blipFill>
          <a:blip r:embed="rId2"/>
          <a:stretch>
            <a:fillRect/>
          </a:stretch>
        </p:blipFill>
        <p:spPr>
          <a:xfrm>
            <a:off x="4800600" y="1627632"/>
            <a:ext cx="365760" cy="365760"/>
          </a:xfrm>
          <a:prstGeom prst="rect">
            <a:avLst/>
          </a:prstGeom>
        </p:spPr>
      </p:pic>
      <p:pic>
        <p:nvPicPr>
          <p:cNvPr id="10" name="Face 01" descr="/private/tmp/claude-503/-Users-davark-Downloads-Everything-Github-Alodi-Regional-Codex-Hackathon-2026/91e569a8-486f-4c0b-b683-a4991468f039/scratchpad/deck/assets/b2.png">    </p:cNvPr>
          <p:cNvPicPr>
            <a:picLocks noChangeAspect="1"/>
          </p:cNvPicPr>
          <p:nvPr/>
        </p:nvPicPr>
        <p:blipFill>
          <a:blip r:embed="rId3"/>
          <a:stretch>
            <a:fillRect/>
          </a:stretch>
        </p:blipFill>
        <p:spPr>
          <a:xfrm>
            <a:off x="5056632" y="1627632"/>
            <a:ext cx="365760" cy="365760"/>
          </a:xfrm>
          <a:prstGeom prst="rect">
            <a:avLst/>
          </a:prstGeom>
        </p:spPr>
      </p:pic>
      <p:pic>
        <p:nvPicPr>
          <p:cNvPr id="11" name="Face 02" descr="/private/tmp/claude-503/-Users-davark-Downloads-Everything-Github-Alodi-Regional-Codex-Hackathon-2026/91e569a8-486f-4c0b-b683-a4991468f039/scratchpad/deck/assets/b3.png">    </p:cNvPr>
          <p:cNvPicPr>
            <a:picLocks noChangeAspect="1"/>
          </p:cNvPicPr>
          <p:nvPr/>
        </p:nvPicPr>
        <p:blipFill>
          <a:blip r:embed="rId4"/>
          <a:stretch>
            <a:fillRect/>
          </a:stretch>
        </p:blipFill>
        <p:spPr>
          <a:xfrm>
            <a:off x="5312664" y="1627632"/>
            <a:ext cx="365760" cy="365760"/>
          </a:xfrm>
          <a:prstGeom prst="rect">
            <a:avLst/>
          </a:prstGeom>
        </p:spPr>
      </p:pic>
      <p:pic>
        <p:nvPicPr>
          <p:cNvPr id="12" name="Face 03" descr="/private/tmp/claude-503/-Users-davark-Downloads-Everything-Github-Alodi-Regional-Codex-Hackathon-2026/91e569a8-486f-4c0b-b683-a4991468f039/scratchpad/deck/assets/b4.png">    </p:cNvPr>
          <p:cNvPicPr>
            <a:picLocks noChangeAspect="1"/>
          </p:cNvPicPr>
          <p:nvPr/>
        </p:nvPicPr>
        <p:blipFill>
          <a:blip r:embed="rId5"/>
          <a:stretch>
            <a:fillRect/>
          </a:stretch>
        </p:blipFill>
        <p:spPr>
          <a:xfrm>
            <a:off x="5568696" y="1627632"/>
            <a:ext cx="365760" cy="365760"/>
          </a:xfrm>
          <a:prstGeom prst="rect">
            <a:avLst/>
          </a:prstGeom>
        </p:spPr>
      </p:pic>
      <p:sp>
        <p:nvSpPr>
          <p:cNvPr id="13" name="Text 6"/>
          <p:cNvSpPr txBox="1"/>
          <p:nvPr/>
        </p:nvSpPr>
        <p:spPr>
          <a:xfrm>
            <a:off x="6053328" y="1719072"/>
            <a:ext cx="411480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BUYERS · N = 100</a:t>
            </a:r>
            <a:endParaRPr lang="en-US" sz="950" dirty="0"/>
          </a:p>
        </p:txBody>
      </p:sp>
      <p:sp>
        <p:nvSpPr>
          <p:cNvPr id="14" name="Text 7"/>
          <p:cNvSpPr txBox="1"/>
          <p:nvPr/>
        </p:nvSpPr>
        <p:spPr>
          <a:xfrm>
            <a:off x="4800600" y="2011680"/>
            <a:ext cx="1600200" cy="685800"/>
          </a:xfrm>
          <a:prstGeom prst="rect">
            <a:avLst/>
          </a:prstGeom>
          <a:noFill/>
          <a:ln/>
        </p:spPr>
        <p:txBody>
          <a:bodyPr wrap="square" lIns="0" tIns="0" rIns="0" bIns="0" rtlCol="0" anchor="ctr"/>
          <a:lstStyle/>
          <a:p>
            <a:pPr indent="0" marL="0">
              <a:buNone/>
            </a:pPr>
            <a:r>
              <a:rPr lang="en-US" sz="4400" b="1" dirty="0">
                <a:solidFill>
                  <a:srgbClr val="121A2C"/>
                </a:solidFill>
                <a:latin typeface="Arial" pitchFamily="34" charset="0"/>
                <a:ea typeface="Arial" pitchFamily="34" charset="-122"/>
                <a:cs typeface="Arial" pitchFamily="34" charset="-120"/>
              </a:rPr>
              <a:t>86</a:t>
            </a:r>
            <a:pPr indent="0" marL="0">
              <a:buNone/>
            </a:pPr>
            <a:r>
              <a:rPr lang="en-US" sz="4400" b="1" dirty="0">
                <a:solidFill>
                  <a:srgbClr val="F05A00"/>
                </a:solidFill>
                <a:latin typeface="Arial" pitchFamily="34" charset="0"/>
                <a:ea typeface="Arial" pitchFamily="34" charset="-122"/>
                <a:cs typeface="Arial" pitchFamily="34" charset="-120"/>
              </a:rPr>
              <a:t>%</a:t>
            </a:r>
            <a:endParaRPr lang="en-US" sz="4400" dirty="0"/>
          </a:p>
        </p:txBody>
      </p:sp>
      <p:pic>
        <p:nvPicPr>
          <p:cNvPr id="15" name="Pictogram 000" descr="preencoded.png">    </p:cNvPr>
          <p:cNvPicPr>
            <a:picLocks noChangeAspect="1"/>
          </p:cNvPicPr>
          <p:nvPr/>
        </p:nvPicPr>
        <p:blipFill>
          <a:blip r:embed="rId6"/>
          <a:stretch>
            <a:fillRect/>
          </a:stretch>
        </p:blipFill>
        <p:spPr>
          <a:xfrm>
            <a:off x="6446520" y="2048256"/>
            <a:ext cx="237744" cy="274320"/>
          </a:xfrm>
          <a:prstGeom prst="rect">
            <a:avLst/>
          </a:prstGeom>
        </p:spPr>
      </p:pic>
      <p:pic>
        <p:nvPicPr>
          <p:cNvPr id="16" name="Pictogram 001" descr="preencoded.png">    </p:cNvPr>
          <p:cNvPicPr>
            <a:picLocks noChangeAspect="1"/>
          </p:cNvPicPr>
          <p:nvPr/>
        </p:nvPicPr>
        <p:blipFill>
          <a:blip r:embed="rId7"/>
          <a:stretch>
            <a:fillRect/>
          </a:stretch>
        </p:blipFill>
        <p:spPr>
          <a:xfrm>
            <a:off x="6720840" y="2048256"/>
            <a:ext cx="237744" cy="274320"/>
          </a:xfrm>
          <a:prstGeom prst="rect">
            <a:avLst/>
          </a:prstGeom>
        </p:spPr>
      </p:pic>
      <p:pic>
        <p:nvPicPr>
          <p:cNvPr id="17" name="Pictogram 002" descr="preencoded.png">    </p:cNvPr>
          <p:cNvPicPr>
            <a:picLocks noChangeAspect="1"/>
          </p:cNvPicPr>
          <p:nvPr/>
        </p:nvPicPr>
        <p:blipFill>
          <a:blip r:embed="rId8"/>
          <a:stretch>
            <a:fillRect/>
          </a:stretch>
        </p:blipFill>
        <p:spPr>
          <a:xfrm>
            <a:off x="6995160" y="2048256"/>
            <a:ext cx="237744" cy="274320"/>
          </a:xfrm>
          <a:prstGeom prst="rect">
            <a:avLst/>
          </a:prstGeom>
        </p:spPr>
      </p:pic>
      <p:pic>
        <p:nvPicPr>
          <p:cNvPr id="18" name="Pictogram 003" descr="preencoded.png">    </p:cNvPr>
          <p:cNvPicPr>
            <a:picLocks noChangeAspect="1"/>
          </p:cNvPicPr>
          <p:nvPr/>
        </p:nvPicPr>
        <p:blipFill>
          <a:blip r:embed="rId9"/>
          <a:stretch>
            <a:fillRect/>
          </a:stretch>
        </p:blipFill>
        <p:spPr>
          <a:xfrm>
            <a:off x="7269480" y="2048256"/>
            <a:ext cx="237744" cy="274320"/>
          </a:xfrm>
          <a:prstGeom prst="rect">
            <a:avLst/>
          </a:prstGeom>
        </p:spPr>
      </p:pic>
      <p:pic>
        <p:nvPicPr>
          <p:cNvPr id="19" name="Pictogram 004" descr="preencoded.png">    </p:cNvPr>
          <p:cNvPicPr>
            <a:picLocks noChangeAspect="1"/>
          </p:cNvPicPr>
          <p:nvPr/>
        </p:nvPicPr>
        <p:blipFill>
          <a:blip r:embed="rId10"/>
          <a:stretch>
            <a:fillRect/>
          </a:stretch>
        </p:blipFill>
        <p:spPr>
          <a:xfrm>
            <a:off x="7543800" y="2048256"/>
            <a:ext cx="237744" cy="274320"/>
          </a:xfrm>
          <a:prstGeom prst="rect">
            <a:avLst/>
          </a:prstGeom>
        </p:spPr>
      </p:pic>
      <p:pic>
        <p:nvPicPr>
          <p:cNvPr id="20" name="Pictogram 005" descr="preencoded.png">    </p:cNvPr>
          <p:cNvPicPr>
            <a:picLocks noChangeAspect="1"/>
          </p:cNvPicPr>
          <p:nvPr/>
        </p:nvPicPr>
        <p:blipFill>
          <a:blip r:embed="rId11"/>
          <a:stretch>
            <a:fillRect/>
          </a:stretch>
        </p:blipFill>
        <p:spPr>
          <a:xfrm>
            <a:off x="6446520" y="2359152"/>
            <a:ext cx="237744" cy="274320"/>
          </a:xfrm>
          <a:prstGeom prst="rect">
            <a:avLst/>
          </a:prstGeom>
        </p:spPr>
      </p:pic>
      <p:pic>
        <p:nvPicPr>
          <p:cNvPr id="21" name="Pictogram 006" descr="preencoded.png">    </p:cNvPr>
          <p:cNvPicPr>
            <a:picLocks noChangeAspect="1"/>
          </p:cNvPicPr>
          <p:nvPr/>
        </p:nvPicPr>
        <p:blipFill>
          <a:blip r:embed="rId12"/>
          <a:stretch>
            <a:fillRect/>
          </a:stretch>
        </p:blipFill>
        <p:spPr>
          <a:xfrm>
            <a:off x="6720840" y="2359152"/>
            <a:ext cx="237744" cy="274320"/>
          </a:xfrm>
          <a:prstGeom prst="rect">
            <a:avLst/>
          </a:prstGeom>
        </p:spPr>
      </p:pic>
      <p:pic>
        <p:nvPicPr>
          <p:cNvPr id="22" name="Pictogram 007" descr="preencoded.png">    </p:cNvPr>
          <p:cNvPicPr>
            <a:picLocks noChangeAspect="1"/>
          </p:cNvPicPr>
          <p:nvPr/>
        </p:nvPicPr>
        <p:blipFill>
          <a:blip r:embed="rId13"/>
          <a:stretch>
            <a:fillRect/>
          </a:stretch>
        </p:blipFill>
        <p:spPr>
          <a:xfrm>
            <a:off x="6995160" y="2359152"/>
            <a:ext cx="237744" cy="274320"/>
          </a:xfrm>
          <a:prstGeom prst="rect">
            <a:avLst/>
          </a:prstGeom>
        </p:spPr>
      </p:pic>
      <p:pic>
        <p:nvPicPr>
          <p:cNvPr id="23" name="Pictogram 008" descr="preencoded.png">    </p:cNvPr>
          <p:cNvPicPr>
            <a:picLocks noChangeAspect="1"/>
          </p:cNvPicPr>
          <p:nvPr/>
        </p:nvPicPr>
        <p:blipFill>
          <a:blip r:embed="rId14"/>
          <a:stretch>
            <a:fillRect/>
          </a:stretch>
        </p:blipFill>
        <p:spPr>
          <a:xfrm>
            <a:off x="7269480" y="2359152"/>
            <a:ext cx="237744" cy="274320"/>
          </a:xfrm>
          <a:prstGeom prst="rect">
            <a:avLst/>
          </a:prstGeom>
        </p:spPr>
      </p:pic>
      <p:pic>
        <p:nvPicPr>
          <p:cNvPr id="24" name="Pictogram 009" descr="preencoded.png">    </p:cNvPr>
          <p:cNvPicPr>
            <a:picLocks noChangeAspect="1"/>
          </p:cNvPicPr>
          <p:nvPr/>
        </p:nvPicPr>
        <p:blipFill>
          <a:blip r:embed="rId15"/>
          <a:stretch>
            <a:fillRect/>
          </a:stretch>
        </p:blipFill>
        <p:spPr>
          <a:xfrm>
            <a:off x="7543800" y="2359152"/>
            <a:ext cx="237744" cy="274320"/>
          </a:xfrm>
          <a:prstGeom prst="rect">
            <a:avLst/>
          </a:prstGeom>
        </p:spPr>
      </p:pic>
      <p:sp>
        <p:nvSpPr>
          <p:cNvPr id="25" name="Text 8"/>
          <p:cNvSpPr txBox="1"/>
          <p:nvPr/>
        </p:nvSpPr>
        <p:spPr>
          <a:xfrm>
            <a:off x="4800600" y="2724912"/>
            <a:ext cx="3246120" cy="548640"/>
          </a:xfrm>
          <a:prstGeom prst="rect">
            <a:avLst/>
          </a:prstGeom>
          <a:noFill/>
          <a:ln/>
        </p:spPr>
        <p:txBody>
          <a:bodyPr wrap="square" lIns="0" tIns="0" rIns="0" bIns="0" rtlCol="0" anchor="t"/>
          <a:lstStyle/>
          <a:p>
            <a:pPr indent="0" marL="0">
              <a:buNone/>
            </a:pPr>
            <a:r>
              <a:rPr lang="en-US" sz="1400" dirty="0">
                <a:solidFill>
                  <a:srgbClr val="222B40"/>
                </a:solidFill>
                <a:latin typeface="Arial" pitchFamily="34" charset="0"/>
                <a:ea typeface="Arial" pitchFamily="34" charset="-122"/>
                <a:cs typeface="Arial" pitchFamily="34" charset="-120"/>
              </a:rPr>
              <a:t>want to choose a delivery window</a:t>
            </a:r>
            <a:pPr indent="0" marL="0">
              <a:buNone/>
            </a:pPr>
            <a:r>
              <a:rPr lang="en-US" sz="1000" dirty="0">
                <a:solidFill>
                  <a:srgbClr val="4A556E"/>
                </a:solidFill>
                <a:latin typeface="Arial" pitchFamily="34" charset="0"/>
                <a:ea typeface="Arial" pitchFamily="34" charset="-122"/>
                <a:cs typeface="Arial" pitchFamily="34" charset="-120"/>
              </a:rPr>
              <a:t> [1]</a:t>
            </a:r>
            <a:endParaRPr lang="en-US" sz="1400" dirty="0"/>
          </a:p>
        </p:txBody>
      </p:sp>
      <p:sp>
        <p:nvSpPr>
          <p:cNvPr id="26" name="Text 9"/>
          <p:cNvSpPr txBox="1"/>
          <p:nvPr/>
        </p:nvSpPr>
        <p:spPr>
          <a:xfrm>
            <a:off x="8275320" y="2011680"/>
            <a:ext cx="1600200" cy="685800"/>
          </a:xfrm>
          <a:prstGeom prst="rect">
            <a:avLst/>
          </a:prstGeom>
          <a:noFill/>
          <a:ln/>
        </p:spPr>
        <p:txBody>
          <a:bodyPr wrap="square" lIns="0" tIns="0" rIns="0" bIns="0" rtlCol="0" anchor="ctr"/>
          <a:lstStyle/>
          <a:p>
            <a:pPr indent="0" marL="0">
              <a:buNone/>
            </a:pPr>
            <a:r>
              <a:rPr lang="en-US" sz="4400" b="1" dirty="0">
                <a:solidFill>
                  <a:srgbClr val="121A2C"/>
                </a:solidFill>
                <a:latin typeface="Arial" pitchFamily="34" charset="0"/>
                <a:ea typeface="Arial" pitchFamily="34" charset="-122"/>
                <a:cs typeface="Arial" pitchFamily="34" charset="-120"/>
              </a:rPr>
              <a:t>66</a:t>
            </a:r>
            <a:pPr indent="0" marL="0">
              <a:buNone/>
            </a:pPr>
            <a:r>
              <a:rPr lang="en-US" sz="4400" b="1" dirty="0">
                <a:solidFill>
                  <a:srgbClr val="F05A00"/>
                </a:solidFill>
                <a:latin typeface="Arial" pitchFamily="34" charset="0"/>
                <a:ea typeface="Arial" pitchFamily="34" charset="-122"/>
                <a:cs typeface="Arial" pitchFamily="34" charset="-120"/>
              </a:rPr>
              <a:t>%</a:t>
            </a:r>
            <a:endParaRPr lang="en-US" sz="4400" dirty="0"/>
          </a:p>
        </p:txBody>
      </p:sp>
      <p:pic>
        <p:nvPicPr>
          <p:cNvPr id="27" name="Pictogram 010" descr="preencoded.png">    </p:cNvPr>
          <p:cNvPicPr>
            <a:picLocks noChangeAspect="1"/>
          </p:cNvPicPr>
          <p:nvPr/>
        </p:nvPicPr>
        <p:blipFill>
          <a:blip r:embed="rId16"/>
          <a:stretch>
            <a:fillRect/>
          </a:stretch>
        </p:blipFill>
        <p:spPr>
          <a:xfrm>
            <a:off x="9921240" y="2048256"/>
            <a:ext cx="237744" cy="274320"/>
          </a:xfrm>
          <a:prstGeom prst="rect">
            <a:avLst/>
          </a:prstGeom>
        </p:spPr>
      </p:pic>
      <p:pic>
        <p:nvPicPr>
          <p:cNvPr id="28" name="Pictogram 011" descr="preencoded.png">    </p:cNvPr>
          <p:cNvPicPr>
            <a:picLocks noChangeAspect="1"/>
          </p:cNvPicPr>
          <p:nvPr/>
        </p:nvPicPr>
        <p:blipFill>
          <a:blip r:embed="rId17"/>
          <a:stretch>
            <a:fillRect/>
          </a:stretch>
        </p:blipFill>
        <p:spPr>
          <a:xfrm>
            <a:off x="10195560" y="2048256"/>
            <a:ext cx="237744" cy="274320"/>
          </a:xfrm>
          <a:prstGeom prst="rect">
            <a:avLst/>
          </a:prstGeom>
        </p:spPr>
      </p:pic>
      <p:pic>
        <p:nvPicPr>
          <p:cNvPr id="29" name="Pictogram 012" descr="preencoded.png">    </p:cNvPr>
          <p:cNvPicPr>
            <a:picLocks noChangeAspect="1"/>
          </p:cNvPicPr>
          <p:nvPr/>
        </p:nvPicPr>
        <p:blipFill>
          <a:blip r:embed="rId18"/>
          <a:stretch>
            <a:fillRect/>
          </a:stretch>
        </p:blipFill>
        <p:spPr>
          <a:xfrm>
            <a:off x="10469880" y="2048256"/>
            <a:ext cx="237744" cy="274320"/>
          </a:xfrm>
          <a:prstGeom prst="rect">
            <a:avLst/>
          </a:prstGeom>
        </p:spPr>
      </p:pic>
      <p:pic>
        <p:nvPicPr>
          <p:cNvPr id="30" name="Pictogram 013" descr="preencoded.png">    </p:cNvPr>
          <p:cNvPicPr>
            <a:picLocks noChangeAspect="1"/>
          </p:cNvPicPr>
          <p:nvPr/>
        </p:nvPicPr>
        <p:blipFill>
          <a:blip r:embed="rId19"/>
          <a:stretch>
            <a:fillRect/>
          </a:stretch>
        </p:blipFill>
        <p:spPr>
          <a:xfrm>
            <a:off x="10744200" y="2048256"/>
            <a:ext cx="237744" cy="274320"/>
          </a:xfrm>
          <a:prstGeom prst="rect">
            <a:avLst/>
          </a:prstGeom>
        </p:spPr>
      </p:pic>
      <p:pic>
        <p:nvPicPr>
          <p:cNvPr id="31" name="Pictogram 014" descr="preencoded.png">    </p:cNvPr>
          <p:cNvPicPr>
            <a:picLocks noChangeAspect="1"/>
          </p:cNvPicPr>
          <p:nvPr/>
        </p:nvPicPr>
        <p:blipFill>
          <a:blip r:embed="rId20"/>
          <a:stretch>
            <a:fillRect/>
          </a:stretch>
        </p:blipFill>
        <p:spPr>
          <a:xfrm>
            <a:off x="11018520" y="2048256"/>
            <a:ext cx="237744" cy="274320"/>
          </a:xfrm>
          <a:prstGeom prst="rect">
            <a:avLst/>
          </a:prstGeom>
        </p:spPr>
      </p:pic>
      <p:pic>
        <p:nvPicPr>
          <p:cNvPr id="32" name="Pictogram 015" descr="preencoded.png">    </p:cNvPr>
          <p:cNvPicPr>
            <a:picLocks noChangeAspect="1"/>
          </p:cNvPicPr>
          <p:nvPr/>
        </p:nvPicPr>
        <p:blipFill>
          <a:blip r:embed="rId21"/>
          <a:stretch>
            <a:fillRect/>
          </a:stretch>
        </p:blipFill>
        <p:spPr>
          <a:xfrm>
            <a:off x="9921240" y="2359152"/>
            <a:ext cx="237744" cy="274320"/>
          </a:xfrm>
          <a:prstGeom prst="rect">
            <a:avLst/>
          </a:prstGeom>
        </p:spPr>
      </p:pic>
      <p:pic>
        <p:nvPicPr>
          <p:cNvPr id="33" name="Pictogram 016" descr="preencoded.png">    </p:cNvPr>
          <p:cNvPicPr>
            <a:picLocks noChangeAspect="1"/>
          </p:cNvPicPr>
          <p:nvPr/>
        </p:nvPicPr>
        <p:blipFill>
          <a:blip r:embed="rId22"/>
          <a:stretch>
            <a:fillRect/>
          </a:stretch>
        </p:blipFill>
        <p:spPr>
          <a:xfrm>
            <a:off x="10195560" y="2359152"/>
            <a:ext cx="237744" cy="274320"/>
          </a:xfrm>
          <a:prstGeom prst="rect">
            <a:avLst/>
          </a:prstGeom>
        </p:spPr>
      </p:pic>
      <p:pic>
        <p:nvPicPr>
          <p:cNvPr id="34" name="Pictogram 017" descr="preencoded.png">    </p:cNvPr>
          <p:cNvPicPr>
            <a:picLocks noChangeAspect="1"/>
          </p:cNvPicPr>
          <p:nvPr/>
        </p:nvPicPr>
        <p:blipFill>
          <a:blip r:embed="rId23"/>
          <a:stretch>
            <a:fillRect/>
          </a:stretch>
        </p:blipFill>
        <p:spPr>
          <a:xfrm>
            <a:off x="10469880" y="2359152"/>
            <a:ext cx="237744" cy="274320"/>
          </a:xfrm>
          <a:prstGeom prst="rect">
            <a:avLst/>
          </a:prstGeom>
        </p:spPr>
      </p:pic>
      <p:pic>
        <p:nvPicPr>
          <p:cNvPr id="35" name="Pictogram 018" descr="preencoded.png">    </p:cNvPr>
          <p:cNvPicPr>
            <a:picLocks noChangeAspect="1"/>
          </p:cNvPicPr>
          <p:nvPr/>
        </p:nvPicPr>
        <p:blipFill>
          <a:blip r:embed="rId24"/>
          <a:stretch>
            <a:fillRect/>
          </a:stretch>
        </p:blipFill>
        <p:spPr>
          <a:xfrm>
            <a:off x="10744200" y="2359152"/>
            <a:ext cx="237744" cy="274320"/>
          </a:xfrm>
          <a:prstGeom prst="rect">
            <a:avLst/>
          </a:prstGeom>
        </p:spPr>
      </p:pic>
      <p:pic>
        <p:nvPicPr>
          <p:cNvPr id="36" name="Pictogram 019" descr="preencoded.png">    </p:cNvPr>
          <p:cNvPicPr>
            <a:picLocks noChangeAspect="1"/>
          </p:cNvPicPr>
          <p:nvPr/>
        </p:nvPicPr>
        <p:blipFill>
          <a:blip r:embed="rId25"/>
          <a:stretch>
            <a:fillRect/>
          </a:stretch>
        </p:blipFill>
        <p:spPr>
          <a:xfrm>
            <a:off x="11018520" y="2359152"/>
            <a:ext cx="237744" cy="274320"/>
          </a:xfrm>
          <a:prstGeom prst="rect">
            <a:avLst/>
          </a:prstGeom>
        </p:spPr>
      </p:pic>
      <p:sp>
        <p:nvSpPr>
          <p:cNvPr id="37" name="Text 10"/>
          <p:cNvSpPr txBox="1"/>
          <p:nvPr/>
        </p:nvSpPr>
        <p:spPr>
          <a:xfrm>
            <a:off x="8275320" y="2724912"/>
            <a:ext cx="3246120" cy="548640"/>
          </a:xfrm>
          <a:prstGeom prst="rect">
            <a:avLst/>
          </a:prstGeom>
          <a:noFill/>
          <a:ln/>
        </p:spPr>
        <p:txBody>
          <a:bodyPr wrap="square" lIns="0" tIns="0" rIns="0" bIns="0" rtlCol="0" anchor="t"/>
          <a:lstStyle/>
          <a:p>
            <a:pPr indent="0" marL="0">
              <a:buNone/>
            </a:pPr>
            <a:r>
              <a:rPr lang="en-US" sz="1400" dirty="0">
                <a:solidFill>
                  <a:srgbClr val="222B40"/>
                </a:solidFill>
                <a:latin typeface="Arial" pitchFamily="34" charset="0"/>
                <a:ea typeface="Arial" pitchFamily="34" charset="-122"/>
                <a:cs typeface="Arial" pitchFamily="34" charset="-120"/>
              </a:rPr>
              <a:t>called the shipper back and couldn’t reach them</a:t>
            </a:r>
            <a:pPr indent="0" marL="0">
              <a:buNone/>
            </a:pPr>
            <a:r>
              <a:rPr lang="en-US" sz="1000" dirty="0">
                <a:solidFill>
                  <a:srgbClr val="4A556E"/>
                </a:solidFill>
                <a:latin typeface="Arial" pitchFamily="34" charset="0"/>
                <a:ea typeface="Arial" pitchFamily="34" charset="-122"/>
                <a:cs typeface="Arial" pitchFamily="34" charset="-120"/>
              </a:rPr>
              <a:t> [1]</a:t>
            </a:r>
            <a:endParaRPr lang="en-US" sz="1400" dirty="0"/>
          </a:p>
        </p:txBody>
      </p:sp>
      <p:sp>
        <p:nvSpPr>
          <p:cNvPr id="38" name="Group rule 1"/>
          <p:cNvSpPr/>
          <p:nvPr/>
        </p:nvSpPr>
        <p:spPr>
          <a:xfrm>
            <a:off x="4800600" y="3547872"/>
            <a:ext cx="6839712" cy="0"/>
          </a:xfrm>
          <a:prstGeom prst="line">
            <a:avLst/>
          </a:prstGeom>
          <a:noFill/>
          <a:ln w="12700">
            <a:solidFill>
              <a:srgbClr val="121A2C"/>
            </a:solidFill>
            <a:prstDash val="solid"/>
          </a:ln>
        </p:spPr>
      </p:sp>
      <p:pic>
        <p:nvPicPr>
          <p:cNvPr id="39" name="Face 10" descr="/private/tmp/claude-503/-Users-davark-Downloads-Everything-Github-Alodi-Regional-Codex-Hackathon-2026/91e569a8-486f-4c0b-b683-a4991468f039/scratchpad/deck/assets/shipper.png">    </p:cNvPr>
          <p:cNvPicPr>
            <a:picLocks noChangeAspect="1"/>
          </p:cNvPicPr>
          <p:nvPr/>
        </p:nvPicPr>
        <p:blipFill>
          <a:blip r:embed="rId26"/>
          <a:stretch>
            <a:fillRect/>
          </a:stretch>
        </p:blipFill>
        <p:spPr>
          <a:xfrm>
            <a:off x="4800600" y="3639312"/>
            <a:ext cx="365760" cy="365760"/>
          </a:xfrm>
          <a:prstGeom prst="rect">
            <a:avLst/>
          </a:prstGeom>
        </p:spPr>
      </p:pic>
      <p:pic>
        <p:nvPicPr>
          <p:cNvPr id="40" name="Face 11" descr="/private/tmp/claude-503/-Users-davark-Downloads-Everything-Github-Alodi-Regional-Codex-Hackathon-2026/91e569a8-486f-4c0b-b683-a4991468f039/scratchpad/deck/assets/next.png">    </p:cNvPr>
          <p:cNvPicPr>
            <a:picLocks noChangeAspect="1"/>
          </p:cNvPicPr>
          <p:nvPr/>
        </p:nvPicPr>
        <p:blipFill>
          <a:blip r:embed="rId27"/>
          <a:stretch>
            <a:fillRect/>
          </a:stretch>
        </p:blipFill>
        <p:spPr>
          <a:xfrm>
            <a:off x="5056632" y="3639312"/>
            <a:ext cx="365760" cy="365760"/>
          </a:xfrm>
          <a:prstGeom prst="rect">
            <a:avLst/>
          </a:prstGeom>
        </p:spPr>
      </p:pic>
      <p:pic>
        <p:nvPicPr>
          <p:cNvPr id="41" name="Face 12" descr="/private/tmp/claude-503/-Users-davark-Downloads-Everything-Github-Alodi-Regional-Codex-Hackathon-2026/91e569a8-486f-4c0b-b683-a4991468f039/scratchpad/deck/assets/b2.png">    </p:cNvPr>
          <p:cNvPicPr>
            <a:picLocks noChangeAspect="1"/>
          </p:cNvPicPr>
          <p:nvPr/>
        </p:nvPicPr>
        <p:blipFill>
          <a:blip r:embed="rId28"/>
          <a:stretch>
            <a:fillRect/>
          </a:stretch>
        </p:blipFill>
        <p:spPr>
          <a:xfrm>
            <a:off x="5312664" y="3639312"/>
            <a:ext cx="365760" cy="365760"/>
          </a:xfrm>
          <a:prstGeom prst="rect">
            <a:avLst/>
          </a:prstGeom>
        </p:spPr>
      </p:pic>
      <p:sp>
        <p:nvSpPr>
          <p:cNvPr id="42" name="Text 12"/>
          <p:cNvSpPr txBox="1"/>
          <p:nvPr/>
        </p:nvSpPr>
        <p:spPr>
          <a:xfrm>
            <a:off x="5797296" y="3730752"/>
            <a:ext cx="411480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SHIPPERS · N = 12 · 6 CARRIERS</a:t>
            </a:r>
            <a:endParaRPr lang="en-US" sz="950" dirty="0"/>
          </a:p>
        </p:txBody>
      </p:sp>
      <p:sp>
        <p:nvSpPr>
          <p:cNvPr id="43" name="Text 13"/>
          <p:cNvSpPr txBox="1"/>
          <p:nvPr/>
        </p:nvSpPr>
        <p:spPr>
          <a:xfrm>
            <a:off x="4800600" y="4023360"/>
            <a:ext cx="1600200" cy="685800"/>
          </a:xfrm>
          <a:prstGeom prst="rect">
            <a:avLst/>
          </a:prstGeom>
          <a:noFill/>
          <a:ln/>
        </p:spPr>
        <p:txBody>
          <a:bodyPr wrap="square" lIns="0" tIns="0" rIns="0" bIns="0" rtlCol="0" anchor="ctr"/>
          <a:lstStyle/>
          <a:p>
            <a:pPr indent="0" marL="0">
              <a:buNone/>
            </a:pPr>
            <a:r>
              <a:rPr lang="en-US" sz="4400" b="1" dirty="0">
                <a:solidFill>
                  <a:srgbClr val="121A2C"/>
                </a:solidFill>
                <a:latin typeface="Arial" pitchFamily="34" charset="0"/>
                <a:ea typeface="Arial" pitchFamily="34" charset="-122"/>
                <a:cs typeface="Arial" pitchFamily="34" charset="-120"/>
              </a:rPr>
              <a:t>27</a:t>
            </a:r>
            <a:pPr indent="0" marL="0">
              <a:buNone/>
            </a:pPr>
            <a:r>
              <a:rPr lang="en-US" sz="4400" b="1" dirty="0">
                <a:solidFill>
                  <a:srgbClr val="F05A00"/>
                </a:solidFill>
                <a:latin typeface="Arial" pitchFamily="34" charset="0"/>
                <a:ea typeface="Arial" pitchFamily="34" charset="-122"/>
                <a:cs typeface="Arial" pitchFamily="34" charset="-120"/>
              </a:rPr>
              <a:t>%</a:t>
            </a:r>
            <a:endParaRPr lang="en-US" sz="4400" dirty="0"/>
          </a:p>
        </p:txBody>
      </p:sp>
      <p:pic>
        <p:nvPicPr>
          <p:cNvPr id="44" name="Pictogram 100" descr="preencoded.png">    </p:cNvPr>
          <p:cNvPicPr>
            <a:picLocks noChangeAspect="1"/>
          </p:cNvPicPr>
          <p:nvPr/>
        </p:nvPicPr>
        <p:blipFill>
          <a:blip r:embed="rId29"/>
          <a:stretch>
            <a:fillRect/>
          </a:stretch>
        </p:blipFill>
        <p:spPr>
          <a:xfrm>
            <a:off x="6446520" y="4059936"/>
            <a:ext cx="237744" cy="274320"/>
          </a:xfrm>
          <a:prstGeom prst="rect">
            <a:avLst/>
          </a:prstGeom>
        </p:spPr>
      </p:pic>
      <p:pic>
        <p:nvPicPr>
          <p:cNvPr id="45" name="Pictogram 101" descr="preencoded.png">    </p:cNvPr>
          <p:cNvPicPr>
            <a:picLocks noChangeAspect="1"/>
          </p:cNvPicPr>
          <p:nvPr/>
        </p:nvPicPr>
        <p:blipFill>
          <a:blip r:embed="rId30"/>
          <a:stretch>
            <a:fillRect/>
          </a:stretch>
        </p:blipFill>
        <p:spPr>
          <a:xfrm>
            <a:off x="6720840" y="4059936"/>
            <a:ext cx="237744" cy="274320"/>
          </a:xfrm>
          <a:prstGeom prst="rect">
            <a:avLst/>
          </a:prstGeom>
        </p:spPr>
      </p:pic>
      <p:pic>
        <p:nvPicPr>
          <p:cNvPr id="46" name="Pictogram 102" descr="preencoded.png">    </p:cNvPr>
          <p:cNvPicPr>
            <a:picLocks noChangeAspect="1"/>
          </p:cNvPicPr>
          <p:nvPr/>
        </p:nvPicPr>
        <p:blipFill>
          <a:blip r:embed="rId31"/>
          <a:stretch>
            <a:fillRect/>
          </a:stretch>
        </p:blipFill>
        <p:spPr>
          <a:xfrm>
            <a:off x="6995160" y="4059936"/>
            <a:ext cx="237744" cy="274320"/>
          </a:xfrm>
          <a:prstGeom prst="rect">
            <a:avLst/>
          </a:prstGeom>
        </p:spPr>
      </p:pic>
      <p:pic>
        <p:nvPicPr>
          <p:cNvPr id="47" name="Pictogram 103" descr="preencoded.png">    </p:cNvPr>
          <p:cNvPicPr>
            <a:picLocks noChangeAspect="1"/>
          </p:cNvPicPr>
          <p:nvPr/>
        </p:nvPicPr>
        <p:blipFill>
          <a:blip r:embed="rId32"/>
          <a:stretch>
            <a:fillRect/>
          </a:stretch>
        </p:blipFill>
        <p:spPr>
          <a:xfrm>
            <a:off x="7269480" y="4059936"/>
            <a:ext cx="237744" cy="274320"/>
          </a:xfrm>
          <a:prstGeom prst="rect">
            <a:avLst/>
          </a:prstGeom>
        </p:spPr>
      </p:pic>
      <p:pic>
        <p:nvPicPr>
          <p:cNvPr id="48" name="Pictogram 104" descr="preencoded.png">    </p:cNvPr>
          <p:cNvPicPr>
            <a:picLocks noChangeAspect="1"/>
          </p:cNvPicPr>
          <p:nvPr/>
        </p:nvPicPr>
        <p:blipFill>
          <a:blip r:embed="rId33"/>
          <a:stretch>
            <a:fillRect/>
          </a:stretch>
        </p:blipFill>
        <p:spPr>
          <a:xfrm>
            <a:off x="7543800" y="4059936"/>
            <a:ext cx="237744" cy="274320"/>
          </a:xfrm>
          <a:prstGeom prst="rect">
            <a:avLst/>
          </a:prstGeom>
        </p:spPr>
      </p:pic>
      <p:pic>
        <p:nvPicPr>
          <p:cNvPr id="49" name="Pictogram 105" descr="preencoded.png">    </p:cNvPr>
          <p:cNvPicPr>
            <a:picLocks noChangeAspect="1"/>
          </p:cNvPicPr>
          <p:nvPr/>
        </p:nvPicPr>
        <p:blipFill>
          <a:blip r:embed="rId34"/>
          <a:stretch>
            <a:fillRect/>
          </a:stretch>
        </p:blipFill>
        <p:spPr>
          <a:xfrm>
            <a:off x="6446520" y="4370832"/>
            <a:ext cx="237744" cy="274320"/>
          </a:xfrm>
          <a:prstGeom prst="rect">
            <a:avLst/>
          </a:prstGeom>
        </p:spPr>
      </p:pic>
      <p:pic>
        <p:nvPicPr>
          <p:cNvPr id="50" name="Pictogram 106" descr="preencoded.png">    </p:cNvPr>
          <p:cNvPicPr>
            <a:picLocks noChangeAspect="1"/>
          </p:cNvPicPr>
          <p:nvPr/>
        </p:nvPicPr>
        <p:blipFill>
          <a:blip r:embed="rId35"/>
          <a:stretch>
            <a:fillRect/>
          </a:stretch>
        </p:blipFill>
        <p:spPr>
          <a:xfrm>
            <a:off x="6720840" y="4370832"/>
            <a:ext cx="237744" cy="274320"/>
          </a:xfrm>
          <a:prstGeom prst="rect">
            <a:avLst/>
          </a:prstGeom>
        </p:spPr>
      </p:pic>
      <p:pic>
        <p:nvPicPr>
          <p:cNvPr id="51" name="Pictogram 107" descr="preencoded.png">    </p:cNvPr>
          <p:cNvPicPr>
            <a:picLocks noChangeAspect="1"/>
          </p:cNvPicPr>
          <p:nvPr/>
        </p:nvPicPr>
        <p:blipFill>
          <a:blip r:embed="rId36"/>
          <a:stretch>
            <a:fillRect/>
          </a:stretch>
        </p:blipFill>
        <p:spPr>
          <a:xfrm>
            <a:off x="6995160" y="4370832"/>
            <a:ext cx="237744" cy="274320"/>
          </a:xfrm>
          <a:prstGeom prst="rect">
            <a:avLst/>
          </a:prstGeom>
        </p:spPr>
      </p:pic>
      <p:pic>
        <p:nvPicPr>
          <p:cNvPr id="52" name="Pictogram 108" descr="preencoded.png">    </p:cNvPr>
          <p:cNvPicPr>
            <a:picLocks noChangeAspect="1"/>
          </p:cNvPicPr>
          <p:nvPr/>
        </p:nvPicPr>
        <p:blipFill>
          <a:blip r:embed="rId37"/>
          <a:stretch>
            <a:fillRect/>
          </a:stretch>
        </p:blipFill>
        <p:spPr>
          <a:xfrm>
            <a:off x="7269480" y="4370832"/>
            <a:ext cx="237744" cy="274320"/>
          </a:xfrm>
          <a:prstGeom prst="rect">
            <a:avLst/>
          </a:prstGeom>
        </p:spPr>
      </p:pic>
      <p:pic>
        <p:nvPicPr>
          <p:cNvPr id="53" name="Pictogram 109" descr="preencoded.png">    </p:cNvPr>
          <p:cNvPicPr>
            <a:picLocks noChangeAspect="1"/>
          </p:cNvPicPr>
          <p:nvPr/>
        </p:nvPicPr>
        <p:blipFill>
          <a:blip r:embed="rId38"/>
          <a:stretch>
            <a:fillRect/>
          </a:stretch>
        </p:blipFill>
        <p:spPr>
          <a:xfrm>
            <a:off x="7543800" y="4370832"/>
            <a:ext cx="237744" cy="274320"/>
          </a:xfrm>
          <a:prstGeom prst="rect">
            <a:avLst/>
          </a:prstGeom>
        </p:spPr>
      </p:pic>
      <p:sp>
        <p:nvSpPr>
          <p:cNvPr id="54" name="Text 14"/>
          <p:cNvSpPr txBox="1"/>
          <p:nvPr/>
        </p:nvSpPr>
        <p:spPr>
          <a:xfrm>
            <a:off x="4800600" y="4736592"/>
            <a:ext cx="3246120" cy="548640"/>
          </a:xfrm>
          <a:prstGeom prst="rect">
            <a:avLst/>
          </a:prstGeom>
          <a:noFill/>
          <a:ln/>
        </p:spPr>
        <p:txBody>
          <a:bodyPr wrap="square" lIns="0" tIns="0" rIns="0" bIns="0" rtlCol="0" anchor="t"/>
          <a:lstStyle/>
          <a:p>
            <a:pPr indent="0" marL="0">
              <a:buNone/>
            </a:pPr>
            <a:r>
              <a:rPr lang="en-US" sz="1400" dirty="0">
                <a:solidFill>
                  <a:srgbClr val="222B40"/>
                </a:solidFill>
                <a:latin typeface="Arial" pitchFamily="34" charset="0"/>
                <a:ea typeface="Arial" pitchFamily="34" charset="-122"/>
                <a:cs typeface="Arial" pitchFamily="34" charset="-120"/>
              </a:rPr>
              <a:t>of their calls to buyers go unanswered</a:t>
            </a:r>
            <a:pPr indent="0" marL="0">
              <a:buNone/>
            </a:pPr>
            <a:r>
              <a:rPr lang="en-US" sz="1000" dirty="0">
                <a:solidFill>
                  <a:srgbClr val="4A556E"/>
                </a:solidFill>
                <a:latin typeface="Arial" pitchFamily="34" charset="0"/>
                <a:ea typeface="Arial" pitchFamily="34" charset="-122"/>
                <a:cs typeface="Arial" pitchFamily="34" charset="-120"/>
              </a:rPr>
              <a:t> [1]</a:t>
            </a:r>
            <a:endParaRPr lang="en-US" sz="1400" dirty="0"/>
          </a:p>
        </p:txBody>
      </p:sp>
      <p:sp>
        <p:nvSpPr>
          <p:cNvPr id="55" name="Text 15"/>
          <p:cNvSpPr txBox="1"/>
          <p:nvPr/>
        </p:nvSpPr>
        <p:spPr>
          <a:xfrm>
            <a:off x="8275320" y="4023360"/>
            <a:ext cx="1600200" cy="685800"/>
          </a:xfrm>
          <a:prstGeom prst="rect">
            <a:avLst/>
          </a:prstGeom>
          <a:noFill/>
          <a:ln/>
        </p:spPr>
        <p:txBody>
          <a:bodyPr wrap="square" lIns="0" tIns="0" rIns="0" bIns="0" rtlCol="0" anchor="ctr"/>
          <a:lstStyle/>
          <a:p>
            <a:pPr indent="0" marL="0">
              <a:buNone/>
            </a:pPr>
            <a:r>
              <a:rPr lang="en-US" sz="4400" b="1" dirty="0">
                <a:solidFill>
                  <a:srgbClr val="121A2C"/>
                </a:solidFill>
                <a:latin typeface="Arial" pitchFamily="34" charset="0"/>
                <a:ea typeface="Arial" pitchFamily="34" charset="-122"/>
                <a:cs typeface="Arial" pitchFamily="34" charset="-120"/>
              </a:rPr>
              <a:t>83</a:t>
            </a:r>
            <a:pPr indent="0" marL="0">
              <a:buNone/>
            </a:pPr>
            <a:r>
              <a:rPr lang="en-US" sz="4400" b="1" dirty="0">
                <a:solidFill>
                  <a:srgbClr val="F05A00"/>
                </a:solidFill>
                <a:latin typeface="Arial" pitchFamily="34" charset="0"/>
                <a:ea typeface="Arial" pitchFamily="34" charset="-122"/>
                <a:cs typeface="Arial" pitchFamily="34" charset="-120"/>
              </a:rPr>
              <a:t>%</a:t>
            </a:r>
            <a:endParaRPr lang="en-US" sz="4400" dirty="0"/>
          </a:p>
        </p:txBody>
      </p:sp>
      <p:pic>
        <p:nvPicPr>
          <p:cNvPr id="56" name="Pictogram 110" descr="preencoded.png">    </p:cNvPr>
          <p:cNvPicPr>
            <a:picLocks noChangeAspect="1"/>
          </p:cNvPicPr>
          <p:nvPr/>
        </p:nvPicPr>
        <p:blipFill>
          <a:blip r:embed="rId39"/>
          <a:stretch>
            <a:fillRect/>
          </a:stretch>
        </p:blipFill>
        <p:spPr>
          <a:xfrm>
            <a:off x="9921240" y="4059936"/>
            <a:ext cx="237744" cy="274320"/>
          </a:xfrm>
          <a:prstGeom prst="rect">
            <a:avLst/>
          </a:prstGeom>
        </p:spPr>
      </p:pic>
      <p:pic>
        <p:nvPicPr>
          <p:cNvPr id="57" name="Pictogram 111" descr="preencoded.png">    </p:cNvPr>
          <p:cNvPicPr>
            <a:picLocks noChangeAspect="1"/>
          </p:cNvPicPr>
          <p:nvPr/>
        </p:nvPicPr>
        <p:blipFill>
          <a:blip r:embed="rId40"/>
          <a:stretch>
            <a:fillRect/>
          </a:stretch>
        </p:blipFill>
        <p:spPr>
          <a:xfrm>
            <a:off x="10195560" y="4059936"/>
            <a:ext cx="237744" cy="274320"/>
          </a:xfrm>
          <a:prstGeom prst="rect">
            <a:avLst/>
          </a:prstGeom>
        </p:spPr>
      </p:pic>
      <p:pic>
        <p:nvPicPr>
          <p:cNvPr id="58" name="Pictogram 112" descr="preencoded.png">    </p:cNvPr>
          <p:cNvPicPr>
            <a:picLocks noChangeAspect="1"/>
          </p:cNvPicPr>
          <p:nvPr/>
        </p:nvPicPr>
        <p:blipFill>
          <a:blip r:embed="rId41"/>
          <a:stretch>
            <a:fillRect/>
          </a:stretch>
        </p:blipFill>
        <p:spPr>
          <a:xfrm>
            <a:off x="10469880" y="4059936"/>
            <a:ext cx="237744" cy="274320"/>
          </a:xfrm>
          <a:prstGeom prst="rect">
            <a:avLst/>
          </a:prstGeom>
        </p:spPr>
      </p:pic>
      <p:pic>
        <p:nvPicPr>
          <p:cNvPr id="59" name="Pictogram 113" descr="preencoded.png">    </p:cNvPr>
          <p:cNvPicPr>
            <a:picLocks noChangeAspect="1"/>
          </p:cNvPicPr>
          <p:nvPr/>
        </p:nvPicPr>
        <p:blipFill>
          <a:blip r:embed="rId42"/>
          <a:stretch>
            <a:fillRect/>
          </a:stretch>
        </p:blipFill>
        <p:spPr>
          <a:xfrm>
            <a:off x="10744200" y="4059936"/>
            <a:ext cx="237744" cy="274320"/>
          </a:xfrm>
          <a:prstGeom prst="rect">
            <a:avLst/>
          </a:prstGeom>
        </p:spPr>
      </p:pic>
      <p:pic>
        <p:nvPicPr>
          <p:cNvPr id="60" name="Pictogram 114" descr="preencoded.png">    </p:cNvPr>
          <p:cNvPicPr>
            <a:picLocks noChangeAspect="1"/>
          </p:cNvPicPr>
          <p:nvPr/>
        </p:nvPicPr>
        <p:blipFill>
          <a:blip r:embed="rId43"/>
          <a:stretch>
            <a:fillRect/>
          </a:stretch>
        </p:blipFill>
        <p:spPr>
          <a:xfrm>
            <a:off x="11018520" y="4059936"/>
            <a:ext cx="237744" cy="274320"/>
          </a:xfrm>
          <a:prstGeom prst="rect">
            <a:avLst/>
          </a:prstGeom>
        </p:spPr>
      </p:pic>
      <p:pic>
        <p:nvPicPr>
          <p:cNvPr id="61" name="Pictogram 115" descr="preencoded.png">    </p:cNvPr>
          <p:cNvPicPr>
            <a:picLocks noChangeAspect="1"/>
          </p:cNvPicPr>
          <p:nvPr/>
        </p:nvPicPr>
        <p:blipFill>
          <a:blip r:embed="rId44"/>
          <a:stretch>
            <a:fillRect/>
          </a:stretch>
        </p:blipFill>
        <p:spPr>
          <a:xfrm>
            <a:off x="9921240" y="4370832"/>
            <a:ext cx="237744" cy="274320"/>
          </a:xfrm>
          <a:prstGeom prst="rect">
            <a:avLst/>
          </a:prstGeom>
        </p:spPr>
      </p:pic>
      <p:pic>
        <p:nvPicPr>
          <p:cNvPr id="62" name="Pictogram 116" descr="preencoded.png">    </p:cNvPr>
          <p:cNvPicPr>
            <a:picLocks noChangeAspect="1"/>
          </p:cNvPicPr>
          <p:nvPr/>
        </p:nvPicPr>
        <p:blipFill>
          <a:blip r:embed="rId45"/>
          <a:stretch>
            <a:fillRect/>
          </a:stretch>
        </p:blipFill>
        <p:spPr>
          <a:xfrm>
            <a:off x="10195560" y="4370832"/>
            <a:ext cx="237744" cy="274320"/>
          </a:xfrm>
          <a:prstGeom prst="rect">
            <a:avLst/>
          </a:prstGeom>
        </p:spPr>
      </p:pic>
      <p:pic>
        <p:nvPicPr>
          <p:cNvPr id="63" name="Pictogram 117" descr="preencoded.png">    </p:cNvPr>
          <p:cNvPicPr>
            <a:picLocks noChangeAspect="1"/>
          </p:cNvPicPr>
          <p:nvPr/>
        </p:nvPicPr>
        <p:blipFill>
          <a:blip r:embed="rId46"/>
          <a:stretch>
            <a:fillRect/>
          </a:stretch>
        </p:blipFill>
        <p:spPr>
          <a:xfrm>
            <a:off x="10469880" y="4370832"/>
            <a:ext cx="237744" cy="274320"/>
          </a:xfrm>
          <a:prstGeom prst="rect">
            <a:avLst/>
          </a:prstGeom>
        </p:spPr>
      </p:pic>
      <p:pic>
        <p:nvPicPr>
          <p:cNvPr id="64" name="Pictogram 118" descr="preencoded.png">    </p:cNvPr>
          <p:cNvPicPr>
            <a:picLocks noChangeAspect="1"/>
          </p:cNvPicPr>
          <p:nvPr/>
        </p:nvPicPr>
        <p:blipFill>
          <a:blip r:embed="rId47"/>
          <a:stretch>
            <a:fillRect/>
          </a:stretch>
        </p:blipFill>
        <p:spPr>
          <a:xfrm>
            <a:off x="10744200" y="4370832"/>
            <a:ext cx="237744" cy="274320"/>
          </a:xfrm>
          <a:prstGeom prst="rect">
            <a:avLst/>
          </a:prstGeom>
        </p:spPr>
      </p:pic>
      <p:pic>
        <p:nvPicPr>
          <p:cNvPr id="65" name="Pictogram 119" descr="preencoded.png">    </p:cNvPr>
          <p:cNvPicPr>
            <a:picLocks noChangeAspect="1"/>
          </p:cNvPicPr>
          <p:nvPr/>
        </p:nvPicPr>
        <p:blipFill>
          <a:blip r:embed="rId48"/>
          <a:stretch>
            <a:fillRect/>
          </a:stretch>
        </p:blipFill>
        <p:spPr>
          <a:xfrm>
            <a:off x="11018520" y="4370832"/>
            <a:ext cx="237744" cy="274320"/>
          </a:xfrm>
          <a:prstGeom prst="rect">
            <a:avLst/>
          </a:prstGeom>
        </p:spPr>
      </p:pic>
      <p:sp>
        <p:nvSpPr>
          <p:cNvPr id="66" name="Text 16"/>
          <p:cNvSpPr txBox="1"/>
          <p:nvPr/>
        </p:nvSpPr>
        <p:spPr>
          <a:xfrm>
            <a:off x="8275320" y="4736592"/>
            <a:ext cx="3246120" cy="548640"/>
          </a:xfrm>
          <a:prstGeom prst="rect">
            <a:avLst/>
          </a:prstGeom>
          <a:noFill/>
          <a:ln/>
        </p:spPr>
        <p:txBody>
          <a:bodyPr wrap="square" lIns="0" tIns="0" rIns="0" bIns="0" rtlCol="0" anchor="t"/>
          <a:lstStyle/>
          <a:p>
            <a:pPr indent="0" marL="0">
              <a:buNone/>
            </a:pPr>
            <a:r>
              <a:rPr lang="en-US" sz="1400" dirty="0">
                <a:solidFill>
                  <a:srgbClr val="222B40"/>
                </a:solidFill>
                <a:latin typeface="Arial" pitchFamily="34" charset="0"/>
                <a:ea typeface="Arial" pitchFamily="34" charset="-122"/>
                <a:cs typeface="Arial" pitchFamily="34" charset="-120"/>
              </a:rPr>
              <a:t>would use an Alodi-like system</a:t>
            </a:r>
            <a:pPr indent="0" marL="0">
              <a:buNone/>
            </a:pPr>
            <a:r>
              <a:rPr lang="en-US" sz="1000" dirty="0">
                <a:solidFill>
                  <a:srgbClr val="4A556E"/>
                </a:solidFill>
                <a:latin typeface="Arial" pitchFamily="34" charset="0"/>
                <a:ea typeface="Arial" pitchFamily="34" charset="-122"/>
                <a:cs typeface="Arial" pitchFamily="34" charset="-120"/>
              </a:rPr>
              <a:t> [1]</a:t>
            </a:r>
            <a:endParaRPr lang="en-US" sz="1400" dirty="0"/>
          </a:p>
        </p:txBody>
      </p:sp>
      <p:sp>
        <p:nvSpPr>
          <p:cNvPr id="67" name="Text 17"/>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03  </a:t>
            </a:r>
            <a:pPr indent="0" marL="0">
              <a:buNone/>
            </a:pPr>
            <a:r>
              <a:rPr lang="en-US" sz="1050" b="1" spc="200" kern="0" dirty="0">
                <a:solidFill>
                  <a:srgbClr val="1F2A44"/>
                </a:solidFill>
                <a:latin typeface="Arial" pitchFamily="34" charset="0"/>
                <a:ea typeface="Arial" pitchFamily="34" charset="-122"/>
                <a:cs typeface="Arial" pitchFamily="34" charset="-120"/>
              </a:rPr>
              <a:t>PROBLEM 2 · THE RESEARCH</a:t>
            </a:r>
            <a:endParaRPr lang="en-US" sz="1050" dirty="0"/>
          </a:p>
        </p:txBody>
      </p:sp>
      <p:sp>
        <p:nvSpPr>
          <p:cNvPr id="4" name="Text 2"/>
          <p:cNvSpPr txBox="1"/>
          <p:nvPr/>
        </p:nvSpPr>
        <p:spPr>
          <a:xfrm>
            <a:off x="548640" y="841248"/>
            <a:ext cx="5349240" cy="1097280"/>
          </a:xfrm>
          <a:prstGeom prst="rect">
            <a:avLst/>
          </a:prstGeom>
          <a:noFill/>
          <a:ln/>
        </p:spPr>
        <p:txBody>
          <a:bodyPr wrap="square" lIns="0" tIns="0" rIns="0" bIns="0" rtlCol="0" anchor="t"/>
          <a:lstStyle/>
          <a:p>
            <a:pPr indent="0" marL="0">
              <a:lnSpc>
                <a:spcPct val="95000"/>
              </a:lnSpc>
              <a:buNone/>
            </a:pPr>
            <a:r>
              <a:rPr lang="en-US" sz="3000" b="1" dirty="0">
                <a:solidFill>
                  <a:srgbClr val="5F6F91"/>
                </a:solidFill>
                <a:latin typeface="Arial" pitchFamily="34" charset="0"/>
                <a:ea typeface="Arial" pitchFamily="34" charset="-122"/>
                <a:cs typeface="Arial" pitchFamily="34" charset="-120"/>
              </a:rPr>
              <a:t>The public numbers </a:t>
            </a:r>
            <a:pPr indent="0" marL="0">
              <a:lnSpc>
                <a:spcPct val="95000"/>
              </a:lnSpc>
              <a:buNone/>
            </a:pPr>
            <a:r>
              <a:rPr lang="en-US" sz="3000" b="1" dirty="0">
                <a:solidFill>
                  <a:srgbClr val="121A2C"/>
                </a:solidFill>
                <a:latin typeface="Arial" pitchFamily="34" charset="0"/>
                <a:ea typeface="Arial" pitchFamily="34" charset="-122"/>
                <a:cs typeface="Arial" pitchFamily="34" charset="-120"/>
              </a:rPr>
              <a:t>tell the same story.</a:t>
            </a:r>
            <a:endParaRPr lang="en-US" sz="3000" dirty="0"/>
          </a:p>
        </p:txBody>
      </p:sp>
      <p:sp>
        <p:nvSpPr>
          <p:cNvPr id="5" name="Rows top rule"/>
          <p:cNvSpPr/>
          <p:nvPr/>
        </p:nvSpPr>
        <p:spPr>
          <a:xfrm>
            <a:off x="548640" y="2148840"/>
            <a:ext cx="5349240" cy="0"/>
          </a:xfrm>
          <a:prstGeom prst="line">
            <a:avLst/>
          </a:prstGeom>
          <a:noFill/>
          <a:ln w="12700">
            <a:solidFill>
              <a:srgbClr val="121A2C"/>
            </a:solidFill>
            <a:prstDash val="solid"/>
          </a:ln>
        </p:spPr>
      </p:sp>
      <p:sp>
        <p:nvSpPr>
          <p:cNvPr id="6" name="Text 4"/>
          <p:cNvSpPr txBox="1"/>
          <p:nvPr/>
        </p:nvSpPr>
        <p:spPr>
          <a:xfrm>
            <a:off x="548640" y="2286000"/>
            <a:ext cx="246888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VN · RETURN FEE</a:t>
            </a:r>
            <a:endParaRPr lang="en-US" sz="950" dirty="0"/>
          </a:p>
        </p:txBody>
      </p:sp>
      <p:sp>
        <p:nvSpPr>
          <p:cNvPr id="7" name="Text 5"/>
          <p:cNvSpPr txBox="1"/>
          <p:nvPr/>
        </p:nvSpPr>
        <p:spPr>
          <a:xfrm>
            <a:off x="548640" y="2542032"/>
            <a:ext cx="2468880" cy="731520"/>
          </a:xfrm>
          <a:prstGeom prst="rect">
            <a:avLst/>
          </a:prstGeom>
          <a:noFill/>
          <a:ln/>
        </p:spPr>
        <p:txBody>
          <a:bodyPr wrap="square" lIns="0" tIns="0" rIns="0" bIns="0" rtlCol="0" anchor="ctr"/>
          <a:lstStyle/>
          <a:p>
            <a:pPr indent="0" marL="0">
              <a:buNone/>
            </a:pPr>
            <a:r>
              <a:rPr lang="en-US" sz="3800" b="1" dirty="0">
                <a:solidFill>
                  <a:srgbClr val="F05A00"/>
                </a:solidFill>
                <a:latin typeface="Arial" pitchFamily="34" charset="0"/>
                <a:ea typeface="Arial" pitchFamily="34" charset="-122"/>
                <a:cs typeface="Arial" pitchFamily="34" charset="-120"/>
              </a:rPr>
              <a:t>₫</a:t>
            </a:r>
            <a:pPr indent="0" marL="0">
              <a:buNone/>
            </a:pPr>
            <a:r>
              <a:rPr lang="en-US" sz="3800" b="1" dirty="0">
                <a:solidFill>
                  <a:srgbClr val="121A2C"/>
                </a:solidFill>
                <a:latin typeface="Arial" pitchFamily="34" charset="0"/>
                <a:ea typeface="Arial" pitchFamily="34" charset="-122"/>
                <a:cs typeface="Arial" pitchFamily="34" charset="-120"/>
              </a:rPr>
              <a:t>40,000</a:t>
            </a:r>
            <a:endParaRPr lang="en-US" sz="3800" dirty="0"/>
          </a:p>
        </p:txBody>
      </p:sp>
      <p:sp>
        <p:nvSpPr>
          <p:cNvPr id="8" name="Text 6"/>
          <p:cNvSpPr txBox="1"/>
          <p:nvPr/>
        </p:nvSpPr>
        <p:spPr>
          <a:xfrm>
            <a:off x="3063240" y="2322576"/>
            <a:ext cx="2834640" cy="1051560"/>
          </a:xfrm>
          <a:prstGeom prst="rect">
            <a:avLst/>
          </a:prstGeom>
          <a:noFill/>
          <a:ln/>
        </p:spPr>
        <p:txBody>
          <a:bodyPr wrap="square" lIns="0" tIns="0" rIns="0" bIns="0" rtlCol="0" anchor="ctr"/>
          <a:lstStyle/>
          <a:p>
            <a:pPr indent="0" marL="0">
              <a:buNone/>
            </a:pPr>
            <a:r>
              <a:rPr lang="en-US" sz="1350" dirty="0">
                <a:solidFill>
                  <a:srgbClr val="222B40"/>
                </a:solidFill>
                <a:latin typeface="Arial" pitchFamily="34" charset="0"/>
                <a:ea typeface="Arial" pitchFamily="34" charset="-122"/>
                <a:cs typeface="Arial" pitchFamily="34" charset="-120"/>
              </a:rPr>
              <a:t>the seller pays to ship back a failed Shopee order; only 1 in 4 is rescued today.</a:t>
            </a:r>
            <a:pPr indent="0" marL="0">
              <a:buNone/>
            </a:pPr>
            <a:r>
              <a:rPr lang="en-US" sz="1000" dirty="0">
                <a:solidFill>
                  <a:srgbClr val="4A556E"/>
                </a:solidFill>
                <a:latin typeface="Arial" pitchFamily="34" charset="0"/>
                <a:ea typeface="Arial" pitchFamily="34" charset="-122"/>
                <a:cs typeface="Arial" pitchFamily="34" charset="-120"/>
              </a:rPr>
              <a:t> [2][3][8]</a:t>
            </a:r>
            <a:endParaRPr lang="en-US" sz="1350" dirty="0"/>
          </a:p>
        </p:txBody>
      </p:sp>
      <p:sp>
        <p:nvSpPr>
          <p:cNvPr id="9" name="Row rule 0"/>
          <p:cNvSpPr/>
          <p:nvPr/>
        </p:nvSpPr>
        <p:spPr>
          <a:xfrm>
            <a:off x="548640" y="3447288"/>
            <a:ext cx="5349240" cy="0"/>
          </a:xfrm>
          <a:prstGeom prst="line">
            <a:avLst/>
          </a:prstGeom>
          <a:noFill/>
          <a:ln w="9525">
            <a:solidFill>
              <a:srgbClr val="D5D9E2"/>
            </a:solidFill>
            <a:prstDash val="solid"/>
          </a:ln>
        </p:spPr>
      </p:sp>
      <p:sp>
        <p:nvSpPr>
          <p:cNvPr id="10" name="Text 8"/>
          <p:cNvSpPr txBox="1"/>
          <p:nvPr/>
        </p:nvSpPr>
        <p:spPr>
          <a:xfrm>
            <a:off x="548640" y="3538728"/>
            <a:ext cx="246888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VN · REFUSED AT THE DOOR</a:t>
            </a:r>
            <a:endParaRPr lang="en-US" sz="950" dirty="0"/>
          </a:p>
        </p:txBody>
      </p:sp>
      <p:sp>
        <p:nvSpPr>
          <p:cNvPr id="11" name="Text 9"/>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3800" b="1" dirty="0">
                <a:solidFill>
                  <a:srgbClr val="121A2C"/>
                </a:solidFill>
                <a:latin typeface="Arial" pitchFamily="34" charset="0"/>
                <a:ea typeface="Arial" pitchFamily="34" charset="-122"/>
                <a:cs typeface="Arial" pitchFamily="34" charset="-120"/>
              </a:rPr>
              <a:t>8–12</a:t>
            </a:r>
            <a:pPr indent="0" marL="0">
              <a:buNone/>
            </a:pPr>
            <a:r>
              <a:rPr lang="en-US" sz="3800" b="1" dirty="0">
                <a:solidFill>
                  <a:srgbClr val="F05A00"/>
                </a:solidFill>
                <a:latin typeface="Arial" pitchFamily="34" charset="0"/>
                <a:ea typeface="Arial" pitchFamily="34" charset="-122"/>
                <a:cs typeface="Arial" pitchFamily="34" charset="-120"/>
              </a:rPr>
              <a:t>%</a:t>
            </a:r>
            <a:endParaRPr lang="en-US" sz="3800" dirty="0"/>
          </a:p>
        </p:txBody>
      </p:sp>
      <p:sp>
        <p:nvSpPr>
          <p:cNvPr id="12" name="Text 10"/>
          <p:cNvSpPr txBox="1"/>
          <p:nvPr/>
        </p:nvSpPr>
        <p:spPr>
          <a:xfrm>
            <a:off x="3063240" y="3575304"/>
            <a:ext cx="2834640" cy="1051560"/>
          </a:xfrm>
          <a:prstGeom prst="rect">
            <a:avLst/>
          </a:prstGeom>
          <a:noFill/>
          <a:ln/>
        </p:spPr>
        <p:txBody>
          <a:bodyPr wrap="square" lIns="0" tIns="0" rIns="0" bIns="0" rtlCol="0" anchor="ctr"/>
          <a:lstStyle/>
          <a:p>
            <a:pPr indent="0" marL="0">
              <a:buNone/>
            </a:pPr>
            <a:r>
              <a:rPr lang="en-US" sz="1350" dirty="0">
                <a:solidFill>
                  <a:srgbClr val="222B40"/>
                </a:solidFill>
                <a:latin typeface="Arial" pitchFamily="34" charset="0"/>
                <a:ea typeface="Arial" pitchFamily="34" charset="-122"/>
                <a:cs typeface="Arial" pitchFamily="34" charset="-120"/>
              </a:rPr>
              <a:t>of orders nationwide; up to 20% in remote areas, 25–30% in sale season.</a:t>
            </a:r>
            <a:pPr indent="0" marL="0">
              <a:buNone/>
            </a:pPr>
            <a:r>
              <a:rPr lang="en-US" sz="1000" dirty="0">
                <a:solidFill>
                  <a:srgbClr val="4A556E"/>
                </a:solidFill>
                <a:latin typeface="Arial" pitchFamily="34" charset="0"/>
                <a:ea typeface="Arial" pitchFamily="34" charset="-122"/>
                <a:cs typeface="Arial" pitchFamily="34" charset="-120"/>
              </a:rPr>
              <a:t> [4]</a:t>
            </a:r>
            <a:endParaRPr lang="en-US" sz="1350" dirty="0"/>
          </a:p>
        </p:txBody>
      </p:sp>
      <p:sp>
        <p:nvSpPr>
          <p:cNvPr id="13" name="Row rule 1"/>
          <p:cNvSpPr/>
          <p:nvPr/>
        </p:nvSpPr>
        <p:spPr>
          <a:xfrm>
            <a:off x="548640" y="4700016"/>
            <a:ext cx="5349240" cy="0"/>
          </a:xfrm>
          <a:prstGeom prst="line">
            <a:avLst/>
          </a:prstGeom>
          <a:noFill/>
          <a:ln w="9525">
            <a:solidFill>
              <a:srgbClr val="D5D9E2"/>
            </a:solidFill>
            <a:prstDash val="solid"/>
          </a:ln>
        </p:spPr>
      </p:sp>
      <p:sp>
        <p:nvSpPr>
          <p:cNvPr id="14" name="Text 12"/>
          <p:cNvSpPr txBox="1"/>
          <p:nvPr/>
        </p:nvSpPr>
        <p:spPr>
          <a:xfrm>
            <a:off x="548640" y="4791456"/>
            <a:ext cx="246888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SHOPEE · DELIVERY WINDOWS</a:t>
            </a:r>
            <a:endParaRPr lang="en-US" sz="950" dirty="0"/>
          </a:p>
        </p:txBody>
      </p:sp>
      <p:sp>
        <p:nvSpPr>
          <p:cNvPr id="15" name="Text 13"/>
          <p:cNvSpPr txBox="1"/>
          <p:nvPr/>
        </p:nvSpPr>
        <p:spPr>
          <a:xfrm>
            <a:off x="548640" y="5047488"/>
            <a:ext cx="2468880" cy="731520"/>
          </a:xfrm>
          <a:prstGeom prst="rect">
            <a:avLst/>
          </a:prstGeom>
          <a:noFill/>
          <a:ln/>
        </p:spPr>
        <p:txBody>
          <a:bodyPr wrap="square" lIns="0" tIns="0" rIns="0" bIns="0" rtlCol="0" anchor="ctr"/>
          <a:lstStyle/>
          <a:p>
            <a:pPr indent="0" marL="0">
              <a:buNone/>
            </a:pPr>
            <a:r>
              <a:rPr lang="en-US" sz="3800" b="1" dirty="0">
                <a:solidFill>
                  <a:srgbClr val="121A2C"/>
                </a:solidFill>
                <a:latin typeface="Arial" pitchFamily="34" charset="0"/>
                <a:ea typeface="Arial" pitchFamily="34" charset="-122"/>
                <a:cs typeface="Arial" pitchFamily="34" charset="-120"/>
              </a:rPr>
              <a:t>0</a:t>
            </a:r>
            <a:endParaRPr lang="en-US" sz="3800" dirty="0"/>
          </a:p>
        </p:txBody>
      </p:sp>
      <p:sp>
        <p:nvSpPr>
          <p:cNvPr id="16" name="Text 14"/>
          <p:cNvSpPr txBox="1"/>
          <p:nvPr/>
        </p:nvSpPr>
        <p:spPr>
          <a:xfrm>
            <a:off x="3063240" y="4828032"/>
            <a:ext cx="2834640" cy="1051560"/>
          </a:xfrm>
          <a:prstGeom prst="rect">
            <a:avLst/>
          </a:prstGeom>
          <a:noFill/>
          <a:ln/>
        </p:spPr>
        <p:txBody>
          <a:bodyPr wrap="square" lIns="0" tIns="0" rIns="0" bIns="0" rtlCol="0" anchor="ctr"/>
          <a:lstStyle/>
          <a:p>
            <a:pPr indent="0" marL="0">
              <a:buNone/>
            </a:pPr>
            <a:r>
              <a:rPr lang="en-US" sz="1350" dirty="0">
                <a:solidFill>
                  <a:srgbClr val="222B40"/>
                </a:solidFill>
                <a:latin typeface="Arial" pitchFamily="34" charset="0"/>
                <a:ea typeface="Arial" pitchFamily="34" charset="-122"/>
                <a:cs typeface="Arial" pitchFamily="34" charset="-120"/>
              </a:rPr>
              <a:t>a buyer can choose. The time is agreed by phone, within 2–3 contacts and 5 days.</a:t>
            </a:r>
            <a:pPr indent="0" marL="0">
              <a:buNone/>
            </a:pPr>
            <a:r>
              <a:rPr lang="en-US" sz="1000" dirty="0">
                <a:solidFill>
                  <a:srgbClr val="4A556E"/>
                </a:solidFill>
                <a:latin typeface="Arial" pitchFamily="34" charset="0"/>
                <a:ea typeface="Arial" pitchFamily="34" charset="-122"/>
                <a:cs typeface="Arial" pitchFamily="34" charset="-120"/>
              </a:rPr>
              <a:t> [5][6]</a:t>
            </a:r>
            <a:endParaRPr lang="en-US" sz="1350" dirty="0"/>
          </a:p>
        </p:txBody>
      </p:sp>
      <p:sp>
        <p:nvSpPr>
          <p:cNvPr id="17" name="Loss card"/>
          <p:cNvSpPr/>
          <p:nvPr/>
        </p:nvSpPr>
        <p:spPr>
          <a:xfrm>
            <a:off x="6199632" y="502920"/>
            <a:ext cx="5440680" cy="5486400"/>
          </a:xfrm>
          <a:prstGeom prst="roundRect">
            <a:avLst>
              <a:gd name="adj" fmla="val 3361"/>
            </a:avLst>
          </a:prstGeom>
          <a:solidFill>
            <a:srgbClr val="FFF1E7"/>
          </a:solidFill>
          <a:ln w="9525">
            <a:solidFill>
              <a:srgbClr val="FFCFB0"/>
            </a:solidFill>
            <a:prstDash val="solid"/>
          </a:ln>
        </p:spPr>
      </p:sp>
      <p:sp>
        <p:nvSpPr>
          <p:cNvPr id="18" name="Text 16"/>
          <p:cNvSpPr txBox="1"/>
          <p:nvPr/>
        </p:nvSpPr>
        <p:spPr>
          <a:xfrm>
            <a:off x="6492240" y="749808"/>
            <a:ext cx="365760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LOSS · ONE AREA · A MONTH</a:t>
            </a:r>
            <a:endParaRPr lang="en-US" sz="950" dirty="0"/>
          </a:p>
        </p:txBody>
      </p:sp>
      <p:graphicFrame>
        <p:nvGraphicFramePr>
          <p:cNvPr id="19" name="Loss chart" descr="Loss a month by item"/>
          <p:cNvGraphicFramePr/>
          <p:nvPr/>
        </p:nvGraphicFramePr>
        <p:xfrm>
          <a:off x="7406640" y="1005840"/>
          <a:ext cx="3017520" cy="274320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406640" y="2103120"/>
            <a:ext cx="3017520" cy="548640"/>
          </a:xfrm>
          <a:prstGeom prst="rect">
            <a:avLst/>
          </a:prstGeom>
          <a:noFill/>
          <a:ln/>
        </p:spPr>
        <p:txBody>
          <a:bodyPr wrap="square" lIns="0" tIns="0" rIns="0" bIns="0" rtlCol="0" anchor="ctr"/>
          <a:lstStyle/>
          <a:p>
            <a:pPr algn="ctr" indent="0" marL="0">
              <a:buNone/>
            </a:pPr>
            <a:r>
              <a:rPr lang="en-US" sz="3000" b="1" dirty="0">
                <a:solidFill>
                  <a:srgbClr val="F05A00"/>
                </a:solidFill>
                <a:latin typeface="Arial" pitchFamily="34" charset="0"/>
                <a:ea typeface="Arial" pitchFamily="34" charset="-122"/>
                <a:cs typeface="Arial" pitchFamily="34" charset="-120"/>
              </a:rPr>
              <a:t>₫</a:t>
            </a:r>
            <a:pPr algn="ctr" indent="0" marL="0">
              <a:buNone/>
            </a:pPr>
            <a:r>
              <a:rPr lang="en-US" sz="3000" b="1" dirty="0">
                <a:solidFill>
                  <a:srgbClr val="121A2C"/>
                </a:solidFill>
                <a:latin typeface="Arial" pitchFamily="34" charset="0"/>
                <a:ea typeface="Arial" pitchFamily="34" charset="-122"/>
                <a:cs typeface="Arial" pitchFamily="34" charset="-120"/>
              </a:rPr>
              <a:t>473M</a:t>
            </a:r>
            <a:endParaRPr lang="en-US" sz="3000" dirty="0"/>
          </a:p>
        </p:txBody>
      </p:sp>
      <p:sp>
        <p:nvSpPr>
          <p:cNvPr id="21" name="Legend rule 0"/>
          <p:cNvSpPr/>
          <p:nvPr/>
        </p:nvSpPr>
        <p:spPr>
          <a:xfrm>
            <a:off x="6492240" y="3840480"/>
            <a:ext cx="4846320" cy="0"/>
          </a:xfrm>
          <a:prstGeom prst="line">
            <a:avLst/>
          </a:prstGeom>
          <a:noFill/>
          <a:ln w="9525">
            <a:solidFill>
              <a:srgbClr val="FFCFB0"/>
            </a:solidFill>
            <a:prstDash val="solid"/>
          </a:ln>
        </p:spPr>
      </p:sp>
      <p:sp>
        <p:nvSpPr>
          <p:cNvPr id="22" name="Legend dot 0"/>
          <p:cNvSpPr/>
          <p:nvPr/>
        </p:nvSpPr>
        <p:spPr>
          <a:xfrm>
            <a:off x="6492240" y="3968496"/>
            <a:ext cx="146304" cy="146304"/>
          </a:xfrm>
          <a:prstGeom prst="ellipse">
            <a:avLst/>
          </a:prstGeom>
          <a:solidFill>
            <a:srgbClr val="F05A00"/>
          </a:solidFill>
          <a:ln/>
        </p:spPr>
      </p:sp>
      <p:sp>
        <p:nvSpPr>
          <p:cNvPr id="23" name="Text 20"/>
          <p:cNvSpPr txBox="1"/>
          <p:nvPr/>
        </p:nvSpPr>
        <p:spPr>
          <a:xfrm>
            <a:off x="6748272" y="3913632"/>
            <a:ext cx="3566160" cy="274320"/>
          </a:xfrm>
          <a:prstGeom prst="rect">
            <a:avLst/>
          </a:prstGeom>
          <a:noFill/>
          <a:ln/>
        </p:spPr>
        <p:txBody>
          <a:bodyPr wrap="square" lIns="0" tIns="0" rIns="0" bIns="0" rtlCol="0" anchor="ctr"/>
          <a:lstStyle/>
          <a:p>
            <a:pPr indent="0" marL="0">
              <a:buNone/>
            </a:pPr>
            <a:r>
              <a:rPr lang="en-US" sz="1250" dirty="0">
                <a:solidFill>
                  <a:srgbClr val="222B40"/>
                </a:solidFill>
                <a:latin typeface="Arial" pitchFamily="34" charset="0"/>
                <a:ea typeface="Arial" pitchFamily="34" charset="-122"/>
                <a:cs typeface="Arial" pitchFamily="34" charset="-120"/>
              </a:rPr>
              <a:t>Return fees paid by sellers</a:t>
            </a:r>
            <a:endParaRPr lang="en-US" sz="1250" dirty="0"/>
          </a:p>
        </p:txBody>
      </p:sp>
      <p:sp>
        <p:nvSpPr>
          <p:cNvPr id="24" name="Text 21"/>
          <p:cNvSpPr txBox="1"/>
          <p:nvPr/>
        </p:nvSpPr>
        <p:spPr>
          <a:xfrm>
            <a:off x="10332720" y="3913632"/>
            <a:ext cx="1005840" cy="274320"/>
          </a:xfrm>
          <a:prstGeom prst="rect">
            <a:avLst/>
          </a:prstGeom>
          <a:noFill/>
          <a:ln/>
        </p:spPr>
        <p:txBody>
          <a:bodyPr wrap="square" lIns="0" tIns="0" rIns="0" bIns="0" rtlCol="0" anchor="ctr"/>
          <a:lstStyle/>
          <a:p>
            <a:pPr algn="r" indent="0" marL="0">
              <a:buNone/>
            </a:pPr>
            <a:r>
              <a:rPr lang="en-US" sz="1300" b="1" dirty="0">
                <a:solidFill>
                  <a:srgbClr val="121A2C"/>
                </a:solidFill>
                <a:latin typeface="Arial" pitchFamily="34" charset="0"/>
                <a:ea typeface="Arial" pitchFamily="34" charset="-122"/>
                <a:cs typeface="Arial" pitchFamily="34" charset="-120"/>
              </a:rPr>
              <a:t>₫288M</a:t>
            </a:r>
            <a:endParaRPr lang="en-US" sz="1300" dirty="0"/>
          </a:p>
        </p:txBody>
      </p:sp>
      <p:sp>
        <p:nvSpPr>
          <p:cNvPr id="25" name="Legend rule 1"/>
          <p:cNvSpPr/>
          <p:nvPr/>
        </p:nvSpPr>
        <p:spPr>
          <a:xfrm>
            <a:off x="6492240" y="4242816"/>
            <a:ext cx="4846320" cy="0"/>
          </a:xfrm>
          <a:prstGeom prst="line">
            <a:avLst/>
          </a:prstGeom>
          <a:noFill/>
          <a:ln w="9525">
            <a:solidFill>
              <a:srgbClr val="FFCFB0"/>
            </a:solidFill>
            <a:prstDash val="solid"/>
          </a:ln>
        </p:spPr>
      </p:sp>
      <p:sp>
        <p:nvSpPr>
          <p:cNvPr id="26" name="Legend dot 1"/>
          <p:cNvSpPr/>
          <p:nvPr/>
        </p:nvSpPr>
        <p:spPr>
          <a:xfrm>
            <a:off x="6492240" y="4370832"/>
            <a:ext cx="146304" cy="146304"/>
          </a:xfrm>
          <a:prstGeom prst="ellipse">
            <a:avLst/>
          </a:prstGeom>
          <a:solidFill>
            <a:srgbClr val="1F2A44"/>
          </a:solidFill>
          <a:ln/>
        </p:spPr>
      </p:sp>
      <p:sp>
        <p:nvSpPr>
          <p:cNvPr id="27" name="Text 24"/>
          <p:cNvSpPr txBox="1"/>
          <p:nvPr/>
        </p:nvSpPr>
        <p:spPr>
          <a:xfrm>
            <a:off x="6748272" y="4315968"/>
            <a:ext cx="3566160" cy="274320"/>
          </a:xfrm>
          <a:prstGeom prst="rect">
            <a:avLst/>
          </a:prstGeom>
          <a:noFill/>
          <a:ln/>
        </p:spPr>
        <p:txBody>
          <a:bodyPr wrap="square" lIns="0" tIns="0" rIns="0" bIns="0" rtlCol="0" anchor="ctr"/>
          <a:lstStyle/>
          <a:p>
            <a:pPr indent="0" marL="0">
              <a:buNone/>
            </a:pPr>
            <a:r>
              <a:rPr lang="en-US" sz="1250" dirty="0">
                <a:solidFill>
                  <a:srgbClr val="222B40"/>
                </a:solidFill>
                <a:latin typeface="Arial" pitchFamily="34" charset="0"/>
                <a:ea typeface="Arial" pitchFamily="34" charset="-122"/>
                <a:cs typeface="Arial" pitchFamily="34" charset="-120"/>
              </a:rPr>
              <a:t>Shipper pay for redelivery</a:t>
            </a:r>
            <a:endParaRPr lang="en-US" sz="1250" dirty="0"/>
          </a:p>
        </p:txBody>
      </p:sp>
      <p:sp>
        <p:nvSpPr>
          <p:cNvPr id="28" name="Text 25"/>
          <p:cNvSpPr txBox="1"/>
          <p:nvPr/>
        </p:nvSpPr>
        <p:spPr>
          <a:xfrm>
            <a:off x="10332720" y="4315968"/>
            <a:ext cx="1005840" cy="274320"/>
          </a:xfrm>
          <a:prstGeom prst="rect">
            <a:avLst/>
          </a:prstGeom>
          <a:noFill/>
          <a:ln/>
        </p:spPr>
        <p:txBody>
          <a:bodyPr wrap="square" lIns="0" tIns="0" rIns="0" bIns="0" rtlCol="0" anchor="ctr"/>
          <a:lstStyle/>
          <a:p>
            <a:pPr algn="r" indent="0" marL="0">
              <a:buNone/>
            </a:pPr>
            <a:r>
              <a:rPr lang="en-US" sz="1300" b="1" dirty="0">
                <a:solidFill>
                  <a:srgbClr val="121A2C"/>
                </a:solidFill>
                <a:latin typeface="Arial" pitchFamily="34" charset="0"/>
                <a:ea typeface="Arial" pitchFamily="34" charset="-122"/>
                <a:cs typeface="Arial" pitchFamily="34" charset="-120"/>
              </a:rPr>
              <a:t>₫101M</a:t>
            </a:r>
            <a:endParaRPr lang="en-US" sz="1300" dirty="0"/>
          </a:p>
        </p:txBody>
      </p:sp>
      <p:sp>
        <p:nvSpPr>
          <p:cNvPr id="29" name="Legend rule 2"/>
          <p:cNvSpPr/>
          <p:nvPr/>
        </p:nvSpPr>
        <p:spPr>
          <a:xfrm>
            <a:off x="6492240" y="4645152"/>
            <a:ext cx="4846320" cy="0"/>
          </a:xfrm>
          <a:prstGeom prst="line">
            <a:avLst/>
          </a:prstGeom>
          <a:noFill/>
          <a:ln w="9525">
            <a:solidFill>
              <a:srgbClr val="FFCFB0"/>
            </a:solidFill>
            <a:prstDash val="solid"/>
          </a:ln>
        </p:spPr>
      </p:sp>
      <p:sp>
        <p:nvSpPr>
          <p:cNvPr id="30" name="Legend dot 2"/>
          <p:cNvSpPr/>
          <p:nvPr/>
        </p:nvSpPr>
        <p:spPr>
          <a:xfrm>
            <a:off x="6492240" y="4773168"/>
            <a:ext cx="146304" cy="146304"/>
          </a:xfrm>
          <a:prstGeom prst="ellipse">
            <a:avLst/>
          </a:prstGeom>
          <a:solidFill>
            <a:srgbClr val="7D8FB5"/>
          </a:solidFill>
          <a:ln/>
        </p:spPr>
      </p:sp>
      <p:sp>
        <p:nvSpPr>
          <p:cNvPr id="31" name="Text 28"/>
          <p:cNvSpPr txBox="1"/>
          <p:nvPr/>
        </p:nvSpPr>
        <p:spPr>
          <a:xfrm>
            <a:off x="6748272" y="4718304"/>
            <a:ext cx="3566160" cy="274320"/>
          </a:xfrm>
          <a:prstGeom prst="rect">
            <a:avLst/>
          </a:prstGeom>
          <a:noFill/>
          <a:ln/>
        </p:spPr>
        <p:txBody>
          <a:bodyPr wrap="square" lIns="0" tIns="0" rIns="0" bIns="0" rtlCol="0" anchor="ctr"/>
          <a:lstStyle/>
          <a:p>
            <a:pPr indent="0" marL="0">
              <a:buNone/>
            </a:pPr>
            <a:r>
              <a:rPr lang="en-US" sz="1250" dirty="0">
                <a:solidFill>
                  <a:srgbClr val="222B40"/>
                </a:solidFill>
                <a:latin typeface="Arial" pitchFamily="34" charset="0"/>
                <a:ea typeface="Arial" pitchFamily="34" charset="-122"/>
                <a:cs typeface="Arial" pitchFamily="34" charset="-120"/>
              </a:rPr>
              <a:t>CS calling buyers back</a:t>
            </a:r>
            <a:endParaRPr lang="en-US" sz="1250" dirty="0"/>
          </a:p>
        </p:txBody>
      </p:sp>
      <p:sp>
        <p:nvSpPr>
          <p:cNvPr id="32" name="Text 29"/>
          <p:cNvSpPr txBox="1"/>
          <p:nvPr/>
        </p:nvSpPr>
        <p:spPr>
          <a:xfrm>
            <a:off x="10332720" y="4718304"/>
            <a:ext cx="1005840" cy="274320"/>
          </a:xfrm>
          <a:prstGeom prst="rect">
            <a:avLst/>
          </a:prstGeom>
          <a:noFill/>
          <a:ln/>
        </p:spPr>
        <p:txBody>
          <a:bodyPr wrap="square" lIns="0" tIns="0" rIns="0" bIns="0" rtlCol="0" anchor="ctr"/>
          <a:lstStyle/>
          <a:p>
            <a:pPr algn="r" indent="0" marL="0">
              <a:buNone/>
            </a:pPr>
            <a:r>
              <a:rPr lang="en-US" sz="1300" b="1" dirty="0">
                <a:solidFill>
                  <a:srgbClr val="121A2C"/>
                </a:solidFill>
                <a:latin typeface="Arial" pitchFamily="34" charset="0"/>
                <a:ea typeface="Arial" pitchFamily="34" charset="-122"/>
                <a:cs typeface="Arial" pitchFamily="34" charset="-120"/>
              </a:rPr>
              <a:t>₫45M</a:t>
            </a:r>
            <a:endParaRPr lang="en-US" sz="1300" dirty="0"/>
          </a:p>
        </p:txBody>
      </p:sp>
      <p:sp>
        <p:nvSpPr>
          <p:cNvPr id="33" name="Legend rule 3"/>
          <p:cNvSpPr/>
          <p:nvPr/>
        </p:nvSpPr>
        <p:spPr>
          <a:xfrm>
            <a:off x="6492240" y="5047488"/>
            <a:ext cx="4846320" cy="0"/>
          </a:xfrm>
          <a:prstGeom prst="line">
            <a:avLst/>
          </a:prstGeom>
          <a:noFill/>
          <a:ln w="9525">
            <a:solidFill>
              <a:srgbClr val="FFCFB0"/>
            </a:solidFill>
            <a:prstDash val="solid"/>
          </a:ln>
        </p:spPr>
      </p:sp>
      <p:sp>
        <p:nvSpPr>
          <p:cNvPr id="34" name="Legend dot 3"/>
          <p:cNvSpPr/>
          <p:nvPr/>
        </p:nvSpPr>
        <p:spPr>
          <a:xfrm>
            <a:off x="6492240" y="5175504"/>
            <a:ext cx="146304" cy="146304"/>
          </a:xfrm>
          <a:prstGeom prst="ellipse">
            <a:avLst/>
          </a:prstGeom>
          <a:solidFill>
            <a:srgbClr val="C9D4EA"/>
          </a:solidFill>
          <a:ln/>
        </p:spPr>
      </p:sp>
      <p:sp>
        <p:nvSpPr>
          <p:cNvPr id="35" name="Text 32"/>
          <p:cNvSpPr txBox="1"/>
          <p:nvPr/>
        </p:nvSpPr>
        <p:spPr>
          <a:xfrm>
            <a:off x="6748272" y="5120640"/>
            <a:ext cx="3566160" cy="274320"/>
          </a:xfrm>
          <a:prstGeom prst="rect">
            <a:avLst/>
          </a:prstGeom>
          <a:noFill/>
          <a:ln/>
        </p:spPr>
        <p:txBody>
          <a:bodyPr wrap="square" lIns="0" tIns="0" rIns="0" bIns="0" rtlCol="0" anchor="ctr"/>
          <a:lstStyle/>
          <a:p>
            <a:pPr indent="0" marL="0">
              <a:buNone/>
            </a:pPr>
            <a:r>
              <a:rPr lang="en-US" sz="1250" dirty="0">
                <a:solidFill>
                  <a:srgbClr val="222B40"/>
                </a:solidFill>
                <a:latin typeface="Arial" pitchFamily="34" charset="0"/>
                <a:ea typeface="Arial" pitchFamily="34" charset="-122"/>
                <a:cs typeface="Arial" pitchFamily="34" charset="-120"/>
              </a:rPr>
              <a:t>Shipper time at unanswered doors</a:t>
            </a:r>
            <a:endParaRPr lang="en-US" sz="1250" dirty="0"/>
          </a:p>
        </p:txBody>
      </p:sp>
      <p:sp>
        <p:nvSpPr>
          <p:cNvPr id="36" name="Text 33"/>
          <p:cNvSpPr txBox="1"/>
          <p:nvPr/>
        </p:nvSpPr>
        <p:spPr>
          <a:xfrm>
            <a:off x="10332720" y="5120640"/>
            <a:ext cx="1005840" cy="274320"/>
          </a:xfrm>
          <a:prstGeom prst="rect">
            <a:avLst/>
          </a:prstGeom>
          <a:noFill/>
          <a:ln/>
        </p:spPr>
        <p:txBody>
          <a:bodyPr wrap="square" lIns="0" tIns="0" rIns="0" bIns="0" rtlCol="0" anchor="ctr"/>
          <a:lstStyle/>
          <a:p>
            <a:pPr algn="r" indent="0" marL="0">
              <a:buNone/>
            </a:pPr>
            <a:r>
              <a:rPr lang="en-US" sz="1300" b="1" dirty="0">
                <a:solidFill>
                  <a:srgbClr val="121A2C"/>
                </a:solidFill>
                <a:latin typeface="Arial" pitchFamily="34" charset="0"/>
                <a:ea typeface="Arial" pitchFamily="34" charset="-122"/>
                <a:cs typeface="Arial" pitchFamily="34" charset="-120"/>
              </a:rPr>
              <a:t>₫39M</a:t>
            </a:r>
            <a:endParaRPr lang="en-US" sz="1300" dirty="0"/>
          </a:p>
        </p:txBody>
      </p:sp>
      <p:sp>
        <p:nvSpPr>
          <p:cNvPr id="37" name="Text 34"/>
          <p:cNvSpPr txBox="1"/>
          <p:nvPr/>
        </p:nvSpPr>
        <p:spPr>
          <a:xfrm>
            <a:off x="6492240" y="5486400"/>
            <a:ext cx="4846320" cy="274320"/>
          </a:xfrm>
          <a:prstGeom prst="rect">
            <a:avLst/>
          </a:prstGeom>
          <a:noFill/>
          <a:ln/>
        </p:spPr>
        <p:txBody>
          <a:bodyPr wrap="square" lIns="0" tIns="0" rIns="0" bIns="0" rtlCol="0" anchor="ctr"/>
          <a:lstStyle/>
          <a:p>
            <a:pPr indent="0" marL="0">
              <a:buNone/>
            </a:pPr>
            <a:r>
              <a:rPr lang="en-US" sz="1100" dirty="0">
                <a:solidFill>
                  <a:srgbClr val="3A4358"/>
                </a:solidFill>
                <a:latin typeface="Arial" pitchFamily="34" charset="0"/>
                <a:ea typeface="Arial" pitchFamily="34" charset="-122"/>
                <a:cs typeface="Arial" pitchFamily="34" charset="-120"/>
              </a:rPr>
              <a:t>20 shippers, 4,000 orders a day. Modelled.</a:t>
            </a:r>
            <a:pPr indent="0" marL="0">
              <a:buNone/>
            </a:pPr>
            <a:r>
              <a:rPr lang="en-US" sz="1000" dirty="0">
                <a:solidFill>
                  <a:srgbClr val="4A556E"/>
                </a:solidFill>
                <a:latin typeface="Arial" pitchFamily="34" charset="0"/>
                <a:ea typeface="Arial" pitchFamily="34" charset="-122"/>
                <a:cs typeface="Arial" pitchFamily="34" charset="-120"/>
              </a:rPr>
              <a:t> [7][9]</a:t>
            </a:r>
            <a:endParaRPr lang="en-US" sz="1100" dirty="0"/>
          </a:p>
        </p:txBody>
      </p:sp>
      <p:sp>
        <p:nvSpPr>
          <p:cNvPr id="38" name="Text 35"/>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06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04  </a:t>
            </a:r>
            <a:pPr indent="0" marL="0">
              <a:buNone/>
            </a:pPr>
            <a:r>
              <a:rPr lang="en-US" sz="1050" b="1" spc="200" kern="0" dirty="0">
                <a:solidFill>
                  <a:srgbClr val="1F2A44"/>
                </a:solidFill>
                <a:latin typeface="Arial" pitchFamily="34" charset="0"/>
                <a:ea typeface="Arial" pitchFamily="34" charset="-122"/>
                <a:cs typeface="Arial" pitchFamily="34" charset="-120"/>
              </a:rPr>
              <a:t>WHY WE BUILT ALODI</a:t>
            </a:r>
            <a:endParaRPr lang="en-US" sz="1050" dirty="0"/>
          </a:p>
        </p:txBody>
      </p:sp>
      <p:sp>
        <p:nvSpPr>
          <p:cNvPr id="4" name="Text 2"/>
          <p:cNvSpPr txBox="1"/>
          <p:nvPr/>
        </p:nvSpPr>
        <p:spPr>
          <a:xfrm>
            <a:off x="548640" y="841248"/>
            <a:ext cx="11064240" cy="548640"/>
          </a:xfrm>
          <a:prstGeom prst="rect">
            <a:avLst/>
          </a:prstGeom>
          <a:noFill/>
          <a:ln/>
        </p:spPr>
        <p:txBody>
          <a:bodyPr wrap="square" lIns="0" tIns="0" rIns="0" bIns="0" rtlCol="0" anchor="t"/>
          <a:lstStyle/>
          <a:p>
            <a:pPr indent="0" marL="0">
              <a:lnSpc>
                <a:spcPct val="95000"/>
              </a:lnSpc>
              <a:buNone/>
            </a:pPr>
            <a:r>
              <a:rPr lang="en-US" sz="2800" b="1" dirty="0">
                <a:solidFill>
                  <a:srgbClr val="5F6F91"/>
                </a:solidFill>
                <a:latin typeface="Arial" pitchFamily="34" charset="0"/>
                <a:ea typeface="Arial" pitchFamily="34" charset="-122"/>
                <a:cs typeface="Arial" pitchFamily="34" charset="-120"/>
              </a:rPr>
              <a:t>The route isn’t broken. </a:t>
            </a:r>
            <a:pPr indent="0" marL="0">
              <a:lnSpc>
                <a:spcPct val="95000"/>
              </a:lnSpc>
              <a:buNone/>
            </a:pPr>
            <a:r>
              <a:rPr lang="en-US" sz="2800" b="1" dirty="0">
                <a:solidFill>
                  <a:srgbClr val="121A2C"/>
                </a:solidFill>
                <a:latin typeface="Arial" pitchFamily="34" charset="0"/>
                <a:ea typeface="Arial" pitchFamily="34" charset="-122"/>
                <a:cs typeface="Arial" pitchFamily="34" charset="-120"/>
              </a:rPr>
              <a:t>The context dies in a phone call.</a:t>
            </a:r>
            <a:endParaRPr lang="en-US" sz="2800" dirty="0"/>
          </a:p>
        </p:txBody>
      </p:sp>
      <p:sp>
        <p:nvSpPr>
          <p:cNvPr id="5" name="Link 0"/>
          <p:cNvSpPr/>
          <p:nvPr/>
        </p:nvSpPr>
        <p:spPr>
          <a:xfrm>
            <a:off x="3657600" y="2034540"/>
            <a:ext cx="530352" cy="982980"/>
          </a:xfrm>
          <a:prstGeom prst="line">
            <a:avLst/>
          </a:prstGeom>
          <a:noFill/>
          <a:ln w="12700">
            <a:solidFill>
              <a:srgbClr val="5F6F91"/>
            </a:solidFill>
            <a:prstDash val="sysDash"/>
          </a:ln>
        </p:spPr>
      </p:sp>
      <p:sp>
        <p:nvSpPr>
          <p:cNvPr id="6" name="Actor 1"/>
          <p:cNvSpPr/>
          <p:nvPr/>
        </p:nvSpPr>
        <p:spPr>
          <a:xfrm>
            <a:off x="548640" y="1600200"/>
            <a:ext cx="3108960" cy="868680"/>
          </a:xfrm>
          <a:prstGeom prst="roundRect">
            <a:avLst>
              <a:gd name="adj" fmla="val 14737"/>
            </a:avLst>
          </a:prstGeom>
          <a:solidFill>
            <a:srgbClr val="FFFFFF"/>
          </a:solidFill>
          <a:ln w="9525">
            <a:solidFill>
              <a:srgbClr val="D5D9E2"/>
            </a:solidFill>
            <a:prstDash val="solid"/>
          </a:ln>
        </p:spPr>
      </p:sp>
      <p:pic>
        <p:nvPicPr>
          <p:cNvPr id="7" name="Person 1" descr="Shipper">    </p:cNvPr>
          <p:cNvPicPr>
            <a:picLocks noChangeAspect="1"/>
          </p:cNvPicPr>
          <p:nvPr/>
        </p:nvPicPr>
        <p:blipFill>
          <a:blip r:embed="rId1"/>
          <a:stretch>
            <a:fillRect/>
          </a:stretch>
        </p:blipFill>
        <p:spPr>
          <a:xfrm>
            <a:off x="676656" y="1755648"/>
            <a:ext cx="566928" cy="566928"/>
          </a:xfrm>
          <a:prstGeom prst="rect">
            <a:avLst/>
          </a:prstGeom>
        </p:spPr>
      </p:pic>
      <p:sp>
        <p:nvSpPr>
          <p:cNvPr id="8" name="Text 5"/>
          <p:cNvSpPr txBox="1"/>
          <p:nvPr/>
        </p:nvSpPr>
        <p:spPr>
          <a:xfrm>
            <a:off x="1353312" y="1755648"/>
            <a:ext cx="160020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Shipper</a:t>
            </a:r>
            <a:endParaRPr lang="en-US" sz="1300" dirty="0"/>
          </a:p>
        </p:txBody>
      </p:sp>
      <p:sp>
        <p:nvSpPr>
          <p:cNvPr id="9" name="Text 6"/>
          <p:cNvSpPr txBox="1"/>
          <p:nvPr/>
        </p:nvSpPr>
        <p:spPr>
          <a:xfrm>
            <a:off x="1353312" y="2029968"/>
            <a:ext cx="2212848" cy="274320"/>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Taps one outcome</a:t>
            </a:r>
            <a:endParaRPr lang="en-US" sz="1150" dirty="0"/>
          </a:p>
        </p:txBody>
      </p:sp>
      <p:sp>
        <p:nvSpPr>
          <p:cNvPr id="10" name="Tag 0"/>
          <p:cNvSpPr/>
          <p:nvPr/>
        </p:nvSpPr>
        <p:spPr>
          <a:xfrm>
            <a:off x="2907792" y="1737360"/>
            <a:ext cx="640080" cy="228600"/>
          </a:xfrm>
          <a:prstGeom prst="roundRect">
            <a:avLst>
              <a:gd name="adj" fmla="val 24000"/>
            </a:avLst>
          </a:prstGeom>
          <a:solidFill>
            <a:srgbClr val="E9EEF8"/>
          </a:solidFill>
          <a:ln/>
        </p:spPr>
      </p:sp>
      <p:sp>
        <p:nvSpPr>
          <p:cNvPr id="11" name="Text 8"/>
          <p:cNvSpPr txBox="1"/>
          <p:nvPr/>
        </p:nvSpPr>
        <p:spPr>
          <a:xfrm>
            <a:off x="2907792" y="1737360"/>
            <a:ext cx="640080" cy="228600"/>
          </a:xfrm>
          <a:prstGeom prst="rect">
            <a:avLst/>
          </a:prstGeom>
          <a:noFill/>
          <a:ln/>
        </p:spPr>
        <p:txBody>
          <a:bodyPr wrap="square" lIns="0" tIns="0" rIns="0" bIns="0" rtlCol="0" anchor="ctr"/>
          <a:lstStyle/>
          <a:p>
            <a:pPr algn="ctr" indent="0" marL="0">
              <a:buNone/>
            </a:pPr>
            <a:r>
              <a:rPr lang="en-US" sz="750" b="1" spc="50" kern="0" dirty="0">
                <a:solidFill>
                  <a:srgbClr val="1F2A44"/>
                </a:solidFill>
                <a:latin typeface="Arial" pitchFamily="34" charset="0"/>
                <a:ea typeface="Arial" pitchFamily="34" charset="-122"/>
                <a:cs typeface="Arial" pitchFamily="34" charset="-120"/>
              </a:rPr>
              <a:t>TAP</a:t>
            </a:r>
            <a:endParaRPr lang="en-US" sz="750" dirty="0"/>
          </a:p>
        </p:txBody>
      </p:sp>
      <p:sp>
        <p:nvSpPr>
          <p:cNvPr id="12" name="Link 1"/>
          <p:cNvSpPr/>
          <p:nvPr/>
        </p:nvSpPr>
        <p:spPr>
          <a:xfrm>
            <a:off x="3657600" y="3012948"/>
            <a:ext cx="530352" cy="4572"/>
          </a:xfrm>
          <a:prstGeom prst="line">
            <a:avLst/>
          </a:prstGeom>
          <a:noFill/>
          <a:ln w="12700">
            <a:solidFill>
              <a:srgbClr val="5F6F91"/>
            </a:solidFill>
            <a:prstDash val="sysDash"/>
          </a:ln>
        </p:spPr>
      </p:sp>
      <p:sp>
        <p:nvSpPr>
          <p:cNvPr id="13" name="Actor 2"/>
          <p:cNvSpPr/>
          <p:nvPr/>
        </p:nvSpPr>
        <p:spPr>
          <a:xfrm>
            <a:off x="548640" y="2578608"/>
            <a:ext cx="3108960" cy="868680"/>
          </a:xfrm>
          <a:prstGeom prst="roundRect">
            <a:avLst>
              <a:gd name="adj" fmla="val 14737"/>
            </a:avLst>
          </a:prstGeom>
          <a:solidFill>
            <a:srgbClr val="FFFFFF"/>
          </a:solidFill>
          <a:ln w="9525">
            <a:solidFill>
              <a:srgbClr val="D5D9E2"/>
            </a:solidFill>
            <a:prstDash val="solid"/>
          </a:ln>
        </p:spPr>
      </p:sp>
      <p:pic>
        <p:nvPicPr>
          <p:cNvPr id="14" name="Person 2" descr="Buyer">    </p:cNvPr>
          <p:cNvPicPr>
            <a:picLocks noChangeAspect="1"/>
          </p:cNvPicPr>
          <p:nvPr/>
        </p:nvPicPr>
        <p:blipFill>
          <a:blip r:embed="rId2"/>
          <a:stretch>
            <a:fillRect/>
          </a:stretch>
        </p:blipFill>
        <p:spPr>
          <a:xfrm>
            <a:off x="676656" y="2734056"/>
            <a:ext cx="566928" cy="566928"/>
          </a:xfrm>
          <a:prstGeom prst="rect">
            <a:avLst/>
          </a:prstGeom>
        </p:spPr>
      </p:pic>
      <p:sp>
        <p:nvSpPr>
          <p:cNvPr id="15" name="Text 11"/>
          <p:cNvSpPr txBox="1"/>
          <p:nvPr/>
        </p:nvSpPr>
        <p:spPr>
          <a:xfrm>
            <a:off x="1353312" y="2734056"/>
            <a:ext cx="160020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Buyer</a:t>
            </a:r>
            <a:endParaRPr lang="en-US" sz="1300" dirty="0"/>
          </a:p>
        </p:txBody>
      </p:sp>
      <p:sp>
        <p:nvSpPr>
          <p:cNvPr id="16" name="Text 12"/>
          <p:cNvSpPr txBox="1"/>
          <p:nvPr/>
        </p:nvSpPr>
        <p:spPr>
          <a:xfrm>
            <a:off x="1353312" y="3008376"/>
            <a:ext cx="2212848" cy="274320"/>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Answers in chat or on a call</a:t>
            </a:r>
            <a:endParaRPr lang="en-US" sz="1150" dirty="0"/>
          </a:p>
        </p:txBody>
      </p:sp>
      <p:sp>
        <p:nvSpPr>
          <p:cNvPr id="17" name="Tag 1"/>
          <p:cNvSpPr/>
          <p:nvPr/>
        </p:nvSpPr>
        <p:spPr>
          <a:xfrm>
            <a:off x="2907792" y="2715768"/>
            <a:ext cx="640080" cy="228600"/>
          </a:xfrm>
          <a:prstGeom prst="roundRect">
            <a:avLst>
              <a:gd name="adj" fmla="val 24000"/>
            </a:avLst>
          </a:prstGeom>
          <a:solidFill>
            <a:srgbClr val="E9EEF8"/>
          </a:solidFill>
          <a:ln/>
        </p:spPr>
      </p:sp>
      <p:sp>
        <p:nvSpPr>
          <p:cNvPr id="18" name="Text 14"/>
          <p:cNvSpPr txBox="1"/>
          <p:nvPr/>
        </p:nvSpPr>
        <p:spPr>
          <a:xfrm>
            <a:off x="2907792" y="2715768"/>
            <a:ext cx="640080" cy="228600"/>
          </a:xfrm>
          <a:prstGeom prst="rect">
            <a:avLst/>
          </a:prstGeom>
          <a:noFill/>
          <a:ln/>
        </p:spPr>
        <p:txBody>
          <a:bodyPr wrap="square" lIns="0" tIns="0" rIns="0" bIns="0" rtlCol="0" anchor="ctr"/>
          <a:lstStyle/>
          <a:p>
            <a:pPr algn="ctr" indent="0" marL="0">
              <a:buNone/>
            </a:pPr>
            <a:r>
              <a:rPr lang="en-US" sz="750" b="1" spc="50" kern="0" dirty="0">
                <a:solidFill>
                  <a:srgbClr val="1F2A44"/>
                </a:solidFill>
                <a:latin typeface="Arial" pitchFamily="34" charset="0"/>
                <a:ea typeface="Arial" pitchFamily="34" charset="-122"/>
                <a:cs typeface="Arial" pitchFamily="34" charset="-120"/>
              </a:rPr>
              <a:t>ANSWER</a:t>
            </a:r>
            <a:endParaRPr lang="en-US" sz="750" dirty="0"/>
          </a:p>
        </p:txBody>
      </p:sp>
      <p:sp>
        <p:nvSpPr>
          <p:cNvPr id="19" name="Link 2"/>
          <p:cNvSpPr/>
          <p:nvPr/>
        </p:nvSpPr>
        <p:spPr>
          <a:xfrm flipV="1">
            <a:off x="3657600" y="3017520"/>
            <a:ext cx="530352" cy="973836"/>
          </a:xfrm>
          <a:prstGeom prst="line">
            <a:avLst/>
          </a:prstGeom>
          <a:noFill/>
          <a:ln w="12700">
            <a:solidFill>
              <a:srgbClr val="5F6F91"/>
            </a:solidFill>
            <a:prstDash val="sysDash"/>
          </a:ln>
        </p:spPr>
      </p:sp>
      <p:sp>
        <p:nvSpPr>
          <p:cNvPr id="20" name="Actor 3"/>
          <p:cNvSpPr/>
          <p:nvPr/>
        </p:nvSpPr>
        <p:spPr>
          <a:xfrm>
            <a:off x="548640" y="3557016"/>
            <a:ext cx="3108960" cy="868680"/>
          </a:xfrm>
          <a:prstGeom prst="roundRect">
            <a:avLst>
              <a:gd name="adj" fmla="val 14737"/>
            </a:avLst>
          </a:prstGeom>
          <a:solidFill>
            <a:srgbClr val="FFFFFF"/>
          </a:solidFill>
          <a:ln w="9525">
            <a:solidFill>
              <a:srgbClr val="D5D9E2"/>
            </a:solidFill>
            <a:prstDash val="solid"/>
          </a:ln>
        </p:spPr>
      </p:sp>
      <p:pic>
        <p:nvPicPr>
          <p:cNvPr id="21" name="Person 3" descr="Hub ops">    </p:cNvPr>
          <p:cNvPicPr>
            <a:picLocks noChangeAspect="1"/>
          </p:cNvPicPr>
          <p:nvPr/>
        </p:nvPicPr>
        <p:blipFill>
          <a:blip r:embed="rId3"/>
          <a:stretch>
            <a:fillRect/>
          </a:stretch>
        </p:blipFill>
        <p:spPr>
          <a:xfrm>
            <a:off x="676656" y="3712464"/>
            <a:ext cx="566928" cy="566928"/>
          </a:xfrm>
          <a:prstGeom prst="rect">
            <a:avLst/>
          </a:prstGeom>
        </p:spPr>
      </p:pic>
      <p:sp>
        <p:nvSpPr>
          <p:cNvPr id="22" name="Text 17"/>
          <p:cNvSpPr txBox="1"/>
          <p:nvPr/>
        </p:nvSpPr>
        <p:spPr>
          <a:xfrm>
            <a:off x="1353312" y="3712464"/>
            <a:ext cx="160020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Hub ops</a:t>
            </a:r>
            <a:endParaRPr lang="en-US" sz="1300" dirty="0"/>
          </a:p>
        </p:txBody>
      </p:sp>
      <p:sp>
        <p:nvSpPr>
          <p:cNvPr id="23" name="Text 18"/>
          <p:cNvSpPr txBox="1"/>
          <p:nvPr/>
        </p:nvSpPr>
        <p:spPr>
          <a:xfrm>
            <a:off x="1353312" y="3986784"/>
            <a:ext cx="2212848" cy="274320"/>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Route and order data</a:t>
            </a:r>
            <a:endParaRPr lang="en-US" sz="1150" dirty="0"/>
          </a:p>
        </p:txBody>
      </p:sp>
      <p:sp>
        <p:nvSpPr>
          <p:cNvPr id="24" name="Tag 2"/>
          <p:cNvSpPr/>
          <p:nvPr/>
        </p:nvSpPr>
        <p:spPr>
          <a:xfrm>
            <a:off x="2907792" y="3694176"/>
            <a:ext cx="640080" cy="228600"/>
          </a:xfrm>
          <a:prstGeom prst="roundRect">
            <a:avLst>
              <a:gd name="adj" fmla="val 24000"/>
            </a:avLst>
          </a:prstGeom>
          <a:solidFill>
            <a:srgbClr val="E9EEF8"/>
          </a:solidFill>
          <a:ln/>
        </p:spPr>
      </p:sp>
      <p:sp>
        <p:nvSpPr>
          <p:cNvPr id="25" name="Text 20"/>
          <p:cNvSpPr txBox="1"/>
          <p:nvPr/>
        </p:nvSpPr>
        <p:spPr>
          <a:xfrm>
            <a:off x="2907792" y="3694176"/>
            <a:ext cx="640080" cy="228600"/>
          </a:xfrm>
          <a:prstGeom prst="rect">
            <a:avLst/>
          </a:prstGeom>
          <a:noFill/>
          <a:ln/>
        </p:spPr>
        <p:txBody>
          <a:bodyPr wrap="square" lIns="0" tIns="0" rIns="0" bIns="0" rtlCol="0" anchor="ctr"/>
          <a:lstStyle/>
          <a:p>
            <a:pPr algn="ctr" indent="0" marL="0">
              <a:buNone/>
            </a:pPr>
            <a:r>
              <a:rPr lang="en-US" sz="750" b="1" spc="50" kern="0" dirty="0">
                <a:solidFill>
                  <a:srgbClr val="1F2A44"/>
                </a:solidFill>
                <a:latin typeface="Arial" pitchFamily="34" charset="0"/>
                <a:ea typeface="Arial" pitchFamily="34" charset="-122"/>
                <a:cs typeface="Arial" pitchFamily="34" charset="-120"/>
              </a:rPr>
              <a:t>DATA</a:t>
            </a:r>
            <a:endParaRPr lang="en-US" sz="750" dirty="0"/>
          </a:p>
        </p:txBody>
      </p:sp>
      <p:sp>
        <p:nvSpPr>
          <p:cNvPr id="26" name="Link 3"/>
          <p:cNvSpPr/>
          <p:nvPr/>
        </p:nvSpPr>
        <p:spPr>
          <a:xfrm flipV="1">
            <a:off x="8001000" y="2034540"/>
            <a:ext cx="530352" cy="982980"/>
          </a:xfrm>
          <a:prstGeom prst="line">
            <a:avLst/>
          </a:prstGeom>
          <a:noFill/>
          <a:ln w="12700">
            <a:solidFill>
              <a:srgbClr val="5F6F91"/>
            </a:solidFill>
            <a:prstDash val="sysDash"/>
          </a:ln>
        </p:spPr>
      </p:sp>
      <p:sp>
        <p:nvSpPr>
          <p:cNvPr id="27" name="Actor 4"/>
          <p:cNvSpPr/>
          <p:nvPr/>
        </p:nvSpPr>
        <p:spPr>
          <a:xfrm>
            <a:off x="8531352" y="1600200"/>
            <a:ext cx="3108960" cy="868680"/>
          </a:xfrm>
          <a:prstGeom prst="roundRect">
            <a:avLst>
              <a:gd name="adj" fmla="val 14737"/>
            </a:avLst>
          </a:prstGeom>
          <a:solidFill>
            <a:srgbClr val="FFFFFF"/>
          </a:solidFill>
          <a:ln w="9525">
            <a:solidFill>
              <a:srgbClr val="D5D9E2"/>
            </a:solidFill>
            <a:prstDash val="solid"/>
          </a:ln>
        </p:spPr>
      </p:sp>
      <p:pic>
        <p:nvPicPr>
          <p:cNvPr id="28" name="Person 4" descr="Next shipper">    </p:cNvPr>
          <p:cNvPicPr>
            <a:picLocks noChangeAspect="1"/>
          </p:cNvPicPr>
          <p:nvPr/>
        </p:nvPicPr>
        <p:blipFill>
          <a:blip r:embed="rId4"/>
          <a:stretch>
            <a:fillRect/>
          </a:stretch>
        </p:blipFill>
        <p:spPr>
          <a:xfrm>
            <a:off x="8659368" y="1755648"/>
            <a:ext cx="566928" cy="566928"/>
          </a:xfrm>
          <a:prstGeom prst="rect">
            <a:avLst/>
          </a:prstGeom>
        </p:spPr>
      </p:pic>
      <p:sp>
        <p:nvSpPr>
          <p:cNvPr id="29" name="Text 23"/>
          <p:cNvSpPr txBox="1"/>
          <p:nvPr/>
        </p:nvSpPr>
        <p:spPr>
          <a:xfrm>
            <a:off x="9336024" y="1755648"/>
            <a:ext cx="160020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Next shipper</a:t>
            </a:r>
            <a:endParaRPr lang="en-US" sz="1300" dirty="0"/>
          </a:p>
        </p:txBody>
      </p:sp>
      <p:sp>
        <p:nvSpPr>
          <p:cNvPr id="30" name="Text 24"/>
          <p:cNvSpPr txBox="1"/>
          <p:nvPr/>
        </p:nvSpPr>
        <p:spPr>
          <a:xfrm>
            <a:off x="9336024" y="2029968"/>
            <a:ext cx="2212848" cy="274320"/>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Gets when, where and who</a:t>
            </a:r>
            <a:endParaRPr lang="en-US" sz="1150" dirty="0"/>
          </a:p>
        </p:txBody>
      </p:sp>
      <p:sp>
        <p:nvSpPr>
          <p:cNvPr id="31" name="Tag 3"/>
          <p:cNvSpPr/>
          <p:nvPr/>
        </p:nvSpPr>
        <p:spPr>
          <a:xfrm>
            <a:off x="10890504" y="1737360"/>
            <a:ext cx="640080" cy="228600"/>
          </a:xfrm>
          <a:prstGeom prst="roundRect">
            <a:avLst>
              <a:gd name="adj" fmla="val 24000"/>
            </a:avLst>
          </a:prstGeom>
          <a:solidFill>
            <a:srgbClr val="FFF1E7"/>
          </a:solidFill>
          <a:ln/>
        </p:spPr>
      </p:sp>
      <p:sp>
        <p:nvSpPr>
          <p:cNvPr id="32" name="Text 26"/>
          <p:cNvSpPr txBox="1"/>
          <p:nvPr/>
        </p:nvSpPr>
        <p:spPr>
          <a:xfrm>
            <a:off x="10890504" y="1737360"/>
            <a:ext cx="640080" cy="228600"/>
          </a:xfrm>
          <a:prstGeom prst="rect">
            <a:avLst/>
          </a:prstGeom>
          <a:noFill/>
          <a:ln/>
        </p:spPr>
        <p:txBody>
          <a:bodyPr wrap="square" lIns="0" tIns="0" rIns="0" bIns="0" rtlCol="0" anchor="ctr"/>
          <a:lstStyle/>
          <a:p>
            <a:pPr algn="ctr" indent="0" marL="0">
              <a:buNone/>
            </a:pPr>
            <a:r>
              <a:rPr lang="en-US" sz="750" b="1" spc="50" kern="0" dirty="0">
                <a:solidFill>
                  <a:srgbClr val="F05A00"/>
                </a:solidFill>
                <a:latin typeface="Arial" pitchFamily="34" charset="0"/>
                <a:ea typeface="Arial" pitchFamily="34" charset="-122"/>
                <a:cs typeface="Arial" pitchFamily="34" charset="-120"/>
              </a:rPr>
              <a:t>CARD</a:t>
            </a:r>
            <a:endParaRPr lang="en-US" sz="750" dirty="0"/>
          </a:p>
        </p:txBody>
      </p:sp>
      <p:sp>
        <p:nvSpPr>
          <p:cNvPr id="33" name="Link 4"/>
          <p:cNvSpPr/>
          <p:nvPr/>
        </p:nvSpPr>
        <p:spPr>
          <a:xfrm flipV="1">
            <a:off x="8001000" y="3012948"/>
            <a:ext cx="530352" cy="4572"/>
          </a:xfrm>
          <a:prstGeom prst="line">
            <a:avLst/>
          </a:prstGeom>
          <a:noFill/>
          <a:ln w="12700">
            <a:solidFill>
              <a:srgbClr val="5F6F91"/>
            </a:solidFill>
            <a:prstDash val="sysDash"/>
          </a:ln>
        </p:spPr>
      </p:sp>
      <p:sp>
        <p:nvSpPr>
          <p:cNvPr id="34" name="Actor 5"/>
          <p:cNvSpPr/>
          <p:nvPr/>
        </p:nvSpPr>
        <p:spPr>
          <a:xfrm>
            <a:off x="8531352" y="2578608"/>
            <a:ext cx="3108960" cy="868680"/>
          </a:xfrm>
          <a:prstGeom prst="roundRect">
            <a:avLst>
              <a:gd name="adj" fmla="val 14737"/>
            </a:avLst>
          </a:prstGeom>
          <a:solidFill>
            <a:srgbClr val="FFFFFF"/>
          </a:solidFill>
          <a:ln w="9525">
            <a:solidFill>
              <a:srgbClr val="D5D9E2"/>
            </a:solidFill>
            <a:prstDash val="solid"/>
          </a:ln>
        </p:spPr>
      </p:sp>
      <p:pic>
        <p:nvPicPr>
          <p:cNvPr id="35" name="Person 5" descr="Customer service">    </p:cNvPr>
          <p:cNvPicPr>
            <a:picLocks noChangeAspect="1"/>
          </p:cNvPicPr>
          <p:nvPr/>
        </p:nvPicPr>
        <p:blipFill>
          <a:blip r:embed="rId5"/>
          <a:stretch>
            <a:fillRect/>
          </a:stretch>
        </p:blipFill>
        <p:spPr>
          <a:xfrm>
            <a:off x="8659368" y="2734056"/>
            <a:ext cx="566928" cy="566928"/>
          </a:xfrm>
          <a:prstGeom prst="rect">
            <a:avLst/>
          </a:prstGeom>
        </p:spPr>
      </p:pic>
      <p:sp>
        <p:nvSpPr>
          <p:cNvPr id="36" name="Text 29"/>
          <p:cNvSpPr txBox="1"/>
          <p:nvPr/>
        </p:nvSpPr>
        <p:spPr>
          <a:xfrm>
            <a:off x="9336024" y="2734056"/>
            <a:ext cx="160020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Customer service</a:t>
            </a:r>
            <a:endParaRPr lang="en-US" sz="1300" dirty="0"/>
          </a:p>
        </p:txBody>
      </p:sp>
      <p:sp>
        <p:nvSpPr>
          <p:cNvPr id="37" name="Text 30"/>
          <p:cNvSpPr txBox="1"/>
          <p:nvPr/>
        </p:nvSpPr>
        <p:spPr>
          <a:xfrm>
            <a:off x="9336024" y="3008376"/>
            <a:ext cx="2212848" cy="274320"/>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Takes refusals and doubts</a:t>
            </a:r>
            <a:endParaRPr lang="en-US" sz="1150" dirty="0"/>
          </a:p>
        </p:txBody>
      </p:sp>
      <p:sp>
        <p:nvSpPr>
          <p:cNvPr id="38" name="Tag 4"/>
          <p:cNvSpPr/>
          <p:nvPr/>
        </p:nvSpPr>
        <p:spPr>
          <a:xfrm>
            <a:off x="10890504" y="2715768"/>
            <a:ext cx="640080" cy="228600"/>
          </a:xfrm>
          <a:prstGeom prst="roundRect">
            <a:avLst>
              <a:gd name="adj" fmla="val 24000"/>
            </a:avLst>
          </a:prstGeom>
          <a:solidFill>
            <a:srgbClr val="FFF1E7"/>
          </a:solidFill>
          <a:ln/>
        </p:spPr>
      </p:sp>
      <p:sp>
        <p:nvSpPr>
          <p:cNvPr id="39" name="Text 32"/>
          <p:cNvSpPr txBox="1"/>
          <p:nvPr/>
        </p:nvSpPr>
        <p:spPr>
          <a:xfrm>
            <a:off x="10890504" y="2715768"/>
            <a:ext cx="640080" cy="228600"/>
          </a:xfrm>
          <a:prstGeom prst="rect">
            <a:avLst/>
          </a:prstGeom>
          <a:noFill/>
          <a:ln/>
        </p:spPr>
        <p:txBody>
          <a:bodyPr wrap="square" lIns="0" tIns="0" rIns="0" bIns="0" rtlCol="0" anchor="ctr"/>
          <a:lstStyle/>
          <a:p>
            <a:pPr algn="ctr" indent="0" marL="0">
              <a:buNone/>
            </a:pPr>
            <a:r>
              <a:rPr lang="en-US" sz="750" b="1" spc="50" kern="0" dirty="0">
                <a:solidFill>
                  <a:srgbClr val="F05A00"/>
                </a:solidFill>
                <a:latin typeface="Arial" pitchFamily="34" charset="0"/>
                <a:ea typeface="Arial" pitchFamily="34" charset="-122"/>
                <a:cs typeface="Arial" pitchFamily="34" charset="-120"/>
              </a:rPr>
              <a:t>PERSON</a:t>
            </a:r>
            <a:endParaRPr lang="en-US" sz="750" dirty="0"/>
          </a:p>
        </p:txBody>
      </p:sp>
      <p:sp>
        <p:nvSpPr>
          <p:cNvPr id="40" name="Link 5"/>
          <p:cNvSpPr/>
          <p:nvPr/>
        </p:nvSpPr>
        <p:spPr>
          <a:xfrm>
            <a:off x="8001000" y="3017520"/>
            <a:ext cx="530352" cy="973836"/>
          </a:xfrm>
          <a:prstGeom prst="line">
            <a:avLst/>
          </a:prstGeom>
          <a:noFill/>
          <a:ln w="12700">
            <a:solidFill>
              <a:srgbClr val="5F6F91"/>
            </a:solidFill>
            <a:prstDash val="sysDash"/>
          </a:ln>
        </p:spPr>
      </p:sp>
      <p:sp>
        <p:nvSpPr>
          <p:cNvPr id="41" name="Actor 6"/>
          <p:cNvSpPr/>
          <p:nvPr/>
        </p:nvSpPr>
        <p:spPr>
          <a:xfrm>
            <a:off x="8531352" y="3557016"/>
            <a:ext cx="3108960" cy="868680"/>
          </a:xfrm>
          <a:prstGeom prst="roundRect">
            <a:avLst>
              <a:gd name="adj" fmla="val 14737"/>
            </a:avLst>
          </a:prstGeom>
          <a:solidFill>
            <a:srgbClr val="FFFFFF"/>
          </a:solidFill>
          <a:ln w="9525">
            <a:solidFill>
              <a:srgbClr val="D5D9E2"/>
            </a:solidFill>
            <a:prstDash val="solid"/>
          </a:ln>
        </p:spPr>
      </p:sp>
      <p:pic>
        <p:nvPicPr>
          <p:cNvPr id="42" name="Person 6" descr="Seller">    </p:cNvPr>
          <p:cNvPicPr>
            <a:picLocks noChangeAspect="1"/>
          </p:cNvPicPr>
          <p:nvPr/>
        </p:nvPicPr>
        <p:blipFill>
          <a:blip r:embed="rId6"/>
          <a:stretch>
            <a:fillRect/>
          </a:stretch>
        </p:blipFill>
        <p:spPr>
          <a:xfrm>
            <a:off x="8659368" y="3712464"/>
            <a:ext cx="566928" cy="566928"/>
          </a:xfrm>
          <a:prstGeom prst="rect">
            <a:avLst/>
          </a:prstGeom>
        </p:spPr>
      </p:pic>
      <p:sp>
        <p:nvSpPr>
          <p:cNvPr id="43" name="Text 35"/>
          <p:cNvSpPr txBox="1"/>
          <p:nvPr/>
        </p:nvSpPr>
        <p:spPr>
          <a:xfrm>
            <a:off x="9336024" y="3712464"/>
            <a:ext cx="160020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Seller</a:t>
            </a:r>
            <a:endParaRPr lang="en-US" sz="1300" dirty="0"/>
          </a:p>
        </p:txBody>
      </p:sp>
      <p:sp>
        <p:nvSpPr>
          <p:cNvPr id="44" name="Text 36"/>
          <p:cNvSpPr txBox="1"/>
          <p:nvPr/>
        </p:nvSpPr>
        <p:spPr>
          <a:xfrm>
            <a:off x="9336024" y="3986784"/>
            <a:ext cx="2212848" cy="274320"/>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Pays fewer return fees</a:t>
            </a:r>
            <a:endParaRPr lang="en-US" sz="1150" dirty="0"/>
          </a:p>
        </p:txBody>
      </p:sp>
      <p:sp>
        <p:nvSpPr>
          <p:cNvPr id="45" name="Tag 5"/>
          <p:cNvSpPr/>
          <p:nvPr/>
        </p:nvSpPr>
        <p:spPr>
          <a:xfrm>
            <a:off x="10890504" y="3694176"/>
            <a:ext cx="640080" cy="228600"/>
          </a:xfrm>
          <a:prstGeom prst="roundRect">
            <a:avLst>
              <a:gd name="adj" fmla="val 24000"/>
            </a:avLst>
          </a:prstGeom>
          <a:solidFill>
            <a:srgbClr val="FFF1E7"/>
          </a:solidFill>
          <a:ln/>
        </p:spPr>
      </p:sp>
      <p:sp>
        <p:nvSpPr>
          <p:cNvPr id="46" name="Text 38"/>
          <p:cNvSpPr txBox="1"/>
          <p:nvPr/>
        </p:nvSpPr>
        <p:spPr>
          <a:xfrm>
            <a:off x="10890504" y="3694176"/>
            <a:ext cx="640080" cy="228600"/>
          </a:xfrm>
          <a:prstGeom prst="rect">
            <a:avLst/>
          </a:prstGeom>
          <a:noFill/>
          <a:ln/>
        </p:spPr>
        <p:txBody>
          <a:bodyPr wrap="square" lIns="0" tIns="0" rIns="0" bIns="0" rtlCol="0" anchor="ctr"/>
          <a:lstStyle/>
          <a:p>
            <a:pPr algn="ctr" indent="0" marL="0">
              <a:buNone/>
            </a:pPr>
            <a:r>
              <a:rPr lang="en-US" sz="750" b="1" spc="50" kern="0" dirty="0">
                <a:solidFill>
                  <a:srgbClr val="F05A00"/>
                </a:solidFill>
                <a:latin typeface="Arial" pitchFamily="34" charset="0"/>
                <a:ea typeface="Arial" pitchFamily="34" charset="-122"/>
                <a:cs typeface="Arial" pitchFamily="34" charset="-120"/>
              </a:rPr>
              <a:t>SAVED</a:t>
            </a:r>
            <a:endParaRPr lang="en-US" sz="750" dirty="0"/>
          </a:p>
        </p:txBody>
      </p:sp>
      <p:sp>
        <p:nvSpPr>
          <p:cNvPr id="47" name="Alodi card"/>
          <p:cNvSpPr/>
          <p:nvPr/>
        </p:nvSpPr>
        <p:spPr>
          <a:xfrm>
            <a:off x="4187952" y="1600200"/>
            <a:ext cx="3813048" cy="2825496"/>
          </a:xfrm>
          <a:prstGeom prst="roundRect">
            <a:avLst>
              <a:gd name="adj" fmla="val 4531"/>
            </a:avLst>
          </a:prstGeom>
          <a:solidFill>
            <a:srgbClr val="FFF1E7"/>
          </a:solidFill>
          <a:ln w="9525">
            <a:solidFill>
              <a:srgbClr val="FFCFB0"/>
            </a:solidFill>
            <a:prstDash val="solid"/>
          </a:ln>
          <a:effectLst>
            <a:outerShdw sx="100000" sy="100000" kx="0" ky="0" algn="bl" rotWithShape="0" blurRad="177800" dist="38100" dir="5400000">
              <a:srgbClr val="121A2C">
                <a:alpha val="16000"/>
              </a:srgbClr>
            </a:outerShdw>
          </a:effectLst>
        </p:spPr>
      </p:sp>
      <p:pic>
        <p:nvPicPr>
          <p:cNvPr id="48" name="Alodi logo" descr="/private/tmp/claude-503/-Users-davark-Downloads-Everything-Github-Alodi-Regional-Codex-Hackathon-2026/91e569a8-486f-4c0b-b683-a4991468f039/scratchpad/deck/assets/logo-navy.png">    </p:cNvPr>
          <p:cNvPicPr>
            <a:picLocks noChangeAspect="1"/>
          </p:cNvPicPr>
          <p:nvPr/>
        </p:nvPicPr>
        <p:blipFill>
          <a:blip r:embed="rId7"/>
          <a:stretch>
            <a:fillRect/>
          </a:stretch>
        </p:blipFill>
        <p:spPr>
          <a:xfrm>
            <a:off x="4416552" y="1783080"/>
            <a:ext cx="658368" cy="283464"/>
          </a:xfrm>
          <a:prstGeom prst="rect">
            <a:avLst/>
          </a:prstGeom>
        </p:spPr>
      </p:pic>
      <p:sp>
        <p:nvSpPr>
          <p:cNvPr id="49" name="Text 40"/>
          <p:cNvSpPr txBox="1"/>
          <p:nvPr/>
        </p:nvSpPr>
        <p:spPr>
          <a:xfrm>
            <a:off x="6309360" y="1828800"/>
            <a:ext cx="1463040" cy="201168"/>
          </a:xfrm>
          <a:prstGeom prst="rect">
            <a:avLst/>
          </a:prstGeom>
          <a:noFill/>
          <a:ln/>
        </p:spPr>
        <p:txBody>
          <a:bodyPr wrap="square" lIns="0" tIns="0" rIns="0" bIns="0" rtlCol="0" anchor="ctr"/>
          <a:lstStyle/>
          <a:p>
            <a:pPr algn="r" indent="0" marL="0">
              <a:buNone/>
            </a:pPr>
            <a:r>
              <a:rPr lang="en-US" sz="850" b="1" spc="150" kern="0" dirty="0">
                <a:solidFill>
                  <a:srgbClr val="F05A00"/>
                </a:solidFill>
                <a:latin typeface="Arial" pitchFamily="34" charset="0"/>
                <a:ea typeface="Arial" pitchFamily="34" charset="-122"/>
                <a:cs typeface="Arial" pitchFamily="34" charset="-120"/>
              </a:rPr>
              <a:t>AI AGENT</a:t>
            </a:r>
            <a:endParaRPr lang="en-US" sz="850" dirty="0"/>
          </a:p>
        </p:txBody>
      </p:sp>
      <p:sp>
        <p:nvSpPr>
          <p:cNvPr id="50" name="Field 0"/>
          <p:cNvSpPr/>
          <p:nvPr/>
        </p:nvSpPr>
        <p:spPr>
          <a:xfrm>
            <a:off x="4416552" y="2212848"/>
            <a:ext cx="3355848" cy="374904"/>
          </a:xfrm>
          <a:prstGeom prst="roundRect">
            <a:avLst>
              <a:gd name="adj" fmla="val 17073"/>
            </a:avLst>
          </a:prstGeom>
          <a:solidFill>
            <a:srgbClr val="FFFFFF"/>
          </a:solidFill>
          <a:ln w="6350">
            <a:solidFill>
              <a:srgbClr val="FFCFB0"/>
            </a:solidFill>
            <a:prstDash val="solid"/>
          </a:ln>
        </p:spPr>
      </p:sp>
      <p:sp>
        <p:nvSpPr>
          <p:cNvPr id="51" name="Text 42"/>
          <p:cNvSpPr txBox="1"/>
          <p:nvPr/>
        </p:nvSpPr>
        <p:spPr>
          <a:xfrm>
            <a:off x="4544568" y="2212848"/>
            <a:ext cx="822960" cy="37490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When</a:t>
            </a:r>
            <a:endParaRPr lang="en-US" sz="1150" dirty="0"/>
          </a:p>
        </p:txBody>
      </p:sp>
      <p:sp>
        <p:nvSpPr>
          <p:cNvPr id="52" name="Text 43"/>
          <p:cNvSpPr txBox="1"/>
          <p:nvPr/>
        </p:nvSpPr>
        <p:spPr>
          <a:xfrm>
            <a:off x="5303520" y="2212848"/>
            <a:ext cx="2359152" cy="374904"/>
          </a:xfrm>
          <a:prstGeom prst="rect">
            <a:avLst/>
          </a:prstGeom>
          <a:noFill/>
          <a:ln/>
        </p:spPr>
        <p:txBody>
          <a:bodyPr wrap="square" lIns="0" tIns="0" rIns="0" bIns="0" rtlCol="0" anchor="ctr"/>
          <a:lstStyle/>
          <a:p>
            <a:pPr algn="r" indent="0" marL="0">
              <a:buNone/>
            </a:pPr>
            <a:r>
              <a:rPr lang="en-US" sz="1200" b="1" dirty="0">
                <a:solidFill>
                  <a:srgbClr val="121A2C"/>
                </a:solidFill>
                <a:latin typeface="Arial" pitchFamily="34" charset="0"/>
                <a:ea typeface="Arial" pitchFamily="34" charset="-122"/>
                <a:cs typeface="Arial" pitchFamily="34" charset="-120"/>
              </a:rPr>
              <a:t>1 Nov, 17:00–20:00</a:t>
            </a:r>
            <a:endParaRPr lang="en-US" sz="1200" dirty="0"/>
          </a:p>
        </p:txBody>
      </p:sp>
      <p:sp>
        <p:nvSpPr>
          <p:cNvPr id="53" name="Field 1"/>
          <p:cNvSpPr/>
          <p:nvPr/>
        </p:nvSpPr>
        <p:spPr>
          <a:xfrm>
            <a:off x="4416552" y="2642616"/>
            <a:ext cx="3355848" cy="374904"/>
          </a:xfrm>
          <a:prstGeom prst="roundRect">
            <a:avLst>
              <a:gd name="adj" fmla="val 17073"/>
            </a:avLst>
          </a:prstGeom>
          <a:solidFill>
            <a:srgbClr val="FFFFFF"/>
          </a:solidFill>
          <a:ln w="6350">
            <a:solidFill>
              <a:srgbClr val="FFCFB0"/>
            </a:solidFill>
            <a:prstDash val="solid"/>
          </a:ln>
        </p:spPr>
      </p:sp>
      <p:sp>
        <p:nvSpPr>
          <p:cNvPr id="54" name="Text 45"/>
          <p:cNvSpPr txBox="1"/>
          <p:nvPr/>
        </p:nvSpPr>
        <p:spPr>
          <a:xfrm>
            <a:off x="4544568" y="2642616"/>
            <a:ext cx="822960" cy="37490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Where</a:t>
            </a:r>
            <a:endParaRPr lang="en-US" sz="1150" dirty="0"/>
          </a:p>
        </p:txBody>
      </p:sp>
      <p:sp>
        <p:nvSpPr>
          <p:cNvPr id="55" name="Text 46"/>
          <p:cNvSpPr txBox="1"/>
          <p:nvPr/>
        </p:nvSpPr>
        <p:spPr>
          <a:xfrm>
            <a:off x="5303520" y="2642616"/>
            <a:ext cx="2359152" cy="374904"/>
          </a:xfrm>
          <a:prstGeom prst="rect">
            <a:avLst/>
          </a:prstGeom>
          <a:noFill/>
          <a:ln/>
        </p:spPr>
        <p:txBody>
          <a:bodyPr wrap="square" lIns="0" tIns="0" rIns="0" bIns="0" rtlCol="0" anchor="ctr"/>
          <a:lstStyle/>
          <a:p>
            <a:pPr algn="r" indent="0" marL="0">
              <a:buNone/>
            </a:pPr>
            <a:r>
              <a:rPr lang="en-US" sz="1200" b="1" dirty="0">
                <a:solidFill>
                  <a:srgbClr val="121A2C"/>
                </a:solidFill>
                <a:latin typeface="Arial" pitchFamily="34" charset="0"/>
                <a:ea typeface="Arial" pitchFamily="34" charset="-122"/>
                <a:cs typeface="Arial" pitchFamily="34" charset="-120"/>
              </a:rPr>
              <a:t>Tower A reception</a:t>
            </a:r>
            <a:endParaRPr lang="en-US" sz="1200" dirty="0"/>
          </a:p>
        </p:txBody>
      </p:sp>
      <p:sp>
        <p:nvSpPr>
          <p:cNvPr id="56" name="Field 2"/>
          <p:cNvSpPr/>
          <p:nvPr/>
        </p:nvSpPr>
        <p:spPr>
          <a:xfrm>
            <a:off x="4416552" y="3072384"/>
            <a:ext cx="3355848" cy="374904"/>
          </a:xfrm>
          <a:prstGeom prst="roundRect">
            <a:avLst>
              <a:gd name="adj" fmla="val 17073"/>
            </a:avLst>
          </a:prstGeom>
          <a:solidFill>
            <a:srgbClr val="FFFFFF"/>
          </a:solidFill>
          <a:ln w="6350">
            <a:solidFill>
              <a:srgbClr val="FFCFB0"/>
            </a:solidFill>
            <a:prstDash val="solid"/>
          </a:ln>
        </p:spPr>
      </p:sp>
      <p:sp>
        <p:nvSpPr>
          <p:cNvPr id="57" name="Text 48"/>
          <p:cNvSpPr txBox="1"/>
          <p:nvPr/>
        </p:nvSpPr>
        <p:spPr>
          <a:xfrm>
            <a:off x="4544568" y="3072384"/>
            <a:ext cx="822960" cy="37490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Who</a:t>
            </a:r>
            <a:endParaRPr lang="en-US" sz="1150" dirty="0"/>
          </a:p>
        </p:txBody>
      </p:sp>
      <p:sp>
        <p:nvSpPr>
          <p:cNvPr id="58" name="Text 49"/>
          <p:cNvSpPr txBox="1"/>
          <p:nvPr/>
        </p:nvSpPr>
        <p:spPr>
          <a:xfrm>
            <a:off x="5303520" y="3072384"/>
            <a:ext cx="2359152" cy="374904"/>
          </a:xfrm>
          <a:prstGeom prst="rect">
            <a:avLst/>
          </a:prstGeom>
          <a:noFill/>
          <a:ln/>
        </p:spPr>
        <p:txBody>
          <a:bodyPr wrap="square" lIns="0" tIns="0" rIns="0" bIns="0" rtlCol="0" anchor="ctr"/>
          <a:lstStyle/>
          <a:p>
            <a:pPr algn="r" indent="0" marL="0">
              <a:buNone/>
            </a:pPr>
            <a:r>
              <a:rPr lang="en-US" sz="1200" b="1" dirty="0">
                <a:solidFill>
                  <a:srgbClr val="121A2C"/>
                </a:solidFill>
                <a:latin typeface="Arial" pitchFamily="34" charset="0"/>
                <a:ea typeface="Arial" pitchFamily="34" charset="-122"/>
                <a:cs typeface="Arial" pitchFamily="34" charset="-120"/>
              </a:rPr>
              <a:t>Receptionist can sign</a:t>
            </a:r>
            <a:endParaRPr lang="en-US" sz="1200" dirty="0"/>
          </a:p>
        </p:txBody>
      </p:sp>
      <p:sp>
        <p:nvSpPr>
          <p:cNvPr id="59" name="Text 50"/>
          <p:cNvSpPr txBox="1"/>
          <p:nvPr/>
        </p:nvSpPr>
        <p:spPr>
          <a:xfrm>
            <a:off x="4416552" y="3566160"/>
            <a:ext cx="3355848" cy="731520"/>
          </a:xfrm>
          <a:prstGeom prst="rect">
            <a:avLst/>
          </a:prstGeom>
          <a:noFill/>
          <a:ln/>
        </p:spPr>
        <p:txBody>
          <a:bodyPr wrap="square" lIns="0" tIns="0" rIns="0" bIns="0" rtlCol="0" anchor="ctr"/>
          <a:lstStyle/>
          <a:p>
            <a:pPr indent="0" marL="0">
              <a:buNone/>
            </a:pPr>
            <a:r>
              <a:rPr lang="en-US" sz="1100" dirty="0">
                <a:solidFill>
                  <a:srgbClr val="222B40"/>
                </a:solidFill>
                <a:latin typeface="Arial" pitchFamily="34" charset="0"/>
                <a:ea typeface="Arial" pitchFamily="34" charset="-122"/>
                <a:cs typeface="Arial" pitchFamily="34" charset="-120"/>
              </a:rPr>
              <a:t>Calls 08:00–20:30 only · ≤ 2 calls a cycle · applies alone at ≥ 0.85 · a person handles labels</a:t>
            </a:r>
            <a:endParaRPr lang="en-US" sz="1100" dirty="0"/>
          </a:p>
        </p:txBody>
      </p:sp>
      <p:sp>
        <p:nvSpPr>
          <p:cNvPr id="60" name="Reasons rule"/>
          <p:cNvSpPr/>
          <p:nvPr/>
        </p:nvSpPr>
        <p:spPr>
          <a:xfrm>
            <a:off x="548640" y="4681728"/>
            <a:ext cx="11091672" cy="0"/>
          </a:xfrm>
          <a:prstGeom prst="line">
            <a:avLst/>
          </a:prstGeom>
          <a:noFill/>
          <a:ln w="12700">
            <a:solidFill>
              <a:srgbClr val="121A2C"/>
            </a:solidFill>
            <a:prstDash val="solid"/>
          </a:ln>
        </p:spPr>
      </p:sp>
      <p:sp>
        <p:nvSpPr>
          <p:cNvPr id="61" name="Text 52"/>
          <p:cNvSpPr txBox="1"/>
          <p:nvPr/>
        </p:nvSpPr>
        <p:spPr>
          <a:xfrm>
            <a:off x="548640" y="4846320"/>
            <a:ext cx="960120" cy="822960"/>
          </a:xfrm>
          <a:prstGeom prst="rect">
            <a:avLst/>
          </a:prstGeom>
          <a:noFill/>
          <a:ln/>
        </p:spPr>
        <p:txBody>
          <a:bodyPr wrap="square" lIns="0" tIns="0" rIns="0" bIns="0" rtlCol="0" anchor="ctr"/>
          <a:lstStyle/>
          <a:p>
            <a:pPr indent="0" marL="0">
              <a:buNone/>
            </a:pPr>
            <a:r>
              <a:rPr lang="en-US" sz="3200" b="1" dirty="0">
                <a:solidFill>
                  <a:srgbClr val="F05A00"/>
                </a:solidFill>
                <a:latin typeface="Arial" pitchFamily="34" charset="0"/>
                <a:ea typeface="Arial" pitchFamily="34" charset="-122"/>
                <a:cs typeface="Arial" pitchFamily="34" charset="-120"/>
              </a:rPr>
              <a:t>0</a:t>
            </a:r>
            <a:endParaRPr lang="en-US" sz="3200" dirty="0"/>
          </a:p>
        </p:txBody>
      </p:sp>
      <p:sp>
        <p:nvSpPr>
          <p:cNvPr id="62" name="Text 53"/>
          <p:cNvSpPr txBox="1"/>
          <p:nvPr/>
        </p:nvSpPr>
        <p:spPr>
          <a:xfrm>
            <a:off x="1536192" y="4828032"/>
            <a:ext cx="2606040" cy="274320"/>
          </a:xfrm>
          <a:prstGeom prst="rect">
            <a:avLst/>
          </a:prstGeom>
          <a:noFill/>
          <a:ln/>
        </p:spPr>
        <p:txBody>
          <a:bodyPr wrap="square" lIns="0" tIns="0" rIns="0" bIns="0" rtlCol="0" anchor="ctr"/>
          <a:lstStyle/>
          <a:p>
            <a:pPr indent="0" marL="0">
              <a:buNone/>
            </a:pPr>
            <a:r>
              <a:rPr lang="en-US" sz="1350" b="1" dirty="0">
                <a:solidFill>
                  <a:srgbClr val="121A2C"/>
                </a:solidFill>
                <a:latin typeface="Arial" pitchFamily="34" charset="0"/>
                <a:ea typeface="Arial" pitchFamily="34" charset="-122"/>
                <a:cs typeface="Arial" pitchFamily="34" charset="-120"/>
              </a:rPr>
              <a:t>windows to choose</a:t>
            </a:r>
            <a:endParaRPr lang="en-US" sz="1350" dirty="0"/>
          </a:p>
        </p:txBody>
      </p:sp>
      <p:sp>
        <p:nvSpPr>
          <p:cNvPr id="63" name="Text 54"/>
          <p:cNvSpPr txBox="1"/>
          <p:nvPr/>
        </p:nvSpPr>
        <p:spPr>
          <a:xfrm>
            <a:off x="1536192" y="5120640"/>
            <a:ext cx="2606040" cy="685800"/>
          </a:xfrm>
          <a:prstGeom prst="rect">
            <a:avLst/>
          </a:prstGeom>
          <a:noFill/>
          <a:ln/>
        </p:spPr>
        <p:txBody>
          <a:bodyPr wrap="square" lIns="0" tIns="0" rIns="0" bIns="0" rtlCol="0" anchor="t"/>
          <a:lstStyle/>
          <a:p>
            <a:pPr indent="0" marL="0">
              <a:buNone/>
            </a:pPr>
            <a:r>
              <a:rPr lang="en-US" sz="1200" dirty="0">
                <a:solidFill>
                  <a:srgbClr val="222B40"/>
                </a:solidFill>
                <a:latin typeface="Arial" pitchFamily="34" charset="0"/>
                <a:ea typeface="Arial" pitchFamily="34" charset="-122"/>
                <a:cs typeface="Arial" pitchFamily="34" charset="-120"/>
              </a:rPr>
              <a:t>So the time is agreed by phone, off the system.</a:t>
            </a:r>
            <a:pPr indent="0" marL="0">
              <a:buNone/>
            </a:pPr>
            <a:r>
              <a:rPr lang="en-US" sz="1000" dirty="0">
                <a:solidFill>
                  <a:srgbClr val="4A556E"/>
                </a:solidFill>
                <a:latin typeface="Arial" pitchFamily="34" charset="0"/>
                <a:ea typeface="Arial" pitchFamily="34" charset="-122"/>
                <a:cs typeface="Arial" pitchFamily="34" charset="-120"/>
              </a:rPr>
              <a:t> [5]</a:t>
            </a:r>
            <a:endParaRPr lang="en-US" sz="1200" dirty="0"/>
          </a:p>
        </p:txBody>
      </p:sp>
      <p:sp>
        <p:nvSpPr>
          <p:cNvPr id="64" name="Text 55"/>
          <p:cNvSpPr txBox="1"/>
          <p:nvPr/>
        </p:nvSpPr>
        <p:spPr>
          <a:xfrm>
            <a:off x="4297680" y="4846320"/>
            <a:ext cx="960120" cy="822960"/>
          </a:xfrm>
          <a:prstGeom prst="rect">
            <a:avLst/>
          </a:prstGeom>
          <a:noFill/>
          <a:ln/>
        </p:spPr>
        <p:txBody>
          <a:bodyPr wrap="square" lIns="0" tIns="0" rIns="0" bIns="0" rtlCol="0" anchor="ctr"/>
          <a:lstStyle/>
          <a:p>
            <a:pPr indent="0" marL="0">
              <a:buNone/>
            </a:pPr>
            <a:r>
              <a:rPr lang="en-US" sz="3200" b="1" dirty="0">
                <a:solidFill>
                  <a:srgbClr val="F05A00"/>
                </a:solidFill>
                <a:latin typeface="Arial" pitchFamily="34" charset="0"/>
                <a:ea typeface="Arial" pitchFamily="34" charset="-122"/>
                <a:cs typeface="Arial" pitchFamily="34" charset="-120"/>
              </a:rPr>
              <a:t>1</a:t>
            </a:r>
            <a:endParaRPr lang="en-US" sz="3200" dirty="0"/>
          </a:p>
        </p:txBody>
      </p:sp>
      <p:sp>
        <p:nvSpPr>
          <p:cNvPr id="65" name="Text 56"/>
          <p:cNvSpPr txBox="1"/>
          <p:nvPr/>
        </p:nvSpPr>
        <p:spPr>
          <a:xfrm>
            <a:off x="5285232" y="4828032"/>
            <a:ext cx="2606040" cy="274320"/>
          </a:xfrm>
          <a:prstGeom prst="rect">
            <a:avLst/>
          </a:prstGeom>
          <a:noFill/>
          <a:ln/>
        </p:spPr>
        <p:txBody>
          <a:bodyPr wrap="square" lIns="0" tIns="0" rIns="0" bIns="0" rtlCol="0" anchor="ctr"/>
          <a:lstStyle/>
          <a:p>
            <a:pPr indent="0" marL="0">
              <a:buNone/>
            </a:pPr>
            <a:r>
              <a:rPr lang="en-US" sz="1350" b="1" dirty="0">
                <a:solidFill>
                  <a:srgbClr val="121A2C"/>
                </a:solidFill>
                <a:latin typeface="Arial" pitchFamily="34" charset="0"/>
                <a:ea typeface="Arial" pitchFamily="34" charset="-122"/>
                <a:cs typeface="Arial" pitchFamily="34" charset="-120"/>
              </a:rPr>
              <a:t>error code</a:t>
            </a:r>
            <a:endParaRPr lang="en-US" sz="1350" dirty="0"/>
          </a:p>
        </p:txBody>
      </p:sp>
      <p:sp>
        <p:nvSpPr>
          <p:cNvPr id="66" name="Text 57"/>
          <p:cNvSpPr txBox="1"/>
          <p:nvPr/>
        </p:nvSpPr>
        <p:spPr>
          <a:xfrm>
            <a:off x="5285232" y="5120640"/>
            <a:ext cx="2606040" cy="685800"/>
          </a:xfrm>
          <a:prstGeom prst="rect">
            <a:avLst/>
          </a:prstGeom>
          <a:noFill/>
          <a:ln/>
        </p:spPr>
        <p:txBody>
          <a:bodyPr wrap="square" lIns="0" tIns="0" rIns="0" bIns="0" rtlCol="0" anchor="t"/>
          <a:lstStyle/>
          <a:p>
            <a:pPr indent="0" marL="0">
              <a:buNone/>
            </a:pPr>
            <a:r>
              <a:rPr lang="en-US" sz="1200" dirty="0">
                <a:solidFill>
                  <a:srgbClr val="222B40"/>
                </a:solidFill>
                <a:latin typeface="Arial" pitchFamily="34" charset="0"/>
                <a:ea typeface="Arial" pitchFamily="34" charset="-122"/>
                <a:cs typeface="Arial" pitchFamily="34" charset="-120"/>
              </a:rPr>
              <a:t>“No answer” replaces when, where and who.</a:t>
            </a:r>
            <a:endParaRPr lang="en-US" sz="1200" dirty="0"/>
          </a:p>
        </p:txBody>
      </p:sp>
      <p:sp>
        <p:nvSpPr>
          <p:cNvPr id="67" name="Text 58"/>
          <p:cNvSpPr txBox="1"/>
          <p:nvPr/>
        </p:nvSpPr>
        <p:spPr>
          <a:xfrm>
            <a:off x="8046720" y="4846320"/>
            <a:ext cx="960120" cy="822960"/>
          </a:xfrm>
          <a:prstGeom prst="rect">
            <a:avLst/>
          </a:prstGeom>
          <a:noFill/>
          <a:ln/>
        </p:spPr>
        <p:txBody>
          <a:bodyPr wrap="square" lIns="0" tIns="0" rIns="0" bIns="0" rtlCol="0" anchor="ctr"/>
          <a:lstStyle/>
          <a:p>
            <a:pPr indent="0" marL="0">
              <a:buNone/>
            </a:pPr>
            <a:r>
              <a:rPr lang="en-US" sz="3200" b="1" dirty="0">
                <a:solidFill>
                  <a:srgbClr val="F05A00"/>
                </a:solidFill>
                <a:latin typeface="Arial" pitchFamily="34" charset="0"/>
                <a:ea typeface="Arial" pitchFamily="34" charset="-122"/>
                <a:cs typeface="Arial" pitchFamily="34" charset="-120"/>
              </a:rPr>
              <a:t>≈ 5</a:t>
            </a:r>
            <a:endParaRPr lang="en-US" sz="3200" dirty="0"/>
          </a:p>
        </p:txBody>
      </p:sp>
      <p:sp>
        <p:nvSpPr>
          <p:cNvPr id="68" name="Text 59"/>
          <p:cNvSpPr txBox="1"/>
          <p:nvPr/>
        </p:nvSpPr>
        <p:spPr>
          <a:xfrm>
            <a:off x="9034272" y="4828032"/>
            <a:ext cx="2606040" cy="274320"/>
          </a:xfrm>
          <a:prstGeom prst="rect">
            <a:avLst/>
          </a:prstGeom>
          <a:noFill/>
          <a:ln/>
        </p:spPr>
        <p:txBody>
          <a:bodyPr wrap="square" lIns="0" tIns="0" rIns="0" bIns="0" rtlCol="0" anchor="ctr"/>
          <a:lstStyle/>
          <a:p>
            <a:pPr indent="0" marL="0">
              <a:buNone/>
            </a:pPr>
            <a:r>
              <a:rPr lang="en-US" sz="1350" b="1" dirty="0">
                <a:solidFill>
                  <a:srgbClr val="121A2C"/>
                </a:solidFill>
                <a:latin typeface="Arial" pitchFamily="34" charset="0"/>
                <a:ea typeface="Arial" pitchFamily="34" charset="-122"/>
                <a:cs typeface="Arial" pitchFamily="34" charset="-120"/>
              </a:rPr>
              <a:t>callers per area</a:t>
            </a:r>
            <a:endParaRPr lang="en-US" sz="1350" dirty="0"/>
          </a:p>
        </p:txBody>
      </p:sp>
      <p:sp>
        <p:nvSpPr>
          <p:cNvPr id="69" name="Text 60"/>
          <p:cNvSpPr txBox="1"/>
          <p:nvPr/>
        </p:nvSpPr>
        <p:spPr>
          <a:xfrm>
            <a:off x="9034272" y="5120640"/>
            <a:ext cx="2606040" cy="685800"/>
          </a:xfrm>
          <a:prstGeom prst="rect">
            <a:avLst/>
          </a:prstGeom>
          <a:noFill/>
          <a:ln/>
        </p:spPr>
        <p:txBody>
          <a:bodyPr wrap="square" lIns="0" tIns="0" rIns="0" bIns="0" rtlCol="0" anchor="t"/>
          <a:lstStyle/>
          <a:p>
            <a:pPr indent="0" marL="0">
              <a:buNone/>
            </a:pPr>
            <a:r>
              <a:rPr lang="en-US" sz="1200" dirty="0">
                <a:solidFill>
                  <a:srgbClr val="222B40"/>
                </a:solidFill>
                <a:latin typeface="Arial" pitchFamily="34" charset="0"/>
                <a:ea typeface="Arial" pitchFamily="34" charset="-122"/>
                <a:cs typeface="Arial" pitchFamily="34" charset="-120"/>
              </a:rPr>
              <a:t>Just to phone 320 buyers twice a day.</a:t>
            </a:r>
            <a:pPr indent="0" marL="0">
              <a:buNone/>
            </a:pPr>
            <a:r>
              <a:rPr lang="en-US" sz="1000" dirty="0">
                <a:solidFill>
                  <a:srgbClr val="4A556E"/>
                </a:solidFill>
                <a:latin typeface="Arial" pitchFamily="34" charset="0"/>
                <a:ea typeface="Arial" pitchFamily="34" charset="-122"/>
                <a:cs typeface="Arial" pitchFamily="34" charset="-120"/>
              </a:rPr>
              <a:t> [9]</a:t>
            </a:r>
            <a:endParaRPr lang="en-US" sz="1200" dirty="0"/>
          </a:p>
        </p:txBody>
      </p:sp>
      <p:sp>
        <p:nvSpPr>
          <p:cNvPr id="70" name="Text 61"/>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Demo film">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5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ive tag"/>
          <p:cNvSpPr/>
          <p:nvPr/>
        </p:nvSpPr>
        <p:spPr>
          <a:xfrm>
            <a:off x="548640" y="658368"/>
            <a:ext cx="1051560" cy="347472"/>
          </a:xfrm>
          <a:prstGeom prst="roundRect">
            <a:avLst>
              <a:gd name="adj" fmla="val 50000"/>
            </a:avLst>
          </a:prstGeom>
          <a:solidFill>
            <a:srgbClr val="FFF1E7"/>
          </a:solidFill>
          <a:ln w="9525">
            <a:solidFill>
              <a:srgbClr val="FFCFB0"/>
            </a:solidFill>
            <a:prstDash val="solid"/>
          </a:ln>
        </p:spPr>
      </p:sp>
      <p:sp>
        <p:nvSpPr>
          <p:cNvPr id="3" name="Live dot"/>
          <p:cNvSpPr/>
          <p:nvPr/>
        </p:nvSpPr>
        <p:spPr>
          <a:xfrm>
            <a:off x="694944" y="768096"/>
            <a:ext cx="128016" cy="128016"/>
          </a:xfrm>
          <a:prstGeom prst="ellipse">
            <a:avLst/>
          </a:prstGeom>
          <a:solidFill>
            <a:srgbClr val="F05A00"/>
          </a:solidFill>
          <a:ln/>
        </p:spPr>
      </p:sp>
      <p:sp>
        <p:nvSpPr>
          <p:cNvPr id="4" name="Text 2"/>
          <p:cNvSpPr txBox="1"/>
          <p:nvPr/>
        </p:nvSpPr>
        <p:spPr>
          <a:xfrm>
            <a:off x="896112" y="658368"/>
            <a:ext cx="658368" cy="347472"/>
          </a:xfrm>
          <a:prstGeom prst="rect">
            <a:avLst/>
          </a:prstGeom>
          <a:noFill/>
          <a:ln/>
        </p:spPr>
        <p:txBody>
          <a:bodyPr wrap="square" lIns="0" tIns="0" rIns="0" bIns="0" rtlCol="0" anchor="ctr"/>
          <a:lstStyle/>
          <a:p>
            <a:pPr indent="0" marL="0">
              <a:buNone/>
            </a:pPr>
            <a:r>
              <a:rPr lang="en-US" sz="1100" b="1" spc="200" kern="0" dirty="0">
                <a:solidFill>
                  <a:srgbClr val="F05A00"/>
                </a:solidFill>
                <a:latin typeface="Arial" pitchFamily="34" charset="0"/>
                <a:ea typeface="Arial" pitchFamily="34" charset="-122"/>
                <a:cs typeface="Arial" pitchFamily="34" charset="-120"/>
              </a:rPr>
              <a:t>LIVE</a:t>
            </a:r>
            <a:endParaRPr lang="en-US" sz="1100" dirty="0"/>
          </a:p>
        </p:txBody>
      </p:sp>
      <p:sp>
        <p:nvSpPr>
          <p:cNvPr id="5" name="Text 3"/>
          <p:cNvSpPr txBox="1"/>
          <p:nvPr/>
        </p:nvSpPr>
        <p:spPr>
          <a:xfrm>
            <a:off x="548640" y="1325880"/>
            <a:ext cx="5029200" cy="1920240"/>
          </a:xfrm>
          <a:prstGeom prst="rect">
            <a:avLst/>
          </a:prstGeom>
          <a:noFill/>
          <a:ln/>
        </p:spPr>
        <p:txBody>
          <a:bodyPr wrap="square" lIns="0" tIns="0" rIns="0" bIns="0" rtlCol="0" anchor="t"/>
          <a:lstStyle/>
          <a:p>
            <a:pPr indent="0" marL="0">
              <a:lnSpc>
                <a:spcPct val="100000"/>
              </a:lnSpc>
              <a:buNone/>
            </a:pPr>
            <a:r>
              <a:rPr lang="en-US" sz="4000" b="1" dirty="0">
                <a:solidFill>
                  <a:srgbClr val="121A2C"/>
                </a:solidFill>
                <a:latin typeface="Arial" pitchFamily="34" charset="0"/>
                <a:ea typeface="Arial" pitchFamily="34" charset="-122"/>
                <a:cs typeface="Arial" pitchFamily="34" charset="-120"/>
              </a:rPr>
              <a:t>Now, the real thing.</a:t>
            </a:r>
            <a:endParaRPr lang="en-US" sz="4000" dirty="0"/>
          </a:p>
          <a:p>
            <a:pPr indent="0" marL="0">
              <a:lnSpc>
                <a:spcPct val="100000"/>
              </a:lnSpc>
              <a:buNone/>
            </a:pPr>
            <a:r>
              <a:rPr lang="en-US" sz="4000" b="1" dirty="0">
                <a:solidFill>
                  <a:srgbClr val="F05A00"/>
                </a:solidFill>
                <a:latin typeface="Arial" pitchFamily="34" charset="0"/>
                <a:ea typeface="Arial" pitchFamily="34" charset="-122"/>
                <a:cs typeface="Arial" pitchFamily="34" charset="-120"/>
              </a:rPr>
              <a:t>Watch one rescue, live.</a:t>
            </a:r>
            <a:endParaRPr lang="en-US" sz="4000" dirty="0"/>
          </a:p>
        </p:txBody>
      </p:sp>
      <p:sp>
        <p:nvSpPr>
          <p:cNvPr id="6" name="Text 4"/>
          <p:cNvSpPr txBox="1"/>
          <p:nvPr/>
        </p:nvSpPr>
        <p:spPr>
          <a:xfrm>
            <a:off x="548640" y="3429000"/>
            <a:ext cx="4663440" cy="914400"/>
          </a:xfrm>
          <a:prstGeom prst="rect">
            <a:avLst/>
          </a:prstGeom>
          <a:noFill/>
          <a:ln/>
        </p:spPr>
        <p:txBody>
          <a:bodyPr wrap="square" lIns="0" tIns="0" rIns="0" bIns="0" rtlCol="0" anchor="t"/>
          <a:lstStyle/>
          <a:p>
            <a:pPr indent="0" marL="0">
              <a:buNone/>
            </a:pPr>
            <a:r>
              <a:rPr lang="en-US" sz="1800" dirty="0">
                <a:solidFill>
                  <a:srgbClr val="222B40"/>
                </a:solidFill>
                <a:latin typeface="Arial" pitchFamily="34" charset="0"/>
                <a:ea typeface="Arial" pitchFamily="34" charset="-122"/>
                <a:cs typeface="Arial" pitchFamily="34" charset="-120"/>
              </a:rPr>
              <a:t>One shipper’s tap on a real phone. Everything else follows on this screen, in sync.</a:t>
            </a:r>
            <a:endParaRPr lang="en-US" sz="1800" dirty="0"/>
          </a:p>
        </p:txBody>
      </p:sp>
      <p:pic>
        <p:nvPicPr>
          <p:cNvPr id="7" name="Shipper" descr="Shipper">    </p:cNvPr>
          <p:cNvPicPr>
            <a:picLocks noChangeAspect="1"/>
          </p:cNvPicPr>
          <p:nvPr/>
        </p:nvPicPr>
        <p:blipFill>
          <a:blip r:embed="rId1"/>
          <a:stretch>
            <a:fillRect/>
          </a:stretch>
        </p:blipFill>
        <p:spPr>
          <a:xfrm>
            <a:off x="548640" y="4800600"/>
            <a:ext cx="731520" cy="731520"/>
          </a:xfrm>
          <a:prstGeom prst="rect">
            <a:avLst/>
          </a:prstGeom>
        </p:spPr>
      </p:pic>
      <p:sp>
        <p:nvSpPr>
          <p:cNvPr id="8" name="Text 5"/>
          <p:cNvSpPr txBox="1"/>
          <p:nvPr/>
        </p:nvSpPr>
        <p:spPr>
          <a:xfrm>
            <a:off x="1444752" y="4800600"/>
            <a:ext cx="3657600" cy="731520"/>
          </a:xfrm>
          <a:prstGeom prst="rect">
            <a:avLst/>
          </a:prstGeom>
          <a:noFill/>
          <a:ln/>
        </p:spPr>
        <p:txBody>
          <a:bodyPr wrap="square" lIns="0" tIns="0" rIns="0" bIns="0" rtlCol="0" anchor="ctr"/>
          <a:lstStyle/>
          <a:p>
            <a:pPr indent="0" marL="0">
              <a:buNone/>
            </a:pPr>
            <a:r>
              <a:rPr lang="en-US" sz="1400" b="1" dirty="0">
                <a:solidFill>
                  <a:srgbClr val="121A2C"/>
                </a:solidFill>
                <a:latin typeface="Arial" pitchFamily="34" charset="0"/>
                <a:ea typeface="Arial" pitchFamily="34" charset="-122"/>
                <a:cs typeface="Arial" pitchFamily="34" charset="-120"/>
              </a:rPr>
              <a:t>In the shipper’s hand</a:t>
            </a:r>
            <a:endParaRPr lang="en-US" sz="1400" dirty="0"/>
          </a:p>
          <a:p>
            <a:pPr indent="0" marL="0">
              <a:buNone/>
            </a:pPr>
            <a:r>
              <a:rPr lang="en-US" sz="1400" dirty="0">
                <a:solidFill>
                  <a:srgbClr val="3A4358"/>
                </a:solidFill>
                <a:latin typeface="Arial" pitchFamily="34" charset="0"/>
                <a:ea typeface="Arial" pitchFamily="34" charset="-122"/>
                <a:cs typeface="Arial" pitchFamily="34" charset="-120"/>
              </a:rPr>
              <a:t>A real phone, on stage</a:t>
            </a:r>
            <a:endParaRPr lang="en-US" sz="1400" dirty="0"/>
          </a:p>
        </p:txBody>
      </p:sp>
      <p:sp>
        <p:nvSpPr>
          <p:cNvPr id="9" name="Screen 1"/>
          <p:cNvSpPr/>
          <p:nvPr/>
        </p:nvSpPr>
        <p:spPr>
          <a:xfrm>
            <a:off x="5989320" y="658368"/>
            <a:ext cx="5650992" cy="1664208"/>
          </a:xfrm>
          <a:prstGeom prst="roundRect">
            <a:avLst>
              <a:gd name="adj" fmla="val 9890"/>
            </a:avLst>
          </a:prstGeom>
          <a:solidFill>
            <a:srgbClr val="E9EEF8"/>
          </a:solidFill>
          <a:ln w="9525">
            <a:solidFill>
              <a:srgbClr val="C9D4EA"/>
            </a:solidFill>
            <a:prstDash val="solid"/>
          </a:ln>
        </p:spPr>
      </p:sp>
      <p:pic>
        <p:nvPicPr>
          <p:cNvPr id="10" name="Person 1" descr="Customer’s phone">    </p:cNvPr>
          <p:cNvPicPr>
            <a:picLocks noChangeAspect="1"/>
          </p:cNvPicPr>
          <p:nvPr/>
        </p:nvPicPr>
        <p:blipFill>
          <a:blip r:embed="rId2"/>
          <a:stretch>
            <a:fillRect/>
          </a:stretch>
        </p:blipFill>
        <p:spPr>
          <a:xfrm>
            <a:off x="6263640" y="987552"/>
            <a:ext cx="1005840" cy="1005840"/>
          </a:xfrm>
          <a:prstGeom prst="rect">
            <a:avLst/>
          </a:prstGeom>
        </p:spPr>
      </p:pic>
      <p:sp>
        <p:nvSpPr>
          <p:cNvPr id="11" name="Text 7"/>
          <p:cNvSpPr txBox="1"/>
          <p:nvPr/>
        </p:nvSpPr>
        <p:spPr>
          <a:xfrm>
            <a:off x="7498080" y="1042416"/>
            <a:ext cx="3931920" cy="457200"/>
          </a:xfrm>
          <a:prstGeom prst="rect">
            <a:avLst/>
          </a:prstGeom>
          <a:noFill/>
          <a:ln/>
        </p:spPr>
        <p:txBody>
          <a:bodyPr wrap="square" lIns="0" tIns="0" rIns="0" bIns="0" rtlCol="0" anchor="ctr"/>
          <a:lstStyle/>
          <a:p>
            <a:pPr indent="0" marL="0">
              <a:buNone/>
            </a:pPr>
            <a:r>
              <a:rPr lang="en-US" sz="2200" b="1" dirty="0">
                <a:solidFill>
                  <a:srgbClr val="121A2C"/>
                </a:solidFill>
                <a:latin typeface="Arial" pitchFamily="34" charset="0"/>
                <a:ea typeface="Arial" pitchFamily="34" charset="-122"/>
                <a:cs typeface="Arial" pitchFamily="34" charset="-120"/>
              </a:rPr>
              <a:t>Customer’s phone</a:t>
            </a:r>
            <a:endParaRPr lang="en-US" sz="2200" dirty="0"/>
          </a:p>
        </p:txBody>
      </p:sp>
      <p:sp>
        <p:nvSpPr>
          <p:cNvPr id="12" name="Text 8"/>
          <p:cNvSpPr txBox="1"/>
          <p:nvPr/>
        </p:nvSpPr>
        <p:spPr>
          <a:xfrm>
            <a:off x="7498080" y="1517904"/>
            <a:ext cx="3931920" cy="384048"/>
          </a:xfrm>
          <a:prstGeom prst="rect">
            <a:avLst/>
          </a:prstGeom>
          <a:noFill/>
          <a:ln/>
        </p:spPr>
        <p:txBody>
          <a:bodyPr wrap="square" lIns="0" tIns="0" rIns="0" bIns="0" rtlCol="0" anchor="ctr"/>
          <a:lstStyle/>
          <a:p>
            <a:pPr indent="0" marL="0">
              <a:buNone/>
            </a:pPr>
            <a:r>
              <a:rPr lang="en-US" sz="1500" dirty="0">
                <a:solidFill>
                  <a:srgbClr val="222B40"/>
                </a:solidFill>
                <a:latin typeface="Arial" pitchFamily="34" charset="0"/>
                <a:ea typeface="Arial" pitchFamily="34" charset="-122"/>
                <a:cs typeface="Arial" pitchFamily="34" charset="-120"/>
              </a:rPr>
              <a:t>The chat and the call arrive</a:t>
            </a:r>
            <a:endParaRPr lang="en-US" sz="1500" dirty="0"/>
          </a:p>
        </p:txBody>
      </p:sp>
      <p:sp>
        <p:nvSpPr>
          <p:cNvPr id="13" name="Screen 2"/>
          <p:cNvSpPr/>
          <p:nvPr/>
        </p:nvSpPr>
        <p:spPr>
          <a:xfrm>
            <a:off x="5989320" y="2487168"/>
            <a:ext cx="5650992" cy="1664208"/>
          </a:xfrm>
          <a:prstGeom prst="roundRect">
            <a:avLst>
              <a:gd name="adj" fmla="val 9890"/>
            </a:avLst>
          </a:prstGeom>
          <a:solidFill>
            <a:srgbClr val="FFFFFF"/>
          </a:solidFill>
          <a:ln w="9525">
            <a:solidFill>
              <a:srgbClr val="D5D9E2"/>
            </a:solidFill>
            <a:prstDash val="solid"/>
          </a:ln>
        </p:spPr>
      </p:sp>
      <p:pic>
        <p:nvPicPr>
          <p:cNvPr id="14" name="Person 2" descr="SPX dashboard">    </p:cNvPr>
          <p:cNvPicPr>
            <a:picLocks noChangeAspect="1"/>
          </p:cNvPicPr>
          <p:nvPr/>
        </p:nvPicPr>
        <p:blipFill>
          <a:blip r:embed="rId3"/>
          <a:stretch>
            <a:fillRect/>
          </a:stretch>
        </p:blipFill>
        <p:spPr>
          <a:xfrm>
            <a:off x="6263640" y="2816352"/>
            <a:ext cx="1005840" cy="1005840"/>
          </a:xfrm>
          <a:prstGeom prst="rect">
            <a:avLst/>
          </a:prstGeom>
        </p:spPr>
      </p:pic>
      <p:sp>
        <p:nvSpPr>
          <p:cNvPr id="15" name="Text 10"/>
          <p:cNvSpPr txBox="1"/>
          <p:nvPr/>
        </p:nvSpPr>
        <p:spPr>
          <a:xfrm>
            <a:off x="7498080" y="2871216"/>
            <a:ext cx="3931920" cy="457200"/>
          </a:xfrm>
          <a:prstGeom prst="rect">
            <a:avLst/>
          </a:prstGeom>
          <a:noFill/>
          <a:ln/>
        </p:spPr>
        <p:txBody>
          <a:bodyPr wrap="square" lIns="0" tIns="0" rIns="0" bIns="0" rtlCol="0" anchor="ctr"/>
          <a:lstStyle/>
          <a:p>
            <a:pPr indent="0" marL="0">
              <a:buNone/>
            </a:pPr>
            <a:r>
              <a:rPr lang="en-US" sz="2200" b="1" dirty="0">
                <a:solidFill>
                  <a:srgbClr val="121A2C"/>
                </a:solidFill>
                <a:latin typeface="Arial" pitchFamily="34" charset="0"/>
                <a:ea typeface="Arial" pitchFamily="34" charset="-122"/>
                <a:cs typeface="Arial" pitchFamily="34" charset="-120"/>
              </a:rPr>
              <a:t>SPX dashboard</a:t>
            </a:r>
            <a:endParaRPr lang="en-US" sz="2200" dirty="0"/>
          </a:p>
        </p:txBody>
      </p:sp>
      <p:sp>
        <p:nvSpPr>
          <p:cNvPr id="16" name="Text 11"/>
          <p:cNvSpPr txBox="1"/>
          <p:nvPr/>
        </p:nvSpPr>
        <p:spPr>
          <a:xfrm>
            <a:off x="7498080" y="3346704"/>
            <a:ext cx="3931920" cy="384048"/>
          </a:xfrm>
          <a:prstGeom prst="rect">
            <a:avLst/>
          </a:prstGeom>
          <a:noFill/>
          <a:ln/>
        </p:spPr>
        <p:txBody>
          <a:bodyPr wrap="square" lIns="0" tIns="0" rIns="0" bIns="0" rtlCol="0" anchor="ctr"/>
          <a:lstStyle/>
          <a:p>
            <a:pPr indent="0" marL="0">
              <a:buNone/>
            </a:pPr>
            <a:r>
              <a:rPr lang="en-US" sz="1500" dirty="0">
                <a:solidFill>
                  <a:srgbClr val="222B40"/>
                </a:solidFill>
                <a:latin typeface="Arial" pitchFamily="34" charset="0"/>
                <a:ea typeface="Arial" pitchFamily="34" charset="-122"/>
                <a:cs typeface="Arial" pitchFamily="34" charset="-120"/>
              </a:rPr>
              <a:t>The hub sees the rescue move</a:t>
            </a:r>
            <a:endParaRPr lang="en-US" sz="1500" dirty="0"/>
          </a:p>
        </p:txBody>
      </p:sp>
      <p:sp>
        <p:nvSpPr>
          <p:cNvPr id="17" name="Screen 3"/>
          <p:cNvSpPr/>
          <p:nvPr/>
        </p:nvSpPr>
        <p:spPr>
          <a:xfrm>
            <a:off x="5989320" y="4315968"/>
            <a:ext cx="5650992" cy="1664208"/>
          </a:xfrm>
          <a:prstGeom prst="roundRect">
            <a:avLst>
              <a:gd name="adj" fmla="val 9890"/>
            </a:avLst>
          </a:prstGeom>
          <a:solidFill>
            <a:srgbClr val="FFF1E7"/>
          </a:solidFill>
          <a:ln w="9525">
            <a:solidFill>
              <a:srgbClr val="FFCFB0"/>
            </a:solidFill>
            <a:prstDash val="solid"/>
          </a:ln>
        </p:spPr>
      </p:sp>
      <p:pic>
        <p:nvPicPr>
          <p:cNvPr id="18" name="Alodi mark" descr="Alodi agent">    </p:cNvPr>
          <p:cNvPicPr>
            <a:picLocks noChangeAspect="1"/>
          </p:cNvPicPr>
          <p:nvPr/>
        </p:nvPicPr>
        <p:blipFill>
          <a:blip r:embed="rId4"/>
          <a:stretch>
            <a:fillRect/>
          </a:stretch>
        </p:blipFill>
        <p:spPr>
          <a:xfrm>
            <a:off x="6309360" y="4690872"/>
            <a:ext cx="914400" cy="914400"/>
          </a:xfrm>
          <a:prstGeom prst="rect">
            <a:avLst/>
          </a:prstGeom>
        </p:spPr>
      </p:pic>
      <p:sp>
        <p:nvSpPr>
          <p:cNvPr id="19" name="Text 13"/>
          <p:cNvSpPr txBox="1"/>
          <p:nvPr/>
        </p:nvSpPr>
        <p:spPr>
          <a:xfrm>
            <a:off x="7498080" y="4700016"/>
            <a:ext cx="3931920" cy="457200"/>
          </a:xfrm>
          <a:prstGeom prst="rect">
            <a:avLst/>
          </a:prstGeom>
          <a:noFill/>
          <a:ln/>
        </p:spPr>
        <p:txBody>
          <a:bodyPr wrap="square" lIns="0" tIns="0" rIns="0" bIns="0" rtlCol="0" anchor="ctr"/>
          <a:lstStyle/>
          <a:p>
            <a:pPr indent="0" marL="0">
              <a:buNone/>
            </a:pPr>
            <a:r>
              <a:rPr lang="en-US" sz="2200" b="1" dirty="0">
                <a:solidFill>
                  <a:srgbClr val="121A2C"/>
                </a:solidFill>
                <a:latin typeface="Arial" pitchFamily="34" charset="0"/>
                <a:ea typeface="Arial" pitchFamily="34" charset="-122"/>
                <a:cs typeface="Arial" pitchFamily="34" charset="-120"/>
              </a:rPr>
              <a:t>Alodi agent</a:t>
            </a:r>
            <a:endParaRPr lang="en-US" sz="2200" dirty="0"/>
          </a:p>
        </p:txBody>
      </p:sp>
      <p:sp>
        <p:nvSpPr>
          <p:cNvPr id="20" name="Text 14"/>
          <p:cNvSpPr txBox="1"/>
          <p:nvPr/>
        </p:nvSpPr>
        <p:spPr>
          <a:xfrm>
            <a:off x="7498080" y="5175504"/>
            <a:ext cx="3931920" cy="384048"/>
          </a:xfrm>
          <a:prstGeom prst="rect">
            <a:avLst/>
          </a:prstGeom>
          <a:noFill/>
          <a:ln/>
        </p:spPr>
        <p:txBody>
          <a:bodyPr wrap="square" lIns="0" tIns="0" rIns="0" bIns="0" rtlCol="0" anchor="ctr"/>
          <a:lstStyle/>
          <a:p>
            <a:pPr indent="0" marL="0">
              <a:buNone/>
            </a:pPr>
            <a:r>
              <a:rPr lang="en-US" sz="1500" dirty="0">
                <a:solidFill>
                  <a:srgbClr val="222B40"/>
                </a:solidFill>
                <a:latin typeface="Arial" pitchFamily="34" charset="0"/>
                <a:ea typeface="Arial" pitchFamily="34" charset="-122"/>
                <a:cs typeface="Arial" pitchFamily="34" charset="-120"/>
              </a:rPr>
              <a:t>Each step as it happens</a:t>
            </a:r>
            <a:endParaRPr lang="en-US" sz="1500" dirty="0"/>
          </a:p>
        </p:txBody>
      </p:sp>
      <p:sp>
        <p:nvSpPr>
          <p:cNvPr id="21" name="Text 15"/>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05  </a:t>
            </a:r>
            <a:pPr indent="0" marL="0">
              <a:buNone/>
            </a:pPr>
            <a:r>
              <a:rPr lang="en-US" sz="1050" b="1" spc="200" kern="0" dirty="0">
                <a:solidFill>
                  <a:srgbClr val="1F2A44"/>
                </a:solidFill>
                <a:latin typeface="Arial" pitchFamily="34" charset="0"/>
                <a:ea typeface="Arial" pitchFamily="34" charset="-122"/>
                <a:cs typeface="Arial" pitchFamily="34" charset="-120"/>
              </a:rPr>
              <a:t>TECH STACK · OPENAI ECOSYSTEM</a:t>
            </a:r>
            <a:endParaRPr lang="en-US" sz="1050" dirty="0"/>
          </a:p>
        </p:txBody>
      </p:sp>
      <p:sp>
        <p:nvSpPr>
          <p:cNvPr id="4" name="Text 2"/>
          <p:cNvSpPr txBox="1"/>
          <p:nvPr/>
        </p:nvSpPr>
        <p:spPr>
          <a:xfrm>
            <a:off x="548640" y="841248"/>
            <a:ext cx="6583680" cy="1097280"/>
          </a:xfrm>
          <a:prstGeom prst="rect">
            <a:avLst/>
          </a:prstGeom>
          <a:noFill/>
          <a:ln/>
        </p:spPr>
        <p:txBody>
          <a:bodyPr wrap="square" lIns="0" tIns="0" rIns="0" bIns="0" rtlCol="0" anchor="t"/>
          <a:lstStyle/>
          <a:p>
            <a:pPr indent="0" marL="0">
              <a:lnSpc>
                <a:spcPct val="95000"/>
              </a:lnSpc>
              <a:buNone/>
            </a:pPr>
            <a:r>
              <a:rPr lang="en-US" sz="3000" b="1" dirty="0">
                <a:solidFill>
                  <a:srgbClr val="5F6F91"/>
                </a:solidFill>
                <a:latin typeface="Arial" pitchFamily="34" charset="0"/>
                <a:ea typeface="Arial" pitchFamily="34" charset="-122"/>
                <a:cs typeface="Arial" pitchFamily="34" charset="-120"/>
              </a:rPr>
              <a:t>Every step of the rescue </a:t>
            </a:r>
            <a:pPr indent="0" marL="0">
              <a:lnSpc>
                <a:spcPct val="95000"/>
              </a:lnSpc>
              <a:buNone/>
            </a:pPr>
            <a:r>
              <a:rPr lang="en-US" sz="3000" b="1" dirty="0">
                <a:solidFill>
                  <a:srgbClr val="121A2C"/>
                </a:solidFill>
                <a:latin typeface="Arial" pitchFamily="34" charset="0"/>
                <a:ea typeface="Arial" pitchFamily="34" charset="-122"/>
                <a:cs typeface="Arial" pitchFamily="34" charset="-120"/>
              </a:rPr>
              <a:t>is an OpenAI API call.</a:t>
            </a:r>
            <a:endParaRPr lang="en-US" sz="3000" dirty="0"/>
          </a:p>
        </p:txBody>
      </p:sp>
      <p:sp>
        <p:nvSpPr>
          <p:cNvPr id="5" name="API cost"/>
          <p:cNvSpPr/>
          <p:nvPr/>
        </p:nvSpPr>
        <p:spPr>
          <a:xfrm>
            <a:off x="7498080" y="457200"/>
            <a:ext cx="4142232" cy="1463040"/>
          </a:xfrm>
          <a:prstGeom prst="roundRect">
            <a:avLst>
              <a:gd name="adj" fmla="val 8750"/>
            </a:avLst>
          </a:prstGeom>
          <a:solidFill>
            <a:srgbClr val="FFF1E7"/>
          </a:solidFill>
          <a:ln w="9525">
            <a:solidFill>
              <a:srgbClr val="FFCFB0"/>
            </a:solidFill>
            <a:prstDash val="solid"/>
          </a:ln>
        </p:spPr>
      </p:sp>
      <p:sp>
        <p:nvSpPr>
          <p:cNvPr id="6" name="Text 4"/>
          <p:cNvSpPr txBox="1"/>
          <p:nvPr/>
        </p:nvSpPr>
        <p:spPr>
          <a:xfrm>
            <a:off x="7699248" y="530352"/>
            <a:ext cx="2011680" cy="566928"/>
          </a:xfrm>
          <a:prstGeom prst="rect">
            <a:avLst/>
          </a:prstGeom>
          <a:noFill/>
          <a:ln/>
        </p:spPr>
        <p:txBody>
          <a:bodyPr wrap="square" lIns="0" tIns="0" rIns="0" bIns="0" rtlCol="0" anchor="ctr"/>
          <a:lstStyle/>
          <a:p>
            <a:pPr indent="0" marL="0">
              <a:buNone/>
            </a:pPr>
            <a:r>
              <a:rPr lang="en-US" sz="2800" b="1" dirty="0">
                <a:solidFill>
                  <a:srgbClr val="F05A00"/>
                </a:solidFill>
                <a:latin typeface="Arial" pitchFamily="34" charset="0"/>
                <a:ea typeface="Arial" pitchFamily="34" charset="-122"/>
                <a:cs typeface="Arial" pitchFamily="34" charset="-120"/>
              </a:rPr>
              <a:t>≈ </a:t>
            </a:r>
            <a:pPr indent="0" marL="0">
              <a:buNone/>
            </a:pPr>
            <a:r>
              <a:rPr lang="en-US" sz="2800" b="1" dirty="0">
                <a:solidFill>
                  <a:srgbClr val="F05A00"/>
                </a:solidFill>
                <a:latin typeface="Arial" pitchFamily="34" charset="0"/>
                <a:ea typeface="Arial" pitchFamily="34" charset="-122"/>
                <a:cs typeface="Arial" pitchFamily="34" charset="-120"/>
              </a:rPr>
              <a:t>₫</a:t>
            </a:r>
            <a:pPr indent="0" marL="0">
              <a:buNone/>
            </a:pPr>
            <a:r>
              <a:rPr lang="en-US" sz="2800" b="1" dirty="0">
                <a:solidFill>
                  <a:srgbClr val="121A2C"/>
                </a:solidFill>
                <a:latin typeface="Arial" pitchFamily="34" charset="0"/>
                <a:ea typeface="Arial" pitchFamily="34" charset="-122"/>
                <a:cs typeface="Arial" pitchFamily="34" charset="-120"/>
              </a:rPr>
              <a:t>7.2M</a:t>
            </a:r>
            <a:endParaRPr lang="en-US" sz="2800" dirty="0"/>
          </a:p>
        </p:txBody>
      </p:sp>
      <p:sp>
        <p:nvSpPr>
          <p:cNvPr id="7" name="Text 5"/>
          <p:cNvSpPr txBox="1"/>
          <p:nvPr/>
        </p:nvSpPr>
        <p:spPr>
          <a:xfrm>
            <a:off x="9418320" y="621792"/>
            <a:ext cx="2103120" cy="411480"/>
          </a:xfrm>
          <a:prstGeom prst="rect">
            <a:avLst/>
          </a:prstGeom>
          <a:noFill/>
          <a:ln/>
        </p:spPr>
        <p:txBody>
          <a:bodyPr wrap="square" lIns="0" tIns="0" rIns="0" bIns="0" rtlCol="0" anchor="ctr"/>
          <a:lstStyle/>
          <a:p>
            <a:pPr algn="r" indent="0" marL="0">
              <a:buNone/>
            </a:pPr>
            <a:r>
              <a:rPr lang="en-US" sz="1050" dirty="0">
                <a:solidFill>
                  <a:srgbClr val="222B40"/>
                </a:solidFill>
                <a:latin typeface="Arial" pitchFamily="34" charset="0"/>
                <a:ea typeface="Arial" pitchFamily="34" charset="-122"/>
                <a:cs typeface="Arial" pitchFamily="34" charset="-120"/>
              </a:rPr>
              <a:t>OpenAI API a month, one area</a:t>
            </a:r>
            <a:pPr algn="r" indent="0" marL="0">
              <a:buNone/>
            </a:pPr>
            <a:r>
              <a:rPr lang="en-US" sz="1000" dirty="0">
                <a:solidFill>
                  <a:srgbClr val="4A556E"/>
                </a:solidFill>
                <a:latin typeface="Arial" pitchFamily="34" charset="0"/>
                <a:ea typeface="Arial" pitchFamily="34" charset="-122"/>
                <a:cs typeface="Arial" pitchFamily="34" charset="-120"/>
              </a:rPr>
              <a:t> [9]</a:t>
            </a:r>
            <a:endParaRPr lang="en-US" sz="1050" dirty="0"/>
          </a:p>
        </p:txBody>
      </p:sp>
      <p:sp>
        <p:nvSpPr>
          <p:cNvPr id="8" name="API share 0"/>
          <p:cNvSpPr/>
          <p:nvPr/>
        </p:nvSpPr>
        <p:spPr>
          <a:xfrm>
            <a:off x="7699248" y="1170432"/>
            <a:ext cx="2698331" cy="182880"/>
          </a:xfrm>
          <a:prstGeom prst="rect">
            <a:avLst/>
          </a:prstGeom>
          <a:solidFill>
            <a:srgbClr val="F05A00"/>
          </a:solidFill>
          <a:ln/>
        </p:spPr>
      </p:sp>
      <p:sp>
        <p:nvSpPr>
          <p:cNvPr id="9" name="API share 1"/>
          <p:cNvSpPr/>
          <p:nvPr/>
        </p:nvSpPr>
        <p:spPr>
          <a:xfrm>
            <a:off x="10415867" y="1170432"/>
            <a:ext cx="760857" cy="182880"/>
          </a:xfrm>
          <a:prstGeom prst="rect">
            <a:avLst/>
          </a:prstGeom>
          <a:solidFill>
            <a:srgbClr val="1F2A44"/>
          </a:solidFill>
          <a:ln/>
        </p:spPr>
      </p:sp>
      <p:sp>
        <p:nvSpPr>
          <p:cNvPr id="10" name="API share 2"/>
          <p:cNvSpPr/>
          <p:nvPr/>
        </p:nvSpPr>
        <p:spPr>
          <a:xfrm>
            <a:off x="11195012" y="1170432"/>
            <a:ext cx="225844" cy="182880"/>
          </a:xfrm>
          <a:prstGeom prst="rect">
            <a:avLst/>
          </a:prstGeom>
          <a:solidFill>
            <a:srgbClr val="7D8FB5"/>
          </a:solidFill>
          <a:ln/>
        </p:spPr>
      </p:sp>
      <p:sp>
        <p:nvSpPr>
          <p:cNvPr id="11" name="Text 9"/>
          <p:cNvSpPr txBox="1"/>
          <p:nvPr/>
        </p:nvSpPr>
        <p:spPr>
          <a:xfrm>
            <a:off x="7699248" y="1426464"/>
            <a:ext cx="3749040" cy="274320"/>
          </a:xfrm>
          <a:prstGeom prst="rect">
            <a:avLst/>
          </a:prstGeom>
          <a:noFill/>
          <a:ln/>
        </p:spPr>
        <p:txBody>
          <a:bodyPr wrap="square" lIns="0" tIns="0" rIns="0" bIns="0" rtlCol="0" anchor="ctr"/>
          <a:lstStyle/>
          <a:p>
            <a:pPr indent="0" marL="0">
              <a:buNone/>
            </a:pPr>
            <a:r>
              <a:rPr lang="en-US" sz="1100" dirty="0">
                <a:solidFill>
                  <a:srgbClr val="222B40"/>
                </a:solidFill>
                <a:latin typeface="Arial" pitchFamily="34" charset="0"/>
                <a:ea typeface="Arial" pitchFamily="34" charset="-122"/>
                <a:cs typeface="Arial" pitchFamily="34" charset="-120"/>
              </a:rPr>
              <a:t>GPT-Live-1 ₫5.2M · Terra ₫1.5M · Luna ₫0.5M</a:t>
            </a:r>
            <a:endParaRPr lang="en-US" sz="1100" dirty="0"/>
          </a:p>
        </p:txBody>
      </p:sp>
      <p:sp>
        <p:nvSpPr>
          <p:cNvPr id="12" name="API 1"/>
          <p:cNvSpPr/>
          <p:nvPr/>
        </p:nvSpPr>
        <p:spPr>
          <a:xfrm>
            <a:off x="548640" y="2103120"/>
            <a:ext cx="2670048" cy="2834640"/>
          </a:xfrm>
          <a:prstGeom prst="roundRect">
            <a:avLst>
              <a:gd name="adj" fmla="val 4795"/>
            </a:avLst>
          </a:prstGeom>
          <a:solidFill>
            <a:srgbClr val="E9EEF8"/>
          </a:solidFill>
          <a:ln w="9525">
            <a:solidFill>
              <a:srgbClr val="C9D4EA"/>
            </a:solidFill>
            <a:prstDash val="solid"/>
          </a:ln>
        </p:spPr>
      </p:sp>
      <p:pic>
        <p:nvPicPr>
          <p:cNvPr id="13" name="OpenAI logo 0" descr="/private/tmp/claude-503/-Users-davark-Downloads-Everything-Github-Alodi-Regional-Codex-Hackathon-2026/91e569a8-486f-4c0b-b683-a4991468f039/scratchpad/deck/assets/openai-ink.png">    </p:cNvPr>
          <p:cNvPicPr>
            <a:picLocks noChangeAspect="1"/>
          </p:cNvPicPr>
          <p:nvPr/>
        </p:nvPicPr>
        <p:blipFill>
          <a:blip r:embed="rId1"/>
          <a:stretch>
            <a:fillRect/>
          </a:stretch>
        </p:blipFill>
        <p:spPr>
          <a:xfrm>
            <a:off x="749808" y="2304288"/>
            <a:ext cx="274320" cy="274320"/>
          </a:xfrm>
          <a:prstGeom prst="rect">
            <a:avLst/>
          </a:prstGeom>
        </p:spPr>
      </p:pic>
      <p:sp>
        <p:nvSpPr>
          <p:cNvPr id="14" name="Text 11"/>
          <p:cNvSpPr txBox="1"/>
          <p:nvPr/>
        </p:nvSpPr>
        <p:spPr>
          <a:xfrm>
            <a:off x="1115568" y="2340864"/>
            <a:ext cx="1828800" cy="201168"/>
          </a:xfrm>
          <a:prstGeom prst="rect">
            <a:avLst/>
          </a:prstGeom>
          <a:noFill/>
          <a:ln/>
        </p:spPr>
        <p:txBody>
          <a:bodyPr wrap="square" lIns="0" tIns="0" rIns="0" bIns="0" rtlCol="0" anchor="ctr"/>
          <a:lstStyle/>
          <a:p>
            <a:pPr indent="0" marL="0">
              <a:buNone/>
            </a:pPr>
            <a:r>
              <a:rPr lang="en-US" sz="900" b="1" spc="150" kern="0" dirty="0">
                <a:solidFill>
                  <a:srgbClr val="1F2A44"/>
                </a:solidFill>
                <a:latin typeface="Arial" pitchFamily="34" charset="0"/>
                <a:ea typeface="Arial" pitchFamily="34" charset="-122"/>
                <a:cs typeface="Arial" pitchFamily="34" charset="-120"/>
              </a:rPr>
              <a:t>TRIAGE</a:t>
            </a:r>
            <a:endParaRPr lang="en-US" sz="900" dirty="0"/>
          </a:p>
        </p:txBody>
      </p:sp>
      <p:sp>
        <p:nvSpPr>
          <p:cNvPr id="15" name="Text 12"/>
          <p:cNvSpPr txBox="1"/>
          <p:nvPr/>
        </p:nvSpPr>
        <p:spPr>
          <a:xfrm>
            <a:off x="749808" y="2697480"/>
            <a:ext cx="2359152" cy="329184"/>
          </a:xfrm>
          <a:prstGeom prst="rect">
            <a:avLst/>
          </a:prstGeom>
          <a:noFill/>
          <a:ln/>
        </p:spPr>
        <p:txBody>
          <a:bodyPr wrap="square" lIns="0" tIns="0" rIns="0" bIns="0" rtlCol="0" anchor="ctr"/>
          <a:lstStyle/>
          <a:p>
            <a:pPr indent="0" marL="0">
              <a:buNone/>
            </a:pPr>
            <a:r>
              <a:rPr lang="en-US" sz="1800" b="1" dirty="0">
                <a:solidFill>
                  <a:srgbClr val="121A2C"/>
                </a:solidFill>
                <a:latin typeface="Arial" pitchFamily="34" charset="0"/>
                <a:ea typeface="Arial" pitchFamily="34" charset="-122"/>
                <a:cs typeface="Arial" pitchFamily="34" charset="-120"/>
              </a:rPr>
              <a:t>Decisions API</a:t>
            </a:r>
            <a:endParaRPr lang="en-US" sz="1800" dirty="0"/>
          </a:p>
        </p:txBody>
      </p:sp>
      <p:sp>
        <p:nvSpPr>
          <p:cNvPr id="16" name="Text 13"/>
          <p:cNvSpPr txBox="1"/>
          <p:nvPr/>
        </p:nvSpPr>
        <p:spPr>
          <a:xfrm>
            <a:off x="749808" y="3017520"/>
            <a:ext cx="2359152"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GPT-6 Luna</a:t>
            </a:r>
            <a:endParaRPr lang="en-US" sz="1150" dirty="0"/>
          </a:p>
        </p:txBody>
      </p:sp>
      <p:sp>
        <p:nvSpPr>
          <p:cNvPr id="17" name="Text 14"/>
          <p:cNvSpPr txBox="1"/>
          <p:nvPr/>
        </p:nvSpPr>
        <p:spPr>
          <a:xfrm>
            <a:off x="749808" y="3291840"/>
            <a:ext cx="2322576" cy="86868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Sorts every signal: which case, which window, how sure. Probabilities drive the 0.85 rule.</a:t>
            </a:r>
            <a:endParaRPr lang="en-US" sz="1250" dirty="0"/>
          </a:p>
        </p:txBody>
      </p:sp>
      <p:sp>
        <p:nvSpPr>
          <p:cNvPr id="18" name="API rule 0"/>
          <p:cNvSpPr/>
          <p:nvPr/>
        </p:nvSpPr>
        <p:spPr>
          <a:xfrm>
            <a:off x="749808" y="4224528"/>
            <a:ext cx="2267712" cy="0"/>
          </a:xfrm>
          <a:prstGeom prst="line">
            <a:avLst/>
          </a:prstGeom>
          <a:noFill/>
          <a:ln w="9525">
            <a:solidFill>
              <a:srgbClr val="C9D4EA"/>
            </a:solidFill>
            <a:prstDash val="solid"/>
          </a:ln>
        </p:spPr>
      </p:sp>
      <p:sp>
        <p:nvSpPr>
          <p:cNvPr id="19" name="Text 16"/>
          <p:cNvSpPr txBox="1"/>
          <p:nvPr/>
        </p:nvSpPr>
        <p:spPr>
          <a:xfrm>
            <a:off x="749808" y="4297680"/>
            <a:ext cx="2359152" cy="237744"/>
          </a:xfrm>
          <a:prstGeom prst="rect">
            <a:avLst/>
          </a:prstGeom>
          <a:noFill/>
          <a:ln/>
        </p:spPr>
        <p:txBody>
          <a:bodyPr wrap="square" lIns="0" tIns="0" rIns="0" bIns="0" rtlCol="0" anchor="ctr"/>
          <a:lstStyle/>
          <a:p>
            <a:pPr indent="0" marL="0">
              <a:buNone/>
            </a:pPr>
            <a:r>
              <a:rPr lang="en-US" sz="1150" b="1" dirty="0">
                <a:solidFill>
                  <a:srgbClr val="F05A00"/>
                </a:solidFill>
                <a:latin typeface="Arial" pitchFamily="34" charset="0"/>
                <a:ea typeface="Arial" pitchFamily="34" charset="-122"/>
                <a:cs typeface="Arial" pitchFamily="34" charset="-120"/>
              </a:rPr>
              <a:t>/v1/decisions</a:t>
            </a:r>
            <a:endParaRPr lang="en-US" sz="1150" dirty="0"/>
          </a:p>
        </p:txBody>
      </p:sp>
      <p:sp>
        <p:nvSpPr>
          <p:cNvPr id="20" name="Text 17"/>
          <p:cNvSpPr txBox="1"/>
          <p:nvPr/>
        </p:nvSpPr>
        <p:spPr>
          <a:xfrm>
            <a:off x="749808" y="4544568"/>
            <a:ext cx="2359152" cy="237744"/>
          </a:xfrm>
          <a:prstGeom prst="rect">
            <a:avLst/>
          </a:prstGeom>
          <a:noFill/>
          <a:ln/>
        </p:spPr>
        <p:txBody>
          <a:bodyPr wrap="square" lIns="0" tIns="0" rIns="0" bIns="0" rtlCol="0" anchor="ctr"/>
          <a:lstStyle/>
          <a:p>
            <a:pPr indent="0" marL="0">
              <a:buNone/>
            </a:pPr>
            <a:r>
              <a:rPr lang="en-US" sz="1100" dirty="0">
                <a:solidFill>
                  <a:srgbClr val="3A4358"/>
                </a:solidFill>
                <a:latin typeface="Arial" pitchFamily="34" charset="0"/>
                <a:ea typeface="Arial" pitchFamily="34" charset="-122"/>
                <a:cs typeface="Arial" pitchFamily="34" charset="-120"/>
              </a:rPr>
              <a:t>Every message · 6.0M tokens a day</a:t>
            </a:r>
            <a:endParaRPr lang="en-US" sz="1100" dirty="0"/>
          </a:p>
        </p:txBody>
      </p:sp>
      <p:sp>
        <p:nvSpPr>
          <p:cNvPr id="21" name="Arrow 0"/>
          <p:cNvSpPr/>
          <p:nvPr/>
        </p:nvSpPr>
        <p:spPr>
          <a:xfrm>
            <a:off x="3218688" y="3474720"/>
            <a:ext cx="137160" cy="0"/>
          </a:xfrm>
          <a:prstGeom prst="line">
            <a:avLst/>
          </a:prstGeom>
          <a:noFill/>
          <a:ln w="15875">
            <a:solidFill>
              <a:srgbClr val="1F2A44"/>
            </a:solidFill>
            <a:prstDash val="solid"/>
            <a:tailEnd type="triangle"/>
          </a:ln>
        </p:spPr>
      </p:sp>
      <p:sp>
        <p:nvSpPr>
          <p:cNvPr id="22" name="API 2"/>
          <p:cNvSpPr/>
          <p:nvPr/>
        </p:nvSpPr>
        <p:spPr>
          <a:xfrm>
            <a:off x="3355848" y="2103120"/>
            <a:ext cx="2670048" cy="2834640"/>
          </a:xfrm>
          <a:prstGeom prst="roundRect">
            <a:avLst>
              <a:gd name="adj" fmla="val 4795"/>
            </a:avLst>
          </a:prstGeom>
          <a:solidFill>
            <a:srgbClr val="E9EEF8"/>
          </a:solidFill>
          <a:ln w="9525">
            <a:solidFill>
              <a:srgbClr val="C9D4EA"/>
            </a:solidFill>
            <a:prstDash val="solid"/>
          </a:ln>
        </p:spPr>
      </p:sp>
      <p:pic>
        <p:nvPicPr>
          <p:cNvPr id="23" name="OpenAI logo 1" descr="/private/tmp/claude-503/-Users-davark-Downloads-Everything-Github-Alodi-Regional-Codex-Hackathon-2026/91e569a8-486f-4c0b-b683-a4991468f039/scratchpad/deck/assets/openai-ink.png">    </p:cNvPr>
          <p:cNvPicPr>
            <a:picLocks noChangeAspect="1"/>
          </p:cNvPicPr>
          <p:nvPr/>
        </p:nvPicPr>
        <p:blipFill>
          <a:blip r:embed="rId2"/>
          <a:stretch>
            <a:fillRect/>
          </a:stretch>
        </p:blipFill>
        <p:spPr>
          <a:xfrm>
            <a:off x="3557016" y="2304288"/>
            <a:ext cx="274320" cy="274320"/>
          </a:xfrm>
          <a:prstGeom prst="rect">
            <a:avLst/>
          </a:prstGeom>
        </p:spPr>
      </p:pic>
      <p:sp>
        <p:nvSpPr>
          <p:cNvPr id="24" name="Text 20"/>
          <p:cNvSpPr txBox="1"/>
          <p:nvPr/>
        </p:nvSpPr>
        <p:spPr>
          <a:xfrm>
            <a:off x="3922776" y="2340864"/>
            <a:ext cx="1828800" cy="201168"/>
          </a:xfrm>
          <a:prstGeom prst="rect">
            <a:avLst/>
          </a:prstGeom>
          <a:noFill/>
          <a:ln/>
        </p:spPr>
        <p:txBody>
          <a:bodyPr wrap="square" lIns="0" tIns="0" rIns="0" bIns="0" rtlCol="0" anchor="ctr"/>
          <a:lstStyle/>
          <a:p>
            <a:pPr indent="0" marL="0">
              <a:buNone/>
            </a:pPr>
            <a:r>
              <a:rPr lang="en-US" sz="900" b="1" spc="150" kern="0" dirty="0">
                <a:solidFill>
                  <a:srgbClr val="1F2A44"/>
                </a:solidFill>
                <a:latin typeface="Arial" pitchFamily="34" charset="0"/>
                <a:ea typeface="Arial" pitchFamily="34" charset="-122"/>
                <a:cs typeface="Arial" pitchFamily="34" charset="-120"/>
              </a:rPr>
              <a:t>VOICE</a:t>
            </a:r>
            <a:endParaRPr lang="en-US" sz="900" dirty="0"/>
          </a:p>
        </p:txBody>
      </p:sp>
      <p:sp>
        <p:nvSpPr>
          <p:cNvPr id="25" name="Text 21"/>
          <p:cNvSpPr txBox="1"/>
          <p:nvPr/>
        </p:nvSpPr>
        <p:spPr>
          <a:xfrm>
            <a:off x="3557016" y="2697480"/>
            <a:ext cx="2359152" cy="329184"/>
          </a:xfrm>
          <a:prstGeom prst="rect">
            <a:avLst/>
          </a:prstGeom>
          <a:noFill/>
          <a:ln/>
        </p:spPr>
        <p:txBody>
          <a:bodyPr wrap="square" lIns="0" tIns="0" rIns="0" bIns="0" rtlCol="0" anchor="ctr"/>
          <a:lstStyle/>
          <a:p>
            <a:pPr indent="0" marL="0">
              <a:buNone/>
            </a:pPr>
            <a:r>
              <a:rPr lang="en-US" sz="1800" b="1" dirty="0">
                <a:solidFill>
                  <a:srgbClr val="121A2C"/>
                </a:solidFill>
                <a:latin typeface="Arial" pitchFamily="34" charset="0"/>
                <a:ea typeface="Arial" pitchFamily="34" charset="-122"/>
                <a:cs typeface="Arial" pitchFamily="34" charset="-120"/>
              </a:rPr>
              <a:t>GPT-Live-1</a:t>
            </a:r>
            <a:endParaRPr lang="en-US" sz="1800" dirty="0"/>
          </a:p>
        </p:txBody>
      </p:sp>
      <p:sp>
        <p:nvSpPr>
          <p:cNvPr id="26" name="Text 22"/>
          <p:cNvSpPr txBox="1"/>
          <p:nvPr/>
        </p:nvSpPr>
        <p:spPr>
          <a:xfrm>
            <a:off x="3557016" y="3017520"/>
            <a:ext cx="2359152"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Live sessions, WebRTC</a:t>
            </a:r>
            <a:endParaRPr lang="en-US" sz="1150" dirty="0"/>
          </a:p>
        </p:txBody>
      </p:sp>
      <p:sp>
        <p:nvSpPr>
          <p:cNvPr id="27" name="Text 23"/>
          <p:cNvSpPr txBox="1"/>
          <p:nvPr/>
        </p:nvSpPr>
        <p:spPr>
          <a:xfrm>
            <a:off x="3557016" y="3291840"/>
            <a:ext cx="2322576" cy="86868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Calls the buyer. Listens while it speaks and hands reasoning to the agent.</a:t>
            </a:r>
            <a:endParaRPr lang="en-US" sz="1250" dirty="0"/>
          </a:p>
        </p:txBody>
      </p:sp>
      <p:sp>
        <p:nvSpPr>
          <p:cNvPr id="28" name="API rule 1"/>
          <p:cNvSpPr/>
          <p:nvPr/>
        </p:nvSpPr>
        <p:spPr>
          <a:xfrm>
            <a:off x="3557016" y="4224528"/>
            <a:ext cx="2267712" cy="0"/>
          </a:xfrm>
          <a:prstGeom prst="line">
            <a:avLst/>
          </a:prstGeom>
          <a:noFill/>
          <a:ln w="9525">
            <a:solidFill>
              <a:srgbClr val="C9D4EA"/>
            </a:solidFill>
            <a:prstDash val="solid"/>
          </a:ln>
        </p:spPr>
      </p:sp>
      <p:sp>
        <p:nvSpPr>
          <p:cNvPr id="29" name="Text 25"/>
          <p:cNvSpPr txBox="1"/>
          <p:nvPr/>
        </p:nvSpPr>
        <p:spPr>
          <a:xfrm>
            <a:off x="3557016" y="4297680"/>
            <a:ext cx="2359152" cy="237744"/>
          </a:xfrm>
          <a:prstGeom prst="rect">
            <a:avLst/>
          </a:prstGeom>
          <a:noFill/>
          <a:ln/>
        </p:spPr>
        <p:txBody>
          <a:bodyPr wrap="square" lIns="0" tIns="0" rIns="0" bIns="0" rtlCol="0" anchor="ctr"/>
          <a:lstStyle/>
          <a:p>
            <a:pPr indent="0" marL="0">
              <a:buNone/>
            </a:pPr>
            <a:r>
              <a:rPr lang="en-US" sz="1150" b="1" dirty="0">
                <a:solidFill>
                  <a:srgbClr val="F05A00"/>
                </a:solidFill>
                <a:latin typeface="Arial" pitchFamily="34" charset="0"/>
                <a:ea typeface="Arial" pitchFamily="34" charset="-122"/>
                <a:cs typeface="Arial" pitchFamily="34" charset="-120"/>
              </a:rPr>
              <a:t>/v1/live/sessions</a:t>
            </a:r>
            <a:endParaRPr lang="en-US" sz="1150" dirty="0"/>
          </a:p>
        </p:txBody>
      </p:sp>
      <p:sp>
        <p:nvSpPr>
          <p:cNvPr id="30" name="Text 26"/>
          <p:cNvSpPr txBox="1"/>
          <p:nvPr/>
        </p:nvSpPr>
        <p:spPr>
          <a:xfrm>
            <a:off x="3557016" y="4544568"/>
            <a:ext cx="2359152" cy="237744"/>
          </a:xfrm>
          <a:prstGeom prst="rect">
            <a:avLst/>
          </a:prstGeom>
          <a:noFill/>
          <a:ln/>
        </p:spPr>
        <p:txBody>
          <a:bodyPr wrap="square" lIns="0" tIns="0" rIns="0" bIns="0" rtlCol="0" anchor="ctr"/>
          <a:lstStyle/>
          <a:p>
            <a:pPr indent="0" marL="0">
              <a:buNone/>
            </a:pPr>
            <a:r>
              <a:rPr lang="en-US" sz="1100" dirty="0">
                <a:solidFill>
                  <a:srgbClr val="3A4358"/>
                </a:solidFill>
                <a:latin typeface="Arial" pitchFamily="34" charset="0"/>
                <a:ea typeface="Arial" pitchFamily="34" charset="-122"/>
                <a:cs typeface="Arial" pitchFamily="34" charset="-120"/>
              </a:rPr>
              <a:t>≤ 134 billed minutes a day</a:t>
            </a:r>
            <a:endParaRPr lang="en-US" sz="1100" dirty="0"/>
          </a:p>
        </p:txBody>
      </p:sp>
      <p:sp>
        <p:nvSpPr>
          <p:cNvPr id="31" name="Arrow 1"/>
          <p:cNvSpPr/>
          <p:nvPr/>
        </p:nvSpPr>
        <p:spPr>
          <a:xfrm>
            <a:off x="6025896" y="3474720"/>
            <a:ext cx="137160" cy="0"/>
          </a:xfrm>
          <a:prstGeom prst="line">
            <a:avLst/>
          </a:prstGeom>
          <a:noFill/>
          <a:ln w="15875">
            <a:solidFill>
              <a:srgbClr val="1F2A44"/>
            </a:solidFill>
            <a:prstDash val="solid"/>
            <a:tailEnd type="triangle"/>
          </a:ln>
        </p:spPr>
      </p:sp>
      <p:sp>
        <p:nvSpPr>
          <p:cNvPr id="32" name="API 3"/>
          <p:cNvSpPr/>
          <p:nvPr/>
        </p:nvSpPr>
        <p:spPr>
          <a:xfrm>
            <a:off x="6163056" y="2103120"/>
            <a:ext cx="2670048" cy="2834640"/>
          </a:xfrm>
          <a:prstGeom prst="roundRect">
            <a:avLst>
              <a:gd name="adj" fmla="val 4795"/>
            </a:avLst>
          </a:prstGeom>
          <a:solidFill>
            <a:srgbClr val="E9EEF8"/>
          </a:solidFill>
          <a:ln w="9525">
            <a:solidFill>
              <a:srgbClr val="C9D4EA"/>
            </a:solidFill>
            <a:prstDash val="solid"/>
          </a:ln>
        </p:spPr>
      </p:sp>
      <p:pic>
        <p:nvPicPr>
          <p:cNvPr id="33" name="OpenAI logo 2" descr="/private/tmp/claude-503/-Users-davark-Downloads-Everything-Github-Alodi-Regional-Codex-Hackathon-2026/91e569a8-486f-4c0b-b683-a4991468f039/scratchpad/deck/assets/openai-ink.png">    </p:cNvPr>
          <p:cNvPicPr>
            <a:picLocks noChangeAspect="1"/>
          </p:cNvPicPr>
          <p:nvPr/>
        </p:nvPicPr>
        <p:blipFill>
          <a:blip r:embed="rId3"/>
          <a:stretch>
            <a:fillRect/>
          </a:stretch>
        </p:blipFill>
        <p:spPr>
          <a:xfrm>
            <a:off x="6364224" y="2304288"/>
            <a:ext cx="274320" cy="274320"/>
          </a:xfrm>
          <a:prstGeom prst="rect">
            <a:avLst/>
          </a:prstGeom>
        </p:spPr>
      </p:pic>
      <p:sp>
        <p:nvSpPr>
          <p:cNvPr id="34" name="Text 29"/>
          <p:cNvSpPr txBox="1"/>
          <p:nvPr/>
        </p:nvSpPr>
        <p:spPr>
          <a:xfrm>
            <a:off x="6729984" y="2340864"/>
            <a:ext cx="1828800" cy="201168"/>
          </a:xfrm>
          <a:prstGeom prst="rect">
            <a:avLst/>
          </a:prstGeom>
          <a:noFill/>
          <a:ln/>
        </p:spPr>
        <p:txBody>
          <a:bodyPr wrap="square" lIns="0" tIns="0" rIns="0" bIns="0" rtlCol="0" anchor="ctr"/>
          <a:lstStyle/>
          <a:p>
            <a:pPr indent="0" marL="0">
              <a:buNone/>
            </a:pPr>
            <a:r>
              <a:rPr lang="en-US" sz="900" b="1" spc="150" kern="0" dirty="0">
                <a:solidFill>
                  <a:srgbClr val="1F2A44"/>
                </a:solidFill>
                <a:latin typeface="Arial" pitchFamily="34" charset="0"/>
                <a:ea typeface="Arial" pitchFamily="34" charset="-122"/>
                <a:cs typeface="Arial" pitchFamily="34" charset="-120"/>
              </a:rPr>
              <a:t>MEMO</a:t>
            </a:r>
            <a:endParaRPr lang="en-US" sz="900" dirty="0"/>
          </a:p>
        </p:txBody>
      </p:sp>
      <p:sp>
        <p:nvSpPr>
          <p:cNvPr id="35" name="Text 30"/>
          <p:cNvSpPr txBox="1"/>
          <p:nvPr/>
        </p:nvSpPr>
        <p:spPr>
          <a:xfrm>
            <a:off x="6364224" y="2697480"/>
            <a:ext cx="2359152" cy="329184"/>
          </a:xfrm>
          <a:prstGeom prst="rect">
            <a:avLst/>
          </a:prstGeom>
          <a:noFill/>
          <a:ln/>
        </p:spPr>
        <p:txBody>
          <a:bodyPr wrap="square" lIns="0" tIns="0" rIns="0" bIns="0" rtlCol="0" anchor="ctr"/>
          <a:lstStyle/>
          <a:p>
            <a:pPr indent="0" marL="0">
              <a:buNone/>
            </a:pPr>
            <a:r>
              <a:rPr lang="en-US" sz="1800" b="1" dirty="0">
                <a:solidFill>
                  <a:srgbClr val="121A2C"/>
                </a:solidFill>
                <a:latin typeface="Arial" pitchFamily="34" charset="0"/>
                <a:ea typeface="Arial" pitchFamily="34" charset="-122"/>
                <a:cs typeface="Arial" pitchFamily="34" charset="-120"/>
              </a:rPr>
              <a:t>GPT Transcribe</a:t>
            </a:r>
            <a:endParaRPr lang="en-US" sz="1800" dirty="0"/>
          </a:p>
        </p:txBody>
      </p:sp>
      <p:sp>
        <p:nvSpPr>
          <p:cNvPr id="36" name="Text 31"/>
          <p:cNvSpPr txBox="1"/>
          <p:nvPr/>
        </p:nvSpPr>
        <p:spPr>
          <a:xfrm>
            <a:off x="6364224" y="3017520"/>
            <a:ext cx="2359152"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Audio transcriptions</a:t>
            </a:r>
            <a:endParaRPr lang="en-US" sz="1150" dirty="0"/>
          </a:p>
        </p:txBody>
      </p:sp>
      <p:sp>
        <p:nvSpPr>
          <p:cNvPr id="37" name="Text 32"/>
          <p:cNvSpPr txBox="1"/>
          <p:nvPr/>
        </p:nvSpPr>
        <p:spPr>
          <a:xfrm>
            <a:off x="6364224" y="3291840"/>
            <a:ext cx="2322576" cy="86868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Turns the shipper’s 10-second voice memo into text the agent can read.</a:t>
            </a:r>
            <a:endParaRPr lang="en-US" sz="1250" dirty="0"/>
          </a:p>
        </p:txBody>
      </p:sp>
      <p:sp>
        <p:nvSpPr>
          <p:cNvPr id="38" name="API rule 2"/>
          <p:cNvSpPr/>
          <p:nvPr/>
        </p:nvSpPr>
        <p:spPr>
          <a:xfrm>
            <a:off x="6364224" y="4224528"/>
            <a:ext cx="2267712" cy="0"/>
          </a:xfrm>
          <a:prstGeom prst="line">
            <a:avLst/>
          </a:prstGeom>
          <a:noFill/>
          <a:ln w="9525">
            <a:solidFill>
              <a:srgbClr val="C9D4EA"/>
            </a:solidFill>
            <a:prstDash val="solid"/>
          </a:ln>
        </p:spPr>
      </p:sp>
      <p:sp>
        <p:nvSpPr>
          <p:cNvPr id="39" name="Text 34"/>
          <p:cNvSpPr txBox="1"/>
          <p:nvPr/>
        </p:nvSpPr>
        <p:spPr>
          <a:xfrm>
            <a:off x="6364224" y="4297680"/>
            <a:ext cx="2359152" cy="237744"/>
          </a:xfrm>
          <a:prstGeom prst="rect">
            <a:avLst/>
          </a:prstGeom>
          <a:noFill/>
          <a:ln/>
        </p:spPr>
        <p:txBody>
          <a:bodyPr wrap="square" lIns="0" tIns="0" rIns="0" bIns="0" rtlCol="0" anchor="ctr"/>
          <a:lstStyle/>
          <a:p>
            <a:pPr indent="0" marL="0">
              <a:buNone/>
            </a:pPr>
            <a:r>
              <a:rPr lang="en-US" sz="1150" b="1" dirty="0">
                <a:solidFill>
                  <a:srgbClr val="F05A00"/>
                </a:solidFill>
                <a:latin typeface="Arial" pitchFamily="34" charset="0"/>
                <a:ea typeface="Arial" pitchFamily="34" charset="-122"/>
                <a:cs typeface="Arial" pitchFamily="34" charset="-120"/>
              </a:rPr>
              <a:t>/v1/audio/transcriptions</a:t>
            </a:r>
            <a:endParaRPr lang="en-US" sz="1150" dirty="0"/>
          </a:p>
        </p:txBody>
      </p:sp>
      <p:sp>
        <p:nvSpPr>
          <p:cNvPr id="40" name="Text 35"/>
          <p:cNvSpPr txBox="1"/>
          <p:nvPr/>
        </p:nvSpPr>
        <p:spPr>
          <a:xfrm>
            <a:off x="6364224" y="4544568"/>
            <a:ext cx="2359152" cy="237744"/>
          </a:xfrm>
          <a:prstGeom prst="rect">
            <a:avLst/>
          </a:prstGeom>
          <a:noFill/>
          <a:ln/>
        </p:spPr>
        <p:txBody>
          <a:bodyPr wrap="square" lIns="0" tIns="0" rIns="0" bIns="0" rtlCol="0" anchor="ctr"/>
          <a:lstStyle/>
          <a:p>
            <a:pPr indent="0" marL="0">
              <a:buNone/>
            </a:pPr>
            <a:r>
              <a:rPr lang="en-US" sz="1100" dirty="0">
                <a:solidFill>
                  <a:srgbClr val="3A4358"/>
                </a:solidFill>
                <a:latin typeface="Arial" pitchFamily="34" charset="0"/>
                <a:ea typeface="Arial" pitchFamily="34" charset="-122"/>
                <a:cs typeface="Arial" pitchFamily="34" charset="-120"/>
              </a:rPr>
              <a:t>Reschedules with a memo</a:t>
            </a:r>
            <a:endParaRPr lang="en-US" sz="1100" dirty="0"/>
          </a:p>
        </p:txBody>
      </p:sp>
      <p:sp>
        <p:nvSpPr>
          <p:cNvPr id="41" name="Arrow 2"/>
          <p:cNvSpPr/>
          <p:nvPr/>
        </p:nvSpPr>
        <p:spPr>
          <a:xfrm>
            <a:off x="8833104" y="3474720"/>
            <a:ext cx="137160" cy="0"/>
          </a:xfrm>
          <a:prstGeom prst="line">
            <a:avLst/>
          </a:prstGeom>
          <a:noFill/>
          <a:ln w="15875">
            <a:solidFill>
              <a:srgbClr val="1F2A44"/>
            </a:solidFill>
            <a:prstDash val="solid"/>
            <a:tailEnd type="triangle"/>
          </a:ln>
        </p:spPr>
      </p:sp>
      <p:sp>
        <p:nvSpPr>
          <p:cNvPr id="42" name="API 4"/>
          <p:cNvSpPr/>
          <p:nvPr/>
        </p:nvSpPr>
        <p:spPr>
          <a:xfrm>
            <a:off x="8970264" y="2103120"/>
            <a:ext cx="2670048" cy="2834640"/>
          </a:xfrm>
          <a:prstGeom prst="roundRect">
            <a:avLst>
              <a:gd name="adj" fmla="val 4795"/>
            </a:avLst>
          </a:prstGeom>
          <a:solidFill>
            <a:srgbClr val="FFF1E7"/>
          </a:solidFill>
          <a:ln w="9525">
            <a:solidFill>
              <a:srgbClr val="FFCFB0"/>
            </a:solidFill>
            <a:prstDash val="solid"/>
          </a:ln>
        </p:spPr>
      </p:sp>
      <p:pic>
        <p:nvPicPr>
          <p:cNvPr id="43" name="OpenAI logo 3" descr="/private/tmp/claude-503/-Users-davark-Downloads-Everything-Github-Alodi-Regional-Codex-Hackathon-2026/91e569a8-486f-4c0b-b683-a4991468f039/scratchpad/deck/assets/openai-ink.png">    </p:cNvPr>
          <p:cNvPicPr>
            <a:picLocks noChangeAspect="1"/>
          </p:cNvPicPr>
          <p:nvPr/>
        </p:nvPicPr>
        <p:blipFill>
          <a:blip r:embed="rId4"/>
          <a:stretch>
            <a:fillRect/>
          </a:stretch>
        </p:blipFill>
        <p:spPr>
          <a:xfrm>
            <a:off x="9171432" y="2304288"/>
            <a:ext cx="274320" cy="274320"/>
          </a:xfrm>
          <a:prstGeom prst="rect">
            <a:avLst/>
          </a:prstGeom>
        </p:spPr>
      </p:pic>
      <p:sp>
        <p:nvSpPr>
          <p:cNvPr id="44" name="Text 38"/>
          <p:cNvSpPr txBox="1"/>
          <p:nvPr/>
        </p:nvSpPr>
        <p:spPr>
          <a:xfrm>
            <a:off x="9537192" y="2340864"/>
            <a:ext cx="1828800" cy="201168"/>
          </a:xfrm>
          <a:prstGeom prst="rect">
            <a:avLst/>
          </a:prstGeom>
          <a:noFill/>
          <a:ln/>
        </p:spPr>
        <p:txBody>
          <a:bodyPr wrap="square" lIns="0" tIns="0" rIns="0" bIns="0" rtlCol="0" anchor="ctr"/>
          <a:lstStyle/>
          <a:p>
            <a:pPr indent="0" marL="0">
              <a:buNone/>
            </a:pPr>
            <a:r>
              <a:rPr lang="en-US" sz="900" b="1" spc="150" kern="0" dirty="0">
                <a:solidFill>
                  <a:srgbClr val="F05A00"/>
                </a:solidFill>
                <a:latin typeface="Arial" pitchFamily="34" charset="0"/>
                <a:ea typeface="Arial" pitchFamily="34" charset="-122"/>
                <a:cs typeface="Arial" pitchFamily="34" charset="-120"/>
              </a:rPr>
              <a:t>AGENT</a:t>
            </a:r>
            <a:endParaRPr lang="en-US" sz="900" dirty="0"/>
          </a:p>
        </p:txBody>
      </p:sp>
      <p:sp>
        <p:nvSpPr>
          <p:cNvPr id="45" name="Text 39"/>
          <p:cNvSpPr txBox="1"/>
          <p:nvPr/>
        </p:nvSpPr>
        <p:spPr>
          <a:xfrm>
            <a:off x="9171432" y="2697480"/>
            <a:ext cx="2359152" cy="329184"/>
          </a:xfrm>
          <a:prstGeom prst="rect">
            <a:avLst/>
          </a:prstGeom>
          <a:noFill/>
          <a:ln/>
        </p:spPr>
        <p:txBody>
          <a:bodyPr wrap="square" lIns="0" tIns="0" rIns="0" bIns="0" rtlCol="0" anchor="ctr"/>
          <a:lstStyle/>
          <a:p>
            <a:pPr indent="0" marL="0">
              <a:buNone/>
            </a:pPr>
            <a:r>
              <a:rPr lang="en-US" sz="1800" b="1" dirty="0">
                <a:solidFill>
                  <a:srgbClr val="121A2C"/>
                </a:solidFill>
                <a:latin typeface="Arial" pitchFamily="34" charset="0"/>
                <a:ea typeface="Arial" pitchFamily="34" charset="-122"/>
                <a:cs typeface="Arial" pitchFamily="34" charset="-120"/>
              </a:rPr>
              <a:t>GPT-6.1 Terra</a:t>
            </a:r>
            <a:endParaRPr lang="en-US" sz="1800" dirty="0"/>
          </a:p>
        </p:txBody>
      </p:sp>
      <p:sp>
        <p:nvSpPr>
          <p:cNvPr id="46" name="Text 40"/>
          <p:cNvSpPr txBox="1"/>
          <p:nvPr/>
        </p:nvSpPr>
        <p:spPr>
          <a:xfrm>
            <a:off x="9171432" y="3017520"/>
            <a:ext cx="2359152"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Responses API, Agents SDK</a:t>
            </a:r>
            <a:endParaRPr lang="en-US" sz="1150" dirty="0"/>
          </a:p>
        </p:txBody>
      </p:sp>
      <p:sp>
        <p:nvSpPr>
          <p:cNvPr id="47" name="Text 41"/>
          <p:cNvSpPr txBox="1"/>
          <p:nvPr/>
        </p:nvSpPr>
        <p:spPr>
          <a:xfrm>
            <a:off x="9171432" y="3291840"/>
            <a:ext cx="2322576" cy="86868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Runs the case under policy and writes the card with Structured Outputs.</a:t>
            </a:r>
            <a:endParaRPr lang="en-US" sz="1250" dirty="0"/>
          </a:p>
        </p:txBody>
      </p:sp>
      <p:sp>
        <p:nvSpPr>
          <p:cNvPr id="48" name="API rule 3"/>
          <p:cNvSpPr/>
          <p:nvPr/>
        </p:nvSpPr>
        <p:spPr>
          <a:xfrm>
            <a:off x="9171432" y="4224528"/>
            <a:ext cx="2267712" cy="0"/>
          </a:xfrm>
          <a:prstGeom prst="line">
            <a:avLst/>
          </a:prstGeom>
          <a:noFill/>
          <a:ln w="9525">
            <a:solidFill>
              <a:srgbClr val="FFCFB0"/>
            </a:solidFill>
            <a:prstDash val="solid"/>
          </a:ln>
        </p:spPr>
      </p:sp>
      <p:sp>
        <p:nvSpPr>
          <p:cNvPr id="49" name="Text 43"/>
          <p:cNvSpPr txBox="1"/>
          <p:nvPr/>
        </p:nvSpPr>
        <p:spPr>
          <a:xfrm>
            <a:off x="9171432" y="4297680"/>
            <a:ext cx="2359152" cy="237744"/>
          </a:xfrm>
          <a:prstGeom prst="rect">
            <a:avLst/>
          </a:prstGeom>
          <a:noFill/>
          <a:ln/>
        </p:spPr>
        <p:txBody>
          <a:bodyPr wrap="square" lIns="0" tIns="0" rIns="0" bIns="0" rtlCol="0" anchor="ctr"/>
          <a:lstStyle/>
          <a:p>
            <a:pPr indent="0" marL="0">
              <a:buNone/>
            </a:pPr>
            <a:r>
              <a:rPr lang="en-US" sz="1150" b="1" dirty="0">
                <a:solidFill>
                  <a:srgbClr val="F05A00"/>
                </a:solidFill>
                <a:latin typeface="Arial" pitchFamily="34" charset="0"/>
                <a:ea typeface="Arial" pitchFamily="34" charset="-122"/>
                <a:cs typeface="Arial" pitchFamily="34" charset="-120"/>
              </a:rPr>
              <a:t>/v1/responses</a:t>
            </a:r>
            <a:endParaRPr lang="en-US" sz="1150" dirty="0"/>
          </a:p>
        </p:txBody>
      </p:sp>
      <p:sp>
        <p:nvSpPr>
          <p:cNvPr id="50" name="Text 44"/>
          <p:cNvSpPr txBox="1"/>
          <p:nvPr/>
        </p:nvSpPr>
        <p:spPr>
          <a:xfrm>
            <a:off x="9171432" y="4544568"/>
            <a:ext cx="2359152" cy="237744"/>
          </a:xfrm>
          <a:prstGeom prst="rect">
            <a:avLst/>
          </a:prstGeom>
          <a:noFill/>
          <a:ln/>
        </p:spPr>
        <p:txBody>
          <a:bodyPr wrap="square" lIns="0" tIns="0" rIns="0" bIns="0" rtlCol="0" anchor="ctr"/>
          <a:lstStyle/>
          <a:p>
            <a:pPr indent="0" marL="0">
              <a:buNone/>
            </a:pPr>
            <a:r>
              <a:rPr lang="en-US" sz="1100" dirty="0">
                <a:solidFill>
                  <a:srgbClr val="3A4358"/>
                </a:solidFill>
                <a:latin typeface="Arial" pitchFamily="34" charset="0"/>
                <a:ea typeface="Arial" pitchFamily="34" charset="-122"/>
                <a:cs typeface="Arial" pitchFamily="34" charset="-120"/>
              </a:rPr>
              <a:t>≈ 20% of traffic, after triage</a:t>
            </a:r>
            <a:endParaRPr lang="en-US" sz="1100" dirty="0"/>
          </a:p>
        </p:txBody>
      </p:sp>
      <p:pic>
        <p:nvPicPr>
          <p:cNvPr id="51" name="Also logo 0" descr="/private/tmp/claude-503/-Users-davark-Downloads-Everything-Github-Alodi-Regional-Codex-Hackathon-2026/91e569a8-486f-4c0b-b683-a4991468f039/scratchpad/deck/assets/openai-ink.png">    </p:cNvPr>
          <p:cNvPicPr>
            <a:picLocks noChangeAspect="1"/>
          </p:cNvPicPr>
          <p:nvPr/>
        </p:nvPicPr>
        <p:blipFill>
          <a:blip r:embed="rId5"/>
          <a:stretch>
            <a:fillRect/>
          </a:stretch>
        </p:blipFill>
        <p:spPr>
          <a:xfrm>
            <a:off x="548640" y="5129784"/>
            <a:ext cx="201168" cy="201168"/>
          </a:xfrm>
          <a:prstGeom prst="rect">
            <a:avLst/>
          </a:prstGeom>
        </p:spPr>
      </p:pic>
      <p:sp>
        <p:nvSpPr>
          <p:cNvPr id="52" name="Text 45"/>
          <p:cNvSpPr txBox="1"/>
          <p:nvPr/>
        </p:nvSpPr>
        <p:spPr>
          <a:xfrm>
            <a:off x="841248" y="5074920"/>
            <a:ext cx="233172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Structured Outputs</a:t>
            </a:r>
            <a:endParaRPr lang="en-US" sz="1300" dirty="0"/>
          </a:p>
        </p:txBody>
      </p:sp>
      <p:sp>
        <p:nvSpPr>
          <p:cNvPr id="53" name="Text 46"/>
          <p:cNvSpPr txBox="1"/>
          <p:nvPr/>
        </p:nvSpPr>
        <p:spPr>
          <a:xfrm>
            <a:off x="841248" y="5330952"/>
            <a:ext cx="2377440"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the context card schema</a:t>
            </a:r>
            <a:endParaRPr lang="en-US" sz="1150" dirty="0"/>
          </a:p>
        </p:txBody>
      </p:sp>
      <p:pic>
        <p:nvPicPr>
          <p:cNvPr id="54" name="Also logo 1" descr="/private/tmp/claude-503/-Users-davark-Downloads-Everything-Github-Alodi-Regional-Codex-Hackathon-2026/91e569a8-486f-4c0b-b683-a4991468f039/scratchpad/deck/assets/openai-ink.png">    </p:cNvPr>
          <p:cNvPicPr>
            <a:picLocks noChangeAspect="1"/>
          </p:cNvPicPr>
          <p:nvPr/>
        </p:nvPicPr>
        <p:blipFill>
          <a:blip r:embed="rId6"/>
          <a:stretch>
            <a:fillRect/>
          </a:stretch>
        </p:blipFill>
        <p:spPr>
          <a:xfrm>
            <a:off x="3355848" y="5129784"/>
            <a:ext cx="201168" cy="201168"/>
          </a:xfrm>
          <a:prstGeom prst="rect">
            <a:avLst/>
          </a:prstGeom>
        </p:spPr>
      </p:pic>
      <p:sp>
        <p:nvSpPr>
          <p:cNvPr id="55" name="Text 47"/>
          <p:cNvSpPr txBox="1"/>
          <p:nvPr/>
        </p:nvSpPr>
        <p:spPr>
          <a:xfrm>
            <a:off x="3648456" y="5074920"/>
            <a:ext cx="233172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Evals</a:t>
            </a:r>
            <a:endParaRPr lang="en-US" sz="1300" dirty="0"/>
          </a:p>
        </p:txBody>
      </p:sp>
      <p:sp>
        <p:nvSpPr>
          <p:cNvPr id="56" name="Text 48"/>
          <p:cNvSpPr txBox="1"/>
          <p:nvPr/>
        </p:nvSpPr>
        <p:spPr>
          <a:xfrm>
            <a:off x="3648456" y="5330952"/>
            <a:ext cx="2377440"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gate every prompt change</a:t>
            </a:r>
            <a:endParaRPr lang="en-US" sz="1150" dirty="0"/>
          </a:p>
        </p:txBody>
      </p:sp>
      <p:pic>
        <p:nvPicPr>
          <p:cNvPr id="57" name="Also logo 2" descr="/private/tmp/claude-503/-Users-davark-Downloads-Everything-Github-Alodi-Regional-Codex-Hackathon-2026/91e569a8-486f-4c0b-b683-a4991468f039/scratchpad/deck/assets/openai-ink.png">    </p:cNvPr>
          <p:cNvPicPr>
            <a:picLocks noChangeAspect="1"/>
          </p:cNvPicPr>
          <p:nvPr/>
        </p:nvPicPr>
        <p:blipFill>
          <a:blip r:embed="rId7"/>
          <a:stretch>
            <a:fillRect/>
          </a:stretch>
        </p:blipFill>
        <p:spPr>
          <a:xfrm>
            <a:off x="6163056" y="5129784"/>
            <a:ext cx="201168" cy="201168"/>
          </a:xfrm>
          <a:prstGeom prst="rect">
            <a:avLst/>
          </a:prstGeom>
        </p:spPr>
      </p:pic>
      <p:sp>
        <p:nvSpPr>
          <p:cNvPr id="58" name="Text 49"/>
          <p:cNvSpPr txBox="1"/>
          <p:nvPr/>
        </p:nvSpPr>
        <p:spPr>
          <a:xfrm>
            <a:off x="6455664" y="5074920"/>
            <a:ext cx="233172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gpt-oss-20b</a:t>
            </a:r>
            <a:endParaRPr lang="en-US" sz="1300" dirty="0"/>
          </a:p>
        </p:txBody>
      </p:sp>
      <p:sp>
        <p:nvSpPr>
          <p:cNvPr id="59" name="Text 50"/>
          <p:cNvSpPr txBox="1"/>
          <p:nvPr/>
        </p:nvSpPr>
        <p:spPr>
          <a:xfrm>
            <a:off x="6455664" y="5330952"/>
            <a:ext cx="2377440"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offline fallback</a:t>
            </a:r>
            <a:endParaRPr lang="en-US" sz="1150" dirty="0"/>
          </a:p>
        </p:txBody>
      </p:sp>
      <p:pic>
        <p:nvPicPr>
          <p:cNvPr id="60" name="Also logo 3" descr="/private/tmp/claude-503/-Users-davark-Downloads-Everything-Github-Alodi-Regional-Codex-Hackathon-2026/91e569a8-486f-4c0b-b683-a4991468f039/scratchpad/deck/assets/openai-ink.png">    </p:cNvPr>
          <p:cNvPicPr>
            <a:picLocks noChangeAspect="1"/>
          </p:cNvPicPr>
          <p:nvPr/>
        </p:nvPicPr>
        <p:blipFill>
          <a:blip r:embed="rId8"/>
          <a:stretch>
            <a:fillRect/>
          </a:stretch>
        </p:blipFill>
        <p:spPr>
          <a:xfrm>
            <a:off x="8970264" y="5129784"/>
            <a:ext cx="201168" cy="201168"/>
          </a:xfrm>
          <a:prstGeom prst="rect">
            <a:avLst/>
          </a:prstGeom>
        </p:spPr>
      </p:pic>
      <p:sp>
        <p:nvSpPr>
          <p:cNvPr id="61" name="Text 51"/>
          <p:cNvSpPr txBox="1"/>
          <p:nvPr/>
        </p:nvSpPr>
        <p:spPr>
          <a:xfrm>
            <a:off x="9262872" y="5074920"/>
            <a:ext cx="2331720" cy="256032"/>
          </a:xfrm>
          <a:prstGeom prst="rect">
            <a:avLst/>
          </a:prstGeom>
          <a:noFill/>
          <a:ln/>
        </p:spPr>
        <p:txBody>
          <a:bodyPr wrap="square" lIns="0" tIns="0" rIns="0" bIns="0" rtlCol="0" anchor="ctr"/>
          <a:lstStyle/>
          <a:p>
            <a:pPr indent="0" marL="0">
              <a:buNone/>
            </a:pPr>
            <a:r>
              <a:rPr lang="en-US" sz="1300" b="1" dirty="0">
                <a:solidFill>
                  <a:srgbClr val="121A2C"/>
                </a:solidFill>
                <a:latin typeface="Arial" pitchFamily="34" charset="0"/>
                <a:ea typeface="Arial" pitchFamily="34" charset="-122"/>
                <a:cs typeface="Arial" pitchFamily="34" charset="-120"/>
              </a:rPr>
              <a:t>Codex</a:t>
            </a:r>
            <a:endParaRPr lang="en-US" sz="1300" dirty="0"/>
          </a:p>
        </p:txBody>
      </p:sp>
      <p:sp>
        <p:nvSpPr>
          <p:cNvPr id="62" name="Text 52"/>
          <p:cNvSpPr txBox="1"/>
          <p:nvPr/>
        </p:nvSpPr>
        <p:spPr>
          <a:xfrm>
            <a:off x="9262872" y="5330952"/>
            <a:ext cx="2377440" cy="237744"/>
          </a:xfrm>
          <a:prstGeom prst="rect">
            <a:avLst/>
          </a:prstGeom>
          <a:noFill/>
          <a:ln/>
        </p:spPr>
        <p:txBody>
          <a:bodyPr wrap="square" lIns="0" tIns="0" rIns="0" bIns="0" rtlCol="0" anchor="ctr"/>
          <a:lstStyle/>
          <a:p>
            <a:pPr indent="0" marL="0">
              <a:buNone/>
            </a:pPr>
            <a:r>
              <a:rPr lang="en-US" sz="1150" dirty="0">
                <a:solidFill>
                  <a:srgbClr val="3A4358"/>
                </a:solidFill>
                <a:latin typeface="Arial" pitchFamily="34" charset="0"/>
                <a:ea typeface="Arial" pitchFamily="34" charset="-122"/>
                <a:cs typeface="Arial" pitchFamily="34" charset="-120"/>
              </a:rPr>
              <a:t>spec → build → review</a:t>
            </a:r>
            <a:endParaRPr lang="en-US" sz="1150" dirty="0"/>
          </a:p>
        </p:txBody>
      </p:sp>
      <p:sp>
        <p:nvSpPr>
          <p:cNvPr id="63" name="Text 53"/>
          <p:cNvSpPr txBox="1"/>
          <p:nvPr/>
        </p:nvSpPr>
        <p:spPr>
          <a:xfrm>
            <a:off x="548640" y="5760720"/>
            <a:ext cx="11064240" cy="237744"/>
          </a:xfrm>
          <a:prstGeom prst="rect">
            <a:avLst/>
          </a:prstGeom>
          <a:noFill/>
          <a:ln/>
        </p:spPr>
        <p:txBody>
          <a:bodyPr wrap="square" lIns="0" tIns="0" rIns="0" bIns="0" rtlCol="0" anchor="ctr"/>
          <a:lstStyle/>
          <a:p>
            <a:pPr indent="0" marL="0">
              <a:buNone/>
            </a:pPr>
            <a:r>
              <a:rPr lang="en-US" sz="1050" dirty="0">
                <a:solidFill>
                  <a:srgbClr val="3A4358"/>
                </a:solidFill>
                <a:latin typeface="Arial" pitchFamily="34" charset="0"/>
                <a:ea typeface="Arial" pitchFamily="34" charset="-122"/>
                <a:cs typeface="Arial" pitchFamily="34" charset="-120"/>
              </a:rPr>
              <a:t>Demo build: GPT-Live-1, GPT Transcribe, GPT-6.1 Terra. Decisions API, Agents SDK, Evals and gpt-oss-20b are the production design. [10][11]</a:t>
            </a:r>
            <a:endParaRPr lang="en-US" sz="1050" dirty="0"/>
          </a:p>
        </p:txBody>
      </p:sp>
      <p:sp>
        <p:nvSpPr>
          <p:cNvPr id="64" name="Text 54"/>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06  </a:t>
            </a:r>
            <a:pPr indent="0" marL="0">
              <a:buNone/>
            </a:pPr>
            <a:r>
              <a:rPr lang="en-US" sz="1050" b="1" spc="200" kern="0" dirty="0">
                <a:solidFill>
                  <a:srgbClr val="1F2A44"/>
                </a:solidFill>
                <a:latin typeface="Arial" pitchFamily="34" charset="0"/>
                <a:ea typeface="Arial" pitchFamily="34" charset="-122"/>
                <a:cs typeface="Arial" pitchFamily="34" charset="-120"/>
              </a:rPr>
              <a:t>OUTPUT</a:t>
            </a:r>
            <a:endParaRPr lang="en-US" sz="1050" dirty="0"/>
          </a:p>
        </p:txBody>
      </p:sp>
      <p:sp>
        <p:nvSpPr>
          <p:cNvPr id="4" name="Text 2"/>
          <p:cNvSpPr txBox="1"/>
          <p:nvPr/>
        </p:nvSpPr>
        <p:spPr>
          <a:xfrm>
            <a:off x="548640" y="841248"/>
            <a:ext cx="11064240" cy="594360"/>
          </a:xfrm>
          <a:prstGeom prst="rect">
            <a:avLst/>
          </a:prstGeom>
          <a:noFill/>
          <a:ln/>
        </p:spPr>
        <p:txBody>
          <a:bodyPr wrap="square" lIns="0" tIns="0" rIns="0" bIns="0" rtlCol="0" anchor="t"/>
          <a:lstStyle/>
          <a:p>
            <a:pPr indent="0" marL="0">
              <a:lnSpc>
                <a:spcPct val="95000"/>
              </a:lnSpc>
              <a:buNone/>
            </a:pPr>
            <a:r>
              <a:rPr lang="en-US" sz="2800" b="1" dirty="0">
                <a:solidFill>
                  <a:srgbClr val="5F6F91"/>
                </a:solidFill>
                <a:latin typeface="Arial" pitchFamily="34" charset="0"/>
                <a:ea typeface="Arial" pitchFamily="34" charset="-122"/>
                <a:cs typeface="Arial" pitchFamily="34" charset="-120"/>
              </a:rPr>
              <a:t>Less money lost. </a:t>
            </a:r>
            <a:pPr indent="0" marL="0">
              <a:lnSpc>
                <a:spcPct val="95000"/>
              </a:lnSpc>
              <a:buNone/>
            </a:pPr>
            <a:r>
              <a:rPr lang="en-US" sz="2800" b="1" dirty="0">
                <a:solidFill>
                  <a:srgbClr val="121A2C"/>
                </a:solidFill>
                <a:latin typeface="Arial" pitchFamily="34" charset="0"/>
                <a:ea typeface="Arial" pitchFamily="34" charset="-122"/>
                <a:cs typeface="Arial" pitchFamily="34" charset="-120"/>
              </a:rPr>
              <a:t>A second drop that just works.</a:t>
            </a:r>
            <a:endParaRPr lang="en-US" sz="2800" dirty="0"/>
          </a:p>
        </p:txBody>
      </p:sp>
      <p:sp>
        <p:nvSpPr>
          <p:cNvPr id="5" name="Money card"/>
          <p:cNvSpPr/>
          <p:nvPr/>
        </p:nvSpPr>
        <p:spPr>
          <a:xfrm>
            <a:off x="548640" y="1691640"/>
            <a:ext cx="6035040" cy="4297680"/>
          </a:xfrm>
          <a:prstGeom prst="roundRect">
            <a:avLst>
              <a:gd name="adj" fmla="val 4255"/>
            </a:avLst>
          </a:prstGeom>
          <a:solidFill>
            <a:srgbClr val="FFF1E7"/>
          </a:solidFill>
          <a:ln w="9525">
            <a:solidFill>
              <a:srgbClr val="FFCFB0"/>
            </a:solidFill>
            <a:prstDash val="solid"/>
          </a:ln>
        </p:spPr>
      </p:sp>
      <p:sp>
        <p:nvSpPr>
          <p:cNvPr id="6" name="Text 4"/>
          <p:cNvSpPr txBox="1"/>
          <p:nvPr/>
        </p:nvSpPr>
        <p:spPr>
          <a:xfrm>
            <a:off x="914400" y="1965960"/>
            <a:ext cx="502920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SAVED A MONTH · ONE AREA · PROJECTED</a:t>
            </a:r>
            <a:endParaRPr lang="en-US" sz="950" dirty="0"/>
          </a:p>
        </p:txBody>
      </p:sp>
      <p:sp>
        <p:nvSpPr>
          <p:cNvPr id="7" name="Net saving"/>
          <p:cNvSpPr txBox="1"/>
          <p:nvPr/>
        </p:nvSpPr>
        <p:spPr>
          <a:xfrm>
            <a:off x="914400" y="2212848"/>
            <a:ext cx="5394960" cy="914400"/>
          </a:xfrm>
          <a:prstGeom prst="rect">
            <a:avLst/>
          </a:prstGeom>
          <a:noFill/>
          <a:ln/>
        </p:spPr>
        <p:txBody>
          <a:bodyPr wrap="square" lIns="0" tIns="0" rIns="0" bIns="0" rtlCol="0" anchor="ctr"/>
          <a:lstStyle/>
          <a:p>
            <a:pPr indent="0" marL="0">
              <a:buNone/>
            </a:pPr>
            <a:r>
              <a:rPr lang="en-US" sz="5600" b="1" dirty="0">
                <a:solidFill>
                  <a:srgbClr val="F05A00"/>
                </a:solidFill>
                <a:latin typeface="Arial" pitchFamily="34" charset="0"/>
                <a:ea typeface="Arial" pitchFamily="34" charset="-122"/>
                <a:cs typeface="Arial" pitchFamily="34" charset="-120"/>
              </a:rPr>
              <a:t>₫</a:t>
            </a:r>
            <a:pPr indent="0" marL="0">
              <a:buNone/>
            </a:pPr>
            <a:r>
              <a:rPr lang="en-US" sz="5600" b="1" dirty="0">
                <a:solidFill>
                  <a:srgbClr val="F05A00"/>
                </a:solidFill>
                <a:latin typeface="Arial" pitchFamily="34" charset="0"/>
                <a:ea typeface="Arial" pitchFamily="34" charset="-122"/>
                <a:cs typeface="Arial" pitchFamily="34" charset="-120"/>
              </a:rPr>
              <a:t>187M</a:t>
            </a:r>
            <a:endParaRPr lang="en-US" sz="5600" dirty="0"/>
          </a:p>
        </p:txBody>
      </p:sp>
      <p:graphicFrame>
        <p:nvGraphicFramePr>
          <p:cNvPr id="8" name="Loss chart" descr="Monthly loss: ₫473M today, ₫286M with Alodi"/>
          <p:cNvGraphicFramePr/>
          <p:nvPr/>
        </p:nvGraphicFramePr>
        <p:xfrm>
          <a:off x="822960" y="3063240"/>
          <a:ext cx="5532120" cy="1600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914400" y="4800600"/>
            <a:ext cx="5303520" cy="457200"/>
          </a:xfrm>
          <a:prstGeom prst="rect">
            <a:avLst/>
          </a:prstGeom>
          <a:noFill/>
          <a:ln/>
        </p:spPr>
        <p:txBody>
          <a:bodyPr wrap="square" lIns="0" tIns="0" rIns="0" bIns="0" rtlCol="0" anchor="ctr"/>
          <a:lstStyle/>
          <a:p>
            <a:pPr indent="0" marL="0">
              <a:buNone/>
            </a:pPr>
            <a:r>
              <a:rPr lang="en-US" sz="2200" b="1" dirty="0">
                <a:solidFill>
                  <a:srgbClr val="F05A00"/>
                </a:solidFill>
                <a:latin typeface="Arial" pitchFamily="34" charset="0"/>
                <a:ea typeface="Arial" pitchFamily="34" charset="-122"/>
                <a:cs typeface="Arial" pitchFamily="34" charset="-120"/>
              </a:rPr>
              <a:t>40% cost saving</a:t>
            </a:r>
            <a:pPr indent="0" marL="0">
              <a:buNone/>
            </a:pPr>
            <a:r>
              <a:rPr lang="en-US" sz="1000" b="1" dirty="0">
                <a:solidFill>
                  <a:srgbClr val="4A556E"/>
                </a:solidFill>
                <a:latin typeface="Arial" pitchFamily="34" charset="0"/>
                <a:ea typeface="Arial" pitchFamily="34" charset="-122"/>
                <a:cs typeface="Arial" pitchFamily="34" charset="-120"/>
              </a:rPr>
              <a:t> [8][9]</a:t>
            </a:r>
            <a:endParaRPr lang="en-US" sz="2200" dirty="0"/>
          </a:p>
        </p:txBody>
      </p:sp>
      <p:sp>
        <p:nvSpPr>
          <p:cNvPr id="10" name="Text 7"/>
          <p:cNvSpPr txBox="1"/>
          <p:nvPr/>
        </p:nvSpPr>
        <p:spPr>
          <a:xfrm>
            <a:off x="914400" y="5257800"/>
            <a:ext cx="5303520" cy="320040"/>
          </a:xfrm>
          <a:prstGeom prst="rect">
            <a:avLst/>
          </a:prstGeom>
          <a:noFill/>
          <a:ln/>
        </p:spPr>
        <p:txBody>
          <a:bodyPr wrap="square" lIns="0" tIns="0" rIns="0" bIns="0" rtlCol="0" anchor="ctr"/>
          <a:lstStyle/>
          <a:p>
            <a:pPr indent="0" marL="0">
              <a:buNone/>
            </a:pPr>
            <a:r>
              <a:rPr lang="en-US" sz="1300" dirty="0">
                <a:solidFill>
                  <a:srgbClr val="222B40"/>
                </a:solidFill>
                <a:latin typeface="Arial" pitchFamily="34" charset="0"/>
                <a:ea typeface="Arial" pitchFamily="34" charset="-122"/>
                <a:cs typeface="Arial" pitchFamily="34" charset="-120"/>
              </a:rPr>
              <a:t>After running costs, at a best-in-class rescue rate.</a:t>
            </a:r>
            <a:endParaRPr lang="en-US" sz="1300" dirty="0"/>
          </a:p>
        </p:txBody>
      </p:sp>
      <p:sp>
        <p:nvSpPr>
          <p:cNvPr id="11" name="Experience card"/>
          <p:cNvSpPr/>
          <p:nvPr/>
        </p:nvSpPr>
        <p:spPr>
          <a:xfrm>
            <a:off x="6720840" y="1691640"/>
            <a:ext cx="4919472" cy="4297680"/>
          </a:xfrm>
          <a:prstGeom prst="roundRect">
            <a:avLst>
              <a:gd name="adj" fmla="val 4255"/>
            </a:avLst>
          </a:prstGeom>
          <a:solidFill>
            <a:srgbClr val="E9EEF8"/>
          </a:solidFill>
          <a:ln w="9525">
            <a:solidFill>
              <a:srgbClr val="C9D4EA"/>
            </a:solidFill>
            <a:prstDash val="solid"/>
          </a:ln>
        </p:spPr>
      </p:sp>
      <p:sp>
        <p:nvSpPr>
          <p:cNvPr id="12" name="Text 9"/>
          <p:cNvSpPr txBox="1"/>
          <p:nvPr/>
        </p:nvSpPr>
        <p:spPr>
          <a:xfrm>
            <a:off x="7086600" y="1965960"/>
            <a:ext cx="420624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FROM ANSWER TO CARD · TARGET</a:t>
            </a:r>
            <a:endParaRPr lang="en-US" sz="950" dirty="0"/>
          </a:p>
        </p:txBody>
      </p:sp>
      <p:sp>
        <p:nvSpPr>
          <p:cNvPr id="13" name="Time to context"/>
          <p:cNvSpPr txBox="1"/>
          <p:nvPr/>
        </p:nvSpPr>
        <p:spPr>
          <a:xfrm>
            <a:off x="7086600" y="2212848"/>
            <a:ext cx="4297680" cy="914400"/>
          </a:xfrm>
          <a:prstGeom prst="rect">
            <a:avLst/>
          </a:prstGeom>
          <a:noFill/>
          <a:ln/>
        </p:spPr>
        <p:txBody>
          <a:bodyPr wrap="square" lIns="0" tIns="0" rIns="0" bIns="0" rtlCol="0" anchor="ctr"/>
          <a:lstStyle/>
          <a:p>
            <a:pPr indent="0" marL="0">
              <a:buNone/>
            </a:pPr>
            <a:r>
              <a:rPr lang="en-US" sz="5600" b="1" dirty="0">
                <a:solidFill>
                  <a:srgbClr val="121A2C"/>
                </a:solidFill>
                <a:latin typeface="Arial" pitchFamily="34" charset="0"/>
                <a:ea typeface="Arial" pitchFamily="34" charset="-122"/>
                <a:cs typeface="Arial" pitchFamily="34" charset="-120"/>
              </a:rPr>
              <a:t>&lt; 10 s</a:t>
            </a:r>
            <a:endParaRPr lang="en-US" sz="5600" dirty="0"/>
          </a:p>
        </p:txBody>
      </p:sp>
      <p:graphicFrame>
        <p:nvGraphicFramePr>
          <p:cNvPr id="14" name="Time chart" descr="Under ten seconds from the buyer's answer to the card"/>
          <p:cNvGraphicFramePr/>
          <p:nvPr/>
        </p:nvGraphicFramePr>
        <p:xfrm>
          <a:off x="6967728" y="3127248"/>
          <a:ext cx="4526280" cy="1051560"/>
        </p:xfrm>
        <a:graphic xmlns:a="http://schemas.openxmlformats.org/drawingml/2006/main">
          <a:graphicData uri="http://schemas.openxmlformats.org/drawingml/2006/chart">
            <c:chart xmlns:c="http://schemas.openxmlformats.org/drawingml/2006/chart" r:id="rId2"/>
          </a:graphicData>
        </a:graphic>
      </p:graphicFrame>
      <p:pic>
        <p:nvPicPr>
          <p:cNvPr id="15" name="Person 1" descr="Buyer answers">    </p:cNvPr>
          <p:cNvPicPr>
            <a:picLocks noChangeAspect="1"/>
          </p:cNvPicPr>
          <p:nvPr/>
        </p:nvPicPr>
        <p:blipFill>
          <a:blip r:embed="rId3"/>
          <a:stretch>
            <a:fillRect/>
          </a:stretch>
        </p:blipFill>
        <p:spPr>
          <a:xfrm>
            <a:off x="7086600" y="4315968"/>
            <a:ext cx="548640" cy="548640"/>
          </a:xfrm>
          <a:prstGeom prst="rect">
            <a:avLst/>
          </a:prstGeom>
        </p:spPr>
      </p:pic>
      <p:sp>
        <p:nvSpPr>
          <p:cNvPr id="16" name="Text 11"/>
          <p:cNvSpPr txBox="1"/>
          <p:nvPr/>
        </p:nvSpPr>
        <p:spPr>
          <a:xfrm>
            <a:off x="7726680" y="4315968"/>
            <a:ext cx="2011680" cy="548640"/>
          </a:xfrm>
          <a:prstGeom prst="rect">
            <a:avLst/>
          </a:prstGeom>
          <a:noFill/>
          <a:ln/>
        </p:spPr>
        <p:txBody>
          <a:bodyPr wrap="square" lIns="0" tIns="0" rIns="0" bIns="0" rtlCol="0" anchor="ctr"/>
          <a:lstStyle/>
          <a:p>
            <a:pPr algn="l" indent="0" marL="0">
              <a:buNone/>
            </a:pPr>
            <a:r>
              <a:rPr lang="en-US" sz="1300" b="1" dirty="0">
                <a:solidFill>
                  <a:srgbClr val="121A2C"/>
                </a:solidFill>
                <a:latin typeface="Arial" pitchFamily="34" charset="0"/>
                <a:ea typeface="Arial" pitchFamily="34" charset="-122"/>
                <a:cs typeface="Arial" pitchFamily="34" charset="-120"/>
              </a:rPr>
              <a:t>Buyer answers</a:t>
            </a:r>
            <a:endParaRPr lang="en-US" sz="1300" dirty="0"/>
          </a:p>
        </p:txBody>
      </p:sp>
      <p:pic>
        <p:nvPicPr>
          <p:cNvPr id="17" name="Person 2" descr="Shipper sees the card">    </p:cNvPr>
          <p:cNvPicPr>
            <a:picLocks noChangeAspect="1"/>
          </p:cNvPicPr>
          <p:nvPr/>
        </p:nvPicPr>
        <p:blipFill>
          <a:blip r:embed="rId4"/>
          <a:stretch>
            <a:fillRect/>
          </a:stretch>
        </p:blipFill>
        <p:spPr>
          <a:xfrm>
            <a:off x="10835640" y="4315968"/>
            <a:ext cx="548640" cy="548640"/>
          </a:xfrm>
          <a:prstGeom prst="rect">
            <a:avLst/>
          </a:prstGeom>
        </p:spPr>
      </p:pic>
      <p:sp>
        <p:nvSpPr>
          <p:cNvPr id="18" name="Text 12"/>
          <p:cNvSpPr txBox="1"/>
          <p:nvPr/>
        </p:nvSpPr>
        <p:spPr>
          <a:xfrm>
            <a:off x="8778240" y="4315968"/>
            <a:ext cx="2011680" cy="548640"/>
          </a:xfrm>
          <a:prstGeom prst="rect">
            <a:avLst/>
          </a:prstGeom>
          <a:noFill/>
          <a:ln/>
        </p:spPr>
        <p:txBody>
          <a:bodyPr wrap="square" lIns="0" tIns="0" rIns="0" bIns="0" rtlCol="0" anchor="ctr"/>
          <a:lstStyle/>
          <a:p>
            <a:pPr algn="r" indent="0" marL="0">
              <a:buNone/>
            </a:pPr>
            <a:r>
              <a:rPr lang="en-US" sz="1300" b="1" dirty="0">
                <a:solidFill>
                  <a:srgbClr val="121A2C"/>
                </a:solidFill>
                <a:latin typeface="Arial" pitchFamily="34" charset="0"/>
                <a:ea typeface="Arial" pitchFamily="34" charset="-122"/>
                <a:cs typeface="Arial" pitchFamily="34" charset="-120"/>
              </a:rPr>
              <a:t>Shipper sees the card</a:t>
            </a:r>
            <a:endParaRPr lang="en-US" sz="1300" dirty="0"/>
          </a:p>
        </p:txBody>
      </p:sp>
      <p:sp>
        <p:nvSpPr>
          <p:cNvPr id="19" name="Text 13"/>
          <p:cNvSpPr txBox="1"/>
          <p:nvPr/>
        </p:nvSpPr>
        <p:spPr>
          <a:xfrm>
            <a:off x="7086600" y="5138928"/>
            <a:ext cx="4297680" cy="548640"/>
          </a:xfrm>
          <a:prstGeom prst="rect">
            <a:avLst/>
          </a:prstGeom>
          <a:noFill/>
          <a:ln/>
        </p:spPr>
        <p:txBody>
          <a:bodyPr wrap="square" lIns="0" tIns="0" rIns="0" bIns="0" rtlCol="0" anchor="t"/>
          <a:lstStyle/>
          <a:p>
            <a:pPr indent="0" marL="0">
              <a:buNone/>
            </a:pPr>
            <a:r>
              <a:rPr lang="en-US" sz="1400" dirty="0">
                <a:solidFill>
                  <a:srgbClr val="222B40"/>
                </a:solidFill>
                <a:latin typeface="Arial" pitchFamily="34" charset="0"/>
                <a:ea typeface="Arial" pitchFamily="34" charset="-122"/>
                <a:cs typeface="Arial" pitchFamily="34" charset="-120"/>
              </a:rPr>
              <a:t>No form to fill, no extra step. The next attempt simply knows.</a:t>
            </a:r>
            <a:pPr indent="0" marL="0">
              <a:buNone/>
            </a:pPr>
            <a:r>
              <a:rPr lang="en-US" sz="1000" dirty="0">
                <a:solidFill>
                  <a:srgbClr val="4A556E"/>
                </a:solidFill>
                <a:latin typeface="Arial" pitchFamily="34" charset="0"/>
                <a:ea typeface="Arial" pitchFamily="34" charset="-122"/>
                <a:cs typeface="Arial" pitchFamily="34" charset="-120"/>
              </a:rPr>
              <a:t> [11]</a:t>
            </a:r>
            <a:endParaRPr lang="en-US" sz="1400" dirty="0"/>
          </a:p>
        </p:txBody>
      </p:sp>
      <p:sp>
        <p:nvSpPr>
          <p:cNvPr id="20" name="Text 14"/>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07  </a:t>
            </a:r>
            <a:pPr indent="0" marL="0">
              <a:buNone/>
            </a:pPr>
            <a:r>
              <a:rPr lang="en-US" sz="1050" b="1" spc="200" kern="0" dirty="0">
                <a:solidFill>
                  <a:srgbClr val="1F2A44"/>
                </a:solidFill>
                <a:latin typeface="Arial" pitchFamily="34" charset="0"/>
                <a:ea typeface="Arial" pitchFamily="34" charset="-122"/>
                <a:cs typeface="Arial" pitchFamily="34" charset="-120"/>
              </a:rPr>
              <a:t>FUTURE PLAN</a:t>
            </a:r>
            <a:endParaRPr lang="en-US" sz="1050" dirty="0"/>
          </a:p>
        </p:txBody>
      </p:sp>
      <p:sp>
        <p:nvSpPr>
          <p:cNvPr id="4" name="Text 2"/>
          <p:cNvSpPr txBox="1"/>
          <p:nvPr/>
        </p:nvSpPr>
        <p:spPr>
          <a:xfrm>
            <a:off x="548640" y="841248"/>
            <a:ext cx="5943600" cy="1280160"/>
          </a:xfrm>
          <a:prstGeom prst="rect">
            <a:avLst/>
          </a:prstGeom>
          <a:noFill/>
          <a:ln/>
        </p:spPr>
        <p:txBody>
          <a:bodyPr wrap="square" lIns="0" tIns="0" rIns="0" bIns="0" rtlCol="0" anchor="t"/>
          <a:lstStyle/>
          <a:p>
            <a:pPr indent="0" marL="0">
              <a:lnSpc>
                <a:spcPct val="95000"/>
              </a:lnSpc>
              <a:buNone/>
            </a:pPr>
            <a:r>
              <a:rPr lang="en-US" sz="3000" b="1" dirty="0">
                <a:solidFill>
                  <a:srgbClr val="5F6F91"/>
                </a:solidFill>
                <a:latin typeface="Arial" pitchFamily="34" charset="0"/>
                <a:ea typeface="Arial" pitchFamily="34" charset="-122"/>
                <a:cs typeface="Arial" pitchFamily="34" charset="-120"/>
              </a:rPr>
              <a:t>From a stage demo </a:t>
            </a:r>
            <a:pPr indent="0" marL="0">
              <a:lnSpc>
                <a:spcPct val="95000"/>
              </a:lnSpc>
              <a:buNone/>
            </a:pPr>
            <a:r>
              <a:rPr lang="en-US" sz="3000" b="1" dirty="0">
                <a:solidFill>
                  <a:srgbClr val="121A2C"/>
                </a:solidFill>
                <a:latin typeface="Arial" pitchFamily="34" charset="0"/>
                <a:ea typeface="Arial" pitchFamily="34" charset="-122"/>
                <a:cs typeface="Arial" pitchFamily="34" charset="-120"/>
              </a:rPr>
              <a:t>to a national rollout.</a:t>
            </a:r>
            <a:endParaRPr lang="en-US" sz="3000" dirty="0"/>
          </a:p>
        </p:txBody>
      </p:sp>
      <p:pic>
        <p:nvPicPr>
          <p:cNvPr id="5" name="Roadmap photo" descr="A developer at a laptop">    </p:cNvPr>
          <p:cNvPicPr>
            <a:picLocks noChangeAspect="1"/>
          </p:cNvPicPr>
          <p:nvPr/>
        </p:nvPicPr>
        <p:blipFill>
          <a:blip r:embed="rId1"/>
          <a:stretch>
            <a:fillRect/>
          </a:stretch>
        </p:blipFill>
        <p:spPr>
          <a:xfrm>
            <a:off x="7434072" y="502920"/>
            <a:ext cx="4206240" cy="1691640"/>
          </a:xfrm>
          <a:prstGeom prst="rect">
            <a:avLst/>
          </a:prstGeom>
        </p:spPr>
      </p:pic>
      <p:sp>
        <p:nvSpPr>
          <p:cNvPr id="6" name="Timeline"/>
          <p:cNvSpPr/>
          <p:nvPr/>
        </p:nvSpPr>
        <p:spPr>
          <a:xfrm>
            <a:off x="640080" y="2697480"/>
            <a:ext cx="10972800" cy="0"/>
          </a:xfrm>
          <a:prstGeom prst="line">
            <a:avLst/>
          </a:prstGeom>
          <a:noFill/>
          <a:ln w="12700">
            <a:solidFill>
              <a:srgbClr val="D5D9E2"/>
            </a:solidFill>
            <a:prstDash val="solid"/>
          </a:ln>
        </p:spPr>
      </p:sp>
      <p:sp>
        <p:nvSpPr>
          <p:cNvPr id="7" name="Dot 0"/>
          <p:cNvSpPr/>
          <p:nvPr/>
        </p:nvSpPr>
        <p:spPr>
          <a:xfrm>
            <a:off x="594360" y="2615184"/>
            <a:ext cx="164592" cy="164592"/>
          </a:xfrm>
          <a:prstGeom prst="ellipse">
            <a:avLst/>
          </a:prstGeom>
          <a:solidFill>
            <a:srgbClr val="F05A00"/>
          </a:solidFill>
          <a:ln w="12700">
            <a:solidFill>
              <a:srgbClr val="F05A00"/>
            </a:solidFill>
            <a:prstDash val="solid"/>
          </a:ln>
        </p:spPr>
      </p:sp>
      <p:sp>
        <p:nvSpPr>
          <p:cNvPr id="8" name="Text 5"/>
          <p:cNvSpPr txBox="1"/>
          <p:nvPr/>
        </p:nvSpPr>
        <p:spPr>
          <a:xfrm>
            <a:off x="841248" y="2596896"/>
            <a:ext cx="1463040" cy="201168"/>
          </a:xfrm>
          <a:prstGeom prst="rect">
            <a:avLst/>
          </a:prstGeom>
          <a:noFill/>
          <a:ln/>
        </p:spPr>
        <p:txBody>
          <a:bodyPr wrap="square" lIns="0" tIns="0" rIns="0" bIns="0" rtlCol="0" anchor="ctr"/>
          <a:lstStyle/>
          <a:p>
            <a:pPr indent="0" marL="0">
              <a:buNone/>
            </a:pPr>
            <a:r>
              <a:rPr lang="en-US" sz="850" b="1" spc="100" kern="0" dirty="0">
                <a:solidFill>
                  <a:srgbClr val="F05A00"/>
                </a:solidFill>
                <a:latin typeface="Arial" pitchFamily="34" charset="0"/>
                <a:ea typeface="Arial" pitchFamily="34" charset="-122"/>
                <a:cs typeface="Arial" pitchFamily="34" charset="-120"/>
              </a:rPr>
              <a:t>OCT 2026</a:t>
            </a:r>
            <a:endParaRPr lang="en-US" sz="850" dirty="0"/>
          </a:p>
        </p:txBody>
      </p:sp>
      <p:sp>
        <p:nvSpPr>
          <p:cNvPr id="9" name="Phase 0"/>
          <p:cNvSpPr/>
          <p:nvPr/>
        </p:nvSpPr>
        <p:spPr>
          <a:xfrm>
            <a:off x="548640" y="3017520"/>
            <a:ext cx="1755648" cy="2834640"/>
          </a:xfrm>
          <a:prstGeom prst="roundRect">
            <a:avLst>
              <a:gd name="adj" fmla="val 7292"/>
            </a:avLst>
          </a:prstGeom>
          <a:solidFill>
            <a:srgbClr val="FFF1E7"/>
          </a:solidFill>
          <a:ln w="9525">
            <a:solidFill>
              <a:srgbClr val="FFCFB0"/>
            </a:solidFill>
            <a:prstDash val="solid"/>
          </a:ln>
        </p:spPr>
      </p:sp>
      <p:sp>
        <p:nvSpPr>
          <p:cNvPr id="10" name="Icon tile"/>
          <p:cNvSpPr/>
          <p:nvPr/>
        </p:nvSpPr>
        <p:spPr>
          <a:xfrm>
            <a:off x="731520" y="3200400"/>
            <a:ext cx="329184" cy="329184"/>
          </a:xfrm>
          <a:prstGeom prst="roundRect">
            <a:avLst>
              <a:gd name="adj" fmla="val 22222"/>
            </a:avLst>
          </a:prstGeom>
          <a:solidFill>
            <a:srgbClr val="FFFFFF"/>
          </a:solidFill>
          <a:ln/>
        </p:spPr>
      </p:sp>
      <p:pic>
        <p:nvPicPr>
          <p:cNvPr id="11" name="Icon" descr="/private/tmp/claude-503/-Users-davark-Downloads-Everything-Github-Alodi-Regional-Codex-Hackathon-2026/91e569a8-486f-4c0b-b683-a4991468f039/scratchpad/deck/assets/mark-dot-orange.png">    </p:cNvPr>
          <p:cNvPicPr>
            <a:picLocks noChangeAspect="1"/>
          </p:cNvPicPr>
          <p:nvPr/>
        </p:nvPicPr>
        <p:blipFill>
          <a:blip r:embed="rId2"/>
          <a:stretch>
            <a:fillRect/>
          </a:stretch>
        </p:blipFill>
        <p:spPr>
          <a:xfrm>
            <a:off x="795528" y="3264408"/>
            <a:ext cx="201168" cy="201168"/>
          </a:xfrm>
          <a:prstGeom prst="rect">
            <a:avLst/>
          </a:prstGeom>
        </p:spPr>
      </p:pic>
      <p:sp>
        <p:nvSpPr>
          <p:cNvPr id="12" name="Text 8"/>
          <p:cNvSpPr txBox="1"/>
          <p:nvPr/>
        </p:nvSpPr>
        <p:spPr>
          <a:xfrm>
            <a:off x="731520" y="3675888"/>
            <a:ext cx="1463040" cy="365760"/>
          </a:xfrm>
          <a:prstGeom prst="rect">
            <a:avLst/>
          </a:prstGeom>
          <a:noFill/>
          <a:ln/>
        </p:spPr>
        <p:txBody>
          <a:bodyPr wrap="square" lIns="0" tIns="0" rIns="0" bIns="0" rtlCol="0" anchor="t"/>
          <a:lstStyle/>
          <a:p>
            <a:pPr indent="0" marL="0">
              <a:buNone/>
            </a:pPr>
            <a:r>
              <a:rPr lang="en-US" sz="1400" b="1" dirty="0">
                <a:solidFill>
                  <a:srgbClr val="121A2C"/>
                </a:solidFill>
                <a:latin typeface="Arial" pitchFamily="34" charset="0"/>
                <a:ea typeface="Arial" pitchFamily="34" charset="-122"/>
                <a:cs typeface="Arial" pitchFamily="34" charset="-120"/>
              </a:rPr>
              <a:t>MVP demo</a:t>
            </a:r>
            <a:endParaRPr lang="en-US" sz="1400" dirty="0"/>
          </a:p>
        </p:txBody>
      </p:sp>
      <p:sp>
        <p:nvSpPr>
          <p:cNvPr id="13" name="Text 9"/>
          <p:cNvSpPr txBox="1"/>
          <p:nvPr/>
        </p:nvSpPr>
        <p:spPr>
          <a:xfrm>
            <a:off x="731520" y="4069080"/>
            <a:ext cx="1481328" cy="1691640"/>
          </a:xfrm>
          <a:prstGeom prst="rect">
            <a:avLst/>
          </a:prstGeom>
          <a:noFill/>
          <a:ln/>
        </p:spPr>
        <p:txBody>
          <a:bodyPr wrap="square" lIns="0" tIns="0" rIns="0" bIns="0" rtlCol="0" anchor="t"/>
          <a:lstStyle/>
          <a:p>
            <a:pPr indent="0" marL="0">
              <a:buNone/>
            </a:pPr>
            <a:r>
              <a:rPr lang="en-US" sz="1350" dirty="0">
                <a:solidFill>
                  <a:srgbClr val="222B40"/>
                </a:solidFill>
                <a:latin typeface="Arial" pitchFamily="34" charset="0"/>
                <a:ea typeface="Arial" pitchFamily="34" charset="-122"/>
                <a:cs typeface="Arial" pitchFamily="34" charset="-120"/>
              </a:rPr>
              <a:t>Demo screens and a working backend, built at this hackathon</a:t>
            </a:r>
            <a:pPr indent="0" marL="0">
              <a:buNone/>
            </a:pPr>
            <a:r>
              <a:rPr lang="en-US" sz="1000" dirty="0">
                <a:solidFill>
                  <a:srgbClr val="4A556E"/>
                </a:solidFill>
                <a:latin typeface="Arial" pitchFamily="34" charset="0"/>
                <a:ea typeface="Arial" pitchFamily="34" charset="-122"/>
                <a:cs typeface="Arial" pitchFamily="34" charset="-120"/>
              </a:rPr>
              <a:t> [12]</a:t>
            </a:r>
            <a:endParaRPr lang="en-US" sz="1350" dirty="0"/>
          </a:p>
        </p:txBody>
      </p:sp>
      <p:sp>
        <p:nvSpPr>
          <p:cNvPr id="14" name="Dot 1"/>
          <p:cNvSpPr/>
          <p:nvPr/>
        </p:nvSpPr>
        <p:spPr>
          <a:xfrm>
            <a:off x="2459736" y="2615184"/>
            <a:ext cx="164592" cy="164592"/>
          </a:xfrm>
          <a:prstGeom prst="ellipse">
            <a:avLst/>
          </a:prstGeom>
          <a:solidFill>
            <a:srgbClr val="FFFFFF"/>
          </a:solidFill>
          <a:ln w="12700">
            <a:solidFill>
              <a:srgbClr val="5F6F91"/>
            </a:solidFill>
            <a:prstDash val="solid"/>
          </a:ln>
        </p:spPr>
      </p:sp>
      <p:sp>
        <p:nvSpPr>
          <p:cNvPr id="15" name="Text 11"/>
          <p:cNvSpPr txBox="1"/>
          <p:nvPr/>
        </p:nvSpPr>
        <p:spPr>
          <a:xfrm>
            <a:off x="2706624" y="2596896"/>
            <a:ext cx="1463040" cy="201168"/>
          </a:xfrm>
          <a:prstGeom prst="rect">
            <a:avLst/>
          </a:prstGeom>
          <a:noFill/>
          <a:ln/>
        </p:spPr>
        <p:txBody>
          <a:bodyPr wrap="square" lIns="0" tIns="0" rIns="0" bIns="0" rtlCol="0" anchor="ctr"/>
          <a:lstStyle/>
          <a:p>
            <a:pPr indent="0" marL="0">
              <a:buNone/>
            </a:pPr>
            <a:r>
              <a:rPr lang="en-US" sz="850" b="1" spc="100" kern="0" dirty="0">
                <a:solidFill>
                  <a:srgbClr val="3A4358"/>
                </a:solidFill>
                <a:latin typeface="Arial" pitchFamily="34" charset="0"/>
                <a:ea typeface="Arial" pitchFamily="34" charset="-122"/>
                <a:cs typeface="Arial" pitchFamily="34" charset="-120"/>
              </a:rPr>
              <a:t>NOV 2026</a:t>
            </a:r>
            <a:endParaRPr lang="en-US" sz="850" dirty="0"/>
          </a:p>
        </p:txBody>
      </p:sp>
      <p:sp>
        <p:nvSpPr>
          <p:cNvPr id="16" name="Phase 1"/>
          <p:cNvSpPr/>
          <p:nvPr/>
        </p:nvSpPr>
        <p:spPr>
          <a:xfrm>
            <a:off x="2414016" y="3017520"/>
            <a:ext cx="1755648" cy="2834640"/>
          </a:xfrm>
          <a:prstGeom prst="roundRect">
            <a:avLst>
              <a:gd name="adj" fmla="val 7292"/>
            </a:avLst>
          </a:prstGeom>
          <a:solidFill>
            <a:srgbClr val="FFFFFF"/>
          </a:solidFill>
          <a:ln w="9525">
            <a:solidFill>
              <a:srgbClr val="D5D9E2"/>
            </a:solidFill>
            <a:prstDash val="solid"/>
          </a:ln>
        </p:spPr>
      </p:sp>
      <p:sp>
        <p:nvSpPr>
          <p:cNvPr id="17" name="Icon tile"/>
          <p:cNvSpPr/>
          <p:nvPr/>
        </p:nvSpPr>
        <p:spPr>
          <a:xfrm>
            <a:off x="2596896" y="3200400"/>
            <a:ext cx="329184" cy="329184"/>
          </a:xfrm>
          <a:prstGeom prst="roundRect">
            <a:avLst>
              <a:gd name="adj" fmla="val 22222"/>
            </a:avLst>
          </a:prstGeom>
          <a:solidFill>
            <a:srgbClr val="F1F2F5"/>
          </a:solidFill>
          <a:ln/>
        </p:spPr>
      </p:sp>
      <p:pic>
        <p:nvPicPr>
          <p:cNvPr id="18" name="Icon" descr="/private/tmp/claude-503/-Users-davark-Downloads-Everything-Github-Alodi-Regional-Codex-Hackathon-2026/91e569a8-486f-4c0b-b683-a4991468f039/scratchpad/deck/assets/mark-square-navy.png">    </p:cNvPr>
          <p:cNvPicPr>
            <a:picLocks noChangeAspect="1"/>
          </p:cNvPicPr>
          <p:nvPr/>
        </p:nvPicPr>
        <p:blipFill>
          <a:blip r:embed="rId3"/>
          <a:stretch>
            <a:fillRect/>
          </a:stretch>
        </p:blipFill>
        <p:spPr>
          <a:xfrm>
            <a:off x="2660904" y="3264408"/>
            <a:ext cx="201168" cy="201168"/>
          </a:xfrm>
          <a:prstGeom prst="rect">
            <a:avLst/>
          </a:prstGeom>
        </p:spPr>
      </p:pic>
      <p:sp>
        <p:nvSpPr>
          <p:cNvPr id="19" name="Text 14"/>
          <p:cNvSpPr txBox="1"/>
          <p:nvPr/>
        </p:nvSpPr>
        <p:spPr>
          <a:xfrm>
            <a:off x="2596896" y="3675888"/>
            <a:ext cx="1463040" cy="365760"/>
          </a:xfrm>
          <a:prstGeom prst="rect">
            <a:avLst/>
          </a:prstGeom>
          <a:noFill/>
          <a:ln/>
        </p:spPr>
        <p:txBody>
          <a:bodyPr wrap="square" lIns="0" tIns="0" rIns="0" bIns="0" rtlCol="0" anchor="t"/>
          <a:lstStyle/>
          <a:p>
            <a:pPr indent="0" marL="0">
              <a:buNone/>
            </a:pPr>
            <a:r>
              <a:rPr lang="en-US" sz="1400" b="1" dirty="0">
                <a:solidFill>
                  <a:srgbClr val="121A2C"/>
                </a:solidFill>
                <a:latin typeface="Arial" pitchFamily="34" charset="0"/>
                <a:ea typeface="Arial" pitchFamily="34" charset="-122"/>
                <a:cs typeface="Arial" pitchFamily="34" charset="-120"/>
              </a:rPr>
              <a:t>Full build</a:t>
            </a:r>
            <a:endParaRPr lang="en-US" sz="1400" dirty="0"/>
          </a:p>
        </p:txBody>
      </p:sp>
      <p:sp>
        <p:nvSpPr>
          <p:cNvPr id="20" name="Text 15"/>
          <p:cNvSpPr txBox="1"/>
          <p:nvPr/>
        </p:nvSpPr>
        <p:spPr>
          <a:xfrm>
            <a:off x="2596896" y="4069080"/>
            <a:ext cx="1481328" cy="1691640"/>
          </a:xfrm>
          <a:prstGeom prst="rect">
            <a:avLst/>
          </a:prstGeom>
          <a:noFill/>
          <a:ln/>
        </p:spPr>
        <p:txBody>
          <a:bodyPr wrap="square" lIns="0" tIns="0" rIns="0" bIns="0" rtlCol="0" anchor="t"/>
          <a:lstStyle/>
          <a:p>
            <a:pPr indent="0" marL="0">
              <a:buNone/>
            </a:pPr>
            <a:r>
              <a:rPr lang="en-US" sz="1350" dirty="0">
                <a:solidFill>
                  <a:srgbClr val="222B40"/>
                </a:solidFill>
                <a:latin typeface="Arial" pitchFamily="34" charset="0"/>
                <a:ea typeface="Arial" pitchFamily="34" charset="-122"/>
                <a:cs typeface="Arial" pitchFamily="34" charset="-120"/>
              </a:rPr>
              <a:t>Connect the demo to the backend, real call audio, ≥ 200 eval samples</a:t>
            </a:r>
            <a:endParaRPr lang="en-US" sz="1350" dirty="0"/>
          </a:p>
        </p:txBody>
      </p:sp>
      <p:sp>
        <p:nvSpPr>
          <p:cNvPr id="21" name="Dot 2"/>
          <p:cNvSpPr/>
          <p:nvPr/>
        </p:nvSpPr>
        <p:spPr>
          <a:xfrm>
            <a:off x="4325112" y="2615184"/>
            <a:ext cx="164592" cy="164592"/>
          </a:xfrm>
          <a:prstGeom prst="ellipse">
            <a:avLst/>
          </a:prstGeom>
          <a:solidFill>
            <a:srgbClr val="FFFFFF"/>
          </a:solidFill>
          <a:ln w="12700">
            <a:solidFill>
              <a:srgbClr val="5F6F91"/>
            </a:solidFill>
            <a:prstDash val="solid"/>
          </a:ln>
        </p:spPr>
      </p:sp>
      <p:sp>
        <p:nvSpPr>
          <p:cNvPr id="22" name="Text 17"/>
          <p:cNvSpPr txBox="1"/>
          <p:nvPr/>
        </p:nvSpPr>
        <p:spPr>
          <a:xfrm>
            <a:off x="4572000" y="2596896"/>
            <a:ext cx="1463040" cy="201168"/>
          </a:xfrm>
          <a:prstGeom prst="rect">
            <a:avLst/>
          </a:prstGeom>
          <a:noFill/>
          <a:ln/>
        </p:spPr>
        <p:txBody>
          <a:bodyPr wrap="square" lIns="0" tIns="0" rIns="0" bIns="0" rtlCol="0" anchor="ctr"/>
          <a:lstStyle/>
          <a:p>
            <a:pPr indent="0" marL="0">
              <a:buNone/>
            </a:pPr>
            <a:r>
              <a:rPr lang="en-US" sz="850" b="1" spc="100" kern="0" dirty="0">
                <a:solidFill>
                  <a:srgbClr val="3A4358"/>
                </a:solidFill>
                <a:latin typeface="Arial" pitchFamily="34" charset="0"/>
                <a:ea typeface="Arial" pitchFamily="34" charset="-122"/>
                <a:cs typeface="Arial" pitchFamily="34" charset="-120"/>
              </a:rPr>
              <a:t>Q1 2027</a:t>
            </a:r>
            <a:endParaRPr lang="en-US" sz="850" dirty="0"/>
          </a:p>
        </p:txBody>
      </p:sp>
      <p:sp>
        <p:nvSpPr>
          <p:cNvPr id="23" name="Phase 2"/>
          <p:cNvSpPr/>
          <p:nvPr/>
        </p:nvSpPr>
        <p:spPr>
          <a:xfrm>
            <a:off x="4279392" y="3017520"/>
            <a:ext cx="1755648" cy="2834640"/>
          </a:xfrm>
          <a:prstGeom prst="roundRect">
            <a:avLst>
              <a:gd name="adj" fmla="val 7292"/>
            </a:avLst>
          </a:prstGeom>
          <a:solidFill>
            <a:srgbClr val="FFFFFF"/>
          </a:solidFill>
          <a:ln w="9525">
            <a:solidFill>
              <a:srgbClr val="D5D9E2"/>
            </a:solidFill>
            <a:prstDash val="solid"/>
          </a:ln>
        </p:spPr>
      </p:sp>
      <p:sp>
        <p:nvSpPr>
          <p:cNvPr id="24" name="Icon tile"/>
          <p:cNvSpPr/>
          <p:nvPr/>
        </p:nvSpPr>
        <p:spPr>
          <a:xfrm>
            <a:off x="4462272" y="3200400"/>
            <a:ext cx="329184" cy="329184"/>
          </a:xfrm>
          <a:prstGeom prst="roundRect">
            <a:avLst>
              <a:gd name="adj" fmla="val 22222"/>
            </a:avLst>
          </a:prstGeom>
          <a:solidFill>
            <a:srgbClr val="F1F2F5"/>
          </a:solidFill>
          <a:ln/>
        </p:spPr>
      </p:sp>
      <p:pic>
        <p:nvPicPr>
          <p:cNvPr id="25" name="Icon" descr="/private/tmp/claude-503/-Users-davark-Downloads-Everything-Github-Alodi-Regional-Codex-Hackathon-2026/91e569a8-486f-4c0b-b683-a4991468f039/scratchpad/deck/assets/mark-bars-navy.png">    </p:cNvPr>
          <p:cNvPicPr>
            <a:picLocks noChangeAspect="1"/>
          </p:cNvPicPr>
          <p:nvPr/>
        </p:nvPicPr>
        <p:blipFill>
          <a:blip r:embed="rId4"/>
          <a:stretch>
            <a:fillRect/>
          </a:stretch>
        </p:blipFill>
        <p:spPr>
          <a:xfrm>
            <a:off x="4526280" y="3264408"/>
            <a:ext cx="201168" cy="201168"/>
          </a:xfrm>
          <a:prstGeom prst="rect">
            <a:avLst/>
          </a:prstGeom>
        </p:spPr>
      </p:pic>
      <p:sp>
        <p:nvSpPr>
          <p:cNvPr id="26" name="Text 20"/>
          <p:cNvSpPr txBox="1"/>
          <p:nvPr/>
        </p:nvSpPr>
        <p:spPr>
          <a:xfrm>
            <a:off x="4462272" y="3675888"/>
            <a:ext cx="1463040" cy="365760"/>
          </a:xfrm>
          <a:prstGeom prst="rect">
            <a:avLst/>
          </a:prstGeom>
          <a:noFill/>
          <a:ln/>
        </p:spPr>
        <p:txBody>
          <a:bodyPr wrap="square" lIns="0" tIns="0" rIns="0" bIns="0" rtlCol="0" anchor="t"/>
          <a:lstStyle/>
          <a:p>
            <a:pPr indent="0" marL="0">
              <a:buNone/>
            </a:pPr>
            <a:r>
              <a:rPr lang="en-US" sz="1400" b="1" dirty="0">
                <a:solidFill>
                  <a:srgbClr val="121A2C"/>
                </a:solidFill>
                <a:latin typeface="Arial" pitchFamily="34" charset="0"/>
                <a:ea typeface="Arial" pitchFamily="34" charset="-122"/>
                <a:cs typeface="Arial" pitchFamily="34" charset="-120"/>
              </a:rPr>
              <a:t>Shadow mode</a:t>
            </a:r>
            <a:endParaRPr lang="en-US" sz="1400" dirty="0"/>
          </a:p>
        </p:txBody>
      </p:sp>
      <p:sp>
        <p:nvSpPr>
          <p:cNvPr id="27" name="Text 21"/>
          <p:cNvSpPr txBox="1"/>
          <p:nvPr/>
        </p:nvSpPr>
        <p:spPr>
          <a:xfrm>
            <a:off x="4462272" y="4069080"/>
            <a:ext cx="1481328" cy="1691640"/>
          </a:xfrm>
          <a:prstGeom prst="rect">
            <a:avLst/>
          </a:prstGeom>
          <a:noFill/>
          <a:ln/>
        </p:spPr>
        <p:txBody>
          <a:bodyPr wrap="square" lIns="0" tIns="0" rIns="0" bIns="0" rtlCol="0" anchor="t"/>
          <a:lstStyle/>
          <a:p>
            <a:pPr indent="0" marL="0">
              <a:buNone/>
            </a:pPr>
            <a:r>
              <a:rPr lang="en-US" sz="1350" dirty="0">
                <a:solidFill>
                  <a:srgbClr val="222B40"/>
                </a:solidFill>
                <a:latin typeface="Arial" pitchFamily="34" charset="0"/>
                <a:ea typeface="Arial" pitchFamily="34" charset="-122"/>
                <a:cs typeface="Arial" pitchFamily="34" charset="-120"/>
              </a:rPr>
              <a:t>One area, real events, no buyer contact</a:t>
            </a:r>
            <a:endParaRPr lang="en-US" sz="1350" dirty="0"/>
          </a:p>
        </p:txBody>
      </p:sp>
      <p:sp>
        <p:nvSpPr>
          <p:cNvPr id="28" name="Dot 3"/>
          <p:cNvSpPr/>
          <p:nvPr/>
        </p:nvSpPr>
        <p:spPr>
          <a:xfrm>
            <a:off x="6190488" y="2615184"/>
            <a:ext cx="164592" cy="164592"/>
          </a:xfrm>
          <a:prstGeom prst="ellipse">
            <a:avLst/>
          </a:prstGeom>
          <a:solidFill>
            <a:srgbClr val="FFFFFF"/>
          </a:solidFill>
          <a:ln w="12700">
            <a:solidFill>
              <a:srgbClr val="5F6F91"/>
            </a:solidFill>
            <a:prstDash val="solid"/>
          </a:ln>
        </p:spPr>
      </p:sp>
      <p:sp>
        <p:nvSpPr>
          <p:cNvPr id="29" name="Text 23"/>
          <p:cNvSpPr txBox="1"/>
          <p:nvPr/>
        </p:nvSpPr>
        <p:spPr>
          <a:xfrm>
            <a:off x="6437376" y="2596896"/>
            <a:ext cx="1463040" cy="201168"/>
          </a:xfrm>
          <a:prstGeom prst="rect">
            <a:avLst/>
          </a:prstGeom>
          <a:noFill/>
          <a:ln/>
        </p:spPr>
        <p:txBody>
          <a:bodyPr wrap="square" lIns="0" tIns="0" rIns="0" bIns="0" rtlCol="0" anchor="ctr"/>
          <a:lstStyle/>
          <a:p>
            <a:pPr indent="0" marL="0">
              <a:buNone/>
            </a:pPr>
            <a:r>
              <a:rPr lang="en-US" sz="850" b="1" spc="100" kern="0" dirty="0">
                <a:solidFill>
                  <a:srgbClr val="3A4358"/>
                </a:solidFill>
                <a:latin typeface="Arial" pitchFamily="34" charset="0"/>
                <a:ea typeface="Arial" pitchFamily="34" charset="-122"/>
                <a:cs typeface="Arial" pitchFamily="34" charset="-120"/>
              </a:rPr>
              <a:t>Q2 2027</a:t>
            </a:r>
            <a:endParaRPr lang="en-US" sz="850" dirty="0"/>
          </a:p>
        </p:txBody>
      </p:sp>
      <p:sp>
        <p:nvSpPr>
          <p:cNvPr id="30" name="Phase 3"/>
          <p:cNvSpPr/>
          <p:nvPr/>
        </p:nvSpPr>
        <p:spPr>
          <a:xfrm>
            <a:off x="6144768" y="3017520"/>
            <a:ext cx="1755648" cy="2834640"/>
          </a:xfrm>
          <a:prstGeom prst="roundRect">
            <a:avLst>
              <a:gd name="adj" fmla="val 7292"/>
            </a:avLst>
          </a:prstGeom>
          <a:solidFill>
            <a:srgbClr val="FFFFFF"/>
          </a:solidFill>
          <a:ln w="9525">
            <a:solidFill>
              <a:srgbClr val="D5D9E2"/>
            </a:solidFill>
            <a:prstDash val="solid"/>
          </a:ln>
        </p:spPr>
      </p:sp>
      <p:sp>
        <p:nvSpPr>
          <p:cNvPr id="31" name="Icon tile"/>
          <p:cNvSpPr/>
          <p:nvPr/>
        </p:nvSpPr>
        <p:spPr>
          <a:xfrm>
            <a:off x="6327648" y="3200400"/>
            <a:ext cx="329184" cy="329184"/>
          </a:xfrm>
          <a:prstGeom prst="roundRect">
            <a:avLst>
              <a:gd name="adj" fmla="val 22222"/>
            </a:avLst>
          </a:prstGeom>
          <a:solidFill>
            <a:srgbClr val="F1F2F5"/>
          </a:solidFill>
          <a:ln/>
        </p:spPr>
      </p:sp>
      <p:pic>
        <p:nvPicPr>
          <p:cNvPr id="32" name="Icon" descr="/private/tmp/claude-503/-Users-davark-Downloads-Everything-Github-Alodi-Regional-Codex-Hackathon-2026/91e569a8-486f-4c0b-b683-a4991468f039/scratchpad/deck/assets/mark-check-navy.png">    </p:cNvPr>
          <p:cNvPicPr>
            <a:picLocks noChangeAspect="1"/>
          </p:cNvPicPr>
          <p:nvPr/>
        </p:nvPicPr>
        <p:blipFill>
          <a:blip r:embed="rId5"/>
          <a:stretch>
            <a:fillRect/>
          </a:stretch>
        </p:blipFill>
        <p:spPr>
          <a:xfrm>
            <a:off x="6391656" y="3264408"/>
            <a:ext cx="201168" cy="201168"/>
          </a:xfrm>
          <a:prstGeom prst="rect">
            <a:avLst/>
          </a:prstGeom>
        </p:spPr>
      </p:pic>
      <p:sp>
        <p:nvSpPr>
          <p:cNvPr id="33" name="Text 26"/>
          <p:cNvSpPr txBox="1"/>
          <p:nvPr/>
        </p:nvSpPr>
        <p:spPr>
          <a:xfrm>
            <a:off x="6327648" y="3675888"/>
            <a:ext cx="1463040" cy="365760"/>
          </a:xfrm>
          <a:prstGeom prst="rect">
            <a:avLst/>
          </a:prstGeom>
          <a:noFill/>
          <a:ln/>
        </p:spPr>
        <p:txBody>
          <a:bodyPr wrap="square" lIns="0" tIns="0" rIns="0" bIns="0" rtlCol="0" anchor="t"/>
          <a:lstStyle/>
          <a:p>
            <a:pPr indent="0" marL="0">
              <a:buNone/>
            </a:pPr>
            <a:r>
              <a:rPr lang="en-US" sz="1400" b="1" dirty="0">
                <a:solidFill>
                  <a:srgbClr val="121A2C"/>
                </a:solidFill>
                <a:latin typeface="Arial" pitchFamily="34" charset="0"/>
                <a:ea typeface="Arial" pitchFamily="34" charset="-122"/>
                <a:cs typeface="Arial" pitchFamily="34" charset="-120"/>
              </a:rPr>
              <a:t>Real channels</a:t>
            </a:r>
            <a:endParaRPr lang="en-US" sz="1400" dirty="0"/>
          </a:p>
        </p:txBody>
      </p:sp>
      <p:sp>
        <p:nvSpPr>
          <p:cNvPr id="34" name="Text 27"/>
          <p:cNvSpPr txBox="1"/>
          <p:nvPr/>
        </p:nvSpPr>
        <p:spPr>
          <a:xfrm>
            <a:off x="6327648" y="4069080"/>
            <a:ext cx="1481328" cy="1691640"/>
          </a:xfrm>
          <a:prstGeom prst="rect">
            <a:avLst/>
          </a:prstGeom>
          <a:noFill/>
          <a:ln/>
        </p:spPr>
        <p:txBody>
          <a:bodyPr wrap="square" lIns="0" tIns="0" rIns="0" bIns="0" rtlCol="0" anchor="t"/>
          <a:lstStyle/>
          <a:p>
            <a:pPr indent="0" marL="0">
              <a:buNone/>
            </a:pPr>
            <a:r>
              <a:rPr lang="en-US" sz="1350" dirty="0">
                <a:solidFill>
                  <a:srgbClr val="222B40"/>
                </a:solidFill>
                <a:latin typeface="Arial" pitchFamily="34" charset="0"/>
                <a:ea typeface="Arial" pitchFamily="34" charset="-122"/>
                <a:cs typeface="Arial" pitchFamily="34" charset="-120"/>
              </a:rPr>
              <a:t>Chat and GPT-Live-1 calls for risky orders</a:t>
            </a:r>
            <a:endParaRPr lang="en-US" sz="1350" dirty="0"/>
          </a:p>
        </p:txBody>
      </p:sp>
      <p:sp>
        <p:nvSpPr>
          <p:cNvPr id="35" name="Dot 4"/>
          <p:cNvSpPr/>
          <p:nvPr/>
        </p:nvSpPr>
        <p:spPr>
          <a:xfrm>
            <a:off x="8055864" y="2615184"/>
            <a:ext cx="164592" cy="164592"/>
          </a:xfrm>
          <a:prstGeom prst="ellipse">
            <a:avLst/>
          </a:prstGeom>
          <a:solidFill>
            <a:srgbClr val="FFFFFF"/>
          </a:solidFill>
          <a:ln w="12700">
            <a:solidFill>
              <a:srgbClr val="5F6F91"/>
            </a:solidFill>
            <a:prstDash val="solid"/>
          </a:ln>
        </p:spPr>
      </p:sp>
      <p:sp>
        <p:nvSpPr>
          <p:cNvPr id="36" name="Text 29"/>
          <p:cNvSpPr txBox="1"/>
          <p:nvPr/>
        </p:nvSpPr>
        <p:spPr>
          <a:xfrm>
            <a:off x="8302752" y="2596896"/>
            <a:ext cx="1463040" cy="201168"/>
          </a:xfrm>
          <a:prstGeom prst="rect">
            <a:avLst/>
          </a:prstGeom>
          <a:noFill/>
          <a:ln/>
        </p:spPr>
        <p:txBody>
          <a:bodyPr wrap="square" lIns="0" tIns="0" rIns="0" bIns="0" rtlCol="0" anchor="ctr"/>
          <a:lstStyle/>
          <a:p>
            <a:pPr indent="0" marL="0">
              <a:buNone/>
            </a:pPr>
            <a:r>
              <a:rPr lang="en-US" sz="850" b="1" spc="100" kern="0" dirty="0">
                <a:solidFill>
                  <a:srgbClr val="3A4358"/>
                </a:solidFill>
                <a:latin typeface="Arial" pitchFamily="34" charset="0"/>
                <a:ea typeface="Arial" pitchFamily="34" charset="-122"/>
                <a:cs typeface="Arial" pitchFamily="34" charset="-120"/>
              </a:rPr>
              <a:t>H2 2027</a:t>
            </a:r>
            <a:endParaRPr lang="en-US" sz="850" dirty="0"/>
          </a:p>
        </p:txBody>
      </p:sp>
      <p:sp>
        <p:nvSpPr>
          <p:cNvPr id="37" name="Phase 4"/>
          <p:cNvSpPr/>
          <p:nvPr/>
        </p:nvSpPr>
        <p:spPr>
          <a:xfrm>
            <a:off x="8010144" y="3017520"/>
            <a:ext cx="1755648" cy="2834640"/>
          </a:xfrm>
          <a:prstGeom prst="roundRect">
            <a:avLst>
              <a:gd name="adj" fmla="val 7292"/>
            </a:avLst>
          </a:prstGeom>
          <a:solidFill>
            <a:srgbClr val="FFFFFF"/>
          </a:solidFill>
          <a:ln w="9525">
            <a:solidFill>
              <a:srgbClr val="D5D9E2"/>
            </a:solidFill>
            <a:prstDash val="solid"/>
          </a:ln>
        </p:spPr>
      </p:sp>
      <p:sp>
        <p:nvSpPr>
          <p:cNvPr id="38" name="Icon tile"/>
          <p:cNvSpPr/>
          <p:nvPr/>
        </p:nvSpPr>
        <p:spPr>
          <a:xfrm>
            <a:off x="8193024" y="3200400"/>
            <a:ext cx="329184" cy="329184"/>
          </a:xfrm>
          <a:prstGeom prst="roundRect">
            <a:avLst>
              <a:gd name="adj" fmla="val 22222"/>
            </a:avLst>
          </a:prstGeom>
          <a:solidFill>
            <a:srgbClr val="F1F2F5"/>
          </a:solidFill>
          <a:ln/>
        </p:spPr>
      </p:sp>
      <p:pic>
        <p:nvPicPr>
          <p:cNvPr id="39" name="Icon" descr="/private/tmp/claude-503/-Users-davark-Downloads-Everything-Github-Alodi-Regional-Codex-Hackathon-2026/91e569a8-486f-4c0b-b683-a4991468f039/scratchpad/deck/assets/mark-dot-navy.png">    </p:cNvPr>
          <p:cNvPicPr>
            <a:picLocks noChangeAspect="1"/>
          </p:cNvPicPr>
          <p:nvPr/>
        </p:nvPicPr>
        <p:blipFill>
          <a:blip r:embed="rId6"/>
          <a:stretch>
            <a:fillRect/>
          </a:stretch>
        </p:blipFill>
        <p:spPr>
          <a:xfrm>
            <a:off x="8257032" y="3264408"/>
            <a:ext cx="201168" cy="201168"/>
          </a:xfrm>
          <a:prstGeom prst="rect">
            <a:avLst/>
          </a:prstGeom>
        </p:spPr>
      </p:pic>
      <p:sp>
        <p:nvSpPr>
          <p:cNvPr id="40" name="Text 32"/>
          <p:cNvSpPr txBox="1"/>
          <p:nvPr/>
        </p:nvSpPr>
        <p:spPr>
          <a:xfrm>
            <a:off x="8193024" y="3675888"/>
            <a:ext cx="1463040" cy="365760"/>
          </a:xfrm>
          <a:prstGeom prst="rect">
            <a:avLst/>
          </a:prstGeom>
          <a:noFill/>
          <a:ln/>
        </p:spPr>
        <p:txBody>
          <a:bodyPr wrap="square" lIns="0" tIns="0" rIns="0" bIns="0" rtlCol="0" anchor="t"/>
          <a:lstStyle/>
          <a:p>
            <a:pPr indent="0" marL="0">
              <a:buNone/>
            </a:pPr>
            <a:r>
              <a:rPr lang="en-US" sz="1400" b="1" dirty="0">
                <a:solidFill>
                  <a:srgbClr val="121A2C"/>
                </a:solidFill>
                <a:latin typeface="Arial" pitchFamily="34" charset="0"/>
                <a:ea typeface="Arial" pitchFamily="34" charset="-122"/>
                <a:cs typeface="Arial" pitchFamily="34" charset="-120"/>
              </a:rPr>
              <a:t>Region</a:t>
            </a:r>
            <a:endParaRPr lang="en-US" sz="1400" dirty="0"/>
          </a:p>
        </p:txBody>
      </p:sp>
      <p:sp>
        <p:nvSpPr>
          <p:cNvPr id="41" name="Text 33"/>
          <p:cNvSpPr txBox="1"/>
          <p:nvPr/>
        </p:nvSpPr>
        <p:spPr>
          <a:xfrm>
            <a:off x="8193024" y="4069080"/>
            <a:ext cx="1481328" cy="1691640"/>
          </a:xfrm>
          <a:prstGeom prst="rect">
            <a:avLst/>
          </a:prstGeom>
          <a:noFill/>
          <a:ln/>
        </p:spPr>
        <p:txBody>
          <a:bodyPr wrap="square" lIns="0" tIns="0" rIns="0" bIns="0" rtlCol="0" anchor="t"/>
          <a:lstStyle/>
          <a:p>
            <a:pPr indent="0" marL="0">
              <a:buNone/>
            </a:pPr>
            <a:r>
              <a:rPr lang="en-US" sz="1350" dirty="0">
                <a:solidFill>
                  <a:srgbClr val="222B40"/>
                </a:solidFill>
                <a:latin typeface="Arial" pitchFamily="34" charset="0"/>
                <a:ea typeface="Arial" pitchFamily="34" charset="-122"/>
                <a:cs typeface="Arial" pitchFamily="34" charset="-120"/>
              </a:rPr>
              <a:t>5–20 hubs, cost per case on target</a:t>
            </a:r>
            <a:endParaRPr lang="en-US" sz="1350" dirty="0"/>
          </a:p>
        </p:txBody>
      </p:sp>
      <p:sp>
        <p:nvSpPr>
          <p:cNvPr id="42" name="Dot 5"/>
          <p:cNvSpPr/>
          <p:nvPr/>
        </p:nvSpPr>
        <p:spPr>
          <a:xfrm>
            <a:off x="9921240" y="2615184"/>
            <a:ext cx="164592" cy="164592"/>
          </a:xfrm>
          <a:prstGeom prst="ellipse">
            <a:avLst/>
          </a:prstGeom>
          <a:solidFill>
            <a:srgbClr val="FFFFFF"/>
          </a:solidFill>
          <a:ln w="12700">
            <a:solidFill>
              <a:srgbClr val="5F6F91"/>
            </a:solidFill>
            <a:prstDash val="solid"/>
          </a:ln>
        </p:spPr>
      </p:sp>
      <p:sp>
        <p:nvSpPr>
          <p:cNvPr id="43" name="Text 35"/>
          <p:cNvSpPr txBox="1"/>
          <p:nvPr/>
        </p:nvSpPr>
        <p:spPr>
          <a:xfrm>
            <a:off x="10168128" y="2596896"/>
            <a:ext cx="1463040" cy="201168"/>
          </a:xfrm>
          <a:prstGeom prst="rect">
            <a:avLst/>
          </a:prstGeom>
          <a:noFill/>
          <a:ln/>
        </p:spPr>
        <p:txBody>
          <a:bodyPr wrap="square" lIns="0" tIns="0" rIns="0" bIns="0" rtlCol="0" anchor="ctr"/>
          <a:lstStyle/>
          <a:p>
            <a:pPr indent="0" marL="0">
              <a:buNone/>
            </a:pPr>
            <a:r>
              <a:rPr lang="en-US" sz="850" b="1" spc="100" kern="0" dirty="0">
                <a:solidFill>
                  <a:srgbClr val="3A4358"/>
                </a:solidFill>
                <a:latin typeface="Arial" pitchFamily="34" charset="0"/>
                <a:ea typeface="Arial" pitchFamily="34" charset="-122"/>
                <a:cs typeface="Arial" pitchFamily="34" charset="-120"/>
              </a:rPr>
              <a:t>2028</a:t>
            </a:r>
            <a:endParaRPr lang="en-US" sz="850" dirty="0"/>
          </a:p>
        </p:txBody>
      </p:sp>
      <p:sp>
        <p:nvSpPr>
          <p:cNvPr id="44" name="Phase 5"/>
          <p:cNvSpPr/>
          <p:nvPr/>
        </p:nvSpPr>
        <p:spPr>
          <a:xfrm>
            <a:off x="9875520" y="3017520"/>
            <a:ext cx="1755648" cy="2834640"/>
          </a:xfrm>
          <a:prstGeom prst="roundRect">
            <a:avLst>
              <a:gd name="adj" fmla="val 7292"/>
            </a:avLst>
          </a:prstGeom>
          <a:solidFill>
            <a:srgbClr val="FFFFFF"/>
          </a:solidFill>
          <a:ln w="9525">
            <a:solidFill>
              <a:srgbClr val="D5D9E2"/>
            </a:solidFill>
            <a:prstDash val="solid"/>
          </a:ln>
        </p:spPr>
      </p:sp>
      <p:sp>
        <p:nvSpPr>
          <p:cNvPr id="45" name="Icon tile"/>
          <p:cNvSpPr/>
          <p:nvPr/>
        </p:nvSpPr>
        <p:spPr>
          <a:xfrm>
            <a:off x="10058400" y="3200400"/>
            <a:ext cx="329184" cy="329184"/>
          </a:xfrm>
          <a:prstGeom prst="roundRect">
            <a:avLst>
              <a:gd name="adj" fmla="val 22222"/>
            </a:avLst>
          </a:prstGeom>
          <a:solidFill>
            <a:srgbClr val="F1F2F5"/>
          </a:solidFill>
          <a:ln/>
        </p:spPr>
      </p:sp>
      <p:pic>
        <p:nvPicPr>
          <p:cNvPr id="46" name="Icon" descr="/private/tmp/claude-503/-Users-davark-Downloads-Everything-Github-Alodi-Regional-Codex-Hackathon-2026/91e569a8-486f-4c0b-b683-a4991468f039/scratchpad/deck/assets/mark-check-navy.png">    </p:cNvPr>
          <p:cNvPicPr>
            <a:picLocks noChangeAspect="1"/>
          </p:cNvPicPr>
          <p:nvPr/>
        </p:nvPicPr>
        <p:blipFill>
          <a:blip r:embed="rId7"/>
          <a:stretch>
            <a:fillRect/>
          </a:stretch>
        </p:blipFill>
        <p:spPr>
          <a:xfrm>
            <a:off x="10122408" y="3264408"/>
            <a:ext cx="201168" cy="201168"/>
          </a:xfrm>
          <a:prstGeom prst="rect">
            <a:avLst/>
          </a:prstGeom>
        </p:spPr>
      </p:pic>
      <p:sp>
        <p:nvSpPr>
          <p:cNvPr id="47" name="Text 38"/>
          <p:cNvSpPr txBox="1"/>
          <p:nvPr/>
        </p:nvSpPr>
        <p:spPr>
          <a:xfrm>
            <a:off x="10058400" y="3675888"/>
            <a:ext cx="1463040" cy="365760"/>
          </a:xfrm>
          <a:prstGeom prst="rect">
            <a:avLst/>
          </a:prstGeom>
          <a:noFill/>
          <a:ln/>
        </p:spPr>
        <p:txBody>
          <a:bodyPr wrap="square" lIns="0" tIns="0" rIns="0" bIns="0" rtlCol="0" anchor="t"/>
          <a:lstStyle/>
          <a:p>
            <a:pPr indent="0" marL="0">
              <a:buNone/>
            </a:pPr>
            <a:r>
              <a:rPr lang="en-US" sz="1400" b="1" dirty="0">
                <a:solidFill>
                  <a:srgbClr val="121A2C"/>
                </a:solidFill>
                <a:latin typeface="Arial" pitchFamily="34" charset="0"/>
                <a:ea typeface="Arial" pitchFamily="34" charset="-122"/>
                <a:cs typeface="Arial" pitchFamily="34" charset="-120"/>
              </a:rPr>
              <a:t>National</a:t>
            </a:r>
            <a:endParaRPr lang="en-US" sz="1400" dirty="0"/>
          </a:p>
        </p:txBody>
      </p:sp>
      <p:sp>
        <p:nvSpPr>
          <p:cNvPr id="48" name="Text 39"/>
          <p:cNvSpPr txBox="1"/>
          <p:nvPr/>
        </p:nvSpPr>
        <p:spPr>
          <a:xfrm>
            <a:off x="10058400" y="4069080"/>
            <a:ext cx="1481328" cy="1691640"/>
          </a:xfrm>
          <a:prstGeom prst="rect">
            <a:avLst/>
          </a:prstGeom>
          <a:noFill/>
          <a:ln/>
        </p:spPr>
        <p:txBody>
          <a:bodyPr wrap="square" lIns="0" tIns="0" rIns="0" bIns="0" rtlCol="0" anchor="t"/>
          <a:lstStyle/>
          <a:p>
            <a:pPr indent="0" marL="0">
              <a:buNone/>
            </a:pPr>
            <a:r>
              <a:rPr lang="en-US" sz="1350" dirty="0">
                <a:solidFill>
                  <a:srgbClr val="222B40"/>
                </a:solidFill>
                <a:latin typeface="Arial" pitchFamily="34" charset="0"/>
                <a:ea typeface="Arial" pitchFamily="34" charset="-122"/>
                <a:cs typeface="Arial" pitchFamily="34" charset="-120"/>
              </a:rPr>
              <a:t>20–100 hubs, break-even</a:t>
            </a:r>
            <a:endParaRPr lang="en-US" sz="1350" dirty="0"/>
          </a:p>
        </p:txBody>
      </p:sp>
      <p:sp>
        <p:nvSpPr>
          <p:cNvPr id="49" name="Text 40"/>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08  </a:t>
            </a:r>
            <a:pPr indent="0" marL="0">
              <a:buNone/>
            </a:pPr>
            <a:r>
              <a:rPr lang="en-US" sz="1050" b="1" spc="200" kern="0" dirty="0">
                <a:solidFill>
                  <a:srgbClr val="1F2A44"/>
                </a:solidFill>
                <a:latin typeface="Arial" pitchFamily="34" charset="0"/>
                <a:ea typeface="Arial" pitchFamily="34" charset="-122"/>
                <a:cs typeface="Arial" pitchFamily="34" charset="-120"/>
              </a:rPr>
              <a:t>TEAM</a:t>
            </a:r>
            <a:endParaRPr lang="en-US" sz="1050" dirty="0"/>
          </a:p>
        </p:txBody>
      </p:sp>
      <p:sp>
        <p:nvSpPr>
          <p:cNvPr id="4" name="Text 2"/>
          <p:cNvSpPr txBox="1"/>
          <p:nvPr/>
        </p:nvSpPr>
        <p:spPr>
          <a:xfrm>
            <a:off x="548640" y="841248"/>
            <a:ext cx="10515600" cy="822960"/>
          </a:xfrm>
          <a:prstGeom prst="rect">
            <a:avLst/>
          </a:prstGeom>
          <a:noFill/>
          <a:ln/>
        </p:spPr>
        <p:txBody>
          <a:bodyPr wrap="square" lIns="0" tIns="0" rIns="0" bIns="0" rtlCol="0" anchor="t"/>
          <a:lstStyle/>
          <a:p>
            <a:pPr indent="0" marL="0">
              <a:lnSpc>
                <a:spcPct val="95000"/>
              </a:lnSpc>
              <a:buNone/>
            </a:pPr>
            <a:r>
              <a:rPr lang="en-US" sz="3000" b="1" dirty="0">
                <a:solidFill>
                  <a:srgbClr val="5F6F91"/>
                </a:solidFill>
                <a:latin typeface="Arial" pitchFamily="34" charset="0"/>
                <a:ea typeface="Arial" pitchFamily="34" charset="-122"/>
                <a:cs typeface="Arial" pitchFamily="34" charset="-120"/>
              </a:rPr>
              <a:t>Team Develarper. </a:t>
            </a:r>
            <a:pPr indent="0" marL="0">
              <a:lnSpc>
                <a:spcPct val="95000"/>
              </a:lnSpc>
              <a:buNone/>
            </a:pPr>
            <a:r>
              <a:rPr lang="en-US" sz="3000" b="1" dirty="0">
                <a:solidFill>
                  <a:srgbClr val="121A2C"/>
                </a:solidFill>
                <a:latin typeface="Arial" pitchFamily="34" charset="0"/>
                <a:ea typeface="Arial" pitchFamily="34" charset="-122"/>
                <a:cs typeface="Arial" pitchFamily="34" charset="-120"/>
              </a:rPr>
              <a:t>Four people, one agent.</a:t>
            </a:r>
            <a:endParaRPr lang="en-US" sz="3000" dirty="0"/>
          </a:p>
        </p:txBody>
      </p:sp>
      <p:sp>
        <p:nvSpPr>
          <p:cNvPr id="5" name="Member 1"/>
          <p:cNvSpPr/>
          <p:nvPr/>
        </p:nvSpPr>
        <p:spPr>
          <a:xfrm>
            <a:off x="548640" y="1828800"/>
            <a:ext cx="2670048" cy="4206240"/>
          </a:xfrm>
          <a:prstGeom prst="roundRect">
            <a:avLst>
              <a:gd name="adj" fmla="val 4795"/>
            </a:avLst>
          </a:prstGeom>
          <a:solidFill>
            <a:srgbClr val="FFFFFF"/>
          </a:solidFill>
          <a:ln w="9525">
            <a:solidFill>
              <a:srgbClr val="D5D9E2"/>
            </a:solidFill>
            <a:prstDash val="solid"/>
          </a:ln>
        </p:spPr>
      </p:sp>
      <p:pic>
        <p:nvPicPr>
          <p:cNvPr id="6" name="Portrait 1" descr="Nomura Yoshio">    </p:cNvPr>
          <p:cNvPicPr>
            <a:picLocks noChangeAspect="1"/>
          </p:cNvPicPr>
          <p:nvPr/>
        </p:nvPicPr>
        <p:blipFill>
          <a:blip r:embed="rId1"/>
          <a:stretch>
            <a:fillRect/>
          </a:stretch>
        </p:blipFill>
        <p:spPr>
          <a:xfrm>
            <a:off x="731520" y="2011680"/>
            <a:ext cx="2304288" cy="2240280"/>
          </a:xfrm>
          <a:prstGeom prst="rect">
            <a:avLst/>
          </a:prstGeom>
        </p:spPr>
      </p:pic>
      <p:sp>
        <p:nvSpPr>
          <p:cNvPr id="7" name="Text 4"/>
          <p:cNvSpPr txBox="1"/>
          <p:nvPr/>
        </p:nvSpPr>
        <p:spPr>
          <a:xfrm>
            <a:off x="731520" y="4389120"/>
            <a:ext cx="2395728" cy="310896"/>
          </a:xfrm>
          <a:prstGeom prst="rect">
            <a:avLst/>
          </a:prstGeom>
          <a:noFill/>
          <a:ln/>
        </p:spPr>
        <p:txBody>
          <a:bodyPr wrap="square" lIns="0" tIns="0" rIns="0" bIns="0" rtlCol="0" anchor="ctr"/>
          <a:lstStyle/>
          <a:p>
            <a:pPr indent="0" marL="0">
              <a:buNone/>
            </a:pPr>
            <a:r>
              <a:rPr lang="en-US" sz="1500" b="1" dirty="0">
                <a:solidFill>
                  <a:srgbClr val="121A2C"/>
                </a:solidFill>
                <a:latin typeface="Arial" pitchFamily="34" charset="0"/>
                <a:ea typeface="Arial" pitchFamily="34" charset="-122"/>
                <a:cs typeface="Arial" pitchFamily="34" charset="-120"/>
              </a:rPr>
              <a:t>Nomura Yoshio</a:t>
            </a:r>
            <a:endParaRPr lang="en-US" sz="1500" dirty="0"/>
          </a:p>
        </p:txBody>
      </p:sp>
      <p:sp>
        <p:nvSpPr>
          <p:cNvPr id="8" name="Text 5"/>
          <p:cNvSpPr txBox="1"/>
          <p:nvPr/>
        </p:nvSpPr>
        <p:spPr>
          <a:xfrm>
            <a:off x="731520" y="4700016"/>
            <a:ext cx="2395728" cy="274320"/>
          </a:xfrm>
          <a:prstGeom prst="rect">
            <a:avLst/>
          </a:prstGeom>
          <a:noFill/>
          <a:ln/>
        </p:spPr>
        <p:txBody>
          <a:bodyPr wrap="square" lIns="0" tIns="0" rIns="0" bIns="0" rtlCol="0" anchor="ctr"/>
          <a:lstStyle/>
          <a:p>
            <a:pPr indent="0" marL="0">
              <a:buNone/>
            </a:pPr>
            <a:r>
              <a:rPr lang="en-US" sz="1150" dirty="0">
                <a:solidFill>
                  <a:srgbClr val="F05A00"/>
                </a:solidFill>
                <a:latin typeface="Arial" pitchFamily="34" charset="0"/>
                <a:ea typeface="Arial" pitchFamily="34" charset="-122"/>
                <a:cs typeface="Arial" pitchFamily="34" charset="-120"/>
              </a:rPr>
              <a:t>Team Lead · Presenter</a:t>
            </a:r>
            <a:endParaRPr lang="en-US" sz="1150" dirty="0"/>
          </a:p>
        </p:txBody>
      </p:sp>
      <p:sp>
        <p:nvSpPr>
          <p:cNvPr id="9" name="Text 6"/>
          <p:cNvSpPr txBox="1"/>
          <p:nvPr/>
        </p:nvSpPr>
        <p:spPr>
          <a:xfrm>
            <a:off x="731520" y="5029200"/>
            <a:ext cx="2304288" cy="77724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Product, demo script, pitch</a:t>
            </a:r>
            <a:endParaRPr lang="en-US" sz="1250" dirty="0"/>
          </a:p>
        </p:txBody>
      </p:sp>
      <p:sp>
        <p:nvSpPr>
          <p:cNvPr id="10" name="Member 2"/>
          <p:cNvSpPr/>
          <p:nvPr/>
        </p:nvSpPr>
        <p:spPr>
          <a:xfrm>
            <a:off x="3355848" y="1828800"/>
            <a:ext cx="2670048" cy="4206240"/>
          </a:xfrm>
          <a:prstGeom prst="roundRect">
            <a:avLst>
              <a:gd name="adj" fmla="val 4795"/>
            </a:avLst>
          </a:prstGeom>
          <a:solidFill>
            <a:srgbClr val="FFFFFF"/>
          </a:solidFill>
          <a:ln w="9525">
            <a:solidFill>
              <a:srgbClr val="D5D9E2"/>
            </a:solidFill>
            <a:prstDash val="solid"/>
          </a:ln>
        </p:spPr>
      </p:sp>
      <p:pic>
        <p:nvPicPr>
          <p:cNvPr id="11" name="Portrait 2" descr="Long Quan Ton">    </p:cNvPr>
          <p:cNvPicPr>
            <a:picLocks noChangeAspect="1"/>
          </p:cNvPicPr>
          <p:nvPr/>
        </p:nvPicPr>
        <p:blipFill>
          <a:blip r:embed="rId2"/>
          <a:stretch>
            <a:fillRect/>
          </a:stretch>
        </p:blipFill>
        <p:spPr>
          <a:xfrm>
            <a:off x="3538728" y="2011680"/>
            <a:ext cx="2304288" cy="2240280"/>
          </a:xfrm>
          <a:prstGeom prst="rect">
            <a:avLst/>
          </a:prstGeom>
        </p:spPr>
      </p:pic>
      <p:sp>
        <p:nvSpPr>
          <p:cNvPr id="12" name="Text 8"/>
          <p:cNvSpPr txBox="1"/>
          <p:nvPr/>
        </p:nvSpPr>
        <p:spPr>
          <a:xfrm>
            <a:off x="3538728" y="4389120"/>
            <a:ext cx="2395728" cy="310896"/>
          </a:xfrm>
          <a:prstGeom prst="rect">
            <a:avLst/>
          </a:prstGeom>
          <a:noFill/>
          <a:ln/>
        </p:spPr>
        <p:txBody>
          <a:bodyPr wrap="square" lIns="0" tIns="0" rIns="0" bIns="0" rtlCol="0" anchor="ctr"/>
          <a:lstStyle/>
          <a:p>
            <a:pPr indent="0" marL="0">
              <a:buNone/>
            </a:pPr>
            <a:r>
              <a:rPr lang="en-US" sz="1500" b="1" dirty="0">
                <a:solidFill>
                  <a:srgbClr val="121A2C"/>
                </a:solidFill>
                <a:latin typeface="Arial" pitchFamily="34" charset="0"/>
                <a:ea typeface="Arial" pitchFamily="34" charset="-122"/>
                <a:cs typeface="Arial" pitchFamily="34" charset="-120"/>
              </a:rPr>
              <a:t>Long Quan Ton</a:t>
            </a:r>
            <a:endParaRPr lang="en-US" sz="1500" dirty="0"/>
          </a:p>
        </p:txBody>
      </p:sp>
      <p:sp>
        <p:nvSpPr>
          <p:cNvPr id="13" name="Text 9"/>
          <p:cNvSpPr txBox="1"/>
          <p:nvPr/>
        </p:nvSpPr>
        <p:spPr>
          <a:xfrm>
            <a:off x="3538728" y="4700016"/>
            <a:ext cx="2395728" cy="274320"/>
          </a:xfrm>
          <a:prstGeom prst="rect">
            <a:avLst/>
          </a:prstGeom>
          <a:noFill/>
          <a:ln/>
        </p:spPr>
        <p:txBody>
          <a:bodyPr wrap="square" lIns="0" tIns="0" rIns="0" bIns="0" rtlCol="0" anchor="ctr"/>
          <a:lstStyle/>
          <a:p>
            <a:pPr indent="0" marL="0">
              <a:buNone/>
            </a:pPr>
            <a:r>
              <a:rPr lang="en-US" sz="1150" dirty="0">
                <a:solidFill>
                  <a:srgbClr val="F05A00"/>
                </a:solidFill>
                <a:latin typeface="Arial" pitchFamily="34" charset="0"/>
                <a:ea typeface="Arial" pitchFamily="34" charset="-122"/>
                <a:cs typeface="Arial" pitchFamily="34" charset="-120"/>
              </a:rPr>
              <a:t>AI Engineer · Solution Architect</a:t>
            </a:r>
            <a:endParaRPr lang="en-US" sz="1150" dirty="0"/>
          </a:p>
        </p:txBody>
      </p:sp>
      <p:sp>
        <p:nvSpPr>
          <p:cNvPr id="14" name="Text 10"/>
          <p:cNvSpPr txBox="1"/>
          <p:nvPr/>
        </p:nvSpPr>
        <p:spPr>
          <a:xfrm>
            <a:off x="3538728" y="5029200"/>
            <a:ext cx="2304288" cy="77724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Orchestrator, voice agent, eval loop</a:t>
            </a:r>
            <a:endParaRPr lang="en-US" sz="1250" dirty="0"/>
          </a:p>
        </p:txBody>
      </p:sp>
      <p:sp>
        <p:nvSpPr>
          <p:cNvPr id="15" name="Member 3"/>
          <p:cNvSpPr/>
          <p:nvPr/>
        </p:nvSpPr>
        <p:spPr>
          <a:xfrm>
            <a:off x="6163056" y="1828800"/>
            <a:ext cx="2670048" cy="4206240"/>
          </a:xfrm>
          <a:prstGeom prst="roundRect">
            <a:avLst>
              <a:gd name="adj" fmla="val 4795"/>
            </a:avLst>
          </a:prstGeom>
          <a:solidFill>
            <a:srgbClr val="FFFFFF"/>
          </a:solidFill>
          <a:ln w="9525">
            <a:solidFill>
              <a:srgbClr val="D5D9E2"/>
            </a:solidFill>
            <a:prstDash val="solid"/>
          </a:ln>
        </p:spPr>
      </p:sp>
      <p:pic>
        <p:nvPicPr>
          <p:cNvPr id="16" name="Portrait 3" descr="Khanh Tuong Huynh">    </p:cNvPr>
          <p:cNvPicPr>
            <a:picLocks noChangeAspect="1"/>
          </p:cNvPicPr>
          <p:nvPr/>
        </p:nvPicPr>
        <p:blipFill>
          <a:blip r:embed="rId3"/>
          <a:stretch>
            <a:fillRect/>
          </a:stretch>
        </p:blipFill>
        <p:spPr>
          <a:xfrm>
            <a:off x="6345936" y="2011680"/>
            <a:ext cx="2304288" cy="2240280"/>
          </a:xfrm>
          <a:prstGeom prst="rect">
            <a:avLst/>
          </a:prstGeom>
        </p:spPr>
      </p:pic>
      <p:sp>
        <p:nvSpPr>
          <p:cNvPr id="17" name="Text 12"/>
          <p:cNvSpPr txBox="1"/>
          <p:nvPr/>
        </p:nvSpPr>
        <p:spPr>
          <a:xfrm>
            <a:off x="6345936" y="4389120"/>
            <a:ext cx="2395728" cy="310896"/>
          </a:xfrm>
          <a:prstGeom prst="rect">
            <a:avLst/>
          </a:prstGeom>
          <a:noFill/>
          <a:ln/>
        </p:spPr>
        <p:txBody>
          <a:bodyPr wrap="square" lIns="0" tIns="0" rIns="0" bIns="0" rtlCol="0" anchor="ctr"/>
          <a:lstStyle/>
          <a:p>
            <a:pPr indent="0" marL="0">
              <a:buNone/>
            </a:pPr>
            <a:r>
              <a:rPr lang="en-US" sz="1500" b="1" dirty="0">
                <a:solidFill>
                  <a:srgbClr val="121A2C"/>
                </a:solidFill>
                <a:latin typeface="Arial" pitchFamily="34" charset="0"/>
                <a:ea typeface="Arial" pitchFamily="34" charset="-122"/>
                <a:cs typeface="Arial" pitchFamily="34" charset="-120"/>
              </a:rPr>
              <a:t>Khanh Tuong Huynh</a:t>
            </a:r>
            <a:endParaRPr lang="en-US" sz="1500" dirty="0"/>
          </a:p>
        </p:txBody>
      </p:sp>
      <p:sp>
        <p:nvSpPr>
          <p:cNvPr id="18" name="Text 13"/>
          <p:cNvSpPr txBox="1"/>
          <p:nvPr/>
        </p:nvSpPr>
        <p:spPr>
          <a:xfrm>
            <a:off x="6345936" y="4700016"/>
            <a:ext cx="2395728" cy="274320"/>
          </a:xfrm>
          <a:prstGeom prst="rect">
            <a:avLst/>
          </a:prstGeom>
          <a:noFill/>
          <a:ln/>
        </p:spPr>
        <p:txBody>
          <a:bodyPr wrap="square" lIns="0" tIns="0" rIns="0" bIns="0" rtlCol="0" anchor="ctr"/>
          <a:lstStyle/>
          <a:p>
            <a:pPr indent="0" marL="0">
              <a:buNone/>
            </a:pPr>
            <a:r>
              <a:rPr lang="en-US" sz="1150" dirty="0">
                <a:solidFill>
                  <a:srgbClr val="F05A00"/>
                </a:solidFill>
                <a:latin typeface="Arial" pitchFamily="34" charset="0"/>
                <a:ea typeface="Arial" pitchFamily="34" charset="-122"/>
                <a:cs typeface="Arial" pitchFamily="34" charset="-120"/>
              </a:rPr>
              <a:t>AI Engineer · Deployment</a:t>
            </a:r>
            <a:endParaRPr lang="en-US" sz="1150" dirty="0"/>
          </a:p>
        </p:txBody>
      </p:sp>
      <p:sp>
        <p:nvSpPr>
          <p:cNvPr id="19" name="Text 14"/>
          <p:cNvSpPr txBox="1"/>
          <p:nvPr/>
        </p:nvSpPr>
        <p:spPr>
          <a:xfrm>
            <a:off x="6345936" y="5029200"/>
            <a:ext cx="2304288" cy="77724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Context extractor, ASR, policy guard</a:t>
            </a:r>
            <a:endParaRPr lang="en-US" sz="1250" dirty="0"/>
          </a:p>
        </p:txBody>
      </p:sp>
      <p:sp>
        <p:nvSpPr>
          <p:cNvPr id="20" name="Member 4"/>
          <p:cNvSpPr/>
          <p:nvPr/>
        </p:nvSpPr>
        <p:spPr>
          <a:xfrm>
            <a:off x="8970264" y="1828800"/>
            <a:ext cx="2670048" cy="4206240"/>
          </a:xfrm>
          <a:prstGeom prst="roundRect">
            <a:avLst>
              <a:gd name="adj" fmla="val 4795"/>
            </a:avLst>
          </a:prstGeom>
          <a:solidFill>
            <a:srgbClr val="FFFFFF"/>
          </a:solidFill>
          <a:ln w="9525">
            <a:solidFill>
              <a:srgbClr val="D5D9E2"/>
            </a:solidFill>
            <a:prstDash val="solid"/>
          </a:ln>
        </p:spPr>
      </p:sp>
      <p:pic>
        <p:nvPicPr>
          <p:cNvPr id="21" name="Portrait 4" descr="Thanh Loi Tran">    </p:cNvPr>
          <p:cNvPicPr>
            <a:picLocks noChangeAspect="1"/>
          </p:cNvPicPr>
          <p:nvPr/>
        </p:nvPicPr>
        <p:blipFill>
          <a:blip r:embed="rId4"/>
          <a:stretch>
            <a:fillRect/>
          </a:stretch>
        </p:blipFill>
        <p:spPr>
          <a:xfrm>
            <a:off x="9153144" y="2011680"/>
            <a:ext cx="2304288" cy="2240280"/>
          </a:xfrm>
          <a:prstGeom prst="rect">
            <a:avLst/>
          </a:prstGeom>
        </p:spPr>
      </p:pic>
      <p:sp>
        <p:nvSpPr>
          <p:cNvPr id="22" name="Text 16"/>
          <p:cNvSpPr txBox="1"/>
          <p:nvPr/>
        </p:nvSpPr>
        <p:spPr>
          <a:xfrm>
            <a:off x="9153144" y="4389120"/>
            <a:ext cx="2395728" cy="310896"/>
          </a:xfrm>
          <a:prstGeom prst="rect">
            <a:avLst/>
          </a:prstGeom>
          <a:noFill/>
          <a:ln/>
        </p:spPr>
        <p:txBody>
          <a:bodyPr wrap="square" lIns="0" tIns="0" rIns="0" bIns="0" rtlCol="0" anchor="ctr"/>
          <a:lstStyle/>
          <a:p>
            <a:pPr indent="0" marL="0">
              <a:buNone/>
            </a:pPr>
            <a:r>
              <a:rPr lang="en-US" sz="1500" b="1" dirty="0">
                <a:solidFill>
                  <a:srgbClr val="121A2C"/>
                </a:solidFill>
                <a:latin typeface="Arial" pitchFamily="34" charset="0"/>
                <a:ea typeface="Arial" pitchFamily="34" charset="-122"/>
                <a:cs typeface="Arial" pitchFamily="34" charset="-120"/>
              </a:rPr>
              <a:t>Thanh Loi Tran</a:t>
            </a:r>
            <a:endParaRPr lang="en-US" sz="1500" dirty="0"/>
          </a:p>
        </p:txBody>
      </p:sp>
      <p:sp>
        <p:nvSpPr>
          <p:cNvPr id="23" name="Text 17"/>
          <p:cNvSpPr txBox="1"/>
          <p:nvPr/>
        </p:nvSpPr>
        <p:spPr>
          <a:xfrm>
            <a:off x="9153144" y="4700016"/>
            <a:ext cx="2395728" cy="274320"/>
          </a:xfrm>
          <a:prstGeom prst="rect">
            <a:avLst/>
          </a:prstGeom>
          <a:noFill/>
          <a:ln/>
        </p:spPr>
        <p:txBody>
          <a:bodyPr wrap="square" lIns="0" tIns="0" rIns="0" bIns="0" rtlCol="0" anchor="ctr"/>
          <a:lstStyle/>
          <a:p>
            <a:pPr indent="0" marL="0">
              <a:buNone/>
            </a:pPr>
            <a:r>
              <a:rPr lang="en-US" sz="1150" dirty="0">
                <a:solidFill>
                  <a:srgbClr val="F05A00"/>
                </a:solidFill>
                <a:latin typeface="Arial" pitchFamily="34" charset="0"/>
                <a:ea typeface="Arial" pitchFamily="34" charset="-122"/>
                <a:cs typeface="Arial" pitchFamily="34" charset="-120"/>
              </a:rPr>
              <a:t>Data Engineer · Backend</a:t>
            </a:r>
            <a:endParaRPr lang="en-US" sz="1150" dirty="0"/>
          </a:p>
        </p:txBody>
      </p:sp>
      <p:sp>
        <p:nvSpPr>
          <p:cNvPr id="24" name="Text 18"/>
          <p:cNvSpPr txBox="1"/>
          <p:nvPr/>
        </p:nvSpPr>
        <p:spPr>
          <a:xfrm>
            <a:off x="9153144" y="5029200"/>
            <a:ext cx="2304288" cy="777240"/>
          </a:xfrm>
          <a:prstGeom prst="rect">
            <a:avLst/>
          </a:prstGeom>
          <a:noFill/>
          <a:ln/>
        </p:spPr>
        <p:txBody>
          <a:bodyPr wrap="square" lIns="0" tIns="0" rIns="0" bIns="0" rtlCol="0" anchor="t"/>
          <a:lstStyle/>
          <a:p>
            <a:pPr indent="0" marL="0">
              <a:buNone/>
            </a:pPr>
            <a:r>
              <a:rPr lang="en-US" sz="1250" dirty="0">
                <a:solidFill>
                  <a:srgbClr val="222B40"/>
                </a:solidFill>
                <a:latin typeface="Arial" pitchFamily="34" charset="0"/>
                <a:ea typeface="Arial" pitchFamily="34" charset="-122"/>
                <a:cs typeface="Arial" pitchFamily="34" charset="-120"/>
              </a:rPr>
              <a:t>Order Context Object, APIs, metrics log</a:t>
            </a:r>
            <a:endParaRPr lang="en-US" sz="1250" dirty="0"/>
          </a:p>
        </p:txBody>
      </p:sp>
      <p:sp>
        <p:nvSpPr>
          <p:cNvPr id="25" name="Text 19"/>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Logo" descr="/private/tmp/claude-503/-Users-davark-Downloads-Everything-Github-Alodi-Regional-Codex-Hackathon-2026/91e569a8-486f-4c0b-b683-a4991468f039/scratchpad/deck/assets/logo-navy.png">    </p:cNvPr>
          <p:cNvPicPr>
            <a:picLocks noChangeAspect="1"/>
          </p:cNvPicPr>
          <p:nvPr/>
        </p:nvPicPr>
        <p:blipFill>
          <a:blip r:embed="rId1"/>
          <a:stretch>
            <a:fillRect/>
          </a:stretch>
        </p:blipFill>
        <p:spPr>
          <a:xfrm>
            <a:off x="548640" y="548640"/>
            <a:ext cx="914400" cy="393192"/>
          </a:xfrm>
          <a:prstGeom prst="rect">
            <a:avLst/>
          </a:prstGeom>
        </p:spPr>
      </p:pic>
      <p:sp>
        <p:nvSpPr>
          <p:cNvPr id="3" name="Text 0"/>
          <p:cNvSpPr txBox="1"/>
          <p:nvPr/>
        </p:nvSpPr>
        <p:spPr>
          <a:xfrm>
            <a:off x="548640" y="2011680"/>
            <a:ext cx="5486400" cy="274320"/>
          </a:xfrm>
          <a:prstGeom prst="rect">
            <a:avLst/>
          </a:prstGeom>
          <a:noFill/>
          <a:ln/>
        </p:spPr>
        <p:txBody>
          <a:bodyPr wrap="square" lIns="0" tIns="0" rIns="0" bIns="0" rtlCol="0" anchor="ctr"/>
          <a:lstStyle/>
          <a:p>
            <a:pPr indent="0" marL="0">
              <a:buNone/>
            </a:pPr>
            <a:r>
              <a:rPr lang="en-US" sz="1300" b="1" spc="300" kern="0" dirty="0">
                <a:solidFill>
                  <a:srgbClr val="F05A00"/>
                </a:solidFill>
                <a:latin typeface="Arial" pitchFamily="34" charset="0"/>
                <a:ea typeface="Arial" pitchFamily="34" charset="-122"/>
                <a:cs typeface="Arial" pitchFamily="34" charset="-120"/>
              </a:rPr>
              <a:t>THANK YOU</a:t>
            </a:r>
            <a:endParaRPr lang="en-US" sz="1300" dirty="0"/>
          </a:p>
        </p:txBody>
      </p:sp>
      <p:sp>
        <p:nvSpPr>
          <p:cNvPr id="4" name="Text 1"/>
          <p:cNvSpPr txBox="1"/>
          <p:nvPr/>
        </p:nvSpPr>
        <p:spPr>
          <a:xfrm>
            <a:off x="548640" y="2377440"/>
            <a:ext cx="5852160" cy="1828800"/>
          </a:xfrm>
          <a:prstGeom prst="rect">
            <a:avLst/>
          </a:prstGeom>
          <a:noFill/>
          <a:ln/>
        </p:spPr>
        <p:txBody>
          <a:bodyPr wrap="square" lIns="0" tIns="0" rIns="0" bIns="0" rtlCol="0" anchor="ctr"/>
          <a:lstStyle/>
          <a:p>
            <a:pPr indent="0" marL="0">
              <a:lnSpc>
                <a:spcPct val="92000"/>
              </a:lnSpc>
              <a:buNone/>
            </a:pPr>
            <a:r>
              <a:rPr lang="en-US" sz="5600" i="1" dirty="0">
                <a:solidFill>
                  <a:srgbClr val="121A2C"/>
                </a:solidFill>
                <a:latin typeface="Cambria" pitchFamily="34" charset="0"/>
                <a:ea typeface="Cambria" pitchFamily="34" charset="-122"/>
                <a:cs typeface="Cambria" pitchFamily="34" charset="-120"/>
              </a:rPr>
              <a:t>Make the second</a:t>
            </a:r>
            <a:endParaRPr lang="en-US" sz="5600" dirty="0"/>
          </a:p>
          <a:p>
            <a:pPr indent="0" marL="0">
              <a:lnSpc>
                <a:spcPct val="92000"/>
              </a:lnSpc>
              <a:buNone/>
            </a:pPr>
            <a:r>
              <a:rPr lang="en-US" sz="5600" i="1" dirty="0">
                <a:solidFill>
                  <a:srgbClr val="F05A00"/>
                </a:solidFill>
                <a:latin typeface="Cambria" pitchFamily="34" charset="0"/>
                <a:ea typeface="Cambria" pitchFamily="34" charset="-122"/>
                <a:cs typeface="Cambria" pitchFamily="34" charset="-120"/>
              </a:rPr>
              <a:t>drop land.</a:t>
            </a:r>
            <a:endParaRPr lang="en-US" sz="5600" dirty="0"/>
          </a:p>
        </p:txBody>
      </p:sp>
      <p:pic>
        <p:nvPicPr>
          <p:cNvPr id="5" name="Avatar 1" descr="preencoded.png">    </p:cNvPr>
          <p:cNvPicPr>
            <a:picLocks noChangeAspect="1"/>
          </p:cNvPicPr>
          <p:nvPr/>
        </p:nvPicPr>
        <p:blipFill>
          <a:blip r:embed="rId2"/>
          <a:stretch>
            <a:fillRect/>
          </a:stretch>
        </p:blipFill>
        <p:spPr>
          <a:xfrm>
            <a:off x="548640" y="5715000"/>
            <a:ext cx="457200" cy="457200"/>
          </a:xfrm>
          <a:prstGeom prst="rect">
            <a:avLst/>
          </a:prstGeom>
        </p:spPr>
      </p:pic>
      <p:pic>
        <p:nvPicPr>
          <p:cNvPr id="6" name="Avatar 2" descr="preencoded.png">    </p:cNvPr>
          <p:cNvPicPr>
            <a:picLocks noChangeAspect="1"/>
          </p:cNvPicPr>
          <p:nvPr/>
        </p:nvPicPr>
        <p:blipFill>
          <a:blip r:embed="rId3"/>
          <a:stretch>
            <a:fillRect/>
          </a:stretch>
        </p:blipFill>
        <p:spPr>
          <a:xfrm>
            <a:off x="886968" y="5715000"/>
            <a:ext cx="457200" cy="457200"/>
          </a:xfrm>
          <a:prstGeom prst="rect">
            <a:avLst/>
          </a:prstGeom>
        </p:spPr>
      </p:pic>
      <p:pic>
        <p:nvPicPr>
          <p:cNvPr id="7" name="Avatar 3" descr="preencoded.png">    </p:cNvPr>
          <p:cNvPicPr>
            <a:picLocks noChangeAspect="1"/>
          </p:cNvPicPr>
          <p:nvPr/>
        </p:nvPicPr>
        <p:blipFill>
          <a:blip r:embed="rId4"/>
          <a:stretch>
            <a:fillRect/>
          </a:stretch>
        </p:blipFill>
        <p:spPr>
          <a:xfrm>
            <a:off x="1225296" y="5715000"/>
            <a:ext cx="457200" cy="457200"/>
          </a:xfrm>
          <a:prstGeom prst="rect">
            <a:avLst/>
          </a:prstGeom>
        </p:spPr>
      </p:pic>
      <p:pic>
        <p:nvPicPr>
          <p:cNvPr id="8" name="Avatar 4" descr="preencoded.png">    </p:cNvPr>
          <p:cNvPicPr>
            <a:picLocks noChangeAspect="1"/>
          </p:cNvPicPr>
          <p:nvPr/>
        </p:nvPicPr>
        <p:blipFill>
          <a:blip r:embed="rId5"/>
          <a:stretch>
            <a:fillRect/>
          </a:stretch>
        </p:blipFill>
        <p:spPr>
          <a:xfrm>
            <a:off x="1563624" y="5715000"/>
            <a:ext cx="457200" cy="457200"/>
          </a:xfrm>
          <a:prstGeom prst="rect">
            <a:avLst/>
          </a:prstGeom>
        </p:spPr>
      </p:pic>
      <p:sp>
        <p:nvSpPr>
          <p:cNvPr id="9" name="Text 2"/>
          <p:cNvSpPr txBox="1"/>
          <p:nvPr/>
        </p:nvSpPr>
        <p:spPr>
          <a:xfrm>
            <a:off x="2194560" y="5733288"/>
            <a:ext cx="4023360" cy="438912"/>
          </a:xfrm>
          <a:prstGeom prst="rect">
            <a:avLst/>
          </a:prstGeom>
          <a:noFill/>
          <a:ln/>
        </p:spPr>
        <p:txBody>
          <a:bodyPr wrap="square" lIns="0" tIns="0" rIns="0" bIns="0" rtlCol="0" anchor="ctr"/>
          <a:lstStyle/>
          <a:p>
            <a:pPr indent="0" marL="0">
              <a:buNone/>
            </a:pPr>
            <a:r>
              <a:rPr lang="en-US" sz="1050" b="1" dirty="0">
                <a:solidFill>
                  <a:srgbClr val="121A2C"/>
                </a:solidFill>
                <a:latin typeface="Arial" pitchFamily="34" charset="0"/>
                <a:ea typeface="Arial" pitchFamily="34" charset="-122"/>
                <a:cs typeface="Arial" pitchFamily="34" charset="-120"/>
              </a:rPr>
              <a:t>Team Develarper</a:t>
            </a:r>
            <a:endParaRPr lang="en-US" sz="1050" dirty="0"/>
          </a:p>
          <a:p>
            <a:pPr indent="0" marL="0">
              <a:buNone/>
            </a:pPr>
            <a:r>
              <a:rPr lang="en-US" sz="1050" dirty="0">
                <a:solidFill>
                  <a:srgbClr val="3A4358"/>
                </a:solidFill>
                <a:latin typeface="Arial" pitchFamily="34" charset="0"/>
                <a:ea typeface="Arial" pitchFamily="34" charset="-122"/>
                <a:cs typeface="Arial" pitchFamily="34" charset="-120"/>
              </a:rPr>
              <a:t>Sea × OpenAI Regional Codex Hackathon · October 2026</a:t>
            </a:r>
            <a:endParaRPr lang="en-US" sz="1050" dirty="0"/>
          </a:p>
        </p:txBody>
      </p:sp>
      <p:pic>
        <p:nvPicPr>
          <p:cNvPr id="10" name="Close photo" descr="Ho Chi Minh City street">    </p:cNvPr>
          <p:cNvPicPr>
            <a:picLocks noChangeAspect="1"/>
          </p:cNvPicPr>
          <p:nvPr/>
        </p:nvPicPr>
        <p:blipFill>
          <a:blip r:embed="rId6"/>
          <a:stretch>
            <a:fillRect/>
          </a:stretch>
        </p:blipFill>
        <p:spPr>
          <a:xfrm>
            <a:off x="6199632" y="457200"/>
            <a:ext cx="5440680" cy="5943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rule"/>
          <p:cNvSpPr/>
          <p:nvPr/>
        </p:nvSpPr>
        <p:spPr>
          <a:xfrm>
            <a:off x="548640" y="612648"/>
            <a:ext cx="292608" cy="0"/>
          </a:xfrm>
          <a:prstGeom prst="line">
            <a:avLst/>
          </a:prstGeom>
          <a:noFill/>
          <a:ln w="15875">
            <a:solidFill>
              <a:srgbClr val="F05A00"/>
            </a:solidFill>
            <a:prstDash val="solid"/>
          </a:ln>
        </p:spPr>
      </p:sp>
      <p:sp>
        <p:nvSpPr>
          <p:cNvPr id="3" name="Text 1"/>
          <p:cNvSpPr txBox="1"/>
          <p:nvPr/>
        </p:nvSpPr>
        <p:spPr>
          <a:xfrm>
            <a:off x="960120" y="493776"/>
            <a:ext cx="5486400" cy="246888"/>
          </a:xfrm>
          <a:prstGeom prst="rect">
            <a:avLst/>
          </a:prstGeom>
          <a:noFill/>
          <a:ln/>
        </p:spPr>
        <p:txBody>
          <a:bodyPr wrap="square" lIns="0" tIns="0" rIns="0" bIns="0" rtlCol="0" anchor="ctr"/>
          <a:lstStyle/>
          <a:p>
            <a:pPr indent="0" marL="0">
              <a:buNone/>
            </a:pPr>
            <a:r>
              <a:rPr lang="en-US" sz="1050" spc="200" kern="0" dirty="0">
                <a:solidFill>
                  <a:srgbClr val="4A556E"/>
                </a:solidFill>
                <a:latin typeface="Arial" pitchFamily="34" charset="0"/>
                <a:ea typeface="Arial" pitchFamily="34" charset="-122"/>
                <a:cs typeface="Arial" pitchFamily="34" charset="-120"/>
              </a:rPr>
              <a:t>09  </a:t>
            </a:r>
            <a:pPr indent="0" marL="0">
              <a:buNone/>
            </a:pPr>
            <a:r>
              <a:rPr lang="en-US" sz="1050" b="1" spc="200" kern="0" dirty="0">
                <a:solidFill>
                  <a:srgbClr val="1F2A44"/>
                </a:solidFill>
                <a:latin typeface="Arial" pitchFamily="34" charset="0"/>
                <a:ea typeface="Arial" pitchFamily="34" charset="-122"/>
                <a:cs typeface="Arial" pitchFamily="34" charset="-120"/>
              </a:rPr>
              <a:t>REFERENCES</a:t>
            </a:r>
            <a:endParaRPr lang="en-US" sz="1050" dirty="0"/>
          </a:p>
        </p:txBody>
      </p:sp>
      <p:sp>
        <p:nvSpPr>
          <p:cNvPr id="4" name="Text 2"/>
          <p:cNvSpPr txBox="1"/>
          <p:nvPr/>
        </p:nvSpPr>
        <p:spPr>
          <a:xfrm>
            <a:off x="548640" y="841248"/>
            <a:ext cx="10515600" cy="914400"/>
          </a:xfrm>
          <a:prstGeom prst="rect">
            <a:avLst/>
          </a:prstGeom>
          <a:noFill/>
          <a:ln/>
        </p:spPr>
        <p:txBody>
          <a:bodyPr wrap="square" lIns="0" tIns="0" rIns="0" bIns="0" rtlCol="0" anchor="t"/>
          <a:lstStyle/>
          <a:p>
            <a:pPr indent="0" marL="0">
              <a:lnSpc>
                <a:spcPct val="95000"/>
              </a:lnSpc>
              <a:buNone/>
            </a:pPr>
            <a:r>
              <a:rPr lang="en-US" sz="3000" b="1" dirty="0">
                <a:solidFill>
                  <a:srgbClr val="5F6F91"/>
                </a:solidFill>
                <a:latin typeface="Arial" pitchFamily="34" charset="0"/>
                <a:ea typeface="Arial" pitchFamily="34" charset="-122"/>
                <a:cs typeface="Arial" pitchFamily="34" charset="-120"/>
              </a:rPr>
              <a:t>Every number, </a:t>
            </a:r>
            <a:pPr indent="0" marL="0">
              <a:lnSpc>
                <a:spcPct val="95000"/>
              </a:lnSpc>
              <a:buNone/>
            </a:pPr>
            <a:r>
              <a:rPr lang="en-US" sz="3000" b="1" dirty="0">
                <a:solidFill>
                  <a:srgbClr val="121A2C"/>
                </a:solidFill>
                <a:latin typeface="Arial" pitchFamily="34" charset="0"/>
                <a:ea typeface="Arial" pitchFamily="34" charset="-122"/>
                <a:cs typeface="Arial" pitchFamily="34" charset="-120"/>
              </a:rPr>
              <a:t>and where it comes from.</a:t>
            </a:r>
            <a:endParaRPr lang="en-US" sz="3000" dirty="0"/>
          </a:p>
        </p:txBody>
      </p:sp>
      <p:sp>
        <p:nvSpPr>
          <p:cNvPr id="5" name="Ref rule 0"/>
          <p:cNvSpPr/>
          <p:nvPr/>
        </p:nvSpPr>
        <p:spPr>
          <a:xfrm>
            <a:off x="548640" y="1874520"/>
            <a:ext cx="5440680" cy="0"/>
          </a:xfrm>
          <a:prstGeom prst="line">
            <a:avLst/>
          </a:prstGeom>
          <a:noFill/>
          <a:ln w="9525">
            <a:solidFill>
              <a:srgbClr val="D5D9E2"/>
            </a:solidFill>
            <a:prstDash val="solid"/>
          </a:ln>
        </p:spPr>
      </p:sp>
      <p:sp>
        <p:nvSpPr>
          <p:cNvPr id="6" name="Text 4"/>
          <p:cNvSpPr txBox="1"/>
          <p:nvPr/>
        </p:nvSpPr>
        <p:spPr>
          <a:xfrm>
            <a:off x="548640" y="196596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005840" y="194767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Team survey: 100 buyers, 12 shippers; placeholder values pending the interview export</a:t>
            </a:r>
            <a:endParaRPr lang="en-US" sz="1050" dirty="0"/>
          </a:p>
        </p:txBody>
      </p:sp>
      <p:sp>
        <p:nvSpPr>
          <p:cNvPr id="8" name="Text 6"/>
          <p:cNvSpPr txBox="1"/>
          <p:nvPr/>
        </p:nvSpPr>
        <p:spPr>
          <a:xfrm>
            <a:off x="1005840" y="222199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prep/06-survey</a:t>
            </a:r>
            <a:endParaRPr lang="en-US" sz="950" dirty="0"/>
          </a:p>
        </p:txBody>
      </p:sp>
      <p:sp>
        <p:nvSpPr>
          <p:cNvPr id="9" name="Ref rule 1"/>
          <p:cNvSpPr/>
          <p:nvPr/>
        </p:nvSpPr>
        <p:spPr>
          <a:xfrm>
            <a:off x="548640" y="2514600"/>
            <a:ext cx="5440680" cy="0"/>
          </a:xfrm>
          <a:prstGeom prst="line">
            <a:avLst/>
          </a:prstGeom>
          <a:noFill/>
          <a:ln w="9525">
            <a:solidFill>
              <a:srgbClr val="D5D9E2"/>
            </a:solidFill>
            <a:prstDash val="solid"/>
          </a:ln>
        </p:spPr>
      </p:sp>
      <p:sp>
        <p:nvSpPr>
          <p:cNvPr id="10" name="Text 8"/>
          <p:cNvSpPr txBox="1"/>
          <p:nvPr/>
        </p:nvSpPr>
        <p:spPr>
          <a:xfrm>
            <a:off x="548640" y="260604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05840" y="258775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Shopee Refund Policy §7.1: seller pays return shipping on failed orders</a:t>
            </a:r>
            <a:endParaRPr lang="en-US" sz="1050" dirty="0"/>
          </a:p>
        </p:txBody>
      </p:sp>
      <p:sp>
        <p:nvSpPr>
          <p:cNvPr id="12" name="Text 10"/>
          <p:cNvSpPr txBox="1"/>
          <p:nvPr/>
        </p:nvSpPr>
        <p:spPr>
          <a:xfrm>
            <a:off x="1005840" y="286207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help.shopee.vn/portal/4/article/77251</a:t>
            </a:r>
            <a:endParaRPr lang="en-US" sz="950" dirty="0"/>
          </a:p>
        </p:txBody>
      </p:sp>
      <p:sp>
        <p:nvSpPr>
          <p:cNvPr id="13" name="Ref rule 2"/>
          <p:cNvSpPr/>
          <p:nvPr/>
        </p:nvSpPr>
        <p:spPr>
          <a:xfrm>
            <a:off x="548640" y="3154680"/>
            <a:ext cx="5440680" cy="0"/>
          </a:xfrm>
          <a:prstGeom prst="line">
            <a:avLst/>
          </a:prstGeom>
          <a:noFill/>
          <a:ln w="9525">
            <a:solidFill>
              <a:srgbClr val="D5D9E2"/>
            </a:solidFill>
            <a:prstDash val="solid"/>
          </a:ln>
        </p:spPr>
      </p:sp>
      <p:sp>
        <p:nvSpPr>
          <p:cNvPr id="14" name="Text 12"/>
          <p:cNvSpPr txBox="1"/>
          <p:nvPr/>
        </p:nvSpPr>
        <p:spPr>
          <a:xfrm>
            <a:off x="548640" y="324612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1005840" y="322783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GHN: ₫40,000 return-fee cap per order since 1 Apr 2025 (₫20,000 express)</a:t>
            </a:r>
            <a:endParaRPr lang="en-US" sz="1050" dirty="0"/>
          </a:p>
        </p:txBody>
      </p:sp>
      <p:sp>
        <p:nvSpPr>
          <p:cNvPr id="16" name="Text 14"/>
          <p:cNvSpPr txBox="1"/>
          <p:nvPr/>
        </p:nvSpPr>
        <p:spPr>
          <a:xfrm>
            <a:off x="1005840" y="350215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ghn.vn/blogs/tip-ban-hang/tra-hang-shopee-ai-chiu-phi</a:t>
            </a:r>
            <a:endParaRPr lang="en-US" sz="950" dirty="0"/>
          </a:p>
        </p:txBody>
      </p:sp>
      <p:sp>
        <p:nvSpPr>
          <p:cNvPr id="17" name="Ref rule 3"/>
          <p:cNvSpPr/>
          <p:nvPr/>
        </p:nvSpPr>
        <p:spPr>
          <a:xfrm>
            <a:off x="548640" y="3794760"/>
            <a:ext cx="5440680" cy="0"/>
          </a:xfrm>
          <a:prstGeom prst="line">
            <a:avLst/>
          </a:prstGeom>
          <a:noFill/>
          <a:ln w="9525">
            <a:solidFill>
              <a:srgbClr val="D5D9E2"/>
            </a:solidFill>
            <a:prstDash val="solid"/>
          </a:ln>
        </p:spPr>
      </p:sp>
      <p:sp>
        <p:nvSpPr>
          <p:cNvPr id="18" name="Text 16"/>
          <p:cNvSpPr txBox="1"/>
          <p:nvPr/>
        </p:nvSpPr>
        <p:spPr>
          <a:xfrm>
            <a:off x="548640" y="388620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1005840" y="386791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Nguoi Lao Dong, 19 Jul 2025: refusal rates, VECOM and Tran Anh Tung</a:t>
            </a:r>
            <a:endParaRPr lang="en-US" sz="1050" dirty="0"/>
          </a:p>
        </p:txBody>
      </p:sp>
      <p:sp>
        <p:nvSpPr>
          <p:cNvPr id="20" name="Text 18"/>
          <p:cNvSpPr txBox="1"/>
          <p:nvPr/>
        </p:nvSpPr>
        <p:spPr>
          <a:xfrm>
            <a:off x="1005840" y="414223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tuoitre.vn/nld/nhuc-nhoi-nan-bom-hang-19625071822023801.htm</a:t>
            </a:r>
            <a:endParaRPr lang="en-US" sz="950" dirty="0"/>
          </a:p>
        </p:txBody>
      </p:sp>
      <p:sp>
        <p:nvSpPr>
          <p:cNvPr id="21" name="Ref rule 4"/>
          <p:cNvSpPr/>
          <p:nvPr/>
        </p:nvSpPr>
        <p:spPr>
          <a:xfrm>
            <a:off x="548640" y="4434840"/>
            <a:ext cx="5440680" cy="0"/>
          </a:xfrm>
          <a:prstGeom prst="line">
            <a:avLst/>
          </a:prstGeom>
          <a:noFill/>
          <a:ln w="9525">
            <a:solidFill>
              <a:srgbClr val="D5D9E2"/>
            </a:solidFill>
            <a:prstDash val="solid"/>
          </a:ln>
        </p:spPr>
      </p:sp>
      <p:sp>
        <p:nvSpPr>
          <p:cNvPr id="22" name="Text 20"/>
          <p:cNvSpPr txBox="1"/>
          <p:nvPr/>
        </p:nvSpPr>
        <p:spPr>
          <a:xfrm>
            <a:off x="548640" y="452628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005840" y="450799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Shopee Help Center 79559: no specific delivery time can be chosen</a:t>
            </a:r>
            <a:endParaRPr lang="en-US" sz="1050" dirty="0"/>
          </a:p>
        </p:txBody>
      </p:sp>
      <p:sp>
        <p:nvSpPr>
          <p:cNvPr id="24" name="Text 22"/>
          <p:cNvSpPr txBox="1"/>
          <p:nvPr/>
        </p:nvSpPr>
        <p:spPr>
          <a:xfrm>
            <a:off x="1005840" y="478231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help.shopee.vn/portal/4/article/79559</a:t>
            </a:r>
            <a:endParaRPr lang="en-US" sz="950" dirty="0"/>
          </a:p>
        </p:txBody>
      </p:sp>
      <p:sp>
        <p:nvSpPr>
          <p:cNvPr id="25" name="Ref rule 5"/>
          <p:cNvSpPr/>
          <p:nvPr/>
        </p:nvSpPr>
        <p:spPr>
          <a:xfrm>
            <a:off x="548640" y="5074920"/>
            <a:ext cx="5440680" cy="0"/>
          </a:xfrm>
          <a:prstGeom prst="line">
            <a:avLst/>
          </a:prstGeom>
          <a:noFill/>
          <a:ln w="9525">
            <a:solidFill>
              <a:srgbClr val="D5D9E2"/>
            </a:solidFill>
            <a:prstDash val="solid"/>
          </a:ln>
        </p:spPr>
      </p:sp>
      <p:sp>
        <p:nvSpPr>
          <p:cNvPr id="26" name="Text 24"/>
          <p:cNvSpPr txBox="1"/>
          <p:nvPr/>
        </p:nvSpPr>
        <p:spPr>
          <a:xfrm>
            <a:off x="548640" y="516636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[6]</a:t>
            </a:r>
            <a:endParaRPr lang="en-US" sz="1100" dirty="0"/>
          </a:p>
        </p:txBody>
      </p:sp>
      <p:sp>
        <p:nvSpPr>
          <p:cNvPr id="27" name="Text 25"/>
          <p:cNvSpPr txBox="1"/>
          <p:nvPr/>
        </p:nvSpPr>
        <p:spPr>
          <a:xfrm>
            <a:off x="1005840" y="514807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Shopee Help Center 79569: 2–3 contacts, reschedule within 5 days</a:t>
            </a:r>
            <a:endParaRPr lang="en-US" sz="1050" dirty="0"/>
          </a:p>
        </p:txBody>
      </p:sp>
      <p:sp>
        <p:nvSpPr>
          <p:cNvPr id="28" name="Text 26"/>
          <p:cNvSpPr txBox="1"/>
          <p:nvPr/>
        </p:nvSpPr>
        <p:spPr>
          <a:xfrm>
            <a:off x="1005840" y="542239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help.shopee.vn/portal/4/article/79569</a:t>
            </a:r>
            <a:endParaRPr lang="en-US" sz="950" dirty="0"/>
          </a:p>
        </p:txBody>
      </p:sp>
      <p:sp>
        <p:nvSpPr>
          <p:cNvPr id="29" name="Ref rule 6"/>
          <p:cNvSpPr/>
          <p:nvPr/>
        </p:nvSpPr>
        <p:spPr>
          <a:xfrm>
            <a:off x="6172200" y="1874520"/>
            <a:ext cx="5440680" cy="0"/>
          </a:xfrm>
          <a:prstGeom prst="line">
            <a:avLst/>
          </a:prstGeom>
          <a:noFill/>
          <a:ln w="9525">
            <a:solidFill>
              <a:srgbClr val="D5D9E2"/>
            </a:solidFill>
            <a:prstDash val="solid"/>
          </a:ln>
        </p:spPr>
      </p:sp>
      <p:sp>
        <p:nvSpPr>
          <p:cNvPr id="30" name="Text 28"/>
          <p:cNvSpPr txBox="1"/>
          <p:nvPr/>
        </p:nvSpPr>
        <p:spPr>
          <a:xfrm>
            <a:off x="6172200" y="196596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[7]</a:t>
            </a:r>
            <a:endParaRPr lang="en-US" sz="1100" dirty="0"/>
          </a:p>
        </p:txBody>
      </p:sp>
      <p:sp>
        <p:nvSpPr>
          <p:cNvPr id="31" name="Text 29"/>
          <p:cNvSpPr txBox="1"/>
          <p:nvPr/>
        </p:nvSpPr>
        <p:spPr>
          <a:xfrm>
            <a:off x="6629400" y="194767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GHN: shipper earns ₫6,000–8,000 per delivered order</a:t>
            </a:r>
            <a:endParaRPr lang="en-US" sz="1050" dirty="0"/>
          </a:p>
        </p:txBody>
      </p:sp>
      <p:sp>
        <p:nvSpPr>
          <p:cNvPr id="32" name="Text 30"/>
          <p:cNvSpPr txBox="1"/>
          <p:nvPr/>
        </p:nvSpPr>
        <p:spPr>
          <a:xfrm>
            <a:off x="6629400" y="222199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ghn.vn/blogs/tip-ban-hang/mot-don-hang-shipper-shopee-duoc-bao-nhieu-tien</a:t>
            </a:r>
            <a:endParaRPr lang="en-US" sz="950" dirty="0"/>
          </a:p>
        </p:txBody>
      </p:sp>
      <p:sp>
        <p:nvSpPr>
          <p:cNvPr id="33" name="Ref rule 7"/>
          <p:cNvSpPr/>
          <p:nvPr/>
        </p:nvSpPr>
        <p:spPr>
          <a:xfrm>
            <a:off x="6172200" y="2514600"/>
            <a:ext cx="5440680" cy="0"/>
          </a:xfrm>
          <a:prstGeom prst="line">
            <a:avLst/>
          </a:prstGeom>
          <a:noFill/>
          <a:ln w="9525">
            <a:solidFill>
              <a:srgbClr val="D5D9E2"/>
            </a:solidFill>
            <a:prstDash val="solid"/>
          </a:ln>
        </p:spPr>
      </p:sp>
      <p:sp>
        <p:nvSpPr>
          <p:cNvPr id="34" name="Text 32"/>
          <p:cNvSpPr txBox="1"/>
          <p:nvPr/>
        </p:nvSpPr>
        <p:spPr>
          <a:xfrm>
            <a:off x="6172200" y="260604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[8]</a:t>
            </a:r>
            <a:endParaRPr lang="en-US" sz="1100" dirty="0"/>
          </a:p>
        </p:txBody>
      </p:sp>
      <p:sp>
        <p:nvSpPr>
          <p:cNvPr id="35" name="Text 33"/>
          <p:cNvSpPr txBox="1"/>
          <p:nvPr/>
        </p:nvSpPr>
        <p:spPr>
          <a:xfrm>
            <a:off x="6629400" y="258775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Shipsy: rescue 20–30% industry, 50–65% best-in-class (vendor)</a:t>
            </a:r>
            <a:endParaRPr lang="en-US" sz="1050" dirty="0"/>
          </a:p>
        </p:txBody>
      </p:sp>
      <p:sp>
        <p:nvSpPr>
          <p:cNvPr id="36" name="Text 34"/>
          <p:cNvSpPr txBox="1"/>
          <p:nvPr/>
        </p:nvSpPr>
        <p:spPr>
          <a:xfrm>
            <a:off x="6629400" y="286207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shipsy.ai/insights/what-is-ndr-non-delivery-report-management</a:t>
            </a:r>
            <a:endParaRPr lang="en-US" sz="950" dirty="0"/>
          </a:p>
        </p:txBody>
      </p:sp>
      <p:sp>
        <p:nvSpPr>
          <p:cNvPr id="37" name="Ref rule 8"/>
          <p:cNvSpPr/>
          <p:nvPr/>
        </p:nvSpPr>
        <p:spPr>
          <a:xfrm>
            <a:off x="6172200" y="3154680"/>
            <a:ext cx="5440680" cy="0"/>
          </a:xfrm>
          <a:prstGeom prst="line">
            <a:avLst/>
          </a:prstGeom>
          <a:noFill/>
          <a:ln w="9525">
            <a:solidFill>
              <a:srgbClr val="D5D9E2"/>
            </a:solidFill>
            <a:prstDash val="solid"/>
          </a:ln>
        </p:spPr>
      </p:sp>
      <p:sp>
        <p:nvSpPr>
          <p:cNvPr id="38" name="Text 36"/>
          <p:cNvSpPr txBox="1"/>
          <p:nvPr/>
        </p:nvSpPr>
        <p:spPr>
          <a:xfrm>
            <a:off x="6172200" y="324612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[9]</a:t>
            </a:r>
            <a:endParaRPr lang="en-US" sz="1100" dirty="0"/>
          </a:p>
        </p:txBody>
      </p:sp>
      <p:sp>
        <p:nvSpPr>
          <p:cNvPr id="39" name="Text 37"/>
          <p:cNvSpPr txBox="1"/>
          <p:nvPr/>
        </p:nvSpPr>
        <p:spPr>
          <a:xfrm>
            <a:off x="6629400" y="322783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Team cost model, PRD §18.8: one area, 20 shippers, 4,000 orders a day</a:t>
            </a:r>
            <a:endParaRPr lang="en-US" sz="1050" dirty="0"/>
          </a:p>
        </p:txBody>
      </p:sp>
      <p:sp>
        <p:nvSpPr>
          <p:cNvPr id="40" name="Text 38"/>
          <p:cNvSpPr txBox="1"/>
          <p:nvPr/>
        </p:nvSpPr>
        <p:spPr>
          <a:xfrm>
            <a:off x="6629400" y="350215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prep/02-technical/cost-model · alodi-numbers.pdf</a:t>
            </a:r>
            <a:endParaRPr lang="en-US" sz="950" dirty="0"/>
          </a:p>
        </p:txBody>
      </p:sp>
      <p:sp>
        <p:nvSpPr>
          <p:cNvPr id="41" name="Ref rule 9"/>
          <p:cNvSpPr/>
          <p:nvPr/>
        </p:nvSpPr>
        <p:spPr>
          <a:xfrm>
            <a:off x="6172200" y="3794760"/>
            <a:ext cx="5440680" cy="0"/>
          </a:xfrm>
          <a:prstGeom prst="line">
            <a:avLst/>
          </a:prstGeom>
          <a:noFill/>
          <a:ln w="9525">
            <a:solidFill>
              <a:srgbClr val="D5D9E2"/>
            </a:solidFill>
            <a:prstDash val="solid"/>
          </a:ln>
        </p:spPr>
      </p:sp>
      <p:sp>
        <p:nvSpPr>
          <p:cNvPr id="42" name="Text 40"/>
          <p:cNvSpPr txBox="1"/>
          <p:nvPr/>
        </p:nvSpPr>
        <p:spPr>
          <a:xfrm>
            <a:off x="6172200" y="388620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[10]</a:t>
            </a:r>
            <a:endParaRPr lang="en-US" sz="1100" dirty="0"/>
          </a:p>
        </p:txBody>
      </p:sp>
      <p:sp>
        <p:nvSpPr>
          <p:cNvPr id="43" name="Text 41"/>
          <p:cNvSpPr txBox="1"/>
          <p:nvPr/>
        </p:nvSpPr>
        <p:spPr>
          <a:xfrm>
            <a:off x="6629400" y="386791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OpenAI: GPT-Live-1, GPT-6.1 Terra, Decisions API on GPT-6 Luna</a:t>
            </a:r>
            <a:endParaRPr lang="en-US" sz="1050" dirty="0"/>
          </a:p>
        </p:txBody>
      </p:sp>
      <p:sp>
        <p:nvSpPr>
          <p:cNvPr id="44" name="Text 42"/>
          <p:cNvSpPr txBox="1"/>
          <p:nvPr/>
        </p:nvSpPr>
        <p:spPr>
          <a:xfrm>
            <a:off x="6629400" y="414223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developers.openai.com · openai.com/index/decisions-api · checked 31 Oct 2026</a:t>
            </a:r>
            <a:endParaRPr lang="en-US" sz="950" dirty="0"/>
          </a:p>
        </p:txBody>
      </p:sp>
      <p:sp>
        <p:nvSpPr>
          <p:cNvPr id="45" name="Ref rule 10"/>
          <p:cNvSpPr/>
          <p:nvPr/>
        </p:nvSpPr>
        <p:spPr>
          <a:xfrm>
            <a:off x="6172200" y="4434840"/>
            <a:ext cx="5440680" cy="0"/>
          </a:xfrm>
          <a:prstGeom prst="line">
            <a:avLst/>
          </a:prstGeom>
          <a:noFill/>
          <a:ln w="9525">
            <a:solidFill>
              <a:srgbClr val="D5D9E2"/>
            </a:solidFill>
            <a:prstDash val="solid"/>
          </a:ln>
        </p:spPr>
      </p:sp>
      <p:sp>
        <p:nvSpPr>
          <p:cNvPr id="46" name="Text 44"/>
          <p:cNvSpPr txBox="1"/>
          <p:nvPr/>
        </p:nvSpPr>
        <p:spPr>
          <a:xfrm>
            <a:off x="6172200" y="452628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[11]</a:t>
            </a:r>
            <a:endParaRPr lang="en-US" sz="1100" dirty="0"/>
          </a:p>
        </p:txBody>
      </p:sp>
      <p:sp>
        <p:nvSpPr>
          <p:cNvPr id="47" name="Text 45"/>
          <p:cNvSpPr txBox="1"/>
          <p:nvPr/>
        </p:nvSpPr>
        <p:spPr>
          <a:xfrm>
            <a:off x="6629400" y="450799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Alodi PRD §2.3, §16.7 and §23: stack, output metrics and evaluation targets</a:t>
            </a:r>
            <a:endParaRPr lang="en-US" sz="1050" dirty="0"/>
          </a:p>
        </p:txBody>
      </p:sp>
      <p:sp>
        <p:nvSpPr>
          <p:cNvPr id="48" name="Text 46"/>
          <p:cNvSpPr txBox="1"/>
          <p:nvPr/>
        </p:nvSpPr>
        <p:spPr>
          <a:xfrm>
            <a:off x="6629400" y="478231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prep/02-technical/PRD.md</a:t>
            </a:r>
            <a:endParaRPr lang="en-US" sz="950" dirty="0"/>
          </a:p>
        </p:txBody>
      </p:sp>
      <p:sp>
        <p:nvSpPr>
          <p:cNvPr id="49" name="Ref rule 11"/>
          <p:cNvSpPr/>
          <p:nvPr/>
        </p:nvSpPr>
        <p:spPr>
          <a:xfrm>
            <a:off x="6172200" y="5074920"/>
            <a:ext cx="5440680" cy="0"/>
          </a:xfrm>
          <a:prstGeom prst="line">
            <a:avLst/>
          </a:prstGeom>
          <a:noFill/>
          <a:ln w="9525">
            <a:solidFill>
              <a:srgbClr val="D5D9E2"/>
            </a:solidFill>
            <a:prstDash val="solid"/>
          </a:ln>
        </p:spPr>
      </p:sp>
      <p:sp>
        <p:nvSpPr>
          <p:cNvPr id="50" name="Text 48"/>
          <p:cNvSpPr txBox="1"/>
          <p:nvPr/>
        </p:nvSpPr>
        <p:spPr>
          <a:xfrm>
            <a:off x="6172200" y="5166360"/>
            <a:ext cx="457200" cy="237744"/>
          </a:xfrm>
          <a:prstGeom prst="rect">
            <a:avLst/>
          </a:prstGeom>
          <a:noFill/>
          <a:ln/>
        </p:spPr>
        <p:txBody>
          <a:bodyPr wrap="square" lIns="0" tIns="0" rIns="0" bIns="0" rtlCol="0" anchor="ctr"/>
          <a:lstStyle/>
          <a:p>
            <a:pPr indent="0" marL="0">
              <a:buNone/>
            </a:pPr>
            <a:r>
              <a:rPr lang="en-US" sz="1100" b="1" dirty="0">
                <a:solidFill>
                  <a:srgbClr val="F05A00"/>
                </a:solidFill>
                <a:latin typeface="Arial" pitchFamily="34" charset="0"/>
                <a:ea typeface="Arial" pitchFamily="34" charset="-122"/>
                <a:cs typeface="Arial" pitchFamily="34" charset="-120"/>
              </a:rPr>
              <a:t>[12]</a:t>
            </a:r>
            <a:endParaRPr lang="en-US" sz="1100" dirty="0"/>
          </a:p>
        </p:txBody>
      </p:sp>
      <p:sp>
        <p:nvSpPr>
          <p:cNvPr id="51" name="Text 49"/>
          <p:cNvSpPr txBox="1"/>
          <p:nvPr/>
        </p:nvSpPr>
        <p:spPr>
          <a:xfrm>
            <a:off x="6629400" y="5148072"/>
            <a:ext cx="4983480" cy="274320"/>
          </a:xfrm>
          <a:prstGeom prst="rect">
            <a:avLst/>
          </a:prstGeom>
          <a:noFill/>
          <a:ln/>
        </p:spPr>
        <p:txBody>
          <a:bodyPr wrap="square" lIns="0" tIns="0" rIns="0" bIns="0" rtlCol="0" anchor="ctr"/>
          <a:lstStyle/>
          <a:p>
            <a:pPr indent="0" marL="0">
              <a:buNone/>
            </a:pPr>
            <a:r>
              <a:rPr lang="en-US" sz="1050" dirty="0">
                <a:solidFill>
                  <a:srgbClr val="121A2C"/>
                </a:solidFill>
                <a:latin typeface="Arial" pitchFamily="34" charset="0"/>
                <a:ea typeface="Arial" pitchFamily="34" charset="-122"/>
                <a:cs typeface="Arial" pitchFamily="34" charset="-120"/>
              </a:rPr>
              <a:t>Alodi PRD §28: release plan</a:t>
            </a:r>
            <a:endParaRPr lang="en-US" sz="1050" dirty="0"/>
          </a:p>
        </p:txBody>
      </p:sp>
      <p:sp>
        <p:nvSpPr>
          <p:cNvPr id="52" name="Text 50"/>
          <p:cNvSpPr txBox="1"/>
          <p:nvPr/>
        </p:nvSpPr>
        <p:spPr>
          <a:xfrm>
            <a:off x="6629400" y="5422392"/>
            <a:ext cx="4983480" cy="219456"/>
          </a:xfrm>
          <a:prstGeom prst="rect">
            <a:avLst/>
          </a:prstGeom>
          <a:noFill/>
          <a:ln/>
        </p:spPr>
        <p:txBody>
          <a:bodyPr wrap="square" lIns="0" tIns="0" rIns="0" bIns="0" rtlCol="0" anchor="ctr"/>
          <a:lstStyle/>
          <a:p>
            <a:pPr indent="0" marL="0">
              <a:buNone/>
            </a:pPr>
            <a:r>
              <a:rPr lang="en-US" sz="950" dirty="0">
                <a:solidFill>
                  <a:srgbClr val="3A4358"/>
                </a:solidFill>
                <a:latin typeface="Arial" pitchFamily="34" charset="0"/>
                <a:ea typeface="Arial" pitchFamily="34" charset="-122"/>
                <a:cs typeface="Arial" pitchFamily="34" charset="-120"/>
              </a:rPr>
              <a:t>prep/02-technical/PRD.md</a:t>
            </a:r>
            <a:endParaRPr lang="en-US" sz="950" dirty="0"/>
          </a:p>
        </p:txBody>
      </p:sp>
      <p:sp>
        <p:nvSpPr>
          <p:cNvPr id="53" name="Text 51"/>
          <p:cNvSpPr txBox="1"/>
          <p:nvPr/>
        </p:nvSpPr>
        <p:spPr>
          <a:xfrm>
            <a:off x="548640" y="5852160"/>
            <a:ext cx="1828800" cy="219456"/>
          </a:xfrm>
          <a:prstGeom prst="rect">
            <a:avLst/>
          </a:prstGeom>
          <a:noFill/>
          <a:ln/>
        </p:spPr>
        <p:txBody>
          <a:bodyPr wrap="square" lIns="0" tIns="0" rIns="0" bIns="0" rtlCol="0" anchor="ctr"/>
          <a:lstStyle/>
          <a:p>
            <a:pPr indent="0" marL="0">
              <a:buNone/>
            </a:pPr>
            <a:r>
              <a:rPr lang="en-US" sz="950" spc="150" kern="0" dirty="0">
                <a:solidFill>
                  <a:srgbClr val="3A4358"/>
                </a:solidFill>
                <a:latin typeface="Arial" pitchFamily="34" charset="0"/>
                <a:ea typeface="Arial" pitchFamily="34" charset="-122"/>
                <a:cs typeface="Arial" pitchFamily="34" charset="-120"/>
              </a:rPr>
              <a:t>PHOTOS</a:t>
            </a:r>
            <a:endParaRPr lang="en-US" sz="950" dirty="0"/>
          </a:p>
        </p:txBody>
      </p:sp>
      <p:sp>
        <p:nvSpPr>
          <p:cNvPr id="54" name="Text 52"/>
          <p:cNvSpPr txBox="1"/>
          <p:nvPr/>
        </p:nvSpPr>
        <p:spPr>
          <a:xfrm>
            <a:off x="1371600" y="5824728"/>
            <a:ext cx="10241280" cy="274320"/>
          </a:xfrm>
          <a:prstGeom prst="rect">
            <a:avLst/>
          </a:prstGeom>
          <a:noFill/>
          <a:ln/>
        </p:spPr>
        <p:txBody>
          <a:bodyPr wrap="square" lIns="0" tIns="0" rIns="0" bIns="0" rtlCol="0" anchor="ctr"/>
          <a:lstStyle/>
          <a:p>
            <a:pPr indent="0" marL="0">
              <a:buNone/>
            </a:pPr>
            <a:r>
              <a:rPr lang="en-US" sz="1000" dirty="0">
                <a:solidFill>
                  <a:srgbClr val="3A4358"/>
                </a:solidFill>
                <a:latin typeface="Arial" pitchFamily="34" charset="0"/>
                <a:ea typeface="Arial" pitchFamily="34" charset="-122"/>
                <a:cs typeface="Arial" pitchFamily="34" charset="-120"/>
              </a:rPr>
              <a:t>frank mckenna (cover), Lemic302 (slides 3, 14), Samson Vowles (slide 4), Tirza van Dijk (slide 12): CC0 via Wikimedia Commons. SPX hub (slide 5): Team Develarper field visit.</a:t>
            </a:r>
            <a:endParaRPr lang="en-US" sz="1000" dirty="0"/>
          </a:p>
        </p:txBody>
      </p:sp>
      <p:sp>
        <p:nvSpPr>
          <p:cNvPr id="55" name="Text 53"/>
          <p:cNvSpPr txBox="1"/>
          <p:nvPr/>
        </p:nvSpPr>
        <p:spPr>
          <a:xfrm>
            <a:off x="10728655" y="6400800"/>
            <a:ext cx="914400" cy="219456"/>
          </a:xfrm>
          <a:prstGeom prst="rect">
            <a:avLst/>
          </a:prstGeom>
          <a:noFill/>
          <a:ln/>
        </p:spPr>
        <p:txBody>
          <a:bodyPr wrap="square" lIns="0" tIns="0" rIns="0" bIns="0" rtlCol="0" anchor="ctr"/>
          <a:lstStyle/>
          <a:p>
            <a:pPr algn="r" indent="0" marL="0">
              <a:buNone/>
            </a:pPr>
            <a:r>
              <a:rPr lang="en-US" sz="900" spc="100" kern="0" dirty="0">
                <a:solidFill>
                  <a:srgbClr val="3A4358"/>
                </a:solidFill>
                <a:latin typeface="Arial" pitchFamily="34" charset="0"/>
                <a:ea typeface="Arial" pitchFamily="34" charset="-122"/>
                <a:cs typeface="Arial" pitchFamily="34" charset="-120"/>
              </a:rPr>
              <a:t>15 / 15</a:t>
            </a:r>
            <a:endParaRPr lang="en-US" sz="900" dirty="0"/>
          </a:p>
        </p:txBody>
      </p:sp>
    </p:spTree>
  </p:cSld>
  <p:clrMapOvr>
    <a:masterClrMapping/>
  </p:clrMapOvr>
</p:sld>
</file>

<file path=ppt/theme/theme1.xml><?xml version="1.0" encoding="utf-8"?>
<a:theme xmlns:a="http://schemas.openxmlformats.org/drawingml/2006/main" name="Alodi">
  <a:themeElements>
    <a:clrScheme name="Alodi">
      <a:dk1>
        <a:srgbClr val="121A2C"/>
      </a:dk1>
      <a:lt1>
        <a:srgbClr val="FFFFFF"/>
      </a:lt1>
      <a:dk2>
        <a:srgbClr val="1F2A44"/>
      </a:dk2>
      <a:lt2>
        <a:srgbClr val="F7F7F8"/>
      </a:lt2>
      <a:accent1>
        <a:srgbClr val="F05A00"/>
      </a:accent1>
      <a:accent2>
        <a:srgbClr val="FF9D66"/>
      </a:accent2>
      <a:accent3>
        <a:srgbClr val="5B6275"/>
      </a:accent3>
      <a:accent4>
        <a:srgbClr val="C3C7D0"/>
      </a:accent4>
      <a:accent5>
        <a:srgbClr val="E6E8EC"/>
      </a:accent5>
      <a:accent6>
        <a:srgbClr val="0E8A6C"/>
      </a:accent6>
      <a:hlink>
        <a:srgbClr val="F05A00"/>
      </a:hlink>
      <a:folHlink>
        <a:srgbClr val="C94B00"/>
      </a:folHlink>
    </a:clrScheme>
    <a:fontScheme name="Alod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Team Develarper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Alodi · Make the second drop land</dc:title>
  <dc:subject>PptxGenJS Presentation</dc:subject>
  <dc:creator>Team Develarper</dc:creator>
  <cp:lastModifiedBy>Team Develarper</cp:lastModifiedBy>
  <cp:revision>1</cp:revision>
  <dcterms:created xsi:type="dcterms:W3CDTF">2026-10-31T09:04:35Z</dcterms:created>
  <dcterms:modified xsi:type="dcterms:W3CDTF">2026-10-31T09:04:35Z</dcterms:modified>
</cp:coreProperties>
</file>