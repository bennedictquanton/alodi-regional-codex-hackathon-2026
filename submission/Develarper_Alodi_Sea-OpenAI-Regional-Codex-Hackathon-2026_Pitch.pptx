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ee85dd-6379-306a-fb3a-c18942872f94}">
          <p14:sldIdLst>
            <p14:sldId id="256"/>
            <p14:sldId id="257"/>
            <p14:sldId id="258"/>
          </p14:sldIdLst>
        </p14:section>
        <p14:section name="Problem" id="{62d96a8c-fbee-fb6a-9708-463f48907637}">
          <p14:sldIdLst>
            <p14:sldId id="259"/>
            <p14:sldId id="260"/>
            <p14:sldId id="261"/>
          </p14:sldIdLst>
        </p14:section>
        <p14:section name="Alodi" id="{59044005-9eb0-adf2-5077-34fd5dac4288}">
          <p14:sldIdLst>
            <p14:sldId id="262"/>
            <p14:sldId id="263"/>
            <p14:sldId id="264"/>
          </p14:sldIdLst>
        </p14:section>
        <p14:section name="Technology" id="{164420d9-3b5a-f16d-cb4d-9d5ce2b446fa}">
          <p14:sldIdLst>
            <p14:sldId id="265"/>
            <p14:sldId id="266"/>
          </p14:sldIdLst>
        </p14:section>
        <p14:section name="Close" id="{a522fab0-12e7-3f36-8253-9adacdd79700}">
          <p14:sldIdLst>
            <p14:sldId id="267"/>
            <p14:sldId id="268"/>
            <p14:sldId id="269"/>
          </p14:sldIdLst>
        </p14:section>
        <p14:section name="Appendix" id="{1f7a3928-7234-fa17-efe5-63b2529677e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Loss a month (₫M)</c:v>
                </c:pt>
              </c:strCache>
            </c:strRef>
          </c:tx>
          <c:spPr>
            <a:solidFill>
              <a:schemeClr val="accent1"/>
            </a:solidFill>
            <a:ln w="9525" cap="flat">
              <a:solidFill>
                <a:srgbClr val="F9F9F9"/>
              </a:solidFill>
              <a:prstDash val="solid"/>
              <a:round/>
            </a:ln>
            <a:effectLst/>
          </c:spPr>
          <c:dPt>
            <c:idx val="0"/>
            <c:bubble3D val="0"/>
            <c:spPr>
              <a:solidFill>
                <a:srgbClr val="F05A00"/>
              </a:solidFill>
              <a:ln w="19050" cap="flat">
                <a:solidFill>
                  <a:srgbClr val="FFF1E7"/>
                </a:solidFill>
                <a:prstDash val="solid"/>
                <a:round/>
              </a:ln>
              <a:effectLst/>
            </c:spPr>
          </c:dPt>
          <c:dPt>
            <c:idx val="1"/>
            <c:bubble3D val="0"/>
            <c:spPr>
              <a:solidFill>
                <a:srgbClr val="1F2A44"/>
              </a:solidFill>
              <a:ln w="19050" cap="flat">
                <a:solidFill>
                  <a:srgbClr val="FFF1E7"/>
                </a:solidFill>
                <a:prstDash val="solid"/>
                <a:round/>
              </a:ln>
              <a:effectLst/>
            </c:spPr>
          </c:dPt>
          <c:dPt>
            <c:idx val="2"/>
            <c:bubble3D val="0"/>
            <c:spPr>
              <a:solidFill>
                <a:srgbClr val="7D8FB5"/>
              </a:solidFill>
              <a:ln w="19050" cap="flat">
                <a:solidFill>
                  <a:srgbClr val="FFF1E7"/>
                </a:solidFill>
                <a:prstDash val="solid"/>
                <a:round/>
              </a:ln>
              <a:effectLst/>
            </c:spPr>
          </c:dPt>
          <c:dPt>
            <c:idx val="3"/>
            <c:bubble3D val="0"/>
            <c:spPr>
              <a:solidFill>
                <a:srgbClr val="C9D4EA"/>
              </a:solidFill>
              <a:ln w="19050" cap="flat">
                <a:solidFill>
                  <a:srgbClr val="FFF1E7"/>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Return fees</c:v>
                </c:pt>
                <c:pt idx="1">
                  <c:v>Redelivery pay</c:v>
                </c:pt>
                <c:pt idx="2">
                  <c:v>CS call-backs</c:v>
                </c:pt>
                <c:pt idx="3">
                  <c:v>Door time</c:v>
                </c:pt>
              </c:strCache>
            </c:strRef>
          </c:cat>
          <c:val>
            <c:numRef>
              <c:f>Sheet1!$B$2:$B$5</c:f>
              <c:numCache>
                <c:ptCount val="4"/>
                <c:pt idx="0">
                  <c:v>288</c:v>
                </c:pt>
                <c:pt idx="1">
                  <c:v>101</c:v>
                </c:pt>
                <c:pt idx="2">
                  <c:v>45</c:v>
                </c:pt>
                <c:pt idx="3">
                  <c:v>39</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Lost a month (₫M)</c:v>
                </c:pt>
              </c:strCache>
            </c:strRef>
          </c:tx>
          <c:spPr>
            <a:solidFill>
              <a:srgbClr val="1F2A44"/>
            </a:solidFill>
            <a:effectLst/>
          </c:spPr>
          <c:invertIfNegative val="0"/>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dPt>
            <c:idx val="0"/>
            <c:invertIfNegative val="0"/>
            <c:bubble3D val="0"/>
            <c:spPr>
              <a:solidFill>
                <a:srgbClr val="1F2A44"/>
              </a:solidFill>
              <a:effectLst/>
            </c:spPr>
          </c:dPt>
          <c:dPt>
            <c:idx val="1"/>
            <c:invertIfNegative val="0"/>
            <c:bubble3D val="0"/>
            <c:spPr>
              <a:solidFill>
                <a:srgbClr val="F05A00"/>
              </a:solidFill>
              <a:effectLst/>
            </c:spPr>
          </c:dPt>
          <c:cat>
            <c:multiLvlStrRef>
              <c:f>Sheet1!$A$2:$A$3</c:f>
              <c:multiLvlStrCache>
                <c:ptCount val="2"/>
                <c:lvl>
                  <c:pt idx="0">
                    <c:v>Lost today</c:v>
                  </c:pt>
                  <c:pt idx="1">
                    <c:v>With Alodi</c:v>
                  </c:pt>
                </c:lvl>
              </c:multiLvlStrCache>
            </c:multiLvlStrRef>
          </c:cat>
          <c:val>
            <c:numRef>
              <c:f>Sheet1!$B$2:$B$3</c:f>
              <c:numCache>
                <c:formatCode>General</c:formatCode>
                <c:ptCount val="2"/>
                <c:pt idx="0">
                  <c:v>473</c:v>
                </c:pt>
                <c:pt idx="1">
                  <c:v>286</c:v>
                </c:pt>
              </c:numCache>
            </c:numRef>
          </c:val>
        </c:ser>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B40"/>
                </a:solidFill>
                <a:latin typeface="Arial"/>
              </a:defRPr>
            </a:pPr>
            <a:endParaRPr lang="en-US"/>
          </a:p>
        </c:txPr>
        <c:crossAx val="2094734552"/>
        <c:crosses val="autoZero"/>
        <c:auto val="1"/>
        <c:lblAlgn val="ctr"/>
        <c:noMultiLvlLbl val="1"/>
      </c:catAx>
      <c:valAx>
        <c:axId val="2094734552"/>
        <c:scaling>
          <c:orientation val="minMax"/>
          <c:max val="5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Answer to card</c:v>
                  </c:pt>
                </c:lvl>
              </c:multiLvlStrCache>
            </c:multiLvlStrRef>
          </c:cat>
          <c:val>
            <c:numRef>
              <c:f>Sheet1!$B$2:$B$2</c:f>
              <c:numCache>
                <c:formatCode>General</c:formatCode>
                <c:ptCount val="1"/>
                <c:pt idx="0">
                  <c:v>10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b"/>
        <c:numFmt formatCode="0&quot; s&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222B40"/>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20-second skit starts by itself when this slide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shipper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shipper,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the agent collects it inside the carrier's rules and hands it to the next shipper. Anything about money or a buyer's record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film starts by itself when this slide opens and runs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then switch to the live screen: the shipper's phone drives it, and the customer's phone, the dashboard and the agent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API bill for one area is about ₫7.2M a month in the cost model: GPT-Live-1 ₫5.23M, Terra ₫1.50M, Luna ₫0.47M.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For the carrier: about ₫187M saved a month in one area, projected at a best-in-class rescue rate. For the people: under ten seconds from the buyer's answer to the card on the shipper's phone, our target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private/tmp/claude-503/-Users-davark-Downloads-Everything-Github-Alodi-Regional-Codex-Hackathon-2026/91e569a8-486f-4c0b-b683-a4991468f039/scratchpad/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hyperlink" Target="https://alodi-ai-system.vercel.app"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8.png"/><Relationship Id="rId11" Type="http://schemas.openxmlformats.org/officeDocument/2006/relationships/image" Target="../media/image-1-10.png"/><Relationship Id="rId12" Type="http://schemas.openxmlformats.org/officeDocument/2006/relationships/slideLayout" Target="../slideLayouts/slideLayout4.xm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image" Target="../media/image-5-27.png"/><Relationship Id="rId28" Type="http://schemas.openxmlformats.org/officeDocument/2006/relationships/image" Target="../media/image-5-3.png"/><Relationship Id="rId29" Type="http://schemas.openxmlformats.org/officeDocument/2006/relationships/image" Target="../media/image-5-29.png"/><Relationship Id="rId30" Type="http://schemas.openxmlformats.org/officeDocument/2006/relationships/image" Target="../media/image-5-30.png"/><Relationship Id="rId31" Type="http://schemas.openxmlformats.org/officeDocument/2006/relationships/image" Target="../media/image-5-31.png"/><Relationship Id="rId32" Type="http://schemas.openxmlformats.org/officeDocument/2006/relationships/image" Target="../media/image-5-32.png"/><Relationship Id="rId33" Type="http://schemas.openxmlformats.org/officeDocument/2006/relationships/image" Target="../media/image-5-33.png"/><Relationship Id="rId34" Type="http://schemas.openxmlformats.org/officeDocument/2006/relationships/image" Target="../media/image-5-34.png"/><Relationship Id="rId35" Type="http://schemas.openxmlformats.org/officeDocument/2006/relationships/image" Target="../media/image-5-35.png"/><Relationship Id="rId36" Type="http://schemas.openxmlformats.org/officeDocument/2006/relationships/image" Target="../media/image-5-36.png"/><Relationship Id="rId37" Type="http://schemas.openxmlformats.org/officeDocument/2006/relationships/image" Target="../media/image-5-37.png"/><Relationship Id="rId38" Type="http://schemas.openxmlformats.org/officeDocument/2006/relationships/image" Target="../media/image-5-38.png"/><Relationship Id="rId39" Type="http://schemas.openxmlformats.org/officeDocument/2006/relationships/image" Target="../media/image-5-39.png"/><Relationship Id="rId40" Type="http://schemas.openxmlformats.org/officeDocument/2006/relationships/image" Target="../media/image-5-40.png"/><Relationship Id="rId41" Type="http://schemas.openxmlformats.org/officeDocument/2006/relationships/image" Target="../media/image-5-41.png"/><Relationship Id="rId42" Type="http://schemas.openxmlformats.org/officeDocument/2006/relationships/image" Target="../media/image-5-42.png"/><Relationship Id="rId43" Type="http://schemas.openxmlformats.org/officeDocument/2006/relationships/image" Target="../media/image-5-43.png"/><Relationship Id="rId44" Type="http://schemas.openxmlformats.org/officeDocument/2006/relationships/image" Target="../media/image-5-44.png"/><Relationship Id="rId45" Type="http://schemas.openxmlformats.org/officeDocument/2006/relationships/image" Target="../media/image-5-45.png"/><Relationship Id="rId46" Type="http://schemas.openxmlformats.org/officeDocument/2006/relationships/image" Target="../media/image-5-46.png"/><Relationship Id="rId47" Type="http://schemas.openxmlformats.org/officeDocument/2006/relationships/image" Target="../media/image-5-47.png"/><Relationship Id="rId48" Type="http://schemas.openxmlformats.org/officeDocument/2006/relationships/image" Target="../media/image-5-48.png"/><Relationship Id="rId49" Type="http://schemas.openxmlformats.org/officeDocument/2006/relationships/slideLayout" Target="../slideLayouts/slideLayout2.xml"/><Relationship Id="rId5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1645920"/>
            <a:ext cx="5577840" cy="365760"/>
          </a:xfrm>
          <a:prstGeom prst="rect">
            <a:avLst/>
          </a:prstGeom>
          <a:noFill/>
          <a:ln/>
        </p:spPr>
        <p:txBody>
          <a:bodyPr wrap="square" lIns="0" tIns="0" rIns="0" bIns="0" rtlCol="0" anchor="ctr"/>
          <a:lstStyle/>
          <a:p>
            <a:pPr indent="0" marL="0">
              <a:buNone/>
            </a:pPr>
            <a:r>
              <a:rPr lang="en-US" sz="1300" b="1" spc="50" kern="0" dirty="0">
                <a:solidFill>
                  <a:srgbClr val="F05A00"/>
                </a:solidFill>
                <a:latin typeface="Arial" pitchFamily="34" charset="0"/>
                <a:ea typeface="Arial" pitchFamily="34" charset="-122"/>
                <a:cs typeface="Arial" pitchFamily="34" charset="-120"/>
              </a:rPr>
              <a:t>SEA × OPENAI REGIONAL CODEX HACKATHON · OCTOBER 2026</a:t>
            </a:r>
            <a:endParaRPr lang="en-US" sz="1300" dirty="0"/>
          </a:p>
        </p:txBody>
      </p:sp>
      <p:sp>
        <p:nvSpPr>
          <p:cNvPr id="4" name="Text 1"/>
          <p:cNvSpPr txBox="1"/>
          <p:nvPr/>
        </p:nvSpPr>
        <p:spPr>
          <a:xfrm>
            <a:off x="548640" y="21488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sp>
        <p:nvSpPr>
          <p:cNvPr id="5" name="Text 2"/>
          <p:cNvSpPr txBox="1"/>
          <p:nvPr/>
        </p:nvSpPr>
        <p:spPr>
          <a:xfrm>
            <a:off x="548640" y="402336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121A2C"/>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3A4358"/>
                </a:solidFill>
                <a:latin typeface="Arial" pitchFamily="34" charset="0"/>
                <a:ea typeface="Arial" pitchFamily="34" charset="-122"/>
                <a:cs typeface="Arial" pitchFamily="34" charset="-120"/>
              </a:rPr>
              <a:t>The shipper taps once; Alodi chats, calls and hands the next shipper when, where and who.</a:t>
            </a:r>
            <a:endParaRPr lang="en-US" sz="1400" dirty="0"/>
          </a:p>
        </p:txBody>
      </p:sp>
      <p:pic>
        <p:nvPicPr>
          <p:cNvPr id="6" name="Avatar 1" descr="preencoded.png">    </p:cNvPr>
          <p:cNvPicPr>
            <a:picLocks noChangeAspect="1"/>
          </p:cNvPicPr>
          <p:nvPr/>
        </p:nvPicPr>
        <p:blipFill>
          <a:blip r:embed="rId2"/>
          <a:stretch>
            <a:fillRect/>
          </a:stretch>
        </p:blipFill>
        <p:spPr>
          <a:xfrm>
            <a:off x="548640" y="5760720"/>
            <a:ext cx="420624" cy="420624"/>
          </a:xfrm>
          <a:prstGeom prst="rect">
            <a:avLst/>
          </a:prstGeom>
        </p:spPr>
      </p:pic>
      <p:pic>
        <p:nvPicPr>
          <p:cNvPr id="7" name="Avatar 2" descr="preencoded.png">    </p:cNvPr>
          <p:cNvPicPr>
            <a:picLocks noChangeAspect="1"/>
          </p:cNvPicPr>
          <p:nvPr/>
        </p:nvPicPr>
        <p:blipFill>
          <a:blip r:embed="rId3"/>
          <a:stretch>
            <a:fillRect/>
          </a:stretch>
        </p:blipFill>
        <p:spPr>
          <a:xfrm>
            <a:off x="859536" y="5760720"/>
            <a:ext cx="420624" cy="420624"/>
          </a:xfrm>
          <a:prstGeom prst="rect">
            <a:avLst/>
          </a:prstGeom>
        </p:spPr>
      </p:pic>
      <p:pic>
        <p:nvPicPr>
          <p:cNvPr id="8" name="Avatar 3" descr="preencoded.png">    </p:cNvPr>
          <p:cNvPicPr>
            <a:picLocks noChangeAspect="1"/>
          </p:cNvPicPr>
          <p:nvPr/>
        </p:nvPicPr>
        <p:blipFill>
          <a:blip r:embed="rId4"/>
          <a:stretch>
            <a:fillRect/>
          </a:stretch>
        </p:blipFill>
        <p:spPr>
          <a:xfrm>
            <a:off x="1170432" y="5760720"/>
            <a:ext cx="420624" cy="420624"/>
          </a:xfrm>
          <a:prstGeom prst="rect">
            <a:avLst/>
          </a:prstGeom>
        </p:spPr>
      </p:pic>
      <p:pic>
        <p:nvPicPr>
          <p:cNvPr id="9" name="Avatar 4" descr="preencoded.png">    </p:cNvPr>
          <p:cNvPicPr>
            <a:picLocks noChangeAspect="1"/>
          </p:cNvPicPr>
          <p:nvPr/>
        </p:nvPicPr>
        <p:blipFill>
          <a:blip r:embed="rId5"/>
          <a:stretch>
            <a:fillRect/>
          </a:stretch>
        </p:blipFill>
        <p:spPr>
          <a:xfrm>
            <a:off x="1481328" y="5760720"/>
            <a:ext cx="420624" cy="420624"/>
          </a:xfrm>
          <a:prstGeom prst="rect">
            <a:avLst/>
          </a:prstGeom>
        </p:spPr>
      </p:pic>
      <p:sp>
        <p:nvSpPr>
          <p:cNvPr id="10" name="Text 3"/>
          <p:cNvSpPr txBox="1"/>
          <p:nvPr/>
        </p:nvSpPr>
        <p:spPr>
          <a:xfrm>
            <a:off x="2057400" y="5687568"/>
            <a:ext cx="2194560" cy="566928"/>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Team Develarper</a:t>
            </a:r>
            <a:endParaRPr lang="en-US" sz="1500" dirty="0"/>
          </a:p>
          <a:p>
            <a:pPr indent="0" marL="0">
              <a:buNone/>
            </a:pPr>
            <a:r>
              <a:rPr lang="en-US" sz="1100" dirty="0">
                <a:solidFill>
                  <a:srgbClr val="3A4358"/>
                </a:solidFill>
                <a:latin typeface="Arial" pitchFamily="34" charset="0"/>
                <a:ea typeface="Arial" pitchFamily="34" charset="-122"/>
                <a:cs typeface="Arial" pitchFamily="34" charset="-120"/>
              </a:rPr>
              <a:t>Built with OpenAI and Codex</a:t>
            </a:r>
            <a:endParaRPr lang="en-US" sz="1500" dirty="0"/>
          </a:p>
        </p:txBody>
      </p:sp>
      <p:pic>
        <p:nvPicPr>
          <p:cNvPr id="11" name="QR code" descr="QR code to alodi-ai-system.vercel.app">
            <a:hlinkClick r:id="rId7" tooltip=""/>
          </p:cNvPr>
          <p:cNvPicPr>
            <a:picLocks noChangeAspect="1"/>
          </p:cNvPicPr>
          <p:nvPr/>
        </p:nvPicPr>
        <p:blipFill>
          <a:blip r:embed="rId6"/>
          <a:stretch>
            <a:fillRect/>
          </a:stretch>
        </p:blipFill>
        <p:spPr>
          <a:xfrm>
            <a:off x="4343400" y="5513832"/>
            <a:ext cx="896112" cy="896112"/>
          </a:xfrm>
          <a:prstGeom prst="rect">
            <a:avLst/>
          </a:prstGeom>
        </p:spPr>
      </p:pic>
      <p:sp>
        <p:nvSpPr>
          <p:cNvPr id="12" name="Text 4"/>
          <p:cNvSpPr txBox="1"/>
          <p:nvPr/>
        </p:nvSpPr>
        <p:spPr>
          <a:xfrm>
            <a:off x="5303520" y="5687568"/>
            <a:ext cx="777240" cy="566928"/>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Scan to try the demo</a:t>
            </a:r>
            <a:endParaRPr lang="en-US" sz="1050" dirty="0"/>
          </a:p>
        </p:txBody>
      </p:sp>
      <p:pic>
        <p:nvPicPr>
          <p:cNvPr id="13" name="Cover photo" descr="Riders in evening traffic, Ho Chi Minh City">    </p:cNvPr>
          <p:cNvPicPr>
            <a:picLocks noChangeAspect="1"/>
          </p:cNvPicPr>
          <p:nvPr/>
        </p:nvPicPr>
        <p:blipFill>
          <a:blip r:embed="rId8"/>
          <a:stretch>
            <a:fillRect/>
          </a:stretch>
        </p:blipFill>
        <p:spPr>
          <a:xfrm>
            <a:off x="6199632" y="457200"/>
            <a:ext cx="5440680" cy="5943600"/>
          </a:xfrm>
          <a:prstGeom prst="rect">
            <a:avLst/>
          </a:prstGeom>
        </p:spPr>
      </p:pic>
      <p:sp>
        <p:nvSpPr>
          <p:cNvPr id="14" name="Rescue card"/>
          <p:cNvSpPr/>
          <p:nvPr/>
        </p:nvSpPr>
        <p:spPr>
          <a:xfrm>
            <a:off x="6583680" y="3840480"/>
            <a:ext cx="374904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5" name="Text 6"/>
          <p:cNvSpPr txBox="1"/>
          <p:nvPr/>
        </p:nvSpPr>
        <p:spPr>
          <a:xfrm>
            <a:off x="6812280" y="4023360"/>
            <a:ext cx="329184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RESCUE · SPXVN0123456789</a:t>
            </a:r>
            <a:endParaRPr lang="en-US" sz="800" dirty="0"/>
          </a:p>
        </p:txBody>
      </p:sp>
      <p:sp>
        <p:nvSpPr>
          <p:cNvPr id="16" name="Row rule 0"/>
          <p:cNvSpPr/>
          <p:nvPr/>
        </p:nvSpPr>
        <p:spPr>
          <a:xfrm>
            <a:off x="6812280" y="4306824"/>
            <a:ext cx="3291840" cy="0"/>
          </a:xfrm>
          <a:prstGeom prst="line">
            <a:avLst/>
          </a:prstGeom>
          <a:noFill/>
          <a:ln w="6350">
            <a:solidFill>
              <a:srgbClr val="D5D9E2"/>
            </a:solidFill>
            <a:prstDash val="solid"/>
          </a:ln>
        </p:spPr>
      </p:sp>
      <p:pic>
        <p:nvPicPr>
          <p:cNvPr id="17" name="Row icon 0" descr="/private/tmp/claude-503/-Users-davark-Downloads-Everything-Github-Alodi-Regional-Codex-Hackathon-2026/91e569a8-486f-4c0b-b683-a4991468f039/scratchpad/deck/assets/mark-dot-navy.png">    </p:cNvPr>
          <p:cNvPicPr>
            <a:picLocks noChangeAspect="1"/>
          </p:cNvPicPr>
          <p:nvPr/>
        </p:nvPicPr>
        <p:blipFill>
          <a:blip r:embed="rId9"/>
          <a:stretch>
            <a:fillRect/>
          </a:stretch>
        </p:blipFill>
        <p:spPr>
          <a:xfrm>
            <a:off x="6812280" y="4407408"/>
            <a:ext cx="219456" cy="219456"/>
          </a:xfrm>
          <a:prstGeom prst="rect">
            <a:avLst/>
          </a:prstGeom>
        </p:spPr>
      </p:pic>
      <p:sp>
        <p:nvSpPr>
          <p:cNvPr id="18" name="Text 8"/>
          <p:cNvSpPr txBox="1"/>
          <p:nvPr/>
        </p:nvSpPr>
        <p:spPr>
          <a:xfrm>
            <a:off x="7132320" y="438912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Shipper taps · No answer</a:t>
            </a:r>
            <a:endParaRPr lang="en-US" sz="1200" dirty="0"/>
          </a:p>
        </p:txBody>
      </p:sp>
      <p:sp>
        <p:nvSpPr>
          <p:cNvPr id="19" name="Text 9"/>
          <p:cNvSpPr txBox="1"/>
          <p:nvPr/>
        </p:nvSpPr>
        <p:spPr>
          <a:xfrm>
            <a:off x="9555480" y="440740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0" name="Row rule 1"/>
          <p:cNvSpPr/>
          <p:nvPr/>
        </p:nvSpPr>
        <p:spPr>
          <a:xfrm>
            <a:off x="6812280" y="4809744"/>
            <a:ext cx="3291840" cy="0"/>
          </a:xfrm>
          <a:prstGeom prst="line">
            <a:avLst/>
          </a:prstGeom>
          <a:noFill/>
          <a:ln w="6350">
            <a:solidFill>
              <a:srgbClr val="D5D9E2"/>
            </a:solidFill>
            <a:prstDash val="solid"/>
          </a:ln>
        </p:spPr>
      </p:sp>
      <p:pic>
        <p:nvPicPr>
          <p:cNvPr id="21" name="Row icon 1" descr="/private/tmp/claude-503/-Users-davark-Downloads-Everything-Github-Alodi-Regional-Codex-Hackathon-2026/91e569a8-486f-4c0b-b683-a4991468f039/scratchpad/deck/assets/mark-dot-navy.png">    </p:cNvPr>
          <p:cNvPicPr>
            <a:picLocks noChangeAspect="1"/>
          </p:cNvPicPr>
          <p:nvPr/>
        </p:nvPicPr>
        <p:blipFill>
          <a:blip r:embed="rId10"/>
          <a:stretch>
            <a:fillRect/>
          </a:stretch>
        </p:blipFill>
        <p:spPr>
          <a:xfrm>
            <a:off x="6812280" y="4910328"/>
            <a:ext cx="219456" cy="219456"/>
          </a:xfrm>
          <a:prstGeom prst="rect">
            <a:avLst/>
          </a:prstGeom>
        </p:spPr>
      </p:pic>
      <p:sp>
        <p:nvSpPr>
          <p:cNvPr id="22" name="Text 11"/>
          <p:cNvSpPr txBox="1"/>
          <p:nvPr/>
        </p:nvSpPr>
        <p:spPr>
          <a:xfrm>
            <a:off x="7132320" y="489204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to the buyer</a:t>
            </a:r>
            <a:endParaRPr lang="en-US" sz="1200" dirty="0"/>
          </a:p>
        </p:txBody>
      </p:sp>
      <p:sp>
        <p:nvSpPr>
          <p:cNvPr id="23" name="Text 12"/>
          <p:cNvSpPr txBox="1"/>
          <p:nvPr/>
        </p:nvSpPr>
        <p:spPr>
          <a:xfrm>
            <a:off x="9555480" y="491032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4" name="Row rule 2"/>
          <p:cNvSpPr/>
          <p:nvPr/>
        </p:nvSpPr>
        <p:spPr>
          <a:xfrm>
            <a:off x="6812280" y="5312664"/>
            <a:ext cx="3291840" cy="0"/>
          </a:xfrm>
          <a:prstGeom prst="line">
            <a:avLst/>
          </a:prstGeom>
          <a:noFill/>
          <a:ln w="6350">
            <a:solidFill>
              <a:srgbClr val="D5D9E2"/>
            </a:solidFill>
            <a:prstDash val="solid"/>
          </a:ln>
        </p:spPr>
      </p:sp>
      <p:pic>
        <p:nvPicPr>
          <p:cNvPr id="25" name="Row icon 2" descr="/private/tmp/claude-503/-Users-davark-Downloads-Everything-Github-Alodi-Regional-Codex-Hackathon-2026/91e569a8-486f-4c0b-b683-a4991468f039/scratchpad/deck/assets/mark-check-orange.png">    </p:cNvPr>
          <p:cNvPicPr>
            <a:picLocks noChangeAspect="1"/>
          </p:cNvPicPr>
          <p:nvPr/>
        </p:nvPicPr>
        <p:blipFill>
          <a:blip r:embed="rId11"/>
          <a:stretch>
            <a:fillRect/>
          </a:stretch>
        </p:blipFill>
        <p:spPr>
          <a:xfrm>
            <a:off x="6812280" y="5413248"/>
            <a:ext cx="219456" cy="219456"/>
          </a:xfrm>
          <a:prstGeom prst="rect">
            <a:avLst/>
          </a:prstGeom>
        </p:spPr>
      </p:pic>
      <p:sp>
        <p:nvSpPr>
          <p:cNvPr id="26" name="Text 14"/>
          <p:cNvSpPr txBox="1"/>
          <p:nvPr/>
        </p:nvSpPr>
        <p:spPr>
          <a:xfrm>
            <a:off x="7132320" y="5394960"/>
            <a:ext cx="24688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7" name="Text 15"/>
          <p:cNvSpPr txBox="1"/>
          <p:nvPr/>
        </p:nvSpPr>
        <p:spPr>
          <a:xfrm>
            <a:off x="9555480" y="541324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11:15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Ski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Alodi is the AI agent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that rescues failed deliveries.</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3957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FOR</a:t>
            </a:r>
            <a:endParaRPr lang="en-US" sz="1200" dirty="0"/>
          </a:p>
        </p:txBody>
      </p:sp>
      <p:sp>
        <p:nvSpPr>
          <p:cNvPr id="7" name="Text 5"/>
          <p:cNvSpPr txBox="1"/>
          <p:nvPr/>
        </p:nvSpPr>
        <p:spPr>
          <a:xfrm>
            <a:off x="1965960" y="23957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Carriers like SPX, their shippers and buyers</a:t>
            </a:r>
            <a:endParaRPr lang="en-US" sz="1600" dirty="0"/>
          </a:p>
        </p:txBody>
      </p:sp>
      <p:sp>
        <p:nvSpPr>
          <p:cNvPr id="8" name="Fact rule 1"/>
          <p:cNvSpPr/>
          <p:nvPr/>
        </p:nvSpPr>
        <p:spPr>
          <a:xfrm>
            <a:off x="548640" y="3200400"/>
            <a:ext cx="5303520" cy="0"/>
          </a:xfrm>
          <a:prstGeom prst="line">
            <a:avLst/>
          </a:prstGeom>
          <a:noFill/>
          <a:ln w="9525">
            <a:solidFill>
              <a:srgbClr val="D5D9E2"/>
            </a:solidFill>
            <a:prstDash val="solid"/>
          </a:ln>
        </p:spPr>
      </p:sp>
      <p:sp>
        <p:nvSpPr>
          <p:cNvPr id="9" name="Text 7"/>
          <p:cNvSpPr txBox="1"/>
          <p:nvPr/>
        </p:nvSpPr>
        <p:spPr>
          <a:xfrm>
            <a:off x="548640" y="33101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STARTS WITH</a:t>
            </a:r>
            <a:endParaRPr lang="en-US" sz="1200" dirty="0"/>
          </a:p>
        </p:txBody>
      </p:sp>
      <p:sp>
        <p:nvSpPr>
          <p:cNvPr id="10" name="Text 8"/>
          <p:cNvSpPr txBox="1"/>
          <p:nvPr/>
        </p:nvSpPr>
        <p:spPr>
          <a:xfrm>
            <a:off x="1965960" y="33101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D5D9E2"/>
            </a:solidFill>
            <a:prstDash val="solid"/>
          </a:ln>
        </p:spPr>
      </p:sp>
      <p:sp>
        <p:nvSpPr>
          <p:cNvPr id="12" name="Text 10"/>
          <p:cNvSpPr txBox="1"/>
          <p:nvPr/>
        </p:nvSpPr>
        <p:spPr>
          <a:xfrm>
            <a:off x="548640" y="42245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DOES</a:t>
            </a:r>
            <a:endParaRPr lang="en-US" sz="1200" dirty="0"/>
          </a:p>
        </p:txBody>
      </p:sp>
      <p:sp>
        <p:nvSpPr>
          <p:cNvPr id="13" name="Text 11"/>
          <p:cNvSpPr txBox="1"/>
          <p:nvPr/>
        </p:nvSpPr>
        <p:spPr>
          <a:xfrm>
            <a:off x="1965960" y="42245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Chats now, calls if silent, writes a context card</a:t>
            </a:r>
            <a:endParaRPr lang="en-US" sz="1600" dirty="0"/>
          </a:p>
        </p:txBody>
      </p:sp>
      <p:sp>
        <p:nvSpPr>
          <p:cNvPr id="14" name="Fact rule 3"/>
          <p:cNvSpPr/>
          <p:nvPr/>
        </p:nvSpPr>
        <p:spPr>
          <a:xfrm>
            <a:off x="548640" y="5029200"/>
            <a:ext cx="5303520" cy="0"/>
          </a:xfrm>
          <a:prstGeom prst="line">
            <a:avLst/>
          </a:prstGeom>
          <a:noFill/>
          <a:ln w="9525">
            <a:solidFill>
              <a:srgbClr val="D5D9E2"/>
            </a:solidFill>
            <a:prstDash val="solid"/>
          </a:ln>
        </p:spPr>
      </p:sp>
      <p:sp>
        <p:nvSpPr>
          <p:cNvPr id="15" name="Text 13"/>
          <p:cNvSpPr txBox="1"/>
          <p:nvPr/>
        </p:nvSpPr>
        <p:spPr>
          <a:xfrm>
            <a:off x="548640" y="51389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NEVER</a:t>
            </a:r>
            <a:endParaRPr lang="en-US" sz="1200" dirty="0"/>
          </a:p>
        </p:txBody>
      </p:sp>
      <p:sp>
        <p:nvSpPr>
          <p:cNvPr id="16" name="Text 14"/>
          <p:cNvSpPr txBox="1"/>
          <p:nvPr/>
        </p:nvSpPr>
        <p:spPr>
          <a:xfrm>
            <a:off x="1965960" y="51389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WHAT THE NEXT SHIPPER SEES</a:t>
            </a:r>
            <a:endParaRPr lang="en-US" sz="800" dirty="0"/>
          </a:p>
        </p:txBody>
      </p:sp>
      <p:sp>
        <p:nvSpPr>
          <p:cNvPr id="20" name="Card rule 0"/>
          <p:cNvSpPr/>
          <p:nvPr/>
        </p:nvSpPr>
        <p:spPr>
          <a:xfrm>
            <a:off x="6766560" y="3986784"/>
            <a:ext cx="3154680" cy="0"/>
          </a:xfrm>
          <a:prstGeom prst="line">
            <a:avLst/>
          </a:prstGeom>
          <a:noFill/>
          <a:ln w="6350">
            <a:solidFill>
              <a:srgbClr val="D5D9E2"/>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D5D9E2"/>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D5D9E2"/>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D5D9E2"/>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stretch>
            <a:fillRect/>
          </a:stretch>
        </p:blipFill>
        <p:spPr>
          <a:xfrm>
            <a:off x="548640" y="502920"/>
            <a:ext cx="4480560" cy="5486400"/>
          </a:xfrm>
          <a:prstGeom prst="rect">
            <a:avLst/>
          </a:prstGeom>
        </p:spPr>
      </p:pic>
      <p:sp>
        <p:nvSpPr>
          <p:cNvPr id="3" name="Quote"/>
          <p:cNvSpPr/>
          <p:nvPr/>
        </p:nvSpPr>
        <p:spPr>
          <a:xfrm>
            <a:off x="822960" y="4846320"/>
            <a:ext cx="3931920" cy="822960"/>
          </a:xfrm>
          <a:prstGeom prst="roundRect">
            <a:avLst>
              <a:gd name="adj" fmla="val 15556"/>
            </a:avLst>
          </a:prstGeom>
          <a:solidFill>
            <a:srgbClr val="FFFFFF"/>
          </a:solidFill>
          <a:ln/>
          <a:effectLst>
            <a:outerShdw sx="100000" sy="100000" kx="0" ky="0" algn="bl" rotWithShape="0" blurRad="177800" dist="38100" dir="5400000">
              <a:srgbClr val="121A2C">
                <a:alpha val="16000"/>
              </a:srgbClr>
            </a:outerShdw>
          </a:effectLst>
        </p:spPr>
      </p:sp>
      <p:sp>
        <p:nvSpPr>
          <p:cNvPr id="4" name="Text 1"/>
          <p:cNvSpPr txBox="1"/>
          <p:nvPr/>
        </p:nvSpPr>
        <p:spPr>
          <a:xfrm>
            <a:off x="822960" y="4846320"/>
            <a:ext cx="3931920" cy="822960"/>
          </a:xfrm>
          <a:prstGeom prst="rect">
            <a:avLst/>
          </a:prstGeom>
          <a:noFill/>
          <a:ln/>
        </p:spPr>
        <p:txBody>
          <a:bodyPr wrap="square" lIns="0" tIns="0" rIns="0" bIns="0" rtlCol="0" anchor="ctr"/>
          <a:lstStyle/>
          <a:p>
            <a:pPr algn="ctr" indent="0" marL="0">
              <a:buNone/>
            </a:pPr>
            <a:r>
              <a:rPr lang="en-US" sz="2000" i="1" dirty="0">
                <a:solidFill>
                  <a:srgbClr val="121A2C"/>
                </a:solidFill>
                <a:latin typeface="Cambria" pitchFamily="34" charset="0"/>
                <a:ea typeface="Cambria" pitchFamily="34" charset="-122"/>
                <a:cs typeface="Cambria" pitchFamily="34" charset="-120"/>
              </a:rPr>
              <a:t>“Called twice. No answer.”</a:t>
            </a:r>
            <a:endParaRPr lang="en-US" sz="2000" dirty="0"/>
          </a:p>
        </p:txBody>
      </p:sp>
      <p:sp>
        <p:nvSpPr>
          <p:cNvPr id="5" name="Eyebrow rule"/>
          <p:cNvSpPr/>
          <p:nvPr/>
        </p:nvSpPr>
        <p:spPr>
          <a:xfrm>
            <a:off x="5440680" y="612648"/>
            <a:ext cx="292608" cy="0"/>
          </a:xfrm>
          <a:prstGeom prst="line">
            <a:avLst/>
          </a:prstGeom>
          <a:noFill/>
          <a:ln w="15875">
            <a:solidFill>
              <a:srgbClr val="F05A00"/>
            </a:solidFill>
            <a:prstDash val="solid"/>
          </a:ln>
        </p:spPr>
      </p:sp>
      <p:sp>
        <p:nvSpPr>
          <p:cNvPr id="6" name="Text 3"/>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02  </a:t>
            </a:r>
            <a:pPr indent="0" marL="0">
              <a:buNone/>
            </a:pPr>
            <a:r>
              <a:rPr lang="en-US" sz="1050" b="1" spc="200" kern="0" dirty="0">
                <a:solidFill>
                  <a:srgbClr val="1F2A44"/>
                </a:solidFill>
                <a:latin typeface="Arial" pitchFamily="34" charset="0"/>
                <a:ea typeface="Arial" pitchFamily="34" charset="-122"/>
                <a:cs typeface="Arial" pitchFamily="34" charset="-120"/>
              </a:rPr>
              <a:t>OUR STORY</a:t>
            </a:r>
            <a:endParaRPr lang="en-US" sz="1050" dirty="0"/>
          </a:p>
        </p:txBody>
      </p:sp>
      <p:sp>
        <p:nvSpPr>
          <p:cNvPr id="7" name="Text 4"/>
          <p:cNvSpPr txBox="1"/>
          <p:nvPr/>
        </p:nvSpPr>
        <p:spPr>
          <a:xfrm>
            <a:off x="5440680" y="841248"/>
            <a:ext cx="6217920" cy="548640"/>
          </a:xfrm>
          <a:prstGeom prst="rect">
            <a:avLst/>
          </a:prstGeom>
          <a:noFill/>
          <a:ln/>
        </p:spPr>
        <p:txBody>
          <a:bodyPr wrap="square" lIns="0" tIns="0" rIns="0" bIns="0" rtlCol="0" anchor="t"/>
          <a:lstStyle/>
          <a:p>
            <a:pPr indent="0" marL="0">
              <a:lnSpc>
                <a:spcPct val="95000"/>
              </a:lnSpc>
              <a:buNone/>
            </a:pPr>
            <a:r>
              <a:rPr lang="en-US" sz="2500" b="1" dirty="0">
                <a:solidFill>
                  <a:srgbClr val="5F6F91"/>
                </a:solidFill>
                <a:latin typeface="Arial" pitchFamily="34" charset="0"/>
                <a:ea typeface="Arial" pitchFamily="34" charset="-122"/>
                <a:cs typeface="Arial" pitchFamily="34" charset="-120"/>
              </a:rPr>
              <a:t>This happened to us. </a:t>
            </a:r>
            <a:pPr indent="0" marL="0">
              <a:lnSpc>
                <a:spcPct val="95000"/>
              </a:lnSpc>
              <a:buNone/>
            </a:pPr>
            <a:r>
              <a:rPr lang="en-US" sz="2500" b="1" dirty="0">
                <a:solidFill>
                  <a:srgbClr val="121A2C"/>
                </a:solidFill>
                <a:latin typeface="Arial" pitchFamily="34" charset="0"/>
                <a:ea typeface="Arial" pitchFamily="34" charset="-122"/>
                <a:cs typeface="Arial" pitchFamily="34" charset="-120"/>
              </a:rPr>
              <a:t>Again and again.</a:t>
            </a:r>
            <a:endParaRPr lang="en-US" sz="2500" dirty="0"/>
          </a:p>
        </p:txBody>
      </p:sp>
      <p:sp>
        <p:nvSpPr>
          <p:cNvPr id="8" name="Notification 1"/>
          <p:cNvSpPr/>
          <p:nvPr/>
        </p:nvSpPr>
        <p:spPr>
          <a:xfrm>
            <a:off x="5440680" y="1572768"/>
            <a:ext cx="6199632" cy="786384"/>
          </a:xfrm>
          <a:prstGeom prst="roundRect">
            <a:avLst>
              <a:gd name="adj" fmla="val 13953"/>
            </a:avLst>
          </a:prstGeom>
          <a:solidFill>
            <a:srgbClr val="F6F3F1"/>
          </a:solidFill>
          <a:ln w="9525">
            <a:solidFill>
              <a:srgbClr val="D5D9E2"/>
            </a:solidFill>
            <a:prstDash val="solid"/>
          </a:ln>
        </p:spPr>
      </p:sp>
      <p:pic>
        <p:nvPicPr>
          <p:cNvPr id="9" name="Person 1" descr="shipper">    </p:cNvPr>
          <p:cNvPicPr>
            <a:picLocks noChangeAspect="1"/>
          </p:cNvPicPr>
          <p:nvPr/>
        </p:nvPicPr>
        <p:blipFill>
          <a:blip r:embed="rId2"/>
          <a:stretch>
            <a:fillRect/>
          </a:stretch>
        </p:blipFill>
        <p:spPr>
          <a:xfrm>
            <a:off x="5577840" y="1691640"/>
            <a:ext cx="548640" cy="548640"/>
          </a:xfrm>
          <a:prstGeom prst="rect">
            <a:avLst/>
          </a:prstGeom>
        </p:spPr>
      </p:pic>
      <p:sp>
        <p:nvSpPr>
          <p:cNvPr id="10" name="Text 6"/>
          <p:cNvSpPr txBox="1"/>
          <p:nvPr/>
        </p:nvSpPr>
        <p:spPr>
          <a:xfrm>
            <a:off x="6263640" y="1691640"/>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Missed call from the shipper</a:t>
            </a:r>
            <a:endParaRPr lang="en-US" sz="1400" dirty="0"/>
          </a:p>
        </p:txBody>
      </p:sp>
      <p:sp>
        <p:nvSpPr>
          <p:cNvPr id="11" name="Text 7"/>
          <p:cNvSpPr txBox="1"/>
          <p:nvPr/>
        </p:nvSpPr>
        <p:spPr>
          <a:xfrm>
            <a:off x="6263640" y="1984248"/>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In a meeting. The phone was on silent.</a:t>
            </a:r>
            <a:endParaRPr lang="en-US" sz="1250" dirty="0"/>
          </a:p>
        </p:txBody>
      </p:sp>
      <p:sp>
        <p:nvSpPr>
          <p:cNvPr id="12" name="Text 8"/>
          <p:cNvSpPr txBox="1"/>
          <p:nvPr/>
        </p:nvSpPr>
        <p:spPr>
          <a:xfrm>
            <a:off x="10515600" y="1700784"/>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10:02</a:t>
            </a:r>
            <a:endParaRPr lang="en-US" sz="1050" dirty="0"/>
          </a:p>
        </p:txBody>
      </p:sp>
      <p:sp>
        <p:nvSpPr>
          <p:cNvPr id="13" name="Notification 2"/>
          <p:cNvSpPr/>
          <p:nvPr/>
        </p:nvSpPr>
        <p:spPr>
          <a:xfrm>
            <a:off x="5440680" y="2459736"/>
            <a:ext cx="6199632" cy="786384"/>
          </a:xfrm>
          <a:prstGeom prst="roundRect">
            <a:avLst>
              <a:gd name="adj" fmla="val 13953"/>
            </a:avLst>
          </a:prstGeom>
          <a:solidFill>
            <a:srgbClr val="F6F3F1"/>
          </a:solidFill>
          <a:ln w="9525">
            <a:solidFill>
              <a:srgbClr val="D5D9E2"/>
            </a:solidFill>
            <a:prstDash val="solid"/>
          </a:ln>
        </p:spPr>
      </p:sp>
      <p:pic>
        <p:nvPicPr>
          <p:cNvPr id="14" name="Person 2" descr="buyer">    </p:cNvPr>
          <p:cNvPicPr>
            <a:picLocks noChangeAspect="1"/>
          </p:cNvPicPr>
          <p:nvPr/>
        </p:nvPicPr>
        <p:blipFill>
          <a:blip r:embed="rId3"/>
          <a:stretch>
            <a:fillRect/>
          </a:stretch>
        </p:blipFill>
        <p:spPr>
          <a:xfrm>
            <a:off x="5577840" y="2578608"/>
            <a:ext cx="548640" cy="548640"/>
          </a:xfrm>
          <a:prstGeom prst="rect">
            <a:avLst/>
          </a:prstGeom>
        </p:spPr>
      </p:pic>
      <p:sp>
        <p:nvSpPr>
          <p:cNvPr id="15" name="Text 10"/>
          <p:cNvSpPr txBox="1"/>
          <p:nvPr/>
        </p:nvSpPr>
        <p:spPr>
          <a:xfrm>
            <a:off x="6263640" y="2578608"/>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called back</a:t>
            </a:r>
            <a:endParaRPr lang="en-US" sz="1400" dirty="0"/>
          </a:p>
        </p:txBody>
      </p:sp>
      <p:sp>
        <p:nvSpPr>
          <p:cNvPr id="16" name="Text 11"/>
          <p:cNvSpPr txBox="1"/>
          <p:nvPr/>
        </p:nvSpPr>
        <p:spPr>
          <a:xfrm>
            <a:off x="6263640" y="2871216"/>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No answer. The shipper was already riding.</a:t>
            </a:r>
            <a:endParaRPr lang="en-US" sz="1250" dirty="0"/>
          </a:p>
        </p:txBody>
      </p:sp>
      <p:sp>
        <p:nvSpPr>
          <p:cNvPr id="17" name="Text 12"/>
          <p:cNvSpPr txBox="1"/>
          <p:nvPr/>
        </p:nvSpPr>
        <p:spPr>
          <a:xfrm>
            <a:off x="10515600" y="2587752"/>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10:40</a:t>
            </a:r>
            <a:endParaRPr lang="en-US" sz="1050" dirty="0"/>
          </a:p>
        </p:txBody>
      </p:sp>
      <p:sp>
        <p:nvSpPr>
          <p:cNvPr id="18" name="Notification 3"/>
          <p:cNvSpPr/>
          <p:nvPr/>
        </p:nvSpPr>
        <p:spPr>
          <a:xfrm>
            <a:off x="5440680" y="3346704"/>
            <a:ext cx="6199632" cy="786384"/>
          </a:xfrm>
          <a:prstGeom prst="roundRect">
            <a:avLst>
              <a:gd name="adj" fmla="val 13953"/>
            </a:avLst>
          </a:prstGeom>
          <a:solidFill>
            <a:srgbClr val="F6F3F1"/>
          </a:solidFill>
          <a:ln w="9525">
            <a:solidFill>
              <a:srgbClr val="D5D9E2"/>
            </a:solidFill>
            <a:prstDash val="solid"/>
          </a:ln>
        </p:spPr>
      </p:sp>
      <p:pic>
        <p:nvPicPr>
          <p:cNvPr id="19" name="Person 3" descr="buyer">    </p:cNvPr>
          <p:cNvPicPr>
            <a:picLocks noChangeAspect="1"/>
          </p:cNvPicPr>
          <p:nvPr/>
        </p:nvPicPr>
        <p:blipFill>
          <a:blip r:embed="rId4"/>
          <a:stretch>
            <a:fillRect/>
          </a:stretch>
        </p:blipFill>
        <p:spPr>
          <a:xfrm>
            <a:off x="5577840" y="3465576"/>
            <a:ext cx="548640" cy="548640"/>
          </a:xfrm>
          <a:prstGeom prst="rect">
            <a:avLst/>
          </a:prstGeom>
        </p:spPr>
      </p:pic>
      <p:sp>
        <p:nvSpPr>
          <p:cNvPr id="20" name="Text 14"/>
          <p:cNvSpPr txBox="1"/>
          <p:nvPr/>
        </p:nvSpPr>
        <p:spPr>
          <a:xfrm>
            <a:off x="6263640" y="3465576"/>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left a note on the order</a:t>
            </a:r>
            <a:endParaRPr lang="en-US" sz="1400" dirty="0"/>
          </a:p>
        </p:txBody>
      </p:sp>
      <p:sp>
        <p:nvSpPr>
          <p:cNvPr id="21" name="Text 15"/>
          <p:cNvSpPr txBox="1"/>
          <p:nvPr/>
        </p:nvSpPr>
        <p:spPr>
          <a:xfrm>
            <a:off x="6263640" y="3758184"/>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“Please leave it at reception.” Nobody read it.</a:t>
            </a:r>
            <a:endParaRPr lang="en-US" sz="1250" dirty="0"/>
          </a:p>
        </p:txBody>
      </p:sp>
      <p:sp>
        <p:nvSpPr>
          <p:cNvPr id="22" name="Text 16"/>
          <p:cNvSpPr txBox="1"/>
          <p:nvPr/>
        </p:nvSpPr>
        <p:spPr>
          <a:xfrm>
            <a:off x="10515600" y="3474720"/>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11:15</a:t>
            </a:r>
            <a:endParaRPr lang="en-US" sz="1050" dirty="0"/>
          </a:p>
        </p:txBody>
      </p:sp>
      <p:sp>
        <p:nvSpPr>
          <p:cNvPr id="23" name="Notification 4"/>
          <p:cNvSpPr/>
          <p:nvPr/>
        </p:nvSpPr>
        <p:spPr>
          <a:xfrm>
            <a:off x="5440680" y="4233672"/>
            <a:ext cx="6199632" cy="786384"/>
          </a:xfrm>
          <a:prstGeom prst="roundRect">
            <a:avLst>
              <a:gd name="adj" fmla="val 13953"/>
            </a:avLst>
          </a:prstGeom>
          <a:solidFill>
            <a:srgbClr val="F6F3F1"/>
          </a:solidFill>
          <a:ln w="9525">
            <a:solidFill>
              <a:srgbClr val="D5D9E2"/>
            </a:solidFill>
            <a:prstDash val="solid"/>
          </a:ln>
        </p:spPr>
      </p:sp>
      <p:pic>
        <p:nvPicPr>
          <p:cNvPr id="24" name="Person 4" descr="shipper">    </p:cNvPr>
          <p:cNvPicPr>
            <a:picLocks noChangeAspect="1"/>
          </p:cNvPicPr>
          <p:nvPr/>
        </p:nvPicPr>
        <p:blipFill>
          <a:blip r:embed="rId5"/>
          <a:stretch>
            <a:fillRect/>
          </a:stretch>
        </p:blipFill>
        <p:spPr>
          <a:xfrm>
            <a:off x="5577840" y="4352544"/>
            <a:ext cx="548640" cy="548640"/>
          </a:xfrm>
          <a:prstGeom prst="rect">
            <a:avLst/>
          </a:prstGeom>
        </p:spPr>
      </p:pic>
      <p:sp>
        <p:nvSpPr>
          <p:cNvPr id="25" name="Text 18"/>
          <p:cNvSpPr txBox="1"/>
          <p:nvPr/>
        </p:nvSpPr>
        <p:spPr>
          <a:xfrm>
            <a:off x="6263640" y="4352544"/>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Delivery failed</a:t>
            </a:r>
            <a:endParaRPr lang="en-US" sz="1400" dirty="0"/>
          </a:p>
        </p:txBody>
      </p:sp>
      <p:sp>
        <p:nvSpPr>
          <p:cNvPr id="26" name="Text 19"/>
          <p:cNvSpPr txBox="1"/>
          <p:nvPr/>
        </p:nvSpPr>
        <p:spPr>
          <a:xfrm>
            <a:off x="6263640" y="4645152"/>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Reason on the app: buyer unreachable.</a:t>
            </a:r>
            <a:endParaRPr lang="en-US" sz="1250" dirty="0"/>
          </a:p>
        </p:txBody>
      </p:sp>
      <p:sp>
        <p:nvSpPr>
          <p:cNvPr id="27" name="Text 20"/>
          <p:cNvSpPr txBox="1"/>
          <p:nvPr/>
        </p:nvSpPr>
        <p:spPr>
          <a:xfrm>
            <a:off x="10515600" y="4361688"/>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12:30</a:t>
            </a:r>
            <a:endParaRPr lang="en-US" sz="1050" dirty="0"/>
          </a:p>
        </p:txBody>
      </p:sp>
      <p:sp>
        <p:nvSpPr>
          <p:cNvPr id="28" name="Notification 5"/>
          <p:cNvSpPr/>
          <p:nvPr/>
        </p:nvSpPr>
        <p:spPr>
          <a:xfrm>
            <a:off x="5440680" y="5120640"/>
            <a:ext cx="6199632" cy="786384"/>
          </a:xfrm>
          <a:prstGeom prst="roundRect">
            <a:avLst>
              <a:gd name="adj" fmla="val 13953"/>
            </a:avLst>
          </a:prstGeom>
          <a:solidFill>
            <a:srgbClr val="FFF1E7"/>
          </a:solidFill>
          <a:ln w="9525">
            <a:solidFill>
              <a:srgbClr val="FFCFB0"/>
            </a:solidFill>
            <a:prstDash val="solid"/>
          </a:ln>
        </p:spPr>
      </p:sp>
      <p:pic>
        <p:nvPicPr>
          <p:cNvPr id="29" name="Person 5" descr="seller">    </p:cNvPr>
          <p:cNvPicPr>
            <a:picLocks noChangeAspect="1"/>
          </p:cNvPicPr>
          <p:nvPr/>
        </p:nvPicPr>
        <p:blipFill>
          <a:blip r:embed="rId6"/>
          <a:stretch>
            <a:fillRect/>
          </a:stretch>
        </p:blipFill>
        <p:spPr>
          <a:xfrm>
            <a:off x="5577840" y="5239512"/>
            <a:ext cx="548640" cy="548640"/>
          </a:xfrm>
          <a:prstGeom prst="rect">
            <a:avLst/>
          </a:prstGeom>
        </p:spPr>
      </p:pic>
      <p:sp>
        <p:nvSpPr>
          <p:cNvPr id="30" name="Text 22"/>
          <p:cNvSpPr txBox="1"/>
          <p:nvPr/>
        </p:nvSpPr>
        <p:spPr>
          <a:xfrm>
            <a:off x="6263640" y="5239512"/>
            <a:ext cx="4297680" cy="274320"/>
          </a:xfrm>
          <a:prstGeom prst="rect">
            <a:avLst/>
          </a:prstGeom>
          <a:noFill/>
          <a:ln/>
        </p:spPr>
        <p:txBody>
          <a:bodyPr wrap="square" lIns="0" tIns="0" rIns="0" bIns="0" rtlCol="0" anchor="ctr"/>
          <a:lstStyle/>
          <a:p>
            <a:pPr indent="0" marL="0">
              <a:buNone/>
            </a:pPr>
            <a:r>
              <a:rPr lang="en-US" sz="1400" b="1" dirty="0">
                <a:solidFill>
                  <a:srgbClr val="F05A00"/>
                </a:solidFill>
                <a:latin typeface="Arial" pitchFamily="34" charset="0"/>
                <a:ea typeface="Arial" pitchFamily="34" charset="-122"/>
                <a:cs typeface="Arial" pitchFamily="34" charset="-120"/>
              </a:rPr>
              <a:t>Returned to seller</a:t>
            </a:r>
            <a:endParaRPr lang="en-US" sz="1400" dirty="0"/>
          </a:p>
        </p:txBody>
      </p:sp>
      <p:sp>
        <p:nvSpPr>
          <p:cNvPr id="31" name="Text 23"/>
          <p:cNvSpPr txBox="1"/>
          <p:nvPr/>
        </p:nvSpPr>
        <p:spPr>
          <a:xfrm>
            <a:off x="6263640" y="5532120"/>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We still wanted the parcel.</a:t>
            </a:r>
            <a:endParaRPr lang="en-US" sz="1250" dirty="0"/>
          </a:p>
        </p:txBody>
      </p:sp>
      <p:sp>
        <p:nvSpPr>
          <p:cNvPr id="32" name="Text 24"/>
          <p:cNvSpPr txBox="1"/>
          <p:nvPr/>
        </p:nvSpPr>
        <p:spPr>
          <a:xfrm>
            <a:off x="10515600" y="5248656"/>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Day 5</a:t>
            </a:r>
            <a:endParaRPr lang="en-US" sz="1050" dirty="0"/>
          </a:p>
        </p:txBody>
      </p:sp>
      <p:sp>
        <p:nvSpPr>
          <p:cNvPr id="33" name="Text 2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548640"/>
          </a:xfrm>
          <a:prstGeom prst="rect">
            <a:avLst/>
          </a:prstGeom>
          <a:noFill/>
          <a:ln/>
        </p:spPr>
        <p:txBody>
          <a:bodyPr wrap="square" lIns="0" tIns="0" rIns="0" bIns="0" rtlCol="0" anchor="t"/>
          <a:lstStyle/>
          <a:p>
            <a:pPr indent="0" marL="0">
              <a:lnSpc>
                <a:spcPct val="95000"/>
              </a:lnSpc>
              <a:buNone/>
            </a:pPr>
            <a:r>
              <a:rPr lang="en-US" sz="2400" b="1" dirty="0">
                <a:solidFill>
                  <a:srgbClr val="5F6F91"/>
                </a:solidFill>
                <a:latin typeface="Arial" pitchFamily="34" charset="0"/>
                <a:ea typeface="Arial" pitchFamily="34" charset="-122"/>
                <a:cs typeface="Arial" pitchFamily="34" charset="-120"/>
              </a:rPr>
              <a:t>We asked both sides </a:t>
            </a:r>
            <a:pPr indent="0" marL="0">
              <a:lnSpc>
                <a:spcPct val="95000"/>
              </a:lnSpc>
              <a:buNone/>
            </a:pPr>
            <a:r>
              <a:rPr lang="en-US" sz="2400" b="1" dirty="0">
                <a:solidFill>
                  <a:srgbClr val="121A2C"/>
                </a:solidFill>
                <a:latin typeface="Arial" pitchFamily="34" charset="0"/>
                <a:ea typeface="Arial" pitchFamily="34" charset="-122"/>
                <a:cs typeface="Arial" pitchFamily="34" charset="-120"/>
              </a:rPr>
              <a:t>of the same missed call.</a:t>
            </a:r>
            <a:endParaRPr lang="en-US" sz="24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sp>
        <p:nvSpPr>
          <p:cNvPr id="6" name="Photo caption"/>
          <p:cNvSpPr/>
          <p:nvPr/>
        </p:nvSpPr>
        <p:spPr>
          <a:xfrm>
            <a:off x="731520" y="5349240"/>
            <a:ext cx="3520440" cy="457200"/>
          </a:xfrm>
          <a:prstGeom prst="roundRect">
            <a:avLst>
              <a:gd name="adj" fmla="val 20000"/>
            </a:avLst>
          </a:prstGeom>
          <a:solidFill>
            <a:srgbClr val="FFFFFF"/>
          </a:solidFill>
          <a:ln/>
          <a:effectLst>
            <a:outerShdw sx="100000" sy="100000" kx="0" ky="0" algn="bl" rotWithShape="0" blurRad="177800" dist="38100" dir="5400000">
              <a:srgbClr val="121A2C">
                <a:alpha val="16000"/>
              </a:srgbClr>
            </a:outerShdw>
          </a:effectLst>
        </p:spPr>
      </p:sp>
      <p:sp>
        <p:nvSpPr>
          <p:cNvPr id="7" name="Text 4"/>
          <p:cNvSpPr txBox="1"/>
          <p:nvPr/>
        </p:nvSpPr>
        <p:spPr>
          <a:xfrm>
            <a:off x="731520" y="5349240"/>
            <a:ext cx="3520440" cy="457200"/>
          </a:xfrm>
          <a:prstGeom prst="rect">
            <a:avLst/>
          </a:prstGeom>
          <a:noFill/>
          <a:ln/>
        </p:spPr>
        <p:txBody>
          <a:bodyPr wrap="square" lIns="0" tIns="0" rIns="0" bIns="0" rtlCol="0" anchor="ctr"/>
          <a:lstStyle/>
          <a:p>
            <a:pPr algn="ctr" indent="0" marL="0">
              <a:buNone/>
            </a:pPr>
            <a:r>
              <a:rPr lang="en-US" sz="850" b="1" spc="120" kern="0" dirty="0">
                <a:solidFill>
                  <a:srgbClr val="1F2A44"/>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536192"/>
            <a:ext cx="6839712" cy="0"/>
          </a:xfrm>
          <a:prstGeom prst="line">
            <a:avLst/>
          </a:prstGeom>
          <a:noFill/>
          <a:ln w="12700">
            <a:solidFill>
              <a:srgbClr val="121A2C"/>
            </a:solidFill>
            <a:prstDash val="solid"/>
          </a:ln>
        </p:spPr>
      </p:sp>
      <p:pic>
        <p:nvPicPr>
          <p:cNvPr id="9" name="Face 00" descr="/private/tmp/claude-503/-Users-davark-Downloads-Everything-Github-Alodi-Regional-Codex-Hackathon-2026/91e569a8-486f-4c0b-b683-a4991468f039/scratchpad/deck/assets/b1.png">    </p:cNvPr>
          <p:cNvPicPr>
            <a:picLocks noChangeAspect="1"/>
          </p:cNvPicPr>
          <p:nvPr/>
        </p:nvPicPr>
        <p:blipFill>
          <a:blip r:embed="rId2"/>
          <a:stretch>
            <a:fillRect/>
          </a:stretch>
        </p:blipFill>
        <p:spPr>
          <a:xfrm>
            <a:off x="4800600" y="1627632"/>
            <a:ext cx="365760" cy="365760"/>
          </a:xfrm>
          <a:prstGeom prst="rect">
            <a:avLst/>
          </a:prstGeom>
        </p:spPr>
      </p:pic>
      <p:pic>
        <p:nvPicPr>
          <p:cNvPr id="10" name="Face 01" descr="/private/tmp/claude-503/-Users-davark-Downloads-Everything-Github-Alodi-Regional-Codex-Hackathon-2026/91e569a8-486f-4c0b-b683-a4991468f039/scratchpad/deck/assets/b2.png">    </p:cNvPr>
          <p:cNvPicPr>
            <a:picLocks noChangeAspect="1"/>
          </p:cNvPicPr>
          <p:nvPr/>
        </p:nvPicPr>
        <p:blipFill>
          <a:blip r:embed="rId3"/>
          <a:stretch>
            <a:fillRect/>
          </a:stretch>
        </p:blipFill>
        <p:spPr>
          <a:xfrm>
            <a:off x="5056632" y="1627632"/>
            <a:ext cx="365760" cy="365760"/>
          </a:xfrm>
          <a:prstGeom prst="rect">
            <a:avLst/>
          </a:prstGeom>
        </p:spPr>
      </p:pic>
      <p:pic>
        <p:nvPicPr>
          <p:cNvPr id="11" name="Face 02" descr="/private/tmp/claude-503/-Users-davark-Downloads-Everything-Github-Alodi-Regional-Codex-Hackathon-2026/91e569a8-486f-4c0b-b683-a4991468f039/scratchpad/deck/assets/b3.png">    </p:cNvPr>
          <p:cNvPicPr>
            <a:picLocks noChangeAspect="1"/>
          </p:cNvPicPr>
          <p:nvPr/>
        </p:nvPicPr>
        <p:blipFill>
          <a:blip r:embed="rId4"/>
          <a:stretch>
            <a:fillRect/>
          </a:stretch>
        </p:blipFill>
        <p:spPr>
          <a:xfrm>
            <a:off x="5312664" y="1627632"/>
            <a:ext cx="365760" cy="365760"/>
          </a:xfrm>
          <a:prstGeom prst="rect">
            <a:avLst/>
          </a:prstGeom>
        </p:spPr>
      </p:pic>
      <p:pic>
        <p:nvPicPr>
          <p:cNvPr id="12" name="Face 03" descr="/private/tmp/claude-503/-Users-davark-Downloads-Everything-Github-Alodi-Regional-Codex-Hackathon-2026/91e569a8-486f-4c0b-b683-a4991468f039/scratchpad/deck/assets/b4.png">    </p:cNvPr>
          <p:cNvPicPr>
            <a:picLocks noChangeAspect="1"/>
          </p:cNvPicPr>
          <p:nvPr/>
        </p:nvPicPr>
        <p:blipFill>
          <a:blip r:embed="rId5"/>
          <a:stretch>
            <a:fillRect/>
          </a:stretch>
        </p:blipFill>
        <p:spPr>
          <a:xfrm>
            <a:off x="5568696" y="1627632"/>
            <a:ext cx="365760" cy="365760"/>
          </a:xfrm>
          <a:prstGeom prst="rect">
            <a:avLst/>
          </a:prstGeom>
        </p:spPr>
      </p:pic>
      <p:sp>
        <p:nvSpPr>
          <p:cNvPr id="13" name="Text 6"/>
          <p:cNvSpPr txBox="1"/>
          <p:nvPr/>
        </p:nvSpPr>
        <p:spPr>
          <a:xfrm>
            <a:off x="6053328" y="171907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BUYERS · N = 100</a:t>
            </a:r>
            <a:endParaRPr lang="en-US" sz="950" dirty="0"/>
          </a:p>
        </p:txBody>
      </p:sp>
      <p:sp>
        <p:nvSpPr>
          <p:cNvPr id="14" name="Text 7"/>
          <p:cNvSpPr txBox="1"/>
          <p:nvPr/>
        </p:nvSpPr>
        <p:spPr>
          <a:xfrm>
            <a:off x="480060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15" name="Pictogram 000" descr="preencoded.png">    </p:cNvPr>
          <p:cNvPicPr>
            <a:picLocks noChangeAspect="1"/>
          </p:cNvPicPr>
          <p:nvPr/>
        </p:nvPicPr>
        <p:blipFill>
          <a:blip r:embed="rId6"/>
          <a:stretch>
            <a:fillRect/>
          </a:stretch>
        </p:blipFill>
        <p:spPr>
          <a:xfrm>
            <a:off x="6446520" y="2048256"/>
            <a:ext cx="237744" cy="274320"/>
          </a:xfrm>
          <a:prstGeom prst="rect">
            <a:avLst/>
          </a:prstGeom>
        </p:spPr>
      </p:pic>
      <p:pic>
        <p:nvPicPr>
          <p:cNvPr id="16" name="Pictogram 001" descr="preencoded.png">    </p:cNvPr>
          <p:cNvPicPr>
            <a:picLocks noChangeAspect="1"/>
          </p:cNvPicPr>
          <p:nvPr/>
        </p:nvPicPr>
        <p:blipFill>
          <a:blip r:embed="rId7"/>
          <a:stretch>
            <a:fillRect/>
          </a:stretch>
        </p:blipFill>
        <p:spPr>
          <a:xfrm>
            <a:off x="6720840" y="2048256"/>
            <a:ext cx="237744" cy="274320"/>
          </a:xfrm>
          <a:prstGeom prst="rect">
            <a:avLst/>
          </a:prstGeom>
        </p:spPr>
      </p:pic>
      <p:pic>
        <p:nvPicPr>
          <p:cNvPr id="17" name="Pictogram 002" descr="preencoded.png">    </p:cNvPr>
          <p:cNvPicPr>
            <a:picLocks noChangeAspect="1"/>
          </p:cNvPicPr>
          <p:nvPr/>
        </p:nvPicPr>
        <p:blipFill>
          <a:blip r:embed="rId8"/>
          <a:stretch>
            <a:fillRect/>
          </a:stretch>
        </p:blipFill>
        <p:spPr>
          <a:xfrm>
            <a:off x="6995160" y="2048256"/>
            <a:ext cx="237744" cy="274320"/>
          </a:xfrm>
          <a:prstGeom prst="rect">
            <a:avLst/>
          </a:prstGeom>
        </p:spPr>
      </p:pic>
      <p:pic>
        <p:nvPicPr>
          <p:cNvPr id="18" name="Pictogram 003" descr="preencoded.png">    </p:cNvPr>
          <p:cNvPicPr>
            <a:picLocks noChangeAspect="1"/>
          </p:cNvPicPr>
          <p:nvPr/>
        </p:nvPicPr>
        <p:blipFill>
          <a:blip r:embed="rId9"/>
          <a:stretch>
            <a:fillRect/>
          </a:stretch>
        </p:blipFill>
        <p:spPr>
          <a:xfrm>
            <a:off x="7269480" y="2048256"/>
            <a:ext cx="237744" cy="274320"/>
          </a:xfrm>
          <a:prstGeom prst="rect">
            <a:avLst/>
          </a:prstGeom>
        </p:spPr>
      </p:pic>
      <p:pic>
        <p:nvPicPr>
          <p:cNvPr id="19" name="Pictogram 004" descr="preencoded.png">    </p:cNvPr>
          <p:cNvPicPr>
            <a:picLocks noChangeAspect="1"/>
          </p:cNvPicPr>
          <p:nvPr/>
        </p:nvPicPr>
        <p:blipFill>
          <a:blip r:embed="rId10"/>
          <a:stretch>
            <a:fillRect/>
          </a:stretch>
        </p:blipFill>
        <p:spPr>
          <a:xfrm>
            <a:off x="7543800" y="2048256"/>
            <a:ext cx="237744" cy="274320"/>
          </a:xfrm>
          <a:prstGeom prst="rect">
            <a:avLst/>
          </a:prstGeom>
        </p:spPr>
      </p:pic>
      <p:pic>
        <p:nvPicPr>
          <p:cNvPr id="20" name="Pictogram 005" descr="preencoded.png">    </p:cNvPr>
          <p:cNvPicPr>
            <a:picLocks noChangeAspect="1"/>
          </p:cNvPicPr>
          <p:nvPr/>
        </p:nvPicPr>
        <p:blipFill>
          <a:blip r:embed="rId11"/>
          <a:stretch>
            <a:fillRect/>
          </a:stretch>
        </p:blipFill>
        <p:spPr>
          <a:xfrm>
            <a:off x="6446520" y="2359152"/>
            <a:ext cx="237744" cy="274320"/>
          </a:xfrm>
          <a:prstGeom prst="rect">
            <a:avLst/>
          </a:prstGeom>
        </p:spPr>
      </p:pic>
      <p:pic>
        <p:nvPicPr>
          <p:cNvPr id="21" name="Pictogram 006" descr="preencoded.png">    </p:cNvPr>
          <p:cNvPicPr>
            <a:picLocks noChangeAspect="1"/>
          </p:cNvPicPr>
          <p:nvPr/>
        </p:nvPicPr>
        <p:blipFill>
          <a:blip r:embed="rId12"/>
          <a:stretch>
            <a:fillRect/>
          </a:stretch>
        </p:blipFill>
        <p:spPr>
          <a:xfrm>
            <a:off x="6720840" y="2359152"/>
            <a:ext cx="237744" cy="274320"/>
          </a:xfrm>
          <a:prstGeom prst="rect">
            <a:avLst/>
          </a:prstGeom>
        </p:spPr>
      </p:pic>
      <p:pic>
        <p:nvPicPr>
          <p:cNvPr id="22" name="Pictogram 007" descr="preencoded.png">    </p:cNvPr>
          <p:cNvPicPr>
            <a:picLocks noChangeAspect="1"/>
          </p:cNvPicPr>
          <p:nvPr/>
        </p:nvPicPr>
        <p:blipFill>
          <a:blip r:embed="rId13"/>
          <a:stretch>
            <a:fillRect/>
          </a:stretch>
        </p:blipFill>
        <p:spPr>
          <a:xfrm>
            <a:off x="6995160" y="2359152"/>
            <a:ext cx="237744" cy="274320"/>
          </a:xfrm>
          <a:prstGeom prst="rect">
            <a:avLst/>
          </a:prstGeom>
        </p:spPr>
      </p:pic>
      <p:pic>
        <p:nvPicPr>
          <p:cNvPr id="23" name="Pictogram 008" descr="preencoded.png">    </p:cNvPr>
          <p:cNvPicPr>
            <a:picLocks noChangeAspect="1"/>
          </p:cNvPicPr>
          <p:nvPr/>
        </p:nvPicPr>
        <p:blipFill>
          <a:blip r:embed="rId14"/>
          <a:stretch>
            <a:fillRect/>
          </a:stretch>
        </p:blipFill>
        <p:spPr>
          <a:xfrm>
            <a:off x="7269480" y="2359152"/>
            <a:ext cx="237744" cy="274320"/>
          </a:xfrm>
          <a:prstGeom prst="rect">
            <a:avLst/>
          </a:prstGeom>
        </p:spPr>
      </p:pic>
      <p:pic>
        <p:nvPicPr>
          <p:cNvPr id="24" name="Pictogram 009" descr="preencoded.png">    </p:cNvPr>
          <p:cNvPicPr>
            <a:picLocks noChangeAspect="1"/>
          </p:cNvPicPr>
          <p:nvPr/>
        </p:nvPicPr>
        <p:blipFill>
          <a:blip r:embed="rId15"/>
          <a:stretch>
            <a:fillRect/>
          </a:stretch>
        </p:blipFill>
        <p:spPr>
          <a:xfrm>
            <a:off x="7543800" y="2359152"/>
            <a:ext cx="237744" cy="274320"/>
          </a:xfrm>
          <a:prstGeom prst="rect">
            <a:avLst/>
          </a:prstGeom>
        </p:spPr>
      </p:pic>
      <p:sp>
        <p:nvSpPr>
          <p:cNvPr id="25" name="Text 8"/>
          <p:cNvSpPr txBox="1"/>
          <p:nvPr/>
        </p:nvSpPr>
        <p:spPr>
          <a:xfrm>
            <a:off x="480060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want to choose a delivery window</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26" name="Text 9"/>
          <p:cNvSpPr txBox="1"/>
          <p:nvPr/>
        </p:nvSpPr>
        <p:spPr>
          <a:xfrm>
            <a:off x="827532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66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27" name="Pictogram 010" descr="preencoded.png">    </p:cNvPr>
          <p:cNvPicPr>
            <a:picLocks noChangeAspect="1"/>
          </p:cNvPicPr>
          <p:nvPr/>
        </p:nvPicPr>
        <p:blipFill>
          <a:blip r:embed="rId16"/>
          <a:stretch>
            <a:fillRect/>
          </a:stretch>
        </p:blipFill>
        <p:spPr>
          <a:xfrm>
            <a:off x="9921240" y="2048256"/>
            <a:ext cx="237744" cy="274320"/>
          </a:xfrm>
          <a:prstGeom prst="rect">
            <a:avLst/>
          </a:prstGeom>
        </p:spPr>
      </p:pic>
      <p:pic>
        <p:nvPicPr>
          <p:cNvPr id="28" name="Pictogram 011" descr="preencoded.png">    </p:cNvPr>
          <p:cNvPicPr>
            <a:picLocks noChangeAspect="1"/>
          </p:cNvPicPr>
          <p:nvPr/>
        </p:nvPicPr>
        <p:blipFill>
          <a:blip r:embed="rId17"/>
          <a:stretch>
            <a:fillRect/>
          </a:stretch>
        </p:blipFill>
        <p:spPr>
          <a:xfrm>
            <a:off x="10195560" y="2048256"/>
            <a:ext cx="237744" cy="274320"/>
          </a:xfrm>
          <a:prstGeom prst="rect">
            <a:avLst/>
          </a:prstGeom>
        </p:spPr>
      </p:pic>
      <p:pic>
        <p:nvPicPr>
          <p:cNvPr id="29" name="Pictogram 012" descr="preencoded.png">    </p:cNvPr>
          <p:cNvPicPr>
            <a:picLocks noChangeAspect="1"/>
          </p:cNvPicPr>
          <p:nvPr/>
        </p:nvPicPr>
        <p:blipFill>
          <a:blip r:embed="rId18"/>
          <a:stretch>
            <a:fillRect/>
          </a:stretch>
        </p:blipFill>
        <p:spPr>
          <a:xfrm>
            <a:off x="10469880" y="2048256"/>
            <a:ext cx="237744" cy="274320"/>
          </a:xfrm>
          <a:prstGeom prst="rect">
            <a:avLst/>
          </a:prstGeom>
        </p:spPr>
      </p:pic>
      <p:pic>
        <p:nvPicPr>
          <p:cNvPr id="30" name="Pictogram 013" descr="preencoded.png">    </p:cNvPr>
          <p:cNvPicPr>
            <a:picLocks noChangeAspect="1"/>
          </p:cNvPicPr>
          <p:nvPr/>
        </p:nvPicPr>
        <p:blipFill>
          <a:blip r:embed="rId19"/>
          <a:stretch>
            <a:fillRect/>
          </a:stretch>
        </p:blipFill>
        <p:spPr>
          <a:xfrm>
            <a:off x="10744200" y="2048256"/>
            <a:ext cx="237744" cy="274320"/>
          </a:xfrm>
          <a:prstGeom prst="rect">
            <a:avLst/>
          </a:prstGeom>
        </p:spPr>
      </p:pic>
      <p:pic>
        <p:nvPicPr>
          <p:cNvPr id="31" name="Pictogram 014" descr="preencoded.png">    </p:cNvPr>
          <p:cNvPicPr>
            <a:picLocks noChangeAspect="1"/>
          </p:cNvPicPr>
          <p:nvPr/>
        </p:nvPicPr>
        <p:blipFill>
          <a:blip r:embed="rId20"/>
          <a:stretch>
            <a:fillRect/>
          </a:stretch>
        </p:blipFill>
        <p:spPr>
          <a:xfrm>
            <a:off x="11018520" y="2048256"/>
            <a:ext cx="237744" cy="274320"/>
          </a:xfrm>
          <a:prstGeom prst="rect">
            <a:avLst/>
          </a:prstGeom>
        </p:spPr>
      </p:pic>
      <p:pic>
        <p:nvPicPr>
          <p:cNvPr id="32" name="Pictogram 015" descr="preencoded.png">    </p:cNvPr>
          <p:cNvPicPr>
            <a:picLocks noChangeAspect="1"/>
          </p:cNvPicPr>
          <p:nvPr/>
        </p:nvPicPr>
        <p:blipFill>
          <a:blip r:embed="rId21"/>
          <a:stretch>
            <a:fillRect/>
          </a:stretch>
        </p:blipFill>
        <p:spPr>
          <a:xfrm>
            <a:off x="9921240" y="2359152"/>
            <a:ext cx="237744" cy="274320"/>
          </a:xfrm>
          <a:prstGeom prst="rect">
            <a:avLst/>
          </a:prstGeom>
        </p:spPr>
      </p:pic>
      <p:pic>
        <p:nvPicPr>
          <p:cNvPr id="33" name="Pictogram 016" descr="preencoded.png">    </p:cNvPr>
          <p:cNvPicPr>
            <a:picLocks noChangeAspect="1"/>
          </p:cNvPicPr>
          <p:nvPr/>
        </p:nvPicPr>
        <p:blipFill>
          <a:blip r:embed="rId22"/>
          <a:stretch>
            <a:fillRect/>
          </a:stretch>
        </p:blipFill>
        <p:spPr>
          <a:xfrm>
            <a:off x="10195560" y="2359152"/>
            <a:ext cx="237744" cy="274320"/>
          </a:xfrm>
          <a:prstGeom prst="rect">
            <a:avLst/>
          </a:prstGeom>
        </p:spPr>
      </p:pic>
      <p:pic>
        <p:nvPicPr>
          <p:cNvPr id="34" name="Pictogram 017" descr="preencoded.png">    </p:cNvPr>
          <p:cNvPicPr>
            <a:picLocks noChangeAspect="1"/>
          </p:cNvPicPr>
          <p:nvPr/>
        </p:nvPicPr>
        <p:blipFill>
          <a:blip r:embed="rId23"/>
          <a:stretch>
            <a:fillRect/>
          </a:stretch>
        </p:blipFill>
        <p:spPr>
          <a:xfrm>
            <a:off x="10469880" y="2359152"/>
            <a:ext cx="237744" cy="274320"/>
          </a:xfrm>
          <a:prstGeom prst="rect">
            <a:avLst/>
          </a:prstGeom>
        </p:spPr>
      </p:pic>
      <p:pic>
        <p:nvPicPr>
          <p:cNvPr id="35" name="Pictogram 018" descr="preencoded.png">    </p:cNvPr>
          <p:cNvPicPr>
            <a:picLocks noChangeAspect="1"/>
          </p:cNvPicPr>
          <p:nvPr/>
        </p:nvPicPr>
        <p:blipFill>
          <a:blip r:embed="rId24"/>
          <a:stretch>
            <a:fillRect/>
          </a:stretch>
        </p:blipFill>
        <p:spPr>
          <a:xfrm>
            <a:off x="10744200" y="2359152"/>
            <a:ext cx="237744" cy="274320"/>
          </a:xfrm>
          <a:prstGeom prst="rect">
            <a:avLst/>
          </a:prstGeom>
        </p:spPr>
      </p:pic>
      <p:pic>
        <p:nvPicPr>
          <p:cNvPr id="36" name="Pictogram 019" descr="preencoded.png">    </p:cNvPr>
          <p:cNvPicPr>
            <a:picLocks noChangeAspect="1"/>
          </p:cNvPicPr>
          <p:nvPr/>
        </p:nvPicPr>
        <p:blipFill>
          <a:blip r:embed="rId25"/>
          <a:stretch>
            <a:fillRect/>
          </a:stretch>
        </p:blipFill>
        <p:spPr>
          <a:xfrm>
            <a:off x="11018520" y="2359152"/>
            <a:ext cx="237744" cy="274320"/>
          </a:xfrm>
          <a:prstGeom prst="rect">
            <a:avLst/>
          </a:prstGeom>
        </p:spPr>
      </p:pic>
      <p:sp>
        <p:nvSpPr>
          <p:cNvPr id="37" name="Text 10"/>
          <p:cNvSpPr txBox="1"/>
          <p:nvPr/>
        </p:nvSpPr>
        <p:spPr>
          <a:xfrm>
            <a:off x="827532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called the shipper back and couldn’t reach them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38" name="Group rule 1"/>
          <p:cNvSpPr/>
          <p:nvPr/>
        </p:nvSpPr>
        <p:spPr>
          <a:xfrm>
            <a:off x="4800600" y="3547872"/>
            <a:ext cx="6839712" cy="0"/>
          </a:xfrm>
          <a:prstGeom prst="line">
            <a:avLst/>
          </a:prstGeom>
          <a:noFill/>
          <a:ln w="12700">
            <a:solidFill>
              <a:srgbClr val="121A2C"/>
            </a:solidFill>
            <a:prstDash val="solid"/>
          </a:ln>
        </p:spPr>
      </p:sp>
      <p:pic>
        <p:nvPicPr>
          <p:cNvPr id="39" name="Face 10" descr="/private/tmp/claude-503/-Users-davark-Downloads-Everything-Github-Alodi-Regional-Codex-Hackathon-2026/91e569a8-486f-4c0b-b683-a4991468f039/scratchpad/deck/assets/shipper.png">    </p:cNvPr>
          <p:cNvPicPr>
            <a:picLocks noChangeAspect="1"/>
          </p:cNvPicPr>
          <p:nvPr/>
        </p:nvPicPr>
        <p:blipFill>
          <a:blip r:embed="rId26"/>
          <a:stretch>
            <a:fillRect/>
          </a:stretch>
        </p:blipFill>
        <p:spPr>
          <a:xfrm>
            <a:off x="4800600" y="3639312"/>
            <a:ext cx="365760" cy="365760"/>
          </a:xfrm>
          <a:prstGeom prst="rect">
            <a:avLst/>
          </a:prstGeom>
        </p:spPr>
      </p:pic>
      <p:pic>
        <p:nvPicPr>
          <p:cNvPr id="40" name="Face 11" descr="/private/tmp/claude-503/-Users-davark-Downloads-Everything-Github-Alodi-Regional-Codex-Hackathon-2026/91e569a8-486f-4c0b-b683-a4991468f039/scratchpad/deck/assets/next.png">    </p:cNvPr>
          <p:cNvPicPr>
            <a:picLocks noChangeAspect="1"/>
          </p:cNvPicPr>
          <p:nvPr/>
        </p:nvPicPr>
        <p:blipFill>
          <a:blip r:embed="rId27"/>
          <a:stretch>
            <a:fillRect/>
          </a:stretch>
        </p:blipFill>
        <p:spPr>
          <a:xfrm>
            <a:off x="5056632" y="3639312"/>
            <a:ext cx="365760" cy="365760"/>
          </a:xfrm>
          <a:prstGeom prst="rect">
            <a:avLst/>
          </a:prstGeom>
        </p:spPr>
      </p:pic>
      <p:pic>
        <p:nvPicPr>
          <p:cNvPr id="41" name="Face 12" descr="/private/tmp/claude-503/-Users-davark-Downloads-Everything-Github-Alodi-Regional-Codex-Hackathon-2026/91e569a8-486f-4c0b-b683-a4991468f039/scratchpad/deck/assets/b2.png">    </p:cNvPr>
          <p:cNvPicPr>
            <a:picLocks noChangeAspect="1"/>
          </p:cNvPicPr>
          <p:nvPr/>
        </p:nvPicPr>
        <p:blipFill>
          <a:blip r:embed="rId28"/>
          <a:stretch>
            <a:fillRect/>
          </a:stretch>
        </p:blipFill>
        <p:spPr>
          <a:xfrm>
            <a:off x="5312664" y="3639312"/>
            <a:ext cx="365760" cy="365760"/>
          </a:xfrm>
          <a:prstGeom prst="rect">
            <a:avLst/>
          </a:prstGeom>
        </p:spPr>
      </p:pic>
      <p:sp>
        <p:nvSpPr>
          <p:cNvPr id="42" name="Text 12"/>
          <p:cNvSpPr txBox="1"/>
          <p:nvPr/>
        </p:nvSpPr>
        <p:spPr>
          <a:xfrm>
            <a:off x="5797296" y="373075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SHIPPERS · N = 12 · 6 CARRIERS</a:t>
            </a:r>
            <a:endParaRPr lang="en-US" sz="950" dirty="0"/>
          </a:p>
        </p:txBody>
      </p:sp>
      <p:sp>
        <p:nvSpPr>
          <p:cNvPr id="43" name="Text 13"/>
          <p:cNvSpPr txBox="1"/>
          <p:nvPr/>
        </p:nvSpPr>
        <p:spPr>
          <a:xfrm>
            <a:off x="480060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27</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44" name="Pictogram 100" descr="preencoded.png">    </p:cNvPr>
          <p:cNvPicPr>
            <a:picLocks noChangeAspect="1"/>
          </p:cNvPicPr>
          <p:nvPr/>
        </p:nvPicPr>
        <p:blipFill>
          <a:blip r:embed="rId29"/>
          <a:stretch>
            <a:fillRect/>
          </a:stretch>
        </p:blipFill>
        <p:spPr>
          <a:xfrm>
            <a:off x="6446520" y="4059936"/>
            <a:ext cx="237744" cy="274320"/>
          </a:xfrm>
          <a:prstGeom prst="rect">
            <a:avLst/>
          </a:prstGeom>
        </p:spPr>
      </p:pic>
      <p:pic>
        <p:nvPicPr>
          <p:cNvPr id="45" name="Pictogram 101" descr="preencoded.png">    </p:cNvPr>
          <p:cNvPicPr>
            <a:picLocks noChangeAspect="1"/>
          </p:cNvPicPr>
          <p:nvPr/>
        </p:nvPicPr>
        <p:blipFill>
          <a:blip r:embed="rId30"/>
          <a:stretch>
            <a:fillRect/>
          </a:stretch>
        </p:blipFill>
        <p:spPr>
          <a:xfrm>
            <a:off x="6720840" y="4059936"/>
            <a:ext cx="237744" cy="274320"/>
          </a:xfrm>
          <a:prstGeom prst="rect">
            <a:avLst/>
          </a:prstGeom>
        </p:spPr>
      </p:pic>
      <p:pic>
        <p:nvPicPr>
          <p:cNvPr id="46" name="Pictogram 102" descr="preencoded.png">    </p:cNvPr>
          <p:cNvPicPr>
            <a:picLocks noChangeAspect="1"/>
          </p:cNvPicPr>
          <p:nvPr/>
        </p:nvPicPr>
        <p:blipFill>
          <a:blip r:embed="rId31"/>
          <a:stretch>
            <a:fillRect/>
          </a:stretch>
        </p:blipFill>
        <p:spPr>
          <a:xfrm>
            <a:off x="6995160" y="4059936"/>
            <a:ext cx="237744" cy="274320"/>
          </a:xfrm>
          <a:prstGeom prst="rect">
            <a:avLst/>
          </a:prstGeom>
        </p:spPr>
      </p:pic>
      <p:pic>
        <p:nvPicPr>
          <p:cNvPr id="47" name="Pictogram 103" descr="preencoded.png">    </p:cNvPr>
          <p:cNvPicPr>
            <a:picLocks noChangeAspect="1"/>
          </p:cNvPicPr>
          <p:nvPr/>
        </p:nvPicPr>
        <p:blipFill>
          <a:blip r:embed="rId32"/>
          <a:stretch>
            <a:fillRect/>
          </a:stretch>
        </p:blipFill>
        <p:spPr>
          <a:xfrm>
            <a:off x="7269480" y="4059936"/>
            <a:ext cx="237744" cy="274320"/>
          </a:xfrm>
          <a:prstGeom prst="rect">
            <a:avLst/>
          </a:prstGeom>
        </p:spPr>
      </p:pic>
      <p:pic>
        <p:nvPicPr>
          <p:cNvPr id="48" name="Pictogram 104" descr="preencoded.png">    </p:cNvPr>
          <p:cNvPicPr>
            <a:picLocks noChangeAspect="1"/>
          </p:cNvPicPr>
          <p:nvPr/>
        </p:nvPicPr>
        <p:blipFill>
          <a:blip r:embed="rId33"/>
          <a:stretch>
            <a:fillRect/>
          </a:stretch>
        </p:blipFill>
        <p:spPr>
          <a:xfrm>
            <a:off x="7543800" y="4059936"/>
            <a:ext cx="237744" cy="274320"/>
          </a:xfrm>
          <a:prstGeom prst="rect">
            <a:avLst/>
          </a:prstGeom>
        </p:spPr>
      </p:pic>
      <p:pic>
        <p:nvPicPr>
          <p:cNvPr id="49" name="Pictogram 105" descr="preencoded.png">    </p:cNvPr>
          <p:cNvPicPr>
            <a:picLocks noChangeAspect="1"/>
          </p:cNvPicPr>
          <p:nvPr/>
        </p:nvPicPr>
        <p:blipFill>
          <a:blip r:embed="rId34"/>
          <a:stretch>
            <a:fillRect/>
          </a:stretch>
        </p:blipFill>
        <p:spPr>
          <a:xfrm>
            <a:off x="6446520" y="4370832"/>
            <a:ext cx="237744" cy="274320"/>
          </a:xfrm>
          <a:prstGeom prst="rect">
            <a:avLst/>
          </a:prstGeom>
        </p:spPr>
      </p:pic>
      <p:pic>
        <p:nvPicPr>
          <p:cNvPr id="50" name="Pictogram 106" descr="preencoded.png">    </p:cNvPr>
          <p:cNvPicPr>
            <a:picLocks noChangeAspect="1"/>
          </p:cNvPicPr>
          <p:nvPr/>
        </p:nvPicPr>
        <p:blipFill>
          <a:blip r:embed="rId35"/>
          <a:stretch>
            <a:fillRect/>
          </a:stretch>
        </p:blipFill>
        <p:spPr>
          <a:xfrm>
            <a:off x="6720840" y="4370832"/>
            <a:ext cx="237744" cy="274320"/>
          </a:xfrm>
          <a:prstGeom prst="rect">
            <a:avLst/>
          </a:prstGeom>
        </p:spPr>
      </p:pic>
      <p:pic>
        <p:nvPicPr>
          <p:cNvPr id="51" name="Pictogram 107" descr="preencoded.png">    </p:cNvPr>
          <p:cNvPicPr>
            <a:picLocks noChangeAspect="1"/>
          </p:cNvPicPr>
          <p:nvPr/>
        </p:nvPicPr>
        <p:blipFill>
          <a:blip r:embed="rId36"/>
          <a:stretch>
            <a:fillRect/>
          </a:stretch>
        </p:blipFill>
        <p:spPr>
          <a:xfrm>
            <a:off x="6995160" y="4370832"/>
            <a:ext cx="237744" cy="274320"/>
          </a:xfrm>
          <a:prstGeom prst="rect">
            <a:avLst/>
          </a:prstGeom>
        </p:spPr>
      </p:pic>
      <p:pic>
        <p:nvPicPr>
          <p:cNvPr id="52" name="Pictogram 108" descr="preencoded.png">    </p:cNvPr>
          <p:cNvPicPr>
            <a:picLocks noChangeAspect="1"/>
          </p:cNvPicPr>
          <p:nvPr/>
        </p:nvPicPr>
        <p:blipFill>
          <a:blip r:embed="rId37"/>
          <a:stretch>
            <a:fillRect/>
          </a:stretch>
        </p:blipFill>
        <p:spPr>
          <a:xfrm>
            <a:off x="7269480" y="4370832"/>
            <a:ext cx="237744" cy="274320"/>
          </a:xfrm>
          <a:prstGeom prst="rect">
            <a:avLst/>
          </a:prstGeom>
        </p:spPr>
      </p:pic>
      <p:pic>
        <p:nvPicPr>
          <p:cNvPr id="53" name="Pictogram 109" descr="preencoded.png">    </p:cNvPr>
          <p:cNvPicPr>
            <a:picLocks noChangeAspect="1"/>
          </p:cNvPicPr>
          <p:nvPr/>
        </p:nvPicPr>
        <p:blipFill>
          <a:blip r:embed="rId38"/>
          <a:stretch>
            <a:fillRect/>
          </a:stretch>
        </p:blipFill>
        <p:spPr>
          <a:xfrm>
            <a:off x="7543800" y="4370832"/>
            <a:ext cx="237744" cy="274320"/>
          </a:xfrm>
          <a:prstGeom prst="rect">
            <a:avLst/>
          </a:prstGeom>
        </p:spPr>
      </p:pic>
      <p:sp>
        <p:nvSpPr>
          <p:cNvPr id="54" name="Text 14"/>
          <p:cNvSpPr txBox="1"/>
          <p:nvPr/>
        </p:nvSpPr>
        <p:spPr>
          <a:xfrm>
            <a:off x="480060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of their calls to buyers go unanswered</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55" name="Text 15"/>
          <p:cNvSpPr txBox="1"/>
          <p:nvPr/>
        </p:nvSpPr>
        <p:spPr>
          <a:xfrm>
            <a:off x="827532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83</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56" name="Pictogram 110" descr="preencoded.png">    </p:cNvPr>
          <p:cNvPicPr>
            <a:picLocks noChangeAspect="1"/>
          </p:cNvPicPr>
          <p:nvPr/>
        </p:nvPicPr>
        <p:blipFill>
          <a:blip r:embed="rId39"/>
          <a:stretch>
            <a:fillRect/>
          </a:stretch>
        </p:blipFill>
        <p:spPr>
          <a:xfrm>
            <a:off x="9921240" y="4059936"/>
            <a:ext cx="237744" cy="274320"/>
          </a:xfrm>
          <a:prstGeom prst="rect">
            <a:avLst/>
          </a:prstGeom>
        </p:spPr>
      </p:pic>
      <p:pic>
        <p:nvPicPr>
          <p:cNvPr id="57" name="Pictogram 111" descr="preencoded.png">    </p:cNvPr>
          <p:cNvPicPr>
            <a:picLocks noChangeAspect="1"/>
          </p:cNvPicPr>
          <p:nvPr/>
        </p:nvPicPr>
        <p:blipFill>
          <a:blip r:embed="rId40"/>
          <a:stretch>
            <a:fillRect/>
          </a:stretch>
        </p:blipFill>
        <p:spPr>
          <a:xfrm>
            <a:off x="10195560" y="4059936"/>
            <a:ext cx="237744" cy="274320"/>
          </a:xfrm>
          <a:prstGeom prst="rect">
            <a:avLst/>
          </a:prstGeom>
        </p:spPr>
      </p:pic>
      <p:pic>
        <p:nvPicPr>
          <p:cNvPr id="58" name="Pictogram 112" descr="preencoded.png">    </p:cNvPr>
          <p:cNvPicPr>
            <a:picLocks noChangeAspect="1"/>
          </p:cNvPicPr>
          <p:nvPr/>
        </p:nvPicPr>
        <p:blipFill>
          <a:blip r:embed="rId41"/>
          <a:stretch>
            <a:fillRect/>
          </a:stretch>
        </p:blipFill>
        <p:spPr>
          <a:xfrm>
            <a:off x="10469880" y="4059936"/>
            <a:ext cx="237744" cy="274320"/>
          </a:xfrm>
          <a:prstGeom prst="rect">
            <a:avLst/>
          </a:prstGeom>
        </p:spPr>
      </p:pic>
      <p:pic>
        <p:nvPicPr>
          <p:cNvPr id="59" name="Pictogram 113" descr="preencoded.png">    </p:cNvPr>
          <p:cNvPicPr>
            <a:picLocks noChangeAspect="1"/>
          </p:cNvPicPr>
          <p:nvPr/>
        </p:nvPicPr>
        <p:blipFill>
          <a:blip r:embed="rId42"/>
          <a:stretch>
            <a:fillRect/>
          </a:stretch>
        </p:blipFill>
        <p:spPr>
          <a:xfrm>
            <a:off x="10744200" y="4059936"/>
            <a:ext cx="237744" cy="274320"/>
          </a:xfrm>
          <a:prstGeom prst="rect">
            <a:avLst/>
          </a:prstGeom>
        </p:spPr>
      </p:pic>
      <p:pic>
        <p:nvPicPr>
          <p:cNvPr id="60" name="Pictogram 114" descr="preencoded.png">    </p:cNvPr>
          <p:cNvPicPr>
            <a:picLocks noChangeAspect="1"/>
          </p:cNvPicPr>
          <p:nvPr/>
        </p:nvPicPr>
        <p:blipFill>
          <a:blip r:embed="rId43"/>
          <a:stretch>
            <a:fillRect/>
          </a:stretch>
        </p:blipFill>
        <p:spPr>
          <a:xfrm>
            <a:off x="11018520" y="4059936"/>
            <a:ext cx="237744" cy="274320"/>
          </a:xfrm>
          <a:prstGeom prst="rect">
            <a:avLst/>
          </a:prstGeom>
        </p:spPr>
      </p:pic>
      <p:pic>
        <p:nvPicPr>
          <p:cNvPr id="61" name="Pictogram 115" descr="preencoded.png">    </p:cNvPr>
          <p:cNvPicPr>
            <a:picLocks noChangeAspect="1"/>
          </p:cNvPicPr>
          <p:nvPr/>
        </p:nvPicPr>
        <p:blipFill>
          <a:blip r:embed="rId44"/>
          <a:stretch>
            <a:fillRect/>
          </a:stretch>
        </p:blipFill>
        <p:spPr>
          <a:xfrm>
            <a:off x="9921240" y="4370832"/>
            <a:ext cx="237744" cy="274320"/>
          </a:xfrm>
          <a:prstGeom prst="rect">
            <a:avLst/>
          </a:prstGeom>
        </p:spPr>
      </p:pic>
      <p:pic>
        <p:nvPicPr>
          <p:cNvPr id="62" name="Pictogram 116" descr="preencoded.png">    </p:cNvPr>
          <p:cNvPicPr>
            <a:picLocks noChangeAspect="1"/>
          </p:cNvPicPr>
          <p:nvPr/>
        </p:nvPicPr>
        <p:blipFill>
          <a:blip r:embed="rId45"/>
          <a:stretch>
            <a:fillRect/>
          </a:stretch>
        </p:blipFill>
        <p:spPr>
          <a:xfrm>
            <a:off x="10195560" y="4370832"/>
            <a:ext cx="237744" cy="274320"/>
          </a:xfrm>
          <a:prstGeom prst="rect">
            <a:avLst/>
          </a:prstGeom>
        </p:spPr>
      </p:pic>
      <p:pic>
        <p:nvPicPr>
          <p:cNvPr id="63" name="Pictogram 117" descr="preencoded.png">    </p:cNvPr>
          <p:cNvPicPr>
            <a:picLocks noChangeAspect="1"/>
          </p:cNvPicPr>
          <p:nvPr/>
        </p:nvPicPr>
        <p:blipFill>
          <a:blip r:embed="rId46"/>
          <a:stretch>
            <a:fillRect/>
          </a:stretch>
        </p:blipFill>
        <p:spPr>
          <a:xfrm>
            <a:off x="10469880" y="4370832"/>
            <a:ext cx="237744" cy="274320"/>
          </a:xfrm>
          <a:prstGeom prst="rect">
            <a:avLst/>
          </a:prstGeom>
        </p:spPr>
      </p:pic>
      <p:pic>
        <p:nvPicPr>
          <p:cNvPr id="64" name="Pictogram 118" descr="preencoded.png">    </p:cNvPr>
          <p:cNvPicPr>
            <a:picLocks noChangeAspect="1"/>
          </p:cNvPicPr>
          <p:nvPr/>
        </p:nvPicPr>
        <p:blipFill>
          <a:blip r:embed="rId47"/>
          <a:stretch>
            <a:fillRect/>
          </a:stretch>
        </p:blipFill>
        <p:spPr>
          <a:xfrm>
            <a:off x="10744200" y="4370832"/>
            <a:ext cx="237744" cy="274320"/>
          </a:xfrm>
          <a:prstGeom prst="rect">
            <a:avLst/>
          </a:prstGeom>
        </p:spPr>
      </p:pic>
      <p:pic>
        <p:nvPicPr>
          <p:cNvPr id="65" name="Pictogram 119" descr="preencoded.png">    </p:cNvPr>
          <p:cNvPicPr>
            <a:picLocks noChangeAspect="1"/>
          </p:cNvPicPr>
          <p:nvPr/>
        </p:nvPicPr>
        <p:blipFill>
          <a:blip r:embed="rId48"/>
          <a:stretch>
            <a:fillRect/>
          </a:stretch>
        </p:blipFill>
        <p:spPr>
          <a:xfrm>
            <a:off x="11018520" y="4370832"/>
            <a:ext cx="237744" cy="274320"/>
          </a:xfrm>
          <a:prstGeom prst="rect">
            <a:avLst/>
          </a:prstGeom>
        </p:spPr>
      </p:pic>
      <p:sp>
        <p:nvSpPr>
          <p:cNvPr id="66" name="Text 16"/>
          <p:cNvSpPr txBox="1"/>
          <p:nvPr/>
        </p:nvSpPr>
        <p:spPr>
          <a:xfrm>
            <a:off x="827532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would use an Alodi-like system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67" name="Text 17"/>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534924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Rows top rule"/>
          <p:cNvSpPr/>
          <p:nvPr/>
        </p:nvSpPr>
        <p:spPr>
          <a:xfrm>
            <a:off x="548640" y="2148840"/>
            <a:ext cx="5349240" cy="0"/>
          </a:xfrm>
          <a:prstGeom prst="line">
            <a:avLst/>
          </a:prstGeom>
          <a:noFill/>
          <a:ln w="12700">
            <a:solidFill>
              <a:srgbClr val="121A2C"/>
            </a:solidFill>
            <a:prstDash val="solid"/>
          </a:ln>
        </p:spPr>
      </p:sp>
      <p:sp>
        <p:nvSpPr>
          <p:cNvPr id="6" name="Text 4"/>
          <p:cNvSpPr txBox="1"/>
          <p:nvPr/>
        </p:nvSpPr>
        <p:spPr>
          <a:xfrm>
            <a:off x="548640" y="2286000"/>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RETURN FEE</a:t>
            </a:r>
            <a:endParaRPr lang="en-US" sz="950" dirty="0"/>
          </a:p>
        </p:txBody>
      </p:sp>
      <p:sp>
        <p:nvSpPr>
          <p:cNvPr id="7" name="Text 5"/>
          <p:cNvSpPr txBox="1"/>
          <p:nvPr/>
        </p:nvSpPr>
        <p:spPr>
          <a:xfrm>
            <a:off x="548640" y="2542032"/>
            <a:ext cx="2468880" cy="73152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8" name="Text 6"/>
          <p:cNvSpPr txBox="1"/>
          <p:nvPr/>
        </p:nvSpPr>
        <p:spPr>
          <a:xfrm>
            <a:off x="3063240" y="2322576"/>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the seller pays to ship back a failed Shopee order; only 1 in 4 is rescued today.</a:t>
            </a:r>
            <a:pPr indent="0" marL="0">
              <a:buNone/>
            </a:pPr>
            <a:r>
              <a:rPr lang="en-US" sz="1000" dirty="0">
                <a:solidFill>
                  <a:srgbClr val="4A556E"/>
                </a:solidFill>
                <a:latin typeface="Arial" pitchFamily="34" charset="0"/>
                <a:ea typeface="Arial" pitchFamily="34" charset="-122"/>
                <a:cs typeface="Arial" pitchFamily="34" charset="-120"/>
              </a:rPr>
              <a:t> [2][3][8]</a:t>
            </a:r>
            <a:endParaRPr lang="en-US" sz="1350" dirty="0"/>
          </a:p>
        </p:txBody>
      </p:sp>
      <p:sp>
        <p:nvSpPr>
          <p:cNvPr id="9" name="Row rule 0"/>
          <p:cNvSpPr/>
          <p:nvPr/>
        </p:nvSpPr>
        <p:spPr>
          <a:xfrm>
            <a:off x="548640" y="3447288"/>
            <a:ext cx="5349240" cy="0"/>
          </a:xfrm>
          <a:prstGeom prst="line">
            <a:avLst/>
          </a:prstGeom>
          <a:noFill/>
          <a:ln w="9525">
            <a:solidFill>
              <a:srgbClr val="D5D9E2"/>
            </a:solidFill>
            <a:prstDash val="solid"/>
          </a:ln>
        </p:spPr>
      </p:sp>
      <p:sp>
        <p:nvSpPr>
          <p:cNvPr id="10" name="Text 8"/>
          <p:cNvSpPr txBox="1"/>
          <p:nvPr/>
        </p:nvSpPr>
        <p:spPr>
          <a:xfrm>
            <a:off x="548640" y="3538728"/>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REFUSED AT THE DOOR</a:t>
            </a:r>
            <a:endParaRPr lang="en-US" sz="950" dirty="0"/>
          </a:p>
        </p:txBody>
      </p:sp>
      <p:sp>
        <p:nvSpPr>
          <p:cNvPr id="11" name="Text 9"/>
          <p:cNvSpPr txBox="1"/>
          <p:nvPr/>
        </p:nvSpPr>
        <p:spPr>
          <a:xfrm>
            <a:off x="548640" y="3794760"/>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2" name="Text 10"/>
          <p:cNvSpPr txBox="1"/>
          <p:nvPr/>
        </p:nvSpPr>
        <p:spPr>
          <a:xfrm>
            <a:off x="3063240" y="3575304"/>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4A556E"/>
                </a:solidFill>
                <a:latin typeface="Arial" pitchFamily="34" charset="0"/>
                <a:ea typeface="Arial" pitchFamily="34" charset="-122"/>
                <a:cs typeface="Arial" pitchFamily="34" charset="-120"/>
              </a:rPr>
              <a:t> [4]</a:t>
            </a:r>
            <a:endParaRPr lang="en-US" sz="1350" dirty="0"/>
          </a:p>
        </p:txBody>
      </p:sp>
      <p:sp>
        <p:nvSpPr>
          <p:cNvPr id="13" name="Row rule 1"/>
          <p:cNvSpPr/>
          <p:nvPr/>
        </p:nvSpPr>
        <p:spPr>
          <a:xfrm>
            <a:off x="548640" y="4700016"/>
            <a:ext cx="5349240" cy="0"/>
          </a:xfrm>
          <a:prstGeom prst="line">
            <a:avLst/>
          </a:prstGeom>
          <a:noFill/>
          <a:ln w="9525">
            <a:solidFill>
              <a:srgbClr val="D5D9E2"/>
            </a:solidFill>
            <a:prstDash val="solid"/>
          </a:ln>
        </p:spPr>
      </p:sp>
      <p:sp>
        <p:nvSpPr>
          <p:cNvPr id="14" name="Text 12"/>
          <p:cNvSpPr txBox="1"/>
          <p:nvPr/>
        </p:nvSpPr>
        <p:spPr>
          <a:xfrm>
            <a:off x="548640" y="4791456"/>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SHOPEE · DELIVERY WINDOWS</a:t>
            </a:r>
            <a:endParaRPr lang="en-US" sz="950" dirty="0"/>
          </a:p>
        </p:txBody>
      </p:sp>
      <p:sp>
        <p:nvSpPr>
          <p:cNvPr id="15" name="Text 13"/>
          <p:cNvSpPr txBox="1"/>
          <p:nvPr/>
        </p:nvSpPr>
        <p:spPr>
          <a:xfrm>
            <a:off x="548640" y="5047488"/>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6" name="Text 14"/>
          <p:cNvSpPr txBox="1"/>
          <p:nvPr/>
        </p:nvSpPr>
        <p:spPr>
          <a:xfrm>
            <a:off x="3063240" y="4828032"/>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a buyer can choose. The time is agreed by phone, within 2–3 contacts and 5 days.</a:t>
            </a:r>
            <a:pPr indent="0" marL="0">
              <a:buNone/>
            </a:pPr>
            <a:r>
              <a:rPr lang="en-US" sz="1000" dirty="0">
                <a:solidFill>
                  <a:srgbClr val="4A556E"/>
                </a:solidFill>
                <a:latin typeface="Arial" pitchFamily="34" charset="0"/>
                <a:ea typeface="Arial" pitchFamily="34" charset="-122"/>
                <a:cs typeface="Arial" pitchFamily="34" charset="-120"/>
              </a:rPr>
              <a:t> [5][6]</a:t>
            </a:r>
            <a:endParaRPr lang="en-US" sz="1350" dirty="0"/>
          </a:p>
        </p:txBody>
      </p:sp>
      <p:sp>
        <p:nvSpPr>
          <p:cNvPr id="17" name="Loss card"/>
          <p:cNvSpPr/>
          <p:nvPr/>
        </p:nvSpPr>
        <p:spPr>
          <a:xfrm>
            <a:off x="6199632" y="502920"/>
            <a:ext cx="5440680" cy="5486400"/>
          </a:xfrm>
          <a:prstGeom prst="roundRect">
            <a:avLst>
              <a:gd name="adj" fmla="val 3361"/>
            </a:avLst>
          </a:prstGeom>
          <a:solidFill>
            <a:srgbClr val="FFF1E7"/>
          </a:solidFill>
          <a:ln w="9525">
            <a:solidFill>
              <a:srgbClr val="FFCFB0"/>
            </a:solidFill>
            <a:prstDash val="solid"/>
          </a:ln>
        </p:spPr>
      </p:sp>
      <p:sp>
        <p:nvSpPr>
          <p:cNvPr id="18" name="Text 16"/>
          <p:cNvSpPr txBox="1"/>
          <p:nvPr/>
        </p:nvSpPr>
        <p:spPr>
          <a:xfrm>
            <a:off x="6492240" y="749808"/>
            <a:ext cx="36576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LOSS · ONE AREA · A MONTH</a:t>
            </a:r>
            <a:endParaRPr lang="en-US" sz="950" dirty="0"/>
          </a:p>
        </p:txBody>
      </p:sp>
      <p:graphicFrame>
        <p:nvGraphicFramePr>
          <p:cNvPr id="19" name="Loss chart" descr="Loss a month by item"/>
          <p:cNvGraphicFramePr/>
          <p:nvPr/>
        </p:nvGraphicFramePr>
        <p:xfrm>
          <a:off x="7406640" y="1005840"/>
          <a:ext cx="301752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406640" y="2103120"/>
            <a:ext cx="3017520" cy="548640"/>
          </a:xfrm>
          <a:prstGeom prst="rect">
            <a:avLst/>
          </a:prstGeom>
          <a:noFill/>
          <a:ln/>
        </p:spPr>
        <p:txBody>
          <a:bodyPr wrap="square" lIns="0" tIns="0" rIns="0" bIns="0" rtlCol="0" anchor="ctr"/>
          <a:lstStyle/>
          <a:p>
            <a:pPr algn="ctr" indent="0" marL="0">
              <a:buNone/>
            </a:pPr>
            <a:r>
              <a:rPr lang="en-US" sz="3000" b="1" dirty="0">
                <a:solidFill>
                  <a:srgbClr val="F05A00"/>
                </a:solidFill>
                <a:latin typeface="Arial" pitchFamily="34" charset="0"/>
                <a:ea typeface="Arial" pitchFamily="34" charset="-122"/>
                <a:cs typeface="Arial" pitchFamily="34" charset="-120"/>
              </a:rPr>
              <a:t>₫</a:t>
            </a:r>
            <a:pPr algn="ctr" indent="0" marL="0">
              <a:buNone/>
            </a:pPr>
            <a:r>
              <a:rPr lang="en-US" sz="3000" b="1" dirty="0">
                <a:solidFill>
                  <a:srgbClr val="121A2C"/>
                </a:solidFill>
                <a:latin typeface="Arial" pitchFamily="34" charset="0"/>
                <a:ea typeface="Arial" pitchFamily="34" charset="-122"/>
                <a:cs typeface="Arial" pitchFamily="34" charset="-120"/>
              </a:rPr>
              <a:t>473M</a:t>
            </a:r>
            <a:endParaRPr lang="en-US" sz="3000" dirty="0"/>
          </a:p>
        </p:txBody>
      </p:sp>
      <p:sp>
        <p:nvSpPr>
          <p:cNvPr id="21" name="Legend rule 0"/>
          <p:cNvSpPr/>
          <p:nvPr/>
        </p:nvSpPr>
        <p:spPr>
          <a:xfrm>
            <a:off x="6492240" y="3840480"/>
            <a:ext cx="4846320" cy="0"/>
          </a:xfrm>
          <a:prstGeom prst="line">
            <a:avLst/>
          </a:prstGeom>
          <a:noFill/>
          <a:ln w="9525">
            <a:solidFill>
              <a:srgbClr val="FFCFB0"/>
            </a:solidFill>
            <a:prstDash val="solid"/>
          </a:ln>
        </p:spPr>
      </p:sp>
      <p:sp>
        <p:nvSpPr>
          <p:cNvPr id="22" name="Legend dot 0"/>
          <p:cNvSpPr/>
          <p:nvPr/>
        </p:nvSpPr>
        <p:spPr>
          <a:xfrm>
            <a:off x="6492240" y="3968496"/>
            <a:ext cx="146304" cy="146304"/>
          </a:xfrm>
          <a:prstGeom prst="ellipse">
            <a:avLst/>
          </a:prstGeom>
          <a:solidFill>
            <a:srgbClr val="F05A00"/>
          </a:solidFill>
          <a:ln/>
        </p:spPr>
      </p:sp>
      <p:sp>
        <p:nvSpPr>
          <p:cNvPr id="23" name="Text 20"/>
          <p:cNvSpPr txBox="1"/>
          <p:nvPr/>
        </p:nvSpPr>
        <p:spPr>
          <a:xfrm>
            <a:off x="6748272" y="3913632"/>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Return fees paid by sellers</a:t>
            </a:r>
            <a:endParaRPr lang="en-US" sz="1250" dirty="0"/>
          </a:p>
        </p:txBody>
      </p:sp>
      <p:sp>
        <p:nvSpPr>
          <p:cNvPr id="24" name="Text 21"/>
          <p:cNvSpPr txBox="1"/>
          <p:nvPr/>
        </p:nvSpPr>
        <p:spPr>
          <a:xfrm>
            <a:off x="10332720" y="3913632"/>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₫288M</a:t>
            </a:r>
            <a:endParaRPr lang="en-US" sz="1300" dirty="0"/>
          </a:p>
        </p:txBody>
      </p:sp>
      <p:sp>
        <p:nvSpPr>
          <p:cNvPr id="25" name="Legend rule 1"/>
          <p:cNvSpPr/>
          <p:nvPr/>
        </p:nvSpPr>
        <p:spPr>
          <a:xfrm>
            <a:off x="6492240" y="4242816"/>
            <a:ext cx="4846320" cy="0"/>
          </a:xfrm>
          <a:prstGeom prst="line">
            <a:avLst/>
          </a:prstGeom>
          <a:noFill/>
          <a:ln w="9525">
            <a:solidFill>
              <a:srgbClr val="FFCFB0"/>
            </a:solidFill>
            <a:prstDash val="solid"/>
          </a:ln>
        </p:spPr>
      </p:sp>
      <p:sp>
        <p:nvSpPr>
          <p:cNvPr id="26" name="Legend dot 1"/>
          <p:cNvSpPr/>
          <p:nvPr/>
        </p:nvSpPr>
        <p:spPr>
          <a:xfrm>
            <a:off x="6492240" y="4370832"/>
            <a:ext cx="146304" cy="146304"/>
          </a:xfrm>
          <a:prstGeom prst="ellipse">
            <a:avLst/>
          </a:prstGeom>
          <a:solidFill>
            <a:srgbClr val="1F2A44"/>
          </a:solidFill>
          <a:ln/>
        </p:spPr>
      </p:sp>
      <p:sp>
        <p:nvSpPr>
          <p:cNvPr id="27" name="Text 24"/>
          <p:cNvSpPr txBox="1"/>
          <p:nvPr/>
        </p:nvSpPr>
        <p:spPr>
          <a:xfrm>
            <a:off x="6748272" y="4315968"/>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pay for redelivery</a:t>
            </a:r>
            <a:endParaRPr lang="en-US" sz="1250" dirty="0"/>
          </a:p>
        </p:txBody>
      </p:sp>
      <p:sp>
        <p:nvSpPr>
          <p:cNvPr id="28" name="Text 25"/>
          <p:cNvSpPr txBox="1"/>
          <p:nvPr/>
        </p:nvSpPr>
        <p:spPr>
          <a:xfrm>
            <a:off x="10332720" y="4315968"/>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₫101M</a:t>
            </a:r>
            <a:endParaRPr lang="en-US" sz="1300" dirty="0"/>
          </a:p>
        </p:txBody>
      </p:sp>
      <p:sp>
        <p:nvSpPr>
          <p:cNvPr id="29" name="Legend rule 2"/>
          <p:cNvSpPr/>
          <p:nvPr/>
        </p:nvSpPr>
        <p:spPr>
          <a:xfrm>
            <a:off x="6492240" y="4645152"/>
            <a:ext cx="4846320" cy="0"/>
          </a:xfrm>
          <a:prstGeom prst="line">
            <a:avLst/>
          </a:prstGeom>
          <a:noFill/>
          <a:ln w="9525">
            <a:solidFill>
              <a:srgbClr val="FFCFB0"/>
            </a:solidFill>
            <a:prstDash val="solid"/>
          </a:ln>
        </p:spPr>
      </p:sp>
      <p:sp>
        <p:nvSpPr>
          <p:cNvPr id="30" name="Legend dot 2"/>
          <p:cNvSpPr/>
          <p:nvPr/>
        </p:nvSpPr>
        <p:spPr>
          <a:xfrm>
            <a:off x="6492240" y="4773168"/>
            <a:ext cx="146304" cy="146304"/>
          </a:xfrm>
          <a:prstGeom prst="ellipse">
            <a:avLst/>
          </a:prstGeom>
          <a:solidFill>
            <a:srgbClr val="7D8FB5"/>
          </a:solidFill>
          <a:ln/>
        </p:spPr>
      </p:sp>
      <p:sp>
        <p:nvSpPr>
          <p:cNvPr id="31" name="Text 28"/>
          <p:cNvSpPr txBox="1"/>
          <p:nvPr/>
        </p:nvSpPr>
        <p:spPr>
          <a:xfrm>
            <a:off x="6748272" y="4718304"/>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CS calling buyers back</a:t>
            </a:r>
            <a:endParaRPr lang="en-US" sz="1250" dirty="0"/>
          </a:p>
        </p:txBody>
      </p:sp>
      <p:sp>
        <p:nvSpPr>
          <p:cNvPr id="32" name="Text 29"/>
          <p:cNvSpPr txBox="1"/>
          <p:nvPr/>
        </p:nvSpPr>
        <p:spPr>
          <a:xfrm>
            <a:off x="10332720" y="4718304"/>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₫45M</a:t>
            </a:r>
            <a:endParaRPr lang="en-US" sz="1300" dirty="0"/>
          </a:p>
        </p:txBody>
      </p:sp>
      <p:sp>
        <p:nvSpPr>
          <p:cNvPr id="33" name="Legend rule 3"/>
          <p:cNvSpPr/>
          <p:nvPr/>
        </p:nvSpPr>
        <p:spPr>
          <a:xfrm>
            <a:off x="6492240" y="5047488"/>
            <a:ext cx="4846320" cy="0"/>
          </a:xfrm>
          <a:prstGeom prst="line">
            <a:avLst/>
          </a:prstGeom>
          <a:noFill/>
          <a:ln w="9525">
            <a:solidFill>
              <a:srgbClr val="FFCFB0"/>
            </a:solidFill>
            <a:prstDash val="solid"/>
          </a:ln>
        </p:spPr>
      </p:sp>
      <p:sp>
        <p:nvSpPr>
          <p:cNvPr id="34" name="Legend dot 3"/>
          <p:cNvSpPr/>
          <p:nvPr/>
        </p:nvSpPr>
        <p:spPr>
          <a:xfrm>
            <a:off x="6492240" y="5175504"/>
            <a:ext cx="146304" cy="146304"/>
          </a:xfrm>
          <a:prstGeom prst="ellipse">
            <a:avLst/>
          </a:prstGeom>
          <a:solidFill>
            <a:srgbClr val="C9D4EA"/>
          </a:solidFill>
          <a:ln/>
        </p:spPr>
      </p:sp>
      <p:sp>
        <p:nvSpPr>
          <p:cNvPr id="35" name="Text 32"/>
          <p:cNvSpPr txBox="1"/>
          <p:nvPr/>
        </p:nvSpPr>
        <p:spPr>
          <a:xfrm>
            <a:off x="6748272" y="5120640"/>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time at unanswered doors</a:t>
            </a:r>
            <a:endParaRPr lang="en-US" sz="1250" dirty="0"/>
          </a:p>
        </p:txBody>
      </p:sp>
      <p:sp>
        <p:nvSpPr>
          <p:cNvPr id="36" name="Text 33"/>
          <p:cNvSpPr txBox="1"/>
          <p:nvPr/>
        </p:nvSpPr>
        <p:spPr>
          <a:xfrm>
            <a:off x="10332720" y="5120640"/>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₫39M</a:t>
            </a:r>
            <a:endParaRPr lang="en-US" sz="1300" dirty="0"/>
          </a:p>
        </p:txBody>
      </p:sp>
      <p:sp>
        <p:nvSpPr>
          <p:cNvPr id="37" name="Text 34"/>
          <p:cNvSpPr txBox="1"/>
          <p:nvPr/>
        </p:nvSpPr>
        <p:spPr>
          <a:xfrm>
            <a:off x="6492240" y="5486400"/>
            <a:ext cx="4846320" cy="274320"/>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20 shippers, 4,000 orders a day. Modelled.</a:t>
            </a:r>
            <a:pPr indent="0" marL="0">
              <a:buNone/>
            </a:pPr>
            <a:r>
              <a:rPr lang="en-US" sz="1000" dirty="0">
                <a:solidFill>
                  <a:srgbClr val="4A556E"/>
                </a:solidFill>
                <a:latin typeface="Arial" pitchFamily="34" charset="0"/>
                <a:ea typeface="Arial" pitchFamily="34" charset="-122"/>
                <a:cs typeface="Arial" pitchFamily="34" charset="-120"/>
              </a:rPr>
              <a:t> [7][9]</a:t>
            </a:r>
            <a:endParaRPr lang="en-US" sz="1100" dirty="0"/>
          </a:p>
        </p:txBody>
      </p:sp>
      <p:sp>
        <p:nvSpPr>
          <p:cNvPr id="38" name="Text 3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54864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Link 0"/>
          <p:cNvSpPr/>
          <p:nvPr/>
        </p:nvSpPr>
        <p:spPr>
          <a:xfrm>
            <a:off x="3657600" y="2034540"/>
            <a:ext cx="530352" cy="982980"/>
          </a:xfrm>
          <a:prstGeom prst="line">
            <a:avLst/>
          </a:prstGeom>
          <a:noFill/>
          <a:ln w="12700">
            <a:solidFill>
              <a:srgbClr val="5F6F91"/>
            </a:solidFill>
            <a:prstDash val="sysDash"/>
          </a:ln>
        </p:spPr>
      </p:sp>
      <p:sp>
        <p:nvSpPr>
          <p:cNvPr id="6" name="Actor 1"/>
          <p:cNvSpPr/>
          <p:nvPr/>
        </p:nvSpPr>
        <p:spPr>
          <a:xfrm>
            <a:off x="548640" y="1600200"/>
            <a:ext cx="3108960" cy="868680"/>
          </a:xfrm>
          <a:prstGeom prst="roundRect">
            <a:avLst>
              <a:gd name="adj" fmla="val 14737"/>
            </a:avLst>
          </a:prstGeom>
          <a:solidFill>
            <a:srgbClr val="FFFFFF"/>
          </a:solidFill>
          <a:ln w="9525">
            <a:solidFill>
              <a:srgbClr val="D5D9E2"/>
            </a:solidFill>
            <a:prstDash val="solid"/>
          </a:ln>
        </p:spPr>
      </p:sp>
      <p:pic>
        <p:nvPicPr>
          <p:cNvPr id="7" name="Person 1" descr="Shipper">    </p:cNvPr>
          <p:cNvPicPr>
            <a:picLocks noChangeAspect="1"/>
          </p:cNvPicPr>
          <p:nvPr/>
        </p:nvPicPr>
        <p:blipFill>
          <a:blip r:embed="rId1"/>
          <a:stretch>
            <a:fillRect/>
          </a:stretch>
        </p:blipFill>
        <p:spPr>
          <a:xfrm>
            <a:off x="676656" y="1755648"/>
            <a:ext cx="566928" cy="566928"/>
          </a:xfrm>
          <a:prstGeom prst="rect">
            <a:avLst/>
          </a:prstGeom>
        </p:spPr>
      </p:pic>
      <p:sp>
        <p:nvSpPr>
          <p:cNvPr id="8" name="Text 5"/>
          <p:cNvSpPr txBox="1"/>
          <p:nvPr/>
        </p:nvSpPr>
        <p:spPr>
          <a:xfrm>
            <a:off x="1353312"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Shipper</a:t>
            </a:r>
            <a:endParaRPr lang="en-US" sz="1300" dirty="0"/>
          </a:p>
        </p:txBody>
      </p:sp>
      <p:sp>
        <p:nvSpPr>
          <p:cNvPr id="9" name="Text 6"/>
          <p:cNvSpPr txBox="1"/>
          <p:nvPr/>
        </p:nvSpPr>
        <p:spPr>
          <a:xfrm>
            <a:off x="1353312"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Taps one outcome</a:t>
            </a:r>
            <a:endParaRPr lang="en-US" sz="1150" dirty="0"/>
          </a:p>
        </p:txBody>
      </p:sp>
      <p:sp>
        <p:nvSpPr>
          <p:cNvPr id="10" name="Tag 0"/>
          <p:cNvSpPr/>
          <p:nvPr/>
        </p:nvSpPr>
        <p:spPr>
          <a:xfrm>
            <a:off x="2907792" y="1737360"/>
            <a:ext cx="640080" cy="228600"/>
          </a:xfrm>
          <a:prstGeom prst="roundRect">
            <a:avLst>
              <a:gd name="adj" fmla="val 24000"/>
            </a:avLst>
          </a:prstGeom>
          <a:solidFill>
            <a:srgbClr val="E9EEF8"/>
          </a:solidFill>
          <a:ln/>
        </p:spPr>
      </p:sp>
      <p:sp>
        <p:nvSpPr>
          <p:cNvPr id="11" name="Text 8"/>
          <p:cNvSpPr txBox="1"/>
          <p:nvPr/>
        </p:nvSpPr>
        <p:spPr>
          <a:xfrm>
            <a:off x="2907792"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TAP</a:t>
            </a:r>
            <a:endParaRPr lang="en-US" sz="750" dirty="0"/>
          </a:p>
        </p:txBody>
      </p:sp>
      <p:sp>
        <p:nvSpPr>
          <p:cNvPr id="12" name="Link 1"/>
          <p:cNvSpPr/>
          <p:nvPr/>
        </p:nvSpPr>
        <p:spPr>
          <a:xfrm>
            <a:off x="3657600" y="3012948"/>
            <a:ext cx="530352" cy="4572"/>
          </a:xfrm>
          <a:prstGeom prst="line">
            <a:avLst/>
          </a:prstGeom>
          <a:noFill/>
          <a:ln w="12700">
            <a:solidFill>
              <a:srgbClr val="5F6F91"/>
            </a:solidFill>
            <a:prstDash val="sysDash"/>
          </a:ln>
        </p:spPr>
      </p:sp>
      <p:sp>
        <p:nvSpPr>
          <p:cNvPr id="13" name="Actor 2"/>
          <p:cNvSpPr/>
          <p:nvPr/>
        </p:nvSpPr>
        <p:spPr>
          <a:xfrm>
            <a:off x="548640" y="2578608"/>
            <a:ext cx="3108960" cy="868680"/>
          </a:xfrm>
          <a:prstGeom prst="roundRect">
            <a:avLst>
              <a:gd name="adj" fmla="val 14737"/>
            </a:avLst>
          </a:prstGeom>
          <a:solidFill>
            <a:srgbClr val="FFFFFF"/>
          </a:solidFill>
          <a:ln w="9525">
            <a:solidFill>
              <a:srgbClr val="D5D9E2"/>
            </a:solidFill>
            <a:prstDash val="solid"/>
          </a:ln>
        </p:spPr>
      </p:sp>
      <p:pic>
        <p:nvPicPr>
          <p:cNvPr id="14" name="Person 2" descr="Buyer">    </p:cNvPr>
          <p:cNvPicPr>
            <a:picLocks noChangeAspect="1"/>
          </p:cNvPicPr>
          <p:nvPr/>
        </p:nvPicPr>
        <p:blipFill>
          <a:blip r:embed="rId2"/>
          <a:stretch>
            <a:fillRect/>
          </a:stretch>
        </p:blipFill>
        <p:spPr>
          <a:xfrm>
            <a:off x="676656" y="2734056"/>
            <a:ext cx="566928" cy="566928"/>
          </a:xfrm>
          <a:prstGeom prst="rect">
            <a:avLst/>
          </a:prstGeom>
        </p:spPr>
      </p:pic>
      <p:sp>
        <p:nvSpPr>
          <p:cNvPr id="15" name="Text 11"/>
          <p:cNvSpPr txBox="1"/>
          <p:nvPr/>
        </p:nvSpPr>
        <p:spPr>
          <a:xfrm>
            <a:off x="1353312"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Buyer</a:t>
            </a:r>
            <a:endParaRPr lang="en-US" sz="1300" dirty="0"/>
          </a:p>
        </p:txBody>
      </p:sp>
      <p:sp>
        <p:nvSpPr>
          <p:cNvPr id="16" name="Text 12"/>
          <p:cNvSpPr txBox="1"/>
          <p:nvPr/>
        </p:nvSpPr>
        <p:spPr>
          <a:xfrm>
            <a:off x="1353312"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Answers in chat or on a call</a:t>
            </a:r>
            <a:endParaRPr lang="en-US" sz="1150" dirty="0"/>
          </a:p>
        </p:txBody>
      </p:sp>
      <p:sp>
        <p:nvSpPr>
          <p:cNvPr id="17" name="Tag 1"/>
          <p:cNvSpPr/>
          <p:nvPr/>
        </p:nvSpPr>
        <p:spPr>
          <a:xfrm>
            <a:off x="2907792" y="2715768"/>
            <a:ext cx="640080" cy="228600"/>
          </a:xfrm>
          <a:prstGeom prst="roundRect">
            <a:avLst>
              <a:gd name="adj" fmla="val 24000"/>
            </a:avLst>
          </a:prstGeom>
          <a:solidFill>
            <a:srgbClr val="E9EEF8"/>
          </a:solidFill>
          <a:ln/>
        </p:spPr>
      </p:sp>
      <p:sp>
        <p:nvSpPr>
          <p:cNvPr id="18" name="Text 14"/>
          <p:cNvSpPr txBox="1"/>
          <p:nvPr/>
        </p:nvSpPr>
        <p:spPr>
          <a:xfrm>
            <a:off x="2907792"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ANSWER</a:t>
            </a:r>
            <a:endParaRPr lang="en-US" sz="750" dirty="0"/>
          </a:p>
        </p:txBody>
      </p:sp>
      <p:sp>
        <p:nvSpPr>
          <p:cNvPr id="19" name="Link 2"/>
          <p:cNvSpPr/>
          <p:nvPr/>
        </p:nvSpPr>
        <p:spPr>
          <a:xfrm flipV="1">
            <a:off x="3657600" y="3017520"/>
            <a:ext cx="530352" cy="973836"/>
          </a:xfrm>
          <a:prstGeom prst="line">
            <a:avLst/>
          </a:prstGeom>
          <a:noFill/>
          <a:ln w="12700">
            <a:solidFill>
              <a:srgbClr val="5F6F91"/>
            </a:solidFill>
            <a:prstDash val="sysDash"/>
          </a:ln>
        </p:spPr>
      </p:sp>
      <p:sp>
        <p:nvSpPr>
          <p:cNvPr id="20" name="Actor 3"/>
          <p:cNvSpPr/>
          <p:nvPr/>
        </p:nvSpPr>
        <p:spPr>
          <a:xfrm>
            <a:off x="548640" y="3557016"/>
            <a:ext cx="3108960" cy="868680"/>
          </a:xfrm>
          <a:prstGeom prst="roundRect">
            <a:avLst>
              <a:gd name="adj" fmla="val 14737"/>
            </a:avLst>
          </a:prstGeom>
          <a:solidFill>
            <a:srgbClr val="FFFFFF"/>
          </a:solidFill>
          <a:ln w="9525">
            <a:solidFill>
              <a:srgbClr val="D5D9E2"/>
            </a:solidFill>
            <a:prstDash val="solid"/>
          </a:ln>
        </p:spPr>
      </p:sp>
      <p:pic>
        <p:nvPicPr>
          <p:cNvPr id="21" name="Person 3" descr="Hub ops">    </p:cNvPr>
          <p:cNvPicPr>
            <a:picLocks noChangeAspect="1"/>
          </p:cNvPicPr>
          <p:nvPr/>
        </p:nvPicPr>
        <p:blipFill>
          <a:blip r:embed="rId3"/>
          <a:stretch>
            <a:fillRect/>
          </a:stretch>
        </p:blipFill>
        <p:spPr>
          <a:xfrm>
            <a:off x="676656" y="3712464"/>
            <a:ext cx="566928" cy="566928"/>
          </a:xfrm>
          <a:prstGeom prst="rect">
            <a:avLst/>
          </a:prstGeom>
        </p:spPr>
      </p:pic>
      <p:sp>
        <p:nvSpPr>
          <p:cNvPr id="22" name="Text 17"/>
          <p:cNvSpPr txBox="1"/>
          <p:nvPr/>
        </p:nvSpPr>
        <p:spPr>
          <a:xfrm>
            <a:off x="1353312"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Hub ops</a:t>
            </a:r>
            <a:endParaRPr lang="en-US" sz="1300" dirty="0"/>
          </a:p>
        </p:txBody>
      </p:sp>
      <p:sp>
        <p:nvSpPr>
          <p:cNvPr id="23" name="Text 18"/>
          <p:cNvSpPr txBox="1"/>
          <p:nvPr/>
        </p:nvSpPr>
        <p:spPr>
          <a:xfrm>
            <a:off x="1353312"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Route and order data</a:t>
            </a:r>
            <a:endParaRPr lang="en-US" sz="1150" dirty="0"/>
          </a:p>
        </p:txBody>
      </p:sp>
      <p:sp>
        <p:nvSpPr>
          <p:cNvPr id="24" name="Tag 2"/>
          <p:cNvSpPr/>
          <p:nvPr/>
        </p:nvSpPr>
        <p:spPr>
          <a:xfrm>
            <a:off x="2907792" y="3694176"/>
            <a:ext cx="640080" cy="228600"/>
          </a:xfrm>
          <a:prstGeom prst="roundRect">
            <a:avLst>
              <a:gd name="adj" fmla="val 24000"/>
            </a:avLst>
          </a:prstGeom>
          <a:solidFill>
            <a:srgbClr val="E9EEF8"/>
          </a:solidFill>
          <a:ln/>
        </p:spPr>
      </p:sp>
      <p:sp>
        <p:nvSpPr>
          <p:cNvPr id="25" name="Text 20"/>
          <p:cNvSpPr txBox="1"/>
          <p:nvPr/>
        </p:nvSpPr>
        <p:spPr>
          <a:xfrm>
            <a:off x="2907792"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DATA</a:t>
            </a:r>
            <a:endParaRPr lang="en-US" sz="750" dirty="0"/>
          </a:p>
        </p:txBody>
      </p:sp>
      <p:sp>
        <p:nvSpPr>
          <p:cNvPr id="26" name="Link 3"/>
          <p:cNvSpPr/>
          <p:nvPr/>
        </p:nvSpPr>
        <p:spPr>
          <a:xfrm flipV="1">
            <a:off x="8001000" y="2034540"/>
            <a:ext cx="530352" cy="982980"/>
          </a:xfrm>
          <a:prstGeom prst="line">
            <a:avLst/>
          </a:prstGeom>
          <a:noFill/>
          <a:ln w="12700">
            <a:solidFill>
              <a:srgbClr val="5F6F91"/>
            </a:solidFill>
            <a:prstDash val="sysDash"/>
          </a:ln>
        </p:spPr>
      </p:sp>
      <p:sp>
        <p:nvSpPr>
          <p:cNvPr id="27" name="Actor 4"/>
          <p:cNvSpPr/>
          <p:nvPr/>
        </p:nvSpPr>
        <p:spPr>
          <a:xfrm>
            <a:off x="8531352" y="1600200"/>
            <a:ext cx="3108960" cy="868680"/>
          </a:xfrm>
          <a:prstGeom prst="roundRect">
            <a:avLst>
              <a:gd name="adj" fmla="val 14737"/>
            </a:avLst>
          </a:prstGeom>
          <a:solidFill>
            <a:srgbClr val="FFFFFF"/>
          </a:solidFill>
          <a:ln w="9525">
            <a:solidFill>
              <a:srgbClr val="D5D9E2"/>
            </a:solidFill>
            <a:prstDash val="solid"/>
          </a:ln>
        </p:spPr>
      </p:sp>
      <p:pic>
        <p:nvPicPr>
          <p:cNvPr id="28" name="Person 4" descr="Next shipper">    </p:cNvPr>
          <p:cNvPicPr>
            <a:picLocks noChangeAspect="1"/>
          </p:cNvPicPr>
          <p:nvPr/>
        </p:nvPicPr>
        <p:blipFill>
          <a:blip r:embed="rId4"/>
          <a:stretch>
            <a:fillRect/>
          </a:stretch>
        </p:blipFill>
        <p:spPr>
          <a:xfrm>
            <a:off x="8659368" y="1755648"/>
            <a:ext cx="566928" cy="566928"/>
          </a:xfrm>
          <a:prstGeom prst="rect">
            <a:avLst/>
          </a:prstGeom>
        </p:spPr>
      </p:pic>
      <p:sp>
        <p:nvSpPr>
          <p:cNvPr id="29" name="Text 23"/>
          <p:cNvSpPr txBox="1"/>
          <p:nvPr/>
        </p:nvSpPr>
        <p:spPr>
          <a:xfrm>
            <a:off x="9336024"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Next shipper</a:t>
            </a:r>
            <a:endParaRPr lang="en-US" sz="1300" dirty="0"/>
          </a:p>
        </p:txBody>
      </p:sp>
      <p:sp>
        <p:nvSpPr>
          <p:cNvPr id="30" name="Text 24"/>
          <p:cNvSpPr txBox="1"/>
          <p:nvPr/>
        </p:nvSpPr>
        <p:spPr>
          <a:xfrm>
            <a:off x="9336024"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Gets when, where and who</a:t>
            </a:r>
            <a:endParaRPr lang="en-US" sz="1150" dirty="0"/>
          </a:p>
        </p:txBody>
      </p:sp>
      <p:sp>
        <p:nvSpPr>
          <p:cNvPr id="31" name="Tag 3"/>
          <p:cNvSpPr/>
          <p:nvPr/>
        </p:nvSpPr>
        <p:spPr>
          <a:xfrm>
            <a:off x="10890504" y="1737360"/>
            <a:ext cx="640080" cy="228600"/>
          </a:xfrm>
          <a:prstGeom prst="roundRect">
            <a:avLst>
              <a:gd name="adj" fmla="val 24000"/>
            </a:avLst>
          </a:prstGeom>
          <a:solidFill>
            <a:srgbClr val="FFF1E7"/>
          </a:solidFill>
          <a:ln/>
        </p:spPr>
      </p:sp>
      <p:sp>
        <p:nvSpPr>
          <p:cNvPr id="32" name="Text 26"/>
          <p:cNvSpPr txBox="1"/>
          <p:nvPr/>
        </p:nvSpPr>
        <p:spPr>
          <a:xfrm>
            <a:off x="10890504"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CARD</a:t>
            </a:r>
            <a:endParaRPr lang="en-US" sz="750" dirty="0"/>
          </a:p>
        </p:txBody>
      </p:sp>
      <p:sp>
        <p:nvSpPr>
          <p:cNvPr id="33" name="Link 4"/>
          <p:cNvSpPr/>
          <p:nvPr/>
        </p:nvSpPr>
        <p:spPr>
          <a:xfrm flipV="1">
            <a:off x="8001000" y="3012948"/>
            <a:ext cx="530352" cy="4572"/>
          </a:xfrm>
          <a:prstGeom prst="line">
            <a:avLst/>
          </a:prstGeom>
          <a:noFill/>
          <a:ln w="12700">
            <a:solidFill>
              <a:srgbClr val="5F6F91"/>
            </a:solidFill>
            <a:prstDash val="sysDash"/>
          </a:ln>
        </p:spPr>
      </p:sp>
      <p:sp>
        <p:nvSpPr>
          <p:cNvPr id="34" name="Actor 5"/>
          <p:cNvSpPr/>
          <p:nvPr/>
        </p:nvSpPr>
        <p:spPr>
          <a:xfrm>
            <a:off x="8531352" y="2578608"/>
            <a:ext cx="3108960" cy="868680"/>
          </a:xfrm>
          <a:prstGeom prst="roundRect">
            <a:avLst>
              <a:gd name="adj" fmla="val 14737"/>
            </a:avLst>
          </a:prstGeom>
          <a:solidFill>
            <a:srgbClr val="FFFFFF"/>
          </a:solidFill>
          <a:ln w="9525">
            <a:solidFill>
              <a:srgbClr val="D5D9E2"/>
            </a:solidFill>
            <a:prstDash val="solid"/>
          </a:ln>
        </p:spPr>
      </p:sp>
      <p:pic>
        <p:nvPicPr>
          <p:cNvPr id="35" name="Person 5" descr="Customer service">    </p:cNvPr>
          <p:cNvPicPr>
            <a:picLocks noChangeAspect="1"/>
          </p:cNvPicPr>
          <p:nvPr/>
        </p:nvPicPr>
        <p:blipFill>
          <a:blip r:embed="rId5"/>
          <a:stretch>
            <a:fillRect/>
          </a:stretch>
        </p:blipFill>
        <p:spPr>
          <a:xfrm>
            <a:off x="8659368" y="2734056"/>
            <a:ext cx="566928" cy="566928"/>
          </a:xfrm>
          <a:prstGeom prst="rect">
            <a:avLst/>
          </a:prstGeom>
        </p:spPr>
      </p:pic>
      <p:sp>
        <p:nvSpPr>
          <p:cNvPr id="36" name="Text 29"/>
          <p:cNvSpPr txBox="1"/>
          <p:nvPr/>
        </p:nvSpPr>
        <p:spPr>
          <a:xfrm>
            <a:off x="9336024"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Customer service</a:t>
            </a:r>
            <a:endParaRPr lang="en-US" sz="1300" dirty="0"/>
          </a:p>
        </p:txBody>
      </p:sp>
      <p:sp>
        <p:nvSpPr>
          <p:cNvPr id="37" name="Text 30"/>
          <p:cNvSpPr txBox="1"/>
          <p:nvPr/>
        </p:nvSpPr>
        <p:spPr>
          <a:xfrm>
            <a:off x="9336024"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Takes refusals and doubts</a:t>
            </a:r>
            <a:endParaRPr lang="en-US" sz="1150" dirty="0"/>
          </a:p>
        </p:txBody>
      </p:sp>
      <p:sp>
        <p:nvSpPr>
          <p:cNvPr id="38" name="Tag 4"/>
          <p:cNvSpPr/>
          <p:nvPr/>
        </p:nvSpPr>
        <p:spPr>
          <a:xfrm>
            <a:off x="10890504" y="2715768"/>
            <a:ext cx="640080" cy="228600"/>
          </a:xfrm>
          <a:prstGeom prst="roundRect">
            <a:avLst>
              <a:gd name="adj" fmla="val 24000"/>
            </a:avLst>
          </a:prstGeom>
          <a:solidFill>
            <a:srgbClr val="FFF1E7"/>
          </a:solidFill>
          <a:ln/>
        </p:spPr>
      </p:sp>
      <p:sp>
        <p:nvSpPr>
          <p:cNvPr id="39" name="Text 32"/>
          <p:cNvSpPr txBox="1"/>
          <p:nvPr/>
        </p:nvSpPr>
        <p:spPr>
          <a:xfrm>
            <a:off x="10890504"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PERSON</a:t>
            </a:r>
            <a:endParaRPr lang="en-US" sz="750" dirty="0"/>
          </a:p>
        </p:txBody>
      </p:sp>
      <p:sp>
        <p:nvSpPr>
          <p:cNvPr id="40" name="Link 5"/>
          <p:cNvSpPr/>
          <p:nvPr/>
        </p:nvSpPr>
        <p:spPr>
          <a:xfrm>
            <a:off x="8001000" y="3017520"/>
            <a:ext cx="530352" cy="973836"/>
          </a:xfrm>
          <a:prstGeom prst="line">
            <a:avLst/>
          </a:prstGeom>
          <a:noFill/>
          <a:ln w="12700">
            <a:solidFill>
              <a:srgbClr val="5F6F91"/>
            </a:solidFill>
            <a:prstDash val="sysDash"/>
          </a:ln>
        </p:spPr>
      </p:sp>
      <p:sp>
        <p:nvSpPr>
          <p:cNvPr id="41" name="Actor 6"/>
          <p:cNvSpPr/>
          <p:nvPr/>
        </p:nvSpPr>
        <p:spPr>
          <a:xfrm>
            <a:off x="8531352" y="3557016"/>
            <a:ext cx="3108960" cy="868680"/>
          </a:xfrm>
          <a:prstGeom prst="roundRect">
            <a:avLst>
              <a:gd name="adj" fmla="val 14737"/>
            </a:avLst>
          </a:prstGeom>
          <a:solidFill>
            <a:srgbClr val="FFFFFF"/>
          </a:solidFill>
          <a:ln w="9525">
            <a:solidFill>
              <a:srgbClr val="D5D9E2"/>
            </a:solidFill>
            <a:prstDash val="solid"/>
          </a:ln>
        </p:spPr>
      </p:sp>
      <p:pic>
        <p:nvPicPr>
          <p:cNvPr id="42" name="Person 6" descr="Seller">    </p:cNvPr>
          <p:cNvPicPr>
            <a:picLocks noChangeAspect="1"/>
          </p:cNvPicPr>
          <p:nvPr/>
        </p:nvPicPr>
        <p:blipFill>
          <a:blip r:embed="rId6"/>
          <a:stretch>
            <a:fillRect/>
          </a:stretch>
        </p:blipFill>
        <p:spPr>
          <a:xfrm>
            <a:off x="8659368" y="3712464"/>
            <a:ext cx="566928" cy="566928"/>
          </a:xfrm>
          <a:prstGeom prst="rect">
            <a:avLst/>
          </a:prstGeom>
        </p:spPr>
      </p:pic>
      <p:sp>
        <p:nvSpPr>
          <p:cNvPr id="43" name="Text 35"/>
          <p:cNvSpPr txBox="1"/>
          <p:nvPr/>
        </p:nvSpPr>
        <p:spPr>
          <a:xfrm>
            <a:off x="9336024"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Seller</a:t>
            </a:r>
            <a:endParaRPr lang="en-US" sz="1300" dirty="0"/>
          </a:p>
        </p:txBody>
      </p:sp>
      <p:sp>
        <p:nvSpPr>
          <p:cNvPr id="44" name="Text 36"/>
          <p:cNvSpPr txBox="1"/>
          <p:nvPr/>
        </p:nvSpPr>
        <p:spPr>
          <a:xfrm>
            <a:off x="9336024"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Pays fewer return fees</a:t>
            </a:r>
            <a:endParaRPr lang="en-US" sz="1150" dirty="0"/>
          </a:p>
        </p:txBody>
      </p:sp>
      <p:sp>
        <p:nvSpPr>
          <p:cNvPr id="45" name="Tag 5"/>
          <p:cNvSpPr/>
          <p:nvPr/>
        </p:nvSpPr>
        <p:spPr>
          <a:xfrm>
            <a:off x="10890504" y="3694176"/>
            <a:ext cx="640080" cy="228600"/>
          </a:xfrm>
          <a:prstGeom prst="roundRect">
            <a:avLst>
              <a:gd name="adj" fmla="val 24000"/>
            </a:avLst>
          </a:prstGeom>
          <a:solidFill>
            <a:srgbClr val="FFF1E7"/>
          </a:solidFill>
          <a:ln/>
        </p:spPr>
      </p:sp>
      <p:sp>
        <p:nvSpPr>
          <p:cNvPr id="46" name="Text 38"/>
          <p:cNvSpPr txBox="1"/>
          <p:nvPr/>
        </p:nvSpPr>
        <p:spPr>
          <a:xfrm>
            <a:off x="10890504"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SAVED</a:t>
            </a:r>
            <a:endParaRPr lang="en-US" sz="750" dirty="0"/>
          </a:p>
        </p:txBody>
      </p:sp>
      <p:sp>
        <p:nvSpPr>
          <p:cNvPr id="47" name="Alodi card"/>
          <p:cNvSpPr/>
          <p:nvPr/>
        </p:nvSpPr>
        <p:spPr>
          <a:xfrm>
            <a:off x="4187952" y="1600200"/>
            <a:ext cx="3813048" cy="2825496"/>
          </a:xfrm>
          <a:prstGeom prst="roundRect">
            <a:avLst>
              <a:gd name="adj" fmla="val 4531"/>
            </a:avLst>
          </a:prstGeom>
          <a:solidFill>
            <a:srgbClr val="FFF1E7"/>
          </a:solidFill>
          <a:ln w="9525">
            <a:solidFill>
              <a:srgbClr val="FFCFB0"/>
            </a:solidFill>
            <a:prstDash val="solid"/>
          </a:ln>
          <a:effectLst>
            <a:outerShdw sx="100000" sy="100000" kx="0" ky="0" algn="bl" rotWithShape="0" blurRad="177800" dist="38100" dir="5400000">
              <a:srgbClr val="121A2C">
                <a:alpha val="16000"/>
              </a:srgbClr>
            </a:outerShdw>
          </a:effectLst>
        </p:spPr>
      </p:sp>
      <p:pic>
        <p:nvPicPr>
          <p:cNvPr id="48" name="Alodi logo" descr="/private/tmp/claude-503/-Users-davark-Downloads-Everything-Github-Alodi-Regional-Codex-Hackathon-2026/91e569a8-486f-4c0b-b683-a4991468f039/scratchpad/deck/assets/logo-navy.png">    </p:cNvPr>
          <p:cNvPicPr>
            <a:picLocks noChangeAspect="1"/>
          </p:cNvPicPr>
          <p:nvPr/>
        </p:nvPicPr>
        <p:blipFill>
          <a:blip r:embed="rId7"/>
          <a:stretch>
            <a:fillRect/>
          </a:stretch>
        </p:blipFill>
        <p:spPr>
          <a:xfrm>
            <a:off x="4416552" y="1783080"/>
            <a:ext cx="658368" cy="283464"/>
          </a:xfrm>
          <a:prstGeom prst="rect">
            <a:avLst/>
          </a:prstGeom>
        </p:spPr>
      </p:pic>
      <p:sp>
        <p:nvSpPr>
          <p:cNvPr id="49" name="Text 40"/>
          <p:cNvSpPr txBox="1"/>
          <p:nvPr/>
        </p:nvSpPr>
        <p:spPr>
          <a:xfrm>
            <a:off x="6309360" y="1828800"/>
            <a:ext cx="1463040" cy="201168"/>
          </a:xfrm>
          <a:prstGeom prst="rect">
            <a:avLst/>
          </a:prstGeom>
          <a:noFill/>
          <a:ln/>
        </p:spPr>
        <p:txBody>
          <a:bodyPr wrap="square" lIns="0" tIns="0" rIns="0" bIns="0" rtlCol="0" anchor="ctr"/>
          <a:lstStyle/>
          <a:p>
            <a:pPr algn="r" indent="0" marL="0">
              <a:buNone/>
            </a:pPr>
            <a:r>
              <a:rPr lang="en-US" sz="850" b="1" spc="150" kern="0" dirty="0">
                <a:solidFill>
                  <a:srgbClr val="F05A00"/>
                </a:solidFill>
                <a:latin typeface="Arial" pitchFamily="34" charset="0"/>
                <a:ea typeface="Arial" pitchFamily="34" charset="-122"/>
                <a:cs typeface="Arial" pitchFamily="34" charset="-120"/>
              </a:rPr>
              <a:t>AI AGENT</a:t>
            </a:r>
            <a:endParaRPr lang="en-US" sz="850" dirty="0"/>
          </a:p>
        </p:txBody>
      </p:sp>
      <p:sp>
        <p:nvSpPr>
          <p:cNvPr id="50" name="Field 0"/>
          <p:cNvSpPr/>
          <p:nvPr/>
        </p:nvSpPr>
        <p:spPr>
          <a:xfrm>
            <a:off x="4416552" y="2212848"/>
            <a:ext cx="3355848" cy="374904"/>
          </a:xfrm>
          <a:prstGeom prst="roundRect">
            <a:avLst>
              <a:gd name="adj" fmla="val 17073"/>
            </a:avLst>
          </a:prstGeom>
          <a:solidFill>
            <a:srgbClr val="FFFFFF"/>
          </a:solidFill>
          <a:ln w="6350">
            <a:solidFill>
              <a:srgbClr val="FFCFB0"/>
            </a:solidFill>
            <a:prstDash val="solid"/>
          </a:ln>
        </p:spPr>
      </p:sp>
      <p:sp>
        <p:nvSpPr>
          <p:cNvPr id="51" name="Text 42"/>
          <p:cNvSpPr txBox="1"/>
          <p:nvPr/>
        </p:nvSpPr>
        <p:spPr>
          <a:xfrm>
            <a:off x="4544568" y="2212848"/>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When</a:t>
            </a:r>
            <a:endParaRPr lang="en-US" sz="1150" dirty="0"/>
          </a:p>
        </p:txBody>
      </p:sp>
      <p:sp>
        <p:nvSpPr>
          <p:cNvPr id="52" name="Text 43"/>
          <p:cNvSpPr txBox="1"/>
          <p:nvPr/>
        </p:nvSpPr>
        <p:spPr>
          <a:xfrm>
            <a:off x="5303520" y="2212848"/>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1 Nov, 17:00–20:00</a:t>
            </a:r>
            <a:endParaRPr lang="en-US" sz="1200" dirty="0"/>
          </a:p>
        </p:txBody>
      </p:sp>
      <p:sp>
        <p:nvSpPr>
          <p:cNvPr id="53" name="Field 1"/>
          <p:cNvSpPr/>
          <p:nvPr/>
        </p:nvSpPr>
        <p:spPr>
          <a:xfrm>
            <a:off x="4416552" y="2642616"/>
            <a:ext cx="3355848" cy="374904"/>
          </a:xfrm>
          <a:prstGeom prst="roundRect">
            <a:avLst>
              <a:gd name="adj" fmla="val 17073"/>
            </a:avLst>
          </a:prstGeom>
          <a:solidFill>
            <a:srgbClr val="FFFFFF"/>
          </a:solidFill>
          <a:ln w="6350">
            <a:solidFill>
              <a:srgbClr val="FFCFB0"/>
            </a:solidFill>
            <a:prstDash val="solid"/>
          </a:ln>
        </p:spPr>
      </p:sp>
      <p:sp>
        <p:nvSpPr>
          <p:cNvPr id="54" name="Text 45"/>
          <p:cNvSpPr txBox="1"/>
          <p:nvPr/>
        </p:nvSpPr>
        <p:spPr>
          <a:xfrm>
            <a:off x="4544568" y="2642616"/>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Where</a:t>
            </a:r>
            <a:endParaRPr lang="en-US" sz="1150" dirty="0"/>
          </a:p>
        </p:txBody>
      </p:sp>
      <p:sp>
        <p:nvSpPr>
          <p:cNvPr id="55" name="Text 46"/>
          <p:cNvSpPr txBox="1"/>
          <p:nvPr/>
        </p:nvSpPr>
        <p:spPr>
          <a:xfrm>
            <a:off x="5303520" y="2642616"/>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Tower A reception</a:t>
            </a:r>
            <a:endParaRPr lang="en-US" sz="1200" dirty="0"/>
          </a:p>
        </p:txBody>
      </p:sp>
      <p:sp>
        <p:nvSpPr>
          <p:cNvPr id="56" name="Field 2"/>
          <p:cNvSpPr/>
          <p:nvPr/>
        </p:nvSpPr>
        <p:spPr>
          <a:xfrm>
            <a:off x="4416552" y="3072384"/>
            <a:ext cx="3355848" cy="374904"/>
          </a:xfrm>
          <a:prstGeom prst="roundRect">
            <a:avLst>
              <a:gd name="adj" fmla="val 17073"/>
            </a:avLst>
          </a:prstGeom>
          <a:solidFill>
            <a:srgbClr val="FFFFFF"/>
          </a:solidFill>
          <a:ln w="6350">
            <a:solidFill>
              <a:srgbClr val="FFCFB0"/>
            </a:solidFill>
            <a:prstDash val="solid"/>
          </a:ln>
        </p:spPr>
      </p:sp>
      <p:sp>
        <p:nvSpPr>
          <p:cNvPr id="57" name="Text 48"/>
          <p:cNvSpPr txBox="1"/>
          <p:nvPr/>
        </p:nvSpPr>
        <p:spPr>
          <a:xfrm>
            <a:off x="4544568" y="3072384"/>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Who</a:t>
            </a:r>
            <a:endParaRPr lang="en-US" sz="1150" dirty="0"/>
          </a:p>
        </p:txBody>
      </p:sp>
      <p:sp>
        <p:nvSpPr>
          <p:cNvPr id="58" name="Text 49"/>
          <p:cNvSpPr txBox="1"/>
          <p:nvPr/>
        </p:nvSpPr>
        <p:spPr>
          <a:xfrm>
            <a:off x="5303520" y="3072384"/>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Receptionist can sign</a:t>
            </a:r>
            <a:endParaRPr lang="en-US" sz="1200" dirty="0"/>
          </a:p>
        </p:txBody>
      </p:sp>
      <p:sp>
        <p:nvSpPr>
          <p:cNvPr id="59" name="Text 50"/>
          <p:cNvSpPr txBox="1"/>
          <p:nvPr/>
        </p:nvSpPr>
        <p:spPr>
          <a:xfrm>
            <a:off x="4416552" y="3566160"/>
            <a:ext cx="3355848" cy="7315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Calls 08:00–20:30 only · ≤ 2 calls a cycle · applies alone at ≥ 0.85 · a person handles labels</a:t>
            </a:r>
            <a:endParaRPr lang="en-US" sz="1100" dirty="0"/>
          </a:p>
        </p:txBody>
      </p:sp>
      <p:sp>
        <p:nvSpPr>
          <p:cNvPr id="60" name="Reasons rule"/>
          <p:cNvSpPr/>
          <p:nvPr/>
        </p:nvSpPr>
        <p:spPr>
          <a:xfrm>
            <a:off x="548640" y="4681728"/>
            <a:ext cx="11091672" cy="0"/>
          </a:xfrm>
          <a:prstGeom prst="line">
            <a:avLst/>
          </a:prstGeom>
          <a:noFill/>
          <a:ln w="12700">
            <a:solidFill>
              <a:srgbClr val="121A2C"/>
            </a:solidFill>
            <a:prstDash val="solid"/>
          </a:ln>
        </p:spPr>
      </p:sp>
      <p:sp>
        <p:nvSpPr>
          <p:cNvPr id="61" name="Text 52"/>
          <p:cNvSpPr txBox="1"/>
          <p:nvPr/>
        </p:nvSpPr>
        <p:spPr>
          <a:xfrm>
            <a:off x="54864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0</a:t>
            </a:r>
            <a:endParaRPr lang="en-US" sz="3200" dirty="0"/>
          </a:p>
        </p:txBody>
      </p:sp>
      <p:sp>
        <p:nvSpPr>
          <p:cNvPr id="62" name="Text 53"/>
          <p:cNvSpPr txBox="1"/>
          <p:nvPr/>
        </p:nvSpPr>
        <p:spPr>
          <a:xfrm>
            <a:off x="153619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63" name="Text 54"/>
          <p:cNvSpPr txBox="1"/>
          <p:nvPr/>
        </p:nvSpPr>
        <p:spPr>
          <a:xfrm>
            <a:off x="153619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4A556E"/>
                </a:solidFill>
                <a:latin typeface="Arial" pitchFamily="34" charset="0"/>
                <a:ea typeface="Arial" pitchFamily="34" charset="-122"/>
                <a:cs typeface="Arial" pitchFamily="34" charset="-120"/>
              </a:rPr>
              <a:t> [5]</a:t>
            </a:r>
            <a:endParaRPr lang="en-US" sz="1200" dirty="0"/>
          </a:p>
        </p:txBody>
      </p:sp>
      <p:sp>
        <p:nvSpPr>
          <p:cNvPr id="64" name="Text 55"/>
          <p:cNvSpPr txBox="1"/>
          <p:nvPr/>
        </p:nvSpPr>
        <p:spPr>
          <a:xfrm>
            <a:off x="429768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1</a:t>
            </a:r>
            <a:endParaRPr lang="en-US" sz="3200" dirty="0"/>
          </a:p>
        </p:txBody>
      </p:sp>
      <p:sp>
        <p:nvSpPr>
          <p:cNvPr id="65" name="Text 56"/>
          <p:cNvSpPr txBox="1"/>
          <p:nvPr/>
        </p:nvSpPr>
        <p:spPr>
          <a:xfrm>
            <a:off x="528523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66" name="Text 57"/>
          <p:cNvSpPr txBox="1"/>
          <p:nvPr/>
        </p:nvSpPr>
        <p:spPr>
          <a:xfrm>
            <a:off x="528523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“No answer” replaces when, where and who.</a:t>
            </a:r>
            <a:endParaRPr lang="en-US" sz="1200" dirty="0"/>
          </a:p>
        </p:txBody>
      </p:sp>
      <p:sp>
        <p:nvSpPr>
          <p:cNvPr id="67" name="Text 58"/>
          <p:cNvSpPr txBox="1"/>
          <p:nvPr/>
        </p:nvSpPr>
        <p:spPr>
          <a:xfrm>
            <a:off x="804672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 5</a:t>
            </a:r>
            <a:endParaRPr lang="en-US" sz="3200" dirty="0"/>
          </a:p>
        </p:txBody>
      </p:sp>
      <p:sp>
        <p:nvSpPr>
          <p:cNvPr id="68" name="Text 59"/>
          <p:cNvSpPr txBox="1"/>
          <p:nvPr/>
        </p:nvSpPr>
        <p:spPr>
          <a:xfrm>
            <a:off x="903427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69" name="Text 60"/>
          <p:cNvSpPr txBox="1"/>
          <p:nvPr/>
        </p:nvSpPr>
        <p:spPr>
          <a:xfrm>
            <a:off x="903427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Just to phone 320 buyers twice a day.</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sp>
        <p:nvSpPr>
          <p:cNvPr id="70" name="Text 61"/>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Demo fil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ve tag"/>
          <p:cNvSpPr/>
          <p:nvPr/>
        </p:nvSpPr>
        <p:spPr>
          <a:xfrm>
            <a:off x="548640" y="658368"/>
            <a:ext cx="1051560" cy="347472"/>
          </a:xfrm>
          <a:prstGeom prst="roundRect">
            <a:avLst>
              <a:gd name="adj" fmla="val 50000"/>
            </a:avLst>
          </a:prstGeom>
          <a:solidFill>
            <a:srgbClr val="FFF1E7"/>
          </a:solidFill>
          <a:ln w="9525">
            <a:solidFill>
              <a:srgbClr val="FFCFB0"/>
            </a:solidFill>
            <a:prstDash val="solid"/>
          </a:ln>
        </p:spPr>
      </p:sp>
      <p:sp>
        <p:nvSpPr>
          <p:cNvPr id="3" name="Live dot"/>
          <p:cNvSpPr/>
          <p:nvPr/>
        </p:nvSpPr>
        <p:spPr>
          <a:xfrm>
            <a:off x="694944" y="768096"/>
            <a:ext cx="128016" cy="128016"/>
          </a:xfrm>
          <a:prstGeom prst="ellipse">
            <a:avLst/>
          </a:prstGeom>
          <a:solidFill>
            <a:srgbClr val="F05A00"/>
          </a:solidFill>
          <a:ln/>
        </p:spPr>
      </p:sp>
      <p:sp>
        <p:nvSpPr>
          <p:cNvPr id="4" name="Text 2"/>
          <p:cNvSpPr txBox="1"/>
          <p:nvPr/>
        </p:nvSpPr>
        <p:spPr>
          <a:xfrm>
            <a:off x="896112" y="658368"/>
            <a:ext cx="658368" cy="347472"/>
          </a:xfrm>
          <a:prstGeom prst="rect">
            <a:avLst/>
          </a:prstGeom>
          <a:noFill/>
          <a:ln/>
        </p:spPr>
        <p:txBody>
          <a:bodyPr wrap="square" lIns="0" tIns="0" rIns="0" bIns="0" rtlCol="0" anchor="ctr"/>
          <a:lstStyle/>
          <a:p>
            <a:pPr indent="0" marL="0">
              <a:buNone/>
            </a:pPr>
            <a:r>
              <a:rPr lang="en-US" sz="1100" b="1" spc="200" kern="0" dirty="0">
                <a:solidFill>
                  <a:srgbClr val="F05A00"/>
                </a:solidFill>
                <a:latin typeface="Arial" pitchFamily="34" charset="0"/>
                <a:ea typeface="Arial" pitchFamily="34" charset="-122"/>
                <a:cs typeface="Arial" pitchFamily="34" charset="-120"/>
              </a:rPr>
              <a:t>LIVE</a:t>
            </a:r>
            <a:endParaRPr lang="en-US" sz="1100" dirty="0"/>
          </a:p>
        </p:txBody>
      </p:sp>
      <p:sp>
        <p:nvSpPr>
          <p:cNvPr id="5" name="Text 3"/>
          <p:cNvSpPr txBox="1"/>
          <p:nvPr/>
        </p:nvSpPr>
        <p:spPr>
          <a:xfrm>
            <a:off x="548640" y="1325880"/>
            <a:ext cx="5029200" cy="1920240"/>
          </a:xfrm>
          <a:prstGeom prst="rect">
            <a:avLst/>
          </a:prstGeom>
          <a:noFill/>
          <a:ln/>
        </p:spPr>
        <p:txBody>
          <a:bodyPr wrap="square" lIns="0" tIns="0" rIns="0" bIns="0" rtlCol="0" anchor="t"/>
          <a:lstStyle/>
          <a:p>
            <a:pPr indent="0" marL="0">
              <a:lnSpc>
                <a:spcPct val="100000"/>
              </a:lnSpc>
              <a:buNone/>
            </a:pPr>
            <a:r>
              <a:rPr lang="en-US" sz="4000" b="1" dirty="0">
                <a:solidFill>
                  <a:srgbClr val="121A2C"/>
                </a:solidFill>
                <a:latin typeface="Arial" pitchFamily="34" charset="0"/>
                <a:ea typeface="Arial" pitchFamily="34" charset="-122"/>
                <a:cs typeface="Arial" pitchFamily="34" charset="-120"/>
              </a:rPr>
              <a:t>Now, the real thing.</a:t>
            </a:r>
            <a:endParaRPr lang="en-US" sz="4000" dirty="0"/>
          </a:p>
          <a:p>
            <a:pPr indent="0" marL="0">
              <a:lnSpc>
                <a:spcPct val="100000"/>
              </a:lnSpc>
              <a:buNone/>
            </a:pPr>
            <a:r>
              <a:rPr lang="en-US" sz="4000" b="1" dirty="0">
                <a:solidFill>
                  <a:srgbClr val="F05A00"/>
                </a:solidFill>
                <a:latin typeface="Arial" pitchFamily="34" charset="0"/>
                <a:ea typeface="Arial" pitchFamily="34" charset="-122"/>
                <a:cs typeface="Arial" pitchFamily="34" charset="-120"/>
              </a:rPr>
              <a:t>Watch one rescue, live.</a:t>
            </a:r>
            <a:endParaRPr lang="en-US" sz="4000" dirty="0"/>
          </a:p>
        </p:txBody>
      </p:sp>
      <p:sp>
        <p:nvSpPr>
          <p:cNvPr id="6" name="Text 4"/>
          <p:cNvSpPr txBox="1"/>
          <p:nvPr/>
        </p:nvSpPr>
        <p:spPr>
          <a:xfrm>
            <a:off x="548640" y="3429000"/>
            <a:ext cx="4663440" cy="914400"/>
          </a:xfrm>
          <a:prstGeom prst="rect">
            <a:avLst/>
          </a:prstGeom>
          <a:noFill/>
          <a:ln/>
        </p:spPr>
        <p:txBody>
          <a:bodyPr wrap="square" lIns="0" tIns="0" rIns="0" bIns="0" rtlCol="0" anchor="t"/>
          <a:lstStyle/>
          <a:p>
            <a:pPr indent="0" marL="0">
              <a:buNone/>
            </a:pPr>
            <a:r>
              <a:rPr lang="en-US" sz="1800" dirty="0">
                <a:solidFill>
                  <a:srgbClr val="222B40"/>
                </a:solidFill>
                <a:latin typeface="Arial" pitchFamily="34" charset="0"/>
                <a:ea typeface="Arial" pitchFamily="34" charset="-122"/>
                <a:cs typeface="Arial" pitchFamily="34" charset="-120"/>
              </a:rPr>
              <a:t>One shipper’s tap on a real phone. Everything else follows on this screen, in sync.</a:t>
            </a:r>
            <a:endParaRPr lang="en-US" sz="1800" dirty="0"/>
          </a:p>
        </p:txBody>
      </p:sp>
      <p:pic>
        <p:nvPicPr>
          <p:cNvPr id="7" name="Shipper" descr="Shipper">    </p:cNvPr>
          <p:cNvPicPr>
            <a:picLocks noChangeAspect="1"/>
          </p:cNvPicPr>
          <p:nvPr/>
        </p:nvPicPr>
        <p:blipFill>
          <a:blip r:embed="rId1"/>
          <a:stretch>
            <a:fillRect/>
          </a:stretch>
        </p:blipFill>
        <p:spPr>
          <a:xfrm>
            <a:off x="548640" y="4800600"/>
            <a:ext cx="731520" cy="731520"/>
          </a:xfrm>
          <a:prstGeom prst="rect">
            <a:avLst/>
          </a:prstGeom>
        </p:spPr>
      </p:pic>
      <p:sp>
        <p:nvSpPr>
          <p:cNvPr id="8" name="Text 5"/>
          <p:cNvSpPr txBox="1"/>
          <p:nvPr/>
        </p:nvSpPr>
        <p:spPr>
          <a:xfrm>
            <a:off x="1444752" y="4800600"/>
            <a:ext cx="2103120" cy="7315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In the shipper’s hand</a:t>
            </a:r>
            <a:endParaRPr lang="en-US" sz="1400" dirty="0"/>
          </a:p>
          <a:p>
            <a:pPr indent="0" marL="0">
              <a:buNone/>
            </a:pPr>
            <a:r>
              <a:rPr lang="en-US" sz="1400" dirty="0">
                <a:solidFill>
                  <a:srgbClr val="3A4358"/>
                </a:solidFill>
                <a:latin typeface="Arial" pitchFamily="34" charset="0"/>
                <a:ea typeface="Arial" pitchFamily="34" charset="-122"/>
                <a:cs typeface="Arial" pitchFamily="34" charset="-120"/>
              </a:rPr>
              <a:t>A real phone, on stage</a:t>
            </a:r>
            <a:endParaRPr lang="en-US" sz="1400" dirty="0"/>
          </a:p>
        </p:txBody>
      </p:sp>
      <p:pic>
        <p:nvPicPr>
          <p:cNvPr id="9" name="QR code" descr="QR code to alodi-ai-system.vercel.app">
            <a:hlinkClick r:id="rId3" tooltip=""/>
          </p:cNvPr>
          <p:cNvPicPr>
            <a:picLocks noChangeAspect="1"/>
          </p:cNvPicPr>
          <p:nvPr/>
        </p:nvPicPr>
        <p:blipFill>
          <a:blip r:embed="rId2"/>
          <a:stretch>
            <a:fillRect/>
          </a:stretch>
        </p:blipFill>
        <p:spPr>
          <a:xfrm>
            <a:off x="3703320" y="4663440"/>
            <a:ext cx="1005840" cy="1005840"/>
          </a:xfrm>
          <a:prstGeom prst="rect">
            <a:avLst/>
          </a:prstGeom>
        </p:spPr>
      </p:pic>
      <p:sp>
        <p:nvSpPr>
          <p:cNvPr id="10" name="Text 6"/>
          <p:cNvSpPr txBox="1"/>
          <p:nvPr/>
        </p:nvSpPr>
        <p:spPr>
          <a:xfrm>
            <a:off x="4800600" y="4800600"/>
            <a:ext cx="1005840" cy="731520"/>
          </a:xfrm>
          <a:prstGeom prst="rect">
            <a:avLst/>
          </a:prstGeom>
          <a:noFill/>
          <a:ln/>
        </p:spPr>
        <p:txBody>
          <a:bodyPr wrap="square" lIns="0" tIns="0" rIns="0" bIns="0" rtlCol="0" anchor="ctr"/>
          <a:lstStyle/>
          <a:p>
            <a:pPr indent="0" marL="0">
              <a:buNone/>
            </a:pPr>
            <a:r>
              <a:rPr lang="en-US" sz="1150" b="1" dirty="0">
                <a:solidFill>
                  <a:srgbClr val="121A2C"/>
                </a:solidFill>
                <a:latin typeface="Arial" pitchFamily="34" charset="0"/>
                <a:ea typeface="Arial" pitchFamily="34" charset="-122"/>
                <a:cs typeface="Arial" pitchFamily="34" charset="-120"/>
              </a:rPr>
              <a:t>Scan to try the demo</a:t>
            </a:r>
            <a:endParaRPr lang="en-US" sz="1150" dirty="0"/>
          </a:p>
        </p:txBody>
      </p:sp>
      <p:sp>
        <p:nvSpPr>
          <p:cNvPr id="11" name="Screen 1"/>
          <p:cNvSpPr/>
          <p:nvPr/>
        </p:nvSpPr>
        <p:spPr>
          <a:xfrm>
            <a:off x="5989320" y="658368"/>
            <a:ext cx="5650992" cy="1664208"/>
          </a:xfrm>
          <a:prstGeom prst="roundRect">
            <a:avLst>
              <a:gd name="adj" fmla="val 9890"/>
            </a:avLst>
          </a:prstGeom>
          <a:solidFill>
            <a:srgbClr val="E9EEF8"/>
          </a:solidFill>
          <a:ln w="9525">
            <a:solidFill>
              <a:srgbClr val="C9D4EA"/>
            </a:solidFill>
            <a:prstDash val="solid"/>
          </a:ln>
        </p:spPr>
      </p:sp>
      <p:pic>
        <p:nvPicPr>
          <p:cNvPr id="12" name="Person 1" descr="Customer’s phone">    </p:cNvPr>
          <p:cNvPicPr>
            <a:picLocks noChangeAspect="1"/>
          </p:cNvPicPr>
          <p:nvPr/>
        </p:nvPicPr>
        <p:blipFill>
          <a:blip r:embed="rId4"/>
          <a:stretch>
            <a:fillRect/>
          </a:stretch>
        </p:blipFill>
        <p:spPr>
          <a:xfrm>
            <a:off x="6263640" y="987552"/>
            <a:ext cx="1005840" cy="1005840"/>
          </a:xfrm>
          <a:prstGeom prst="rect">
            <a:avLst/>
          </a:prstGeom>
        </p:spPr>
      </p:pic>
      <p:sp>
        <p:nvSpPr>
          <p:cNvPr id="13" name="Text 8"/>
          <p:cNvSpPr txBox="1"/>
          <p:nvPr/>
        </p:nvSpPr>
        <p:spPr>
          <a:xfrm>
            <a:off x="7498080" y="10424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Customer’s phone</a:t>
            </a:r>
            <a:endParaRPr lang="en-US" sz="2200" dirty="0"/>
          </a:p>
        </p:txBody>
      </p:sp>
      <p:sp>
        <p:nvSpPr>
          <p:cNvPr id="14" name="Text 9"/>
          <p:cNvSpPr txBox="1"/>
          <p:nvPr/>
        </p:nvSpPr>
        <p:spPr>
          <a:xfrm>
            <a:off x="7498080" y="15179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chat and the call arrive</a:t>
            </a:r>
            <a:endParaRPr lang="en-US" sz="1500" dirty="0"/>
          </a:p>
        </p:txBody>
      </p:sp>
      <p:sp>
        <p:nvSpPr>
          <p:cNvPr id="15" name="Screen 2"/>
          <p:cNvSpPr/>
          <p:nvPr/>
        </p:nvSpPr>
        <p:spPr>
          <a:xfrm>
            <a:off x="5989320" y="2487168"/>
            <a:ext cx="5650992" cy="1664208"/>
          </a:xfrm>
          <a:prstGeom prst="roundRect">
            <a:avLst>
              <a:gd name="adj" fmla="val 9890"/>
            </a:avLst>
          </a:prstGeom>
          <a:solidFill>
            <a:srgbClr val="FFFFFF"/>
          </a:solidFill>
          <a:ln w="9525">
            <a:solidFill>
              <a:srgbClr val="D5D9E2"/>
            </a:solidFill>
            <a:prstDash val="solid"/>
          </a:ln>
        </p:spPr>
      </p:sp>
      <p:pic>
        <p:nvPicPr>
          <p:cNvPr id="16" name="Person 2" descr="SPX dashboard">    </p:cNvPr>
          <p:cNvPicPr>
            <a:picLocks noChangeAspect="1"/>
          </p:cNvPicPr>
          <p:nvPr/>
        </p:nvPicPr>
        <p:blipFill>
          <a:blip r:embed="rId5"/>
          <a:stretch>
            <a:fillRect/>
          </a:stretch>
        </p:blipFill>
        <p:spPr>
          <a:xfrm>
            <a:off x="6263640" y="2816352"/>
            <a:ext cx="1005840" cy="1005840"/>
          </a:xfrm>
          <a:prstGeom prst="rect">
            <a:avLst/>
          </a:prstGeom>
        </p:spPr>
      </p:pic>
      <p:sp>
        <p:nvSpPr>
          <p:cNvPr id="17" name="Text 11"/>
          <p:cNvSpPr txBox="1"/>
          <p:nvPr/>
        </p:nvSpPr>
        <p:spPr>
          <a:xfrm>
            <a:off x="7498080" y="28712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SPX dashboard</a:t>
            </a:r>
            <a:endParaRPr lang="en-US" sz="2200" dirty="0"/>
          </a:p>
        </p:txBody>
      </p:sp>
      <p:sp>
        <p:nvSpPr>
          <p:cNvPr id="18" name="Text 12"/>
          <p:cNvSpPr txBox="1"/>
          <p:nvPr/>
        </p:nvSpPr>
        <p:spPr>
          <a:xfrm>
            <a:off x="7498080" y="33467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hub sees the rescue move</a:t>
            </a:r>
            <a:endParaRPr lang="en-US" sz="1500" dirty="0"/>
          </a:p>
        </p:txBody>
      </p:sp>
      <p:sp>
        <p:nvSpPr>
          <p:cNvPr id="19" name="Screen 3"/>
          <p:cNvSpPr/>
          <p:nvPr/>
        </p:nvSpPr>
        <p:spPr>
          <a:xfrm>
            <a:off x="5989320" y="4315968"/>
            <a:ext cx="5650992" cy="1664208"/>
          </a:xfrm>
          <a:prstGeom prst="roundRect">
            <a:avLst>
              <a:gd name="adj" fmla="val 9890"/>
            </a:avLst>
          </a:prstGeom>
          <a:solidFill>
            <a:srgbClr val="FFF1E7"/>
          </a:solidFill>
          <a:ln w="9525">
            <a:solidFill>
              <a:srgbClr val="FFCFB0"/>
            </a:solidFill>
            <a:prstDash val="solid"/>
          </a:ln>
        </p:spPr>
      </p:sp>
      <p:pic>
        <p:nvPicPr>
          <p:cNvPr id="20" name="Alodi mark" descr="Alodi agent">    </p:cNvPr>
          <p:cNvPicPr>
            <a:picLocks noChangeAspect="1"/>
          </p:cNvPicPr>
          <p:nvPr/>
        </p:nvPicPr>
        <p:blipFill>
          <a:blip r:embed="rId6"/>
          <a:stretch>
            <a:fillRect/>
          </a:stretch>
        </p:blipFill>
        <p:spPr>
          <a:xfrm>
            <a:off x="6309360" y="4690872"/>
            <a:ext cx="914400" cy="914400"/>
          </a:xfrm>
          <a:prstGeom prst="rect">
            <a:avLst/>
          </a:prstGeom>
        </p:spPr>
      </p:pic>
      <p:sp>
        <p:nvSpPr>
          <p:cNvPr id="21" name="Text 14"/>
          <p:cNvSpPr txBox="1"/>
          <p:nvPr/>
        </p:nvSpPr>
        <p:spPr>
          <a:xfrm>
            <a:off x="7498080" y="47000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Alodi agent</a:t>
            </a:r>
            <a:endParaRPr lang="en-US" sz="2200" dirty="0"/>
          </a:p>
        </p:txBody>
      </p:sp>
      <p:sp>
        <p:nvSpPr>
          <p:cNvPr id="22" name="Text 15"/>
          <p:cNvSpPr txBox="1"/>
          <p:nvPr/>
        </p:nvSpPr>
        <p:spPr>
          <a:xfrm>
            <a:off x="7498080" y="51755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Each step as it happens</a:t>
            </a:r>
            <a:endParaRPr lang="en-US" sz="1500" dirty="0"/>
          </a:p>
        </p:txBody>
      </p:sp>
      <p:sp>
        <p:nvSpPr>
          <p:cNvPr id="23" name="Text 16"/>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05  </a:t>
            </a:r>
            <a:pPr indent="0" marL="0">
              <a:buNone/>
            </a:pPr>
            <a:r>
              <a:rPr lang="en-US" sz="1050" b="1" spc="200" kern="0" dirty="0">
                <a:solidFill>
                  <a:srgbClr val="1F2A44"/>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658368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is an OpenAI API call.</a:t>
            </a:r>
            <a:endParaRPr lang="en-US" sz="3000" dirty="0"/>
          </a:p>
        </p:txBody>
      </p:sp>
      <p:sp>
        <p:nvSpPr>
          <p:cNvPr id="5" name="API cost"/>
          <p:cNvSpPr/>
          <p:nvPr/>
        </p:nvSpPr>
        <p:spPr>
          <a:xfrm>
            <a:off x="7498080" y="457200"/>
            <a:ext cx="4142232" cy="1463040"/>
          </a:xfrm>
          <a:prstGeom prst="roundRect">
            <a:avLst>
              <a:gd name="adj" fmla="val 8750"/>
            </a:avLst>
          </a:prstGeom>
          <a:solidFill>
            <a:srgbClr val="FFF1E7"/>
          </a:solidFill>
          <a:ln w="9525">
            <a:solidFill>
              <a:srgbClr val="FFCFB0"/>
            </a:solidFill>
            <a:prstDash val="solid"/>
          </a:ln>
        </p:spPr>
      </p:sp>
      <p:sp>
        <p:nvSpPr>
          <p:cNvPr id="6" name="Text 4"/>
          <p:cNvSpPr txBox="1"/>
          <p:nvPr/>
        </p:nvSpPr>
        <p:spPr>
          <a:xfrm>
            <a:off x="7699248" y="530352"/>
            <a:ext cx="2011680" cy="566928"/>
          </a:xfrm>
          <a:prstGeom prst="rect">
            <a:avLst/>
          </a:prstGeom>
          <a:noFill/>
          <a:ln/>
        </p:spPr>
        <p:txBody>
          <a:bodyPr wrap="square" lIns="0" tIns="0" rIns="0" bIns="0" rtlCol="0" anchor="ctr"/>
          <a:lstStyle/>
          <a:p>
            <a:pPr indent="0" marL="0">
              <a:buNone/>
            </a:pPr>
            <a:r>
              <a:rPr lang="en-US" sz="2800" b="1" dirty="0">
                <a:solidFill>
                  <a:srgbClr val="F05A00"/>
                </a:solidFill>
                <a:latin typeface="Arial" pitchFamily="34" charset="0"/>
                <a:ea typeface="Arial" pitchFamily="34" charset="-122"/>
                <a:cs typeface="Arial" pitchFamily="34" charset="-120"/>
              </a:rPr>
              <a:t>≈ </a:t>
            </a:r>
            <a:pPr indent="0" marL="0">
              <a:buNone/>
            </a:pPr>
            <a:r>
              <a:rPr lang="en-US" sz="2800" b="1" dirty="0">
                <a:solidFill>
                  <a:srgbClr val="F05A00"/>
                </a:solidFill>
                <a:latin typeface="Arial" pitchFamily="34" charset="0"/>
                <a:ea typeface="Arial" pitchFamily="34" charset="-122"/>
                <a:cs typeface="Arial" pitchFamily="34" charset="-120"/>
              </a:rPr>
              <a:t>₫</a:t>
            </a:r>
            <a:pPr indent="0" marL="0">
              <a:buNone/>
            </a:pPr>
            <a:r>
              <a:rPr lang="en-US" sz="2800" b="1" dirty="0">
                <a:solidFill>
                  <a:srgbClr val="121A2C"/>
                </a:solidFill>
                <a:latin typeface="Arial" pitchFamily="34" charset="0"/>
                <a:ea typeface="Arial" pitchFamily="34" charset="-122"/>
                <a:cs typeface="Arial" pitchFamily="34" charset="-120"/>
              </a:rPr>
              <a:t>7.2M</a:t>
            </a:r>
            <a:endParaRPr lang="en-US" sz="2800" dirty="0"/>
          </a:p>
        </p:txBody>
      </p:sp>
      <p:sp>
        <p:nvSpPr>
          <p:cNvPr id="7" name="Text 5"/>
          <p:cNvSpPr txBox="1"/>
          <p:nvPr/>
        </p:nvSpPr>
        <p:spPr>
          <a:xfrm>
            <a:off x="9418320" y="621792"/>
            <a:ext cx="2103120" cy="411480"/>
          </a:xfrm>
          <a:prstGeom prst="rect">
            <a:avLst/>
          </a:prstGeom>
          <a:noFill/>
          <a:ln/>
        </p:spPr>
        <p:txBody>
          <a:bodyPr wrap="square" lIns="0" tIns="0" rIns="0" bIns="0" rtlCol="0" anchor="ctr"/>
          <a:lstStyle/>
          <a:p>
            <a:pPr algn="r" indent="0" marL="0">
              <a:buNone/>
            </a:pPr>
            <a:r>
              <a:rPr lang="en-US" sz="1050" dirty="0">
                <a:solidFill>
                  <a:srgbClr val="222B40"/>
                </a:solidFill>
                <a:latin typeface="Arial" pitchFamily="34" charset="0"/>
                <a:ea typeface="Arial" pitchFamily="34" charset="-122"/>
                <a:cs typeface="Arial" pitchFamily="34" charset="-120"/>
              </a:rPr>
              <a:t>OpenAI API a month, one area</a:t>
            </a:r>
            <a:pPr algn="r" indent="0" marL="0">
              <a:buNone/>
            </a:pPr>
            <a:r>
              <a:rPr lang="en-US" sz="1000" dirty="0">
                <a:solidFill>
                  <a:srgbClr val="4A556E"/>
                </a:solidFill>
                <a:latin typeface="Arial" pitchFamily="34" charset="0"/>
                <a:ea typeface="Arial" pitchFamily="34" charset="-122"/>
                <a:cs typeface="Arial" pitchFamily="34" charset="-120"/>
              </a:rPr>
              <a:t> [9]</a:t>
            </a:r>
            <a:endParaRPr lang="en-US" sz="1050" dirty="0"/>
          </a:p>
        </p:txBody>
      </p:sp>
      <p:sp>
        <p:nvSpPr>
          <p:cNvPr id="8" name="API share 0"/>
          <p:cNvSpPr/>
          <p:nvPr/>
        </p:nvSpPr>
        <p:spPr>
          <a:xfrm>
            <a:off x="7699248" y="1170432"/>
            <a:ext cx="2698331" cy="182880"/>
          </a:xfrm>
          <a:prstGeom prst="rect">
            <a:avLst/>
          </a:prstGeom>
          <a:solidFill>
            <a:srgbClr val="F05A00"/>
          </a:solidFill>
          <a:ln/>
        </p:spPr>
      </p:sp>
      <p:sp>
        <p:nvSpPr>
          <p:cNvPr id="9" name="API share 1"/>
          <p:cNvSpPr/>
          <p:nvPr/>
        </p:nvSpPr>
        <p:spPr>
          <a:xfrm>
            <a:off x="10415867" y="1170432"/>
            <a:ext cx="760857" cy="182880"/>
          </a:xfrm>
          <a:prstGeom prst="rect">
            <a:avLst/>
          </a:prstGeom>
          <a:solidFill>
            <a:srgbClr val="1F2A44"/>
          </a:solidFill>
          <a:ln/>
        </p:spPr>
      </p:sp>
      <p:sp>
        <p:nvSpPr>
          <p:cNvPr id="10" name="API share 2"/>
          <p:cNvSpPr/>
          <p:nvPr/>
        </p:nvSpPr>
        <p:spPr>
          <a:xfrm>
            <a:off x="11195012" y="1170432"/>
            <a:ext cx="225844" cy="182880"/>
          </a:xfrm>
          <a:prstGeom prst="rect">
            <a:avLst/>
          </a:prstGeom>
          <a:solidFill>
            <a:srgbClr val="7D8FB5"/>
          </a:solidFill>
          <a:ln/>
        </p:spPr>
      </p:sp>
      <p:sp>
        <p:nvSpPr>
          <p:cNvPr id="11" name="Text 9"/>
          <p:cNvSpPr txBox="1"/>
          <p:nvPr/>
        </p:nvSpPr>
        <p:spPr>
          <a:xfrm>
            <a:off x="7699248" y="1426464"/>
            <a:ext cx="3749040" cy="2743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GPT-Live-1 ₫5.2M · Terra ₫1.5M · Luna ₫0.5M</a:t>
            </a:r>
            <a:endParaRPr lang="en-US" sz="1100" dirty="0"/>
          </a:p>
        </p:txBody>
      </p:sp>
      <p:sp>
        <p:nvSpPr>
          <p:cNvPr id="12" name="API 1"/>
          <p:cNvSpPr/>
          <p:nvPr/>
        </p:nvSpPr>
        <p:spPr>
          <a:xfrm>
            <a:off x="548640" y="2103120"/>
            <a:ext cx="2670048" cy="2834640"/>
          </a:xfrm>
          <a:prstGeom prst="roundRect">
            <a:avLst>
              <a:gd name="adj" fmla="val 4795"/>
            </a:avLst>
          </a:prstGeom>
          <a:solidFill>
            <a:srgbClr val="E9EEF8"/>
          </a:solidFill>
          <a:ln w="9525">
            <a:solidFill>
              <a:srgbClr val="C9D4EA"/>
            </a:solidFill>
            <a:prstDash val="solid"/>
          </a:ln>
        </p:spPr>
      </p:sp>
      <p:pic>
        <p:nvPicPr>
          <p:cNvPr id="13" name="OpenAI logo 0" descr="/private/tmp/claude-503/-Users-davark-Downloads-Everything-Github-Alodi-Regional-Codex-Hackathon-2026/91e569a8-486f-4c0b-b683-a4991468f039/scratchpad/deck/assets/openai-ink.png">    </p:cNvPr>
          <p:cNvPicPr>
            <a:picLocks noChangeAspect="1"/>
          </p:cNvPicPr>
          <p:nvPr/>
        </p:nvPicPr>
        <p:blipFill>
          <a:blip r:embed="rId1"/>
          <a:stretch>
            <a:fillRect/>
          </a:stretch>
        </p:blipFill>
        <p:spPr>
          <a:xfrm>
            <a:off x="749808" y="2304288"/>
            <a:ext cx="274320" cy="274320"/>
          </a:xfrm>
          <a:prstGeom prst="rect">
            <a:avLst/>
          </a:prstGeom>
        </p:spPr>
      </p:pic>
      <p:sp>
        <p:nvSpPr>
          <p:cNvPr id="14" name="Text 11"/>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TRIAGE</a:t>
            </a:r>
            <a:endParaRPr lang="en-US" sz="900" dirty="0"/>
          </a:p>
        </p:txBody>
      </p:sp>
      <p:sp>
        <p:nvSpPr>
          <p:cNvPr id="15" name="Text 12"/>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Decisions API</a:t>
            </a:r>
            <a:endParaRPr lang="en-US" sz="1800" dirty="0"/>
          </a:p>
        </p:txBody>
      </p:sp>
      <p:sp>
        <p:nvSpPr>
          <p:cNvPr id="16" name="Text 13"/>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GPT-6 Luna</a:t>
            </a:r>
            <a:endParaRPr lang="en-US" sz="1150" dirty="0"/>
          </a:p>
        </p:txBody>
      </p:sp>
      <p:sp>
        <p:nvSpPr>
          <p:cNvPr id="17" name="Text 14"/>
          <p:cNvSpPr txBox="1"/>
          <p:nvPr/>
        </p:nvSpPr>
        <p:spPr>
          <a:xfrm>
            <a:off x="749808"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Sorts every signal: which case, which window, how sure. Probabilities drive the 0.85 rule.</a:t>
            </a:r>
            <a:endParaRPr lang="en-US" sz="1250" dirty="0"/>
          </a:p>
        </p:txBody>
      </p:sp>
      <p:sp>
        <p:nvSpPr>
          <p:cNvPr id="18" name="API rule 0"/>
          <p:cNvSpPr/>
          <p:nvPr/>
        </p:nvSpPr>
        <p:spPr>
          <a:xfrm>
            <a:off x="749808" y="4224528"/>
            <a:ext cx="2267712" cy="0"/>
          </a:xfrm>
          <a:prstGeom prst="line">
            <a:avLst/>
          </a:prstGeom>
          <a:noFill/>
          <a:ln w="9525">
            <a:solidFill>
              <a:srgbClr val="C9D4EA"/>
            </a:solidFill>
            <a:prstDash val="solid"/>
          </a:ln>
        </p:spPr>
      </p:sp>
      <p:sp>
        <p:nvSpPr>
          <p:cNvPr id="19" name="Text 16"/>
          <p:cNvSpPr txBox="1"/>
          <p:nvPr/>
        </p:nvSpPr>
        <p:spPr>
          <a:xfrm>
            <a:off x="749808"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/v1/decisions</a:t>
            </a:r>
            <a:endParaRPr lang="en-US" sz="1150" dirty="0"/>
          </a:p>
        </p:txBody>
      </p:sp>
      <p:sp>
        <p:nvSpPr>
          <p:cNvPr id="20" name="Text 17"/>
          <p:cNvSpPr txBox="1"/>
          <p:nvPr/>
        </p:nvSpPr>
        <p:spPr>
          <a:xfrm>
            <a:off x="749808"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Every message · 6.0M tokens a day</a:t>
            </a:r>
            <a:endParaRPr lang="en-US" sz="1100" dirty="0"/>
          </a:p>
        </p:txBody>
      </p:sp>
      <p:sp>
        <p:nvSpPr>
          <p:cNvPr id="21" name="Arrow 0"/>
          <p:cNvSpPr/>
          <p:nvPr/>
        </p:nvSpPr>
        <p:spPr>
          <a:xfrm>
            <a:off x="3218688" y="3474720"/>
            <a:ext cx="137160" cy="0"/>
          </a:xfrm>
          <a:prstGeom prst="line">
            <a:avLst/>
          </a:prstGeom>
          <a:noFill/>
          <a:ln w="15875">
            <a:solidFill>
              <a:srgbClr val="1F2A44"/>
            </a:solidFill>
            <a:prstDash val="solid"/>
            <a:tailEnd type="triangle"/>
          </a:ln>
        </p:spPr>
      </p:sp>
      <p:sp>
        <p:nvSpPr>
          <p:cNvPr id="22" name="API 2"/>
          <p:cNvSpPr/>
          <p:nvPr/>
        </p:nvSpPr>
        <p:spPr>
          <a:xfrm>
            <a:off x="3355848" y="2103120"/>
            <a:ext cx="2670048" cy="2834640"/>
          </a:xfrm>
          <a:prstGeom prst="roundRect">
            <a:avLst>
              <a:gd name="adj" fmla="val 4795"/>
            </a:avLst>
          </a:prstGeom>
          <a:solidFill>
            <a:srgbClr val="E9EEF8"/>
          </a:solidFill>
          <a:ln w="9525">
            <a:solidFill>
              <a:srgbClr val="C9D4EA"/>
            </a:solidFill>
            <a:prstDash val="solid"/>
          </a:ln>
        </p:spPr>
      </p:sp>
      <p:pic>
        <p:nvPicPr>
          <p:cNvPr id="23" name="OpenAI logo 1" descr="/private/tmp/claude-503/-Users-davark-Downloads-Everything-Github-Alodi-Regional-Codex-Hackathon-2026/91e569a8-486f-4c0b-b683-a4991468f039/scratchpad/deck/assets/openai-ink.png">    </p:cNvPr>
          <p:cNvPicPr>
            <a:picLocks noChangeAspect="1"/>
          </p:cNvPicPr>
          <p:nvPr/>
        </p:nvPicPr>
        <p:blipFill>
          <a:blip r:embed="rId2"/>
          <a:stretch>
            <a:fillRect/>
          </a:stretch>
        </p:blipFill>
        <p:spPr>
          <a:xfrm>
            <a:off x="3557016" y="2304288"/>
            <a:ext cx="274320" cy="274320"/>
          </a:xfrm>
          <a:prstGeom prst="rect">
            <a:avLst/>
          </a:prstGeom>
        </p:spPr>
      </p:pic>
      <p:sp>
        <p:nvSpPr>
          <p:cNvPr id="24" name="Text 20"/>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VOICE</a:t>
            </a:r>
            <a:endParaRPr lang="en-US" sz="900" dirty="0"/>
          </a:p>
        </p:txBody>
      </p:sp>
      <p:sp>
        <p:nvSpPr>
          <p:cNvPr id="25" name="Text 21"/>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GPT-Live-1</a:t>
            </a:r>
            <a:endParaRPr lang="en-US" sz="1800" dirty="0"/>
          </a:p>
        </p:txBody>
      </p:sp>
      <p:sp>
        <p:nvSpPr>
          <p:cNvPr id="26" name="Text 22"/>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Live sessions, WebRTC</a:t>
            </a:r>
            <a:endParaRPr lang="en-US" sz="1150" dirty="0"/>
          </a:p>
        </p:txBody>
      </p:sp>
      <p:sp>
        <p:nvSpPr>
          <p:cNvPr id="27" name="Text 23"/>
          <p:cNvSpPr txBox="1"/>
          <p:nvPr/>
        </p:nvSpPr>
        <p:spPr>
          <a:xfrm>
            <a:off x="3557016"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Calls the buyer. Listens while it speaks and hands reasoning to the agent.</a:t>
            </a:r>
            <a:endParaRPr lang="en-US" sz="1250" dirty="0"/>
          </a:p>
        </p:txBody>
      </p:sp>
      <p:sp>
        <p:nvSpPr>
          <p:cNvPr id="28" name="API rule 1"/>
          <p:cNvSpPr/>
          <p:nvPr/>
        </p:nvSpPr>
        <p:spPr>
          <a:xfrm>
            <a:off x="3557016" y="4224528"/>
            <a:ext cx="2267712" cy="0"/>
          </a:xfrm>
          <a:prstGeom prst="line">
            <a:avLst/>
          </a:prstGeom>
          <a:noFill/>
          <a:ln w="9525">
            <a:solidFill>
              <a:srgbClr val="C9D4EA"/>
            </a:solidFill>
            <a:prstDash val="solid"/>
          </a:ln>
        </p:spPr>
      </p:sp>
      <p:sp>
        <p:nvSpPr>
          <p:cNvPr id="29" name="Text 25"/>
          <p:cNvSpPr txBox="1"/>
          <p:nvPr/>
        </p:nvSpPr>
        <p:spPr>
          <a:xfrm>
            <a:off x="3557016"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/v1/live/sessions</a:t>
            </a:r>
            <a:endParaRPr lang="en-US" sz="1150" dirty="0"/>
          </a:p>
        </p:txBody>
      </p:sp>
      <p:sp>
        <p:nvSpPr>
          <p:cNvPr id="30" name="Text 26"/>
          <p:cNvSpPr txBox="1"/>
          <p:nvPr/>
        </p:nvSpPr>
        <p:spPr>
          <a:xfrm>
            <a:off x="3557016"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134 billed minutes a day</a:t>
            </a:r>
            <a:endParaRPr lang="en-US" sz="1100" dirty="0"/>
          </a:p>
        </p:txBody>
      </p:sp>
      <p:sp>
        <p:nvSpPr>
          <p:cNvPr id="31" name="Arrow 1"/>
          <p:cNvSpPr/>
          <p:nvPr/>
        </p:nvSpPr>
        <p:spPr>
          <a:xfrm>
            <a:off x="6025896" y="3474720"/>
            <a:ext cx="137160" cy="0"/>
          </a:xfrm>
          <a:prstGeom prst="line">
            <a:avLst/>
          </a:prstGeom>
          <a:noFill/>
          <a:ln w="15875">
            <a:solidFill>
              <a:srgbClr val="1F2A44"/>
            </a:solidFill>
            <a:prstDash val="solid"/>
            <a:tailEnd type="triangle"/>
          </a:ln>
        </p:spPr>
      </p:sp>
      <p:sp>
        <p:nvSpPr>
          <p:cNvPr id="32" name="API 3"/>
          <p:cNvSpPr/>
          <p:nvPr/>
        </p:nvSpPr>
        <p:spPr>
          <a:xfrm>
            <a:off x="6163056" y="2103120"/>
            <a:ext cx="2670048" cy="2834640"/>
          </a:xfrm>
          <a:prstGeom prst="roundRect">
            <a:avLst>
              <a:gd name="adj" fmla="val 4795"/>
            </a:avLst>
          </a:prstGeom>
          <a:solidFill>
            <a:srgbClr val="E9EEF8"/>
          </a:solidFill>
          <a:ln w="9525">
            <a:solidFill>
              <a:srgbClr val="C9D4EA"/>
            </a:solidFill>
            <a:prstDash val="solid"/>
          </a:ln>
        </p:spPr>
      </p:sp>
      <p:pic>
        <p:nvPicPr>
          <p:cNvPr id="33" name="OpenAI logo 2" descr="/private/tmp/claude-503/-Users-davark-Downloads-Everything-Github-Alodi-Regional-Codex-Hackathon-2026/91e569a8-486f-4c0b-b683-a4991468f039/scratchpad/deck/assets/openai-ink.png">    </p:cNvPr>
          <p:cNvPicPr>
            <a:picLocks noChangeAspect="1"/>
          </p:cNvPicPr>
          <p:nvPr/>
        </p:nvPicPr>
        <p:blipFill>
          <a:blip r:embed="rId3"/>
          <a:stretch>
            <a:fillRect/>
          </a:stretch>
        </p:blipFill>
        <p:spPr>
          <a:xfrm>
            <a:off x="6364224" y="2304288"/>
            <a:ext cx="274320" cy="274320"/>
          </a:xfrm>
          <a:prstGeom prst="rect">
            <a:avLst/>
          </a:prstGeom>
        </p:spPr>
      </p:pic>
      <p:sp>
        <p:nvSpPr>
          <p:cNvPr id="34" name="Text 29"/>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MEMO</a:t>
            </a:r>
            <a:endParaRPr lang="en-US" sz="900" dirty="0"/>
          </a:p>
        </p:txBody>
      </p:sp>
      <p:sp>
        <p:nvSpPr>
          <p:cNvPr id="35" name="Text 30"/>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 Transcribe</a:t>
            </a:r>
            <a:endParaRPr lang="en-US" sz="1800" dirty="0"/>
          </a:p>
        </p:txBody>
      </p:sp>
      <p:sp>
        <p:nvSpPr>
          <p:cNvPr id="36" name="Text 31"/>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Audio transcriptions</a:t>
            </a:r>
            <a:endParaRPr lang="en-US" sz="1150" dirty="0"/>
          </a:p>
        </p:txBody>
      </p:sp>
      <p:sp>
        <p:nvSpPr>
          <p:cNvPr id="37" name="Text 32"/>
          <p:cNvSpPr txBox="1"/>
          <p:nvPr/>
        </p:nvSpPr>
        <p:spPr>
          <a:xfrm>
            <a:off x="6364224"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Turns the shipper’s 10-second voice memo into text the agent can read.</a:t>
            </a:r>
            <a:endParaRPr lang="en-US" sz="1250" dirty="0"/>
          </a:p>
        </p:txBody>
      </p:sp>
      <p:sp>
        <p:nvSpPr>
          <p:cNvPr id="38" name="API rule 2"/>
          <p:cNvSpPr/>
          <p:nvPr/>
        </p:nvSpPr>
        <p:spPr>
          <a:xfrm>
            <a:off x="6364224" y="4224528"/>
            <a:ext cx="2267712" cy="0"/>
          </a:xfrm>
          <a:prstGeom prst="line">
            <a:avLst/>
          </a:prstGeom>
          <a:noFill/>
          <a:ln w="9525">
            <a:solidFill>
              <a:srgbClr val="C9D4EA"/>
            </a:solidFill>
            <a:prstDash val="solid"/>
          </a:ln>
        </p:spPr>
      </p:sp>
      <p:sp>
        <p:nvSpPr>
          <p:cNvPr id="39" name="Text 34"/>
          <p:cNvSpPr txBox="1"/>
          <p:nvPr/>
        </p:nvSpPr>
        <p:spPr>
          <a:xfrm>
            <a:off x="6364224"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/v1/audio/transcriptions</a:t>
            </a:r>
            <a:endParaRPr lang="en-US" sz="1150" dirty="0"/>
          </a:p>
        </p:txBody>
      </p:sp>
      <p:sp>
        <p:nvSpPr>
          <p:cNvPr id="40" name="Text 35"/>
          <p:cNvSpPr txBox="1"/>
          <p:nvPr/>
        </p:nvSpPr>
        <p:spPr>
          <a:xfrm>
            <a:off x="6364224"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Reschedules with a memo</a:t>
            </a:r>
            <a:endParaRPr lang="en-US" sz="1100" dirty="0"/>
          </a:p>
        </p:txBody>
      </p:sp>
      <p:sp>
        <p:nvSpPr>
          <p:cNvPr id="41" name="Arrow 2"/>
          <p:cNvSpPr/>
          <p:nvPr/>
        </p:nvSpPr>
        <p:spPr>
          <a:xfrm>
            <a:off x="8833104" y="3474720"/>
            <a:ext cx="137160" cy="0"/>
          </a:xfrm>
          <a:prstGeom prst="line">
            <a:avLst/>
          </a:prstGeom>
          <a:noFill/>
          <a:ln w="15875">
            <a:solidFill>
              <a:srgbClr val="1F2A44"/>
            </a:solidFill>
            <a:prstDash val="solid"/>
            <a:tailEnd type="triangle"/>
          </a:ln>
        </p:spPr>
      </p:sp>
      <p:sp>
        <p:nvSpPr>
          <p:cNvPr id="42" name="API 4"/>
          <p:cNvSpPr/>
          <p:nvPr/>
        </p:nvSpPr>
        <p:spPr>
          <a:xfrm>
            <a:off x="8970264" y="2103120"/>
            <a:ext cx="2670048" cy="2834640"/>
          </a:xfrm>
          <a:prstGeom prst="roundRect">
            <a:avLst>
              <a:gd name="adj" fmla="val 4795"/>
            </a:avLst>
          </a:prstGeom>
          <a:solidFill>
            <a:srgbClr val="FFF1E7"/>
          </a:solidFill>
          <a:ln w="9525">
            <a:solidFill>
              <a:srgbClr val="FFCFB0"/>
            </a:solidFill>
            <a:prstDash val="solid"/>
          </a:ln>
        </p:spPr>
      </p:sp>
      <p:pic>
        <p:nvPicPr>
          <p:cNvPr id="43" name="OpenAI logo 3" descr="/private/tmp/claude-503/-Users-davark-Downloads-Everything-Github-Alodi-Regional-Codex-Hackathon-2026/91e569a8-486f-4c0b-b683-a4991468f039/scratchpad/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44" name="Text 38"/>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900" b="1" spc="150" kern="0" dirty="0">
                <a:solidFill>
                  <a:srgbClr val="F05A00"/>
                </a:solidFill>
                <a:latin typeface="Arial" pitchFamily="34" charset="0"/>
                <a:ea typeface="Arial" pitchFamily="34" charset="-122"/>
                <a:cs typeface="Arial" pitchFamily="34" charset="-120"/>
              </a:rPr>
              <a:t>AGENT</a:t>
            </a:r>
            <a:endParaRPr lang="en-US" sz="900" dirty="0"/>
          </a:p>
        </p:txBody>
      </p:sp>
      <p:sp>
        <p:nvSpPr>
          <p:cNvPr id="45" name="Text 39"/>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6" name="Text 40"/>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Responses API, Agents SDK</a:t>
            </a:r>
            <a:endParaRPr lang="en-US" sz="1150" dirty="0"/>
          </a:p>
        </p:txBody>
      </p:sp>
      <p:sp>
        <p:nvSpPr>
          <p:cNvPr id="47" name="Text 41"/>
          <p:cNvSpPr txBox="1"/>
          <p:nvPr/>
        </p:nvSpPr>
        <p:spPr>
          <a:xfrm>
            <a:off x="9171432"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Runs the case under policy and writes the card with Structured Outputs.</a:t>
            </a:r>
            <a:endParaRPr lang="en-US" sz="1250" dirty="0"/>
          </a:p>
        </p:txBody>
      </p:sp>
      <p:sp>
        <p:nvSpPr>
          <p:cNvPr id="48" name="API rule 3"/>
          <p:cNvSpPr/>
          <p:nvPr/>
        </p:nvSpPr>
        <p:spPr>
          <a:xfrm>
            <a:off x="9171432" y="4224528"/>
            <a:ext cx="2267712" cy="0"/>
          </a:xfrm>
          <a:prstGeom prst="line">
            <a:avLst/>
          </a:prstGeom>
          <a:noFill/>
          <a:ln w="9525">
            <a:solidFill>
              <a:srgbClr val="FFCFB0"/>
            </a:solidFill>
            <a:prstDash val="solid"/>
          </a:ln>
        </p:spPr>
      </p:sp>
      <p:sp>
        <p:nvSpPr>
          <p:cNvPr id="49" name="Text 43"/>
          <p:cNvSpPr txBox="1"/>
          <p:nvPr/>
        </p:nvSpPr>
        <p:spPr>
          <a:xfrm>
            <a:off x="9171432"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/v1/responses</a:t>
            </a:r>
            <a:endParaRPr lang="en-US" sz="1150" dirty="0"/>
          </a:p>
        </p:txBody>
      </p:sp>
      <p:sp>
        <p:nvSpPr>
          <p:cNvPr id="50" name="Text 44"/>
          <p:cNvSpPr txBox="1"/>
          <p:nvPr/>
        </p:nvSpPr>
        <p:spPr>
          <a:xfrm>
            <a:off x="9171432"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20% of traffic, after triage</a:t>
            </a:r>
            <a:endParaRPr lang="en-US" sz="1100" dirty="0"/>
          </a:p>
        </p:txBody>
      </p:sp>
      <p:pic>
        <p:nvPicPr>
          <p:cNvPr id="51" name="Also logo 0" descr="/private/tmp/claude-503/-Users-davark-Downloads-Everything-Github-Alodi-Regional-Codex-Hackathon-2026/91e569a8-486f-4c0b-b683-a4991468f039/scratchpad/deck/assets/openai-ink.png">    </p:cNvPr>
          <p:cNvPicPr>
            <a:picLocks noChangeAspect="1"/>
          </p:cNvPicPr>
          <p:nvPr/>
        </p:nvPicPr>
        <p:blipFill>
          <a:blip r:embed="rId5"/>
          <a:stretch>
            <a:fillRect/>
          </a:stretch>
        </p:blipFill>
        <p:spPr>
          <a:xfrm>
            <a:off x="548640" y="5129784"/>
            <a:ext cx="201168" cy="201168"/>
          </a:xfrm>
          <a:prstGeom prst="rect">
            <a:avLst/>
          </a:prstGeom>
        </p:spPr>
      </p:pic>
      <p:sp>
        <p:nvSpPr>
          <p:cNvPr id="52" name="Text 45"/>
          <p:cNvSpPr txBox="1"/>
          <p:nvPr/>
        </p:nvSpPr>
        <p:spPr>
          <a:xfrm>
            <a:off x="841248"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Structured Outputs</a:t>
            </a:r>
            <a:endParaRPr lang="en-US" sz="1300" dirty="0"/>
          </a:p>
        </p:txBody>
      </p:sp>
      <p:sp>
        <p:nvSpPr>
          <p:cNvPr id="53" name="Text 46"/>
          <p:cNvSpPr txBox="1"/>
          <p:nvPr/>
        </p:nvSpPr>
        <p:spPr>
          <a:xfrm>
            <a:off x="841248"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the context card schema</a:t>
            </a:r>
            <a:endParaRPr lang="en-US" sz="1150" dirty="0"/>
          </a:p>
        </p:txBody>
      </p:sp>
      <p:pic>
        <p:nvPicPr>
          <p:cNvPr id="54" name="Also logo 1" descr="/private/tmp/claude-503/-Users-davark-Downloads-Everything-Github-Alodi-Regional-Codex-Hackathon-2026/91e569a8-486f-4c0b-b683-a4991468f039/scratchpad/deck/assets/openai-ink.png">    </p:cNvPr>
          <p:cNvPicPr>
            <a:picLocks noChangeAspect="1"/>
          </p:cNvPicPr>
          <p:nvPr/>
        </p:nvPicPr>
        <p:blipFill>
          <a:blip r:embed="rId6"/>
          <a:stretch>
            <a:fillRect/>
          </a:stretch>
        </p:blipFill>
        <p:spPr>
          <a:xfrm>
            <a:off x="3355848" y="5129784"/>
            <a:ext cx="201168" cy="201168"/>
          </a:xfrm>
          <a:prstGeom prst="rect">
            <a:avLst/>
          </a:prstGeom>
        </p:spPr>
      </p:pic>
      <p:sp>
        <p:nvSpPr>
          <p:cNvPr id="55" name="Text 47"/>
          <p:cNvSpPr txBox="1"/>
          <p:nvPr/>
        </p:nvSpPr>
        <p:spPr>
          <a:xfrm>
            <a:off x="3648456"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Evals</a:t>
            </a:r>
            <a:endParaRPr lang="en-US" sz="1300" dirty="0"/>
          </a:p>
        </p:txBody>
      </p:sp>
      <p:sp>
        <p:nvSpPr>
          <p:cNvPr id="56" name="Text 48"/>
          <p:cNvSpPr txBox="1"/>
          <p:nvPr/>
        </p:nvSpPr>
        <p:spPr>
          <a:xfrm>
            <a:off x="3648456"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gate every prompt change</a:t>
            </a:r>
            <a:endParaRPr lang="en-US" sz="1150" dirty="0"/>
          </a:p>
        </p:txBody>
      </p:sp>
      <p:pic>
        <p:nvPicPr>
          <p:cNvPr id="57" name="Also logo 2" descr="/private/tmp/claude-503/-Users-davark-Downloads-Everything-Github-Alodi-Regional-Codex-Hackathon-2026/91e569a8-486f-4c0b-b683-a4991468f039/scratchpad/deck/assets/openai-ink.png">    </p:cNvPr>
          <p:cNvPicPr>
            <a:picLocks noChangeAspect="1"/>
          </p:cNvPicPr>
          <p:nvPr/>
        </p:nvPicPr>
        <p:blipFill>
          <a:blip r:embed="rId7"/>
          <a:stretch>
            <a:fillRect/>
          </a:stretch>
        </p:blipFill>
        <p:spPr>
          <a:xfrm>
            <a:off x="6163056" y="5129784"/>
            <a:ext cx="201168" cy="201168"/>
          </a:xfrm>
          <a:prstGeom prst="rect">
            <a:avLst/>
          </a:prstGeom>
        </p:spPr>
      </p:pic>
      <p:sp>
        <p:nvSpPr>
          <p:cNvPr id="58" name="Text 49"/>
          <p:cNvSpPr txBox="1"/>
          <p:nvPr/>
        </p:nvSpPr>
        <p:spPr>
          <a:xfrm>
            <a:off x="6455664"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gpt-oss-20b</a:t>
            </a:r>
            <a:endParaRPr lang="en-US" sz="1300" dirty="0"/>
          </a:p>
        </p:txBody>
      </p:sp>
      <p:sp>
        <p:nvSpPr>
          <p:cNvPr id="59" name="Text 50"/>
          <p:cNvSpPr txBox="1"/>
          <p:nvPr/>
        </p:nvSpPr>
        <p:spPr>
          <a:xfrm>
            <a:off x="6455664"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offline fallback</a:t>
            </a:r>
            <a:endParaRPr lang="en-US" sz="1150" dirty="0"/>
          </a:p>
        </p:txBody>
      </p:sp>
      <p:pic>
        <p:nvPicPr>
          <p:cNvPr id="60" name="Also logo 3" descr="/private/tmp/claude-503/-Users-davark-Downloads-Everything-Github-Alodi-Regional-Codex-Hackathon-2026/91e569a8-486f-4c0b-b683-a4991468f039/scratchpad/deck/assets/openai-ink.png">    </p:cNvPr>
          <p:cNvPicPr>
            <a:picLocks noChangeAspect="1"/>
          </p:cNvPicPr>
          <p:nvPr/>
        </p:nvPicPr>
        <p:blipFill>
          <a:blip r:embed="rId8"/>
          <a:stretch>
            <a:fillRect/>
          </a:stretch>
        </p:blipFill>
        <p:spPr>
          <a:xfrm>
            <a:off x="8970264" y="5129784"/>
            <a:ext cx="201168" cy="201168"/>
          </a:xfrm>
          <a:prstGeom prst="rect">
            <a:avLst/>
          </a:prstGeom>
        </p:spPr>
      </p:pic>
      <p:sp>
        <p:nvSpPr>
          <p:cNvPr id="61" name="Text 51"/>
          <p:cNvSpPr txBox="1"/>
          <p:nvPr/>
        </p:nvSpPr>
        <p:spPr>
          <a:xfrm>
            <a:off x="9262872"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Codex</a:t>
            </a:r>
            <a:endParaRPr lang="en-US" sz="1300" dirty="0"/>
          </a:p>
        </p:txBody>
      </p:sp>
      <p:sp>
        <p:nvSpPr>
          <p:cNvPr id="62" name="Text 52"/>
          <p:cNvSpPr txBox="1"/>
          <p:nvPr/>
        </p:nvSpPr>
        <p:spPr>
          <a:xfrm>
            <a:off x="9262872"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spec → build → review</a:t>
            </a:r>
            <a:endParaRPr lang="en-US" sz="1150" dirty="0"/>
          </a:p>
        </p:txBody>
      </p:sp>
      <p:sp>
        <p:nvSpPr>
          <p:cNvPr id="63" name="Text 53"/>
          <p:cNvSpPr txBox="1"/>
          <p:nvPr/>
        </p:nvSpPr>
        <p:spPr>
          <a:xfrm>
            <a:off x="548640" y="5760720"/>
            <a:ext cx="11064240" cy="237744"/>
          </a:xfrm>
          <a:prstGeom prst="rect">
            <a:avLst/>
          </a:prstGeom>
          <a:noFill/>
          <a:ln/>
        </p:spPr>
        <p:txBody>
          <a:bodyPr wrap="square" lIns="0" tIns="0" rIns="0" bIns="0" rtlCol="0" anchor="ctr"/>
          <a:lstStyle/>
          <a:p>
            <a:pPr indent="0" marL="0">
              <a:buNone/>
            </a:pPr>
            <a:r>
              <a:rPr lang="en-US" sz="1050" dirty="0">
                <a:solidFill>
                  <a:srgbClr val="3A435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50" dirty="0"/>
          </a:p>
        </p:txBody>
      </p:sp>
      <p:sp>
        <p:nvSpPr>
          <p:cNvPr id="64" name="Text 5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OUTPUT</a:t>
            </a:r>
            <a:endParaRPr lang="en-US" sz="1050" dirty="0"/>
          </a:p>
        </p:txBody>
      </p:sp>
      <p:sp>
        <p:nvSpPr>
          <p:cNvPr id="4" name="Text 2"/>
          <p:cNvSpPr txBox="1"/>
          <p:nvPr/>
        </p:nvSpPr>
        <p:spPr>
          <a:xfrm>
            <a:off x="548640" y="841248"/>
            <a:ext cx="11064240" cy="59436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Less money lost.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A second drop that just works.</a:t>
            </a:r>
            <a:endParaRPr lang="en-US" sz="2800" dirty="0"/>
          </a:p>
        </p:txBody>
      </p:sp>
      <p:sp>
        <p:nvSpPr>
          <p:cNvPr id="5" name="Money card"/>
          <p:cNvSpPr/>
          <p:nvPr/>
        </p:nvSpPr>
        <p:spPr>
          <a:xfrm>
            <a:off x="548640" y="1691640"/>
            <a:ext cx="6035040" cy="4297680"/>
          </a:xfrm>
          <a:prstGeom prst="roundRect">
            <a:avLst>
              <a:gd name="adj" fmla="val 4255"/>
            </a:avLst>
          </a:prstGeom>
          <a:solidFill>
            <a:srgbClr val="FFF1E7"/>
          </a:solidFill>
          <a:ln w="9525">
            <a:solidFill>
              <a:srgbClr val="FFCFB0"/>
            </a:solidFill>
            <a:prstDash val="solid"/>
          </a:ln>
        </p:spPr>
      </p:sp>
      <p:sp>
        <p:nvSpPr>
          <p:cNvPr id="6" name="Text 4"/>
          <p:cNvSpPr txBox="1"/>
          <p:nvPr/>
        </p:nvSpPr>
        <p:spPr>
          <a:xfrm>
            <a:off x="914400" y="1965960"/>
            <a:ext cx="50292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SAVED A MONTH · ONE AREA · PROJECTED</a:t>
            </a:r>
            <a:endParaRPr lang="en-US" sz="950" dirty="0"/>
          </a:p>
        </p:txBody>
      </p:sp>
      <p:sp>
        <p:nvSpPr>
          <p:cNvPr id="7" name="Net saving"/>
          <p:cNvSpPr txBox="1"/>
          <p:nvPr/>
        </p:nvSpPr>
        <p:spPr>
          <a:xfrm>
            <a:off x="914400" y="2212848"/>
            <a:ext cx="5394960" cy="914400"/>
          </a:xfrm>
          <a:prstGeom prst="rect">
            <a:avLst/>
          </a:prstGeom>
          <a:noFill/>
          <a:ln/>
        </p:spPr>
        <p:txBody>
          <a:bodyPr wrap="square" lIns="0" tIns="0" rIns="0" bIns="0" rtlCol="0" anchor="ctr"/>
          <a:lstStyle/>
          <a:p>
            <a:pPr indent="0" marL="0">
              <a:buNone/>
            </a:pPr>
            <a:r>
              <a:rPr lang="en-US" sz="5600" b="1" dirty="0">
                <a:solidFill>
                  <a:srgbClr val="F05A00"/>
                </a:solidFill>
                <a:latin typeface="Arial" pitchFamily="34" charset="0"/>
                <a:ea typeface="Arial" pitchFamily="34" charset="-122"/>
                <a:cs typeface="Arial" pitchFamily="34" charset="-120"/>
              </a:rPr>
              <a:t>₫</a:t>
            </a:r>
            <a:pPr indent="0" marL="0">
              <a:buNone/>
            </a:pPr>
            <a:r>
              <a:rPr lang="en-US" sz="5600" b="1" dirty="0">
                <a:solidFill>
                  <a:srgbClr val="F05A00"/>
                </a:solidFill>
                <a:latin typeface="Arial" pitchFamily="34" charset="0"/>
                <a:ea typeface="Arial" pitchFamily="34" charset="-122"/>
                <a:cs typeface="Arial" pitchFamily="34" charset="-120"/>
              </a:rPr>
              <a:t>187M</a:t>
            </a:r>
            <a:endParaRPr lang="en-US" sz="5600" dirty="0"/>
          </a:p>
        </p:txBody>
      </p:sp>
      <p:graphicFrame>
        <p:nvGraphicFramePr>
          <p:cNvPr id="8" name="Loss chart" descr="Monthly loss: ₫473M today, ₫286M with Alodi"/>
          <p:cNvGraphicFramePr/>
          <p:nvPr/>
        </p:nvGraphicFramePr>
        <p:xfrm>
          <a:off x="822960" y="3063240"/>
          <a:ext cx="5532120" cy="1600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914400" y="4800600"/>
            <a:ext cx="5303520" cy="457200"/>
          </a:xfrm>
          <a:prstGeom prst="rect">
            <a:avLst/>
          </a:prstGeom>
          <a:noFill/>
          <a:ln/>
        </p:spPr>
        <p:txBody>
          <a:bodyPr wrap="square" lIns="0" tIns="0" rIns="0" bIns="0" rtlCol="0" anchor="ctr"/>
          <a:lstStyle/>
          <a:p>
            <a:pPr indent="0" marL="0">
              <a:buNone/>
            </a:pPr>
            <a:r>
              <a:rPr lang="en-US" sz="2200" b="1" dirty="0">
                <a:solidFill>
                  <a:srgbClr val="F05A00"/>
                </a:solidFill>
                <a:latin typeface="Arial" pitchFamily="34" charset="0"/>
                <a:ea typeface="Arial" pitchFamily="34" charset="-122"/>
                <a:cs typeface="Arial" pitchFamily="34" charset="-120"/>
              </a:rPr>
              <a:t>40% cost saving</a:t>
            </a:r>
            <a:pPr indent="0" marL="0">
              <a:buNone/>
            </a:pPr>
            <a:r>
              <a:rPr lang="en-US" sz="1000" b="1" dirty="0">
                <a:solidFill>
                  <a:srgbClr val="4A556E"/>
                </a:solidFill>
                <a:latin typeface="Arial" pitchFamily="34" charset="0"/>
                <a:ea typeface="Arial" pitchFamily="34" charset="-122"/>
                <a:cs typeface="Arial" pitchFamily="34" charset="-120"/>
              </a:rPr>
              <a:t> [8][9]</a:t>
            </a:r>
            <a:endParaRPr lang="en-US" sz="2200" dirty="0"/>
          </a:p>
        </p:txBody>
      </p:sp>
      <p:sp>
        <p:nvSpPr>
          <p:cNvPr id="10" name="Text 7"/>
          <p:cNvSpPr txBox="1"/>
          <p:nvPr/>
        </p:nvSpPr>
        <p:spPr>
          <a:xfrm>
            <a:off x="914400" y="5257800"/>
            <a:ext cx="5303520" cy="320040"/>
          </a:xfrm>
          <a:prstGeom prst="rect">
            <a:avLst/>
          </a:prstGeom>
          <a:noFill/>
          <a:ln/>
        </p:spPr>
        <p:txBody>
          <a:bodyPr wrap="square" lIns="0" tIns="0" rIns="0" bIns="0" rtlCol="0" anchor="ctr"/>
          <a:lstStyle/>
          <a:p>
            <a:pPr indent="0" marL="0">
              <a:buNone/>
            </a:pPr>
            <a:r>
              <a:rPr lang="en-US" sz="1300" dirty="0">
                <a:solidFill>
                  <a:srgbClr val="222B40"/>
                </a:solidFill>
                <a:latin typeface="Arial" pitchFamily="34" charset="0"/>
                <a:ea typeface="Arial" pitchFamily="34" charset="-122"/>
                <a:cs typeface="Arial" pitchFamily="34" charset="-120"/>
              </a:rPr>
              <a:t>After running costs, at a best-in-class rescue rate.</a:t>
            </a:r>
            <a:endParaRPr lang="en-US" sz="1300" dirty="0"/>
          </a:p>
        </p:txBody>
      </p:sp>
      <p:sp>
        <p:nvSpPr>
          <p:cNvPr id="11" name="Experience card"/>
          <p:cNvSpPr/>
          <p:nvPr/>
        </p:nvSpPr>
        <p:spPr>
          <a:xfrm>
            <a:off x="6720840" y="1691640"/>
            <a:ext cx="4919472" cy="4297680"/>
          </a:xfrm>
          <a:prstGeom prst="roundRect">
            <a:avLst>
              <a:gd name="adj" fmla="val 4255"/>
            </a:avLst>
          </a:prstGeom>
          <a:solidFill>
            <a:srgbClr val="E9EEF8"/>
          </a:solidFill>
          <a:ln w="9525">
            <a:solidFill>
              <a:srgbClr val="C9D4EA"/>
            </a:solidFill>
            <a:prstDash val="solid"/>
          </a:ln>
        </p:spPr>
      </p:sp>
      <p:sp>
        <p:nvSpPr>
          <p:cNvPr id="12" name="Text 9"/>
          <p:cNvSpPr txBox="1"/>
          <p:nvPr/>
        </p:nvSpPr>
        <p:spPr>
          <a:xfrm>
            <a:off x="7086600" y="1965960"/>
            <a:ext cx="420624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FROM ANSWER TO CARD · TARGET</a:t>
            </a:r>
            <a:endParaRPr lang="en-US" sz="950" dirty="0"/>
          </a:p>
        </p:txBody>
      </p:sp>
      <p:sp>
        <p:nvSpPr>
          <p:cNvPr id="13" name="Time to context"/>
          <p:cNvSpPr txBox="1"/>
          <p:nvPr/>
        </p:nvSpPr>
        <p:spPr>
          <a:xfrm>
            <a:off x="7086600" y="2212848"/>
            <a:ext cx="4297680" cy="914400"/>
          </a:xfrm>
          <a:prstGeom prst="rect">
            <a:avLst/>
          </a:prstGeom>
          <a:noFill/>
          <a:ln/>
        </p:spPr>
        <p:txBody>
          <a:bodyPr wrap="square" lIns="0" tIns="0" rIns="0" bIns="0" rtlCol="0" anchor="ctr"/>
          <a:lstStyle/>
          <a:p>
            <a:pPr indent="0" marL="0">
              <a:buNone/>
            </a:pPr>
            <a:r>
              <a:rPr lang="en-US" sz="5600" b="1" dirty="0">
                <a:solidFill>
                  <a:srgbClr val="121A2C"/>
                </a:solidFill>
                <a:latin typeface="Arial" pitchFamily="34" charset="0"/>
                <a:ea typeface="Arial" pitchFamily="34" charset="-122"/>
                <a:cs typeface="Arial" pitchFamily="34" charset="-120"/>
              </a:rPr>
              <a:t>&lt; 10 s</a:t>
            </a:r>
            <a:endParaRPr lang="en-US" sz="5600" dirty="0"/>
          </a:p>
        </p:txBody>
      </p:sp>
      <p:graphicFrame>
        <p:nvGraphicFramePr>
          <p:cNvPr id="14" name="Time chart" descr="Under ten seconds from the buyer's answer to the card"/>
          <p:cNvGraphicFramePr/>
          <p:nvPr/>
        </p:nvGraphicFramePr>
        <p:xfrm>
          <a:off x="6967728" y="3127248"/>
          <a:ext cx="4526280" cy="1051560"/>
        </p:xfrm>
        <a:graphic xmlns:a="http://schemas.openxmlformats.org/drawingml/2006/main">
          <a:graphicData uri="http://schemas.openxmlformats.org/drawingml/2006/chart">
            <c:chart xmlns:c="http://schemas.openxmlformats.org/drawingml/2006/chart" r:id="rId2"/>
          </a:graphicData>
        </a:graphic>
      </p:graphicFrame>
      <p:pic>
        <p:nvPicPr>
          <p:cNvPr id="15" name="Person 1" descr="Buyer answers">    </p:cNvPr>
          <p:cNvPicPr>
            <a:picLocks noChangeAspect="1"/>
          </p:cNvPicPr>
          <p:nvPr/>
        </p:nvPicPr>
        <p:blipFill>
          <a:blip r:embed="rId3"/>
          <a:stretch>
            <a:fillRect/>
          </a:stretch>
        </p:blipFill>
        <p:spPr>
          <a:xfrm>
            <a:off x="7086600" y="4315968"/>
            <a:ext cx="548640" cy="548640"/>
          </a:xfrm>
          <a:prstGeom prst="rect">
            <a:avLst/>
          </a:prstGeom>
        </p:spPr>
      </p:pic>
      <p:sp>
        <p:nvSpPr>
          <p:cNvPr id="16" name="Text 11"/>
          <p:cNvSpPr txBox="1"/>
          <p:nvPr/>
        </p:nvSpPr>
        <p:spPr>
          <a:xfrm>
            <a:off x="7726680" y="4315968"/>
            <a:ext cx="2011680" cy="548640"/>
          </a:xfrm>
          <a:prstGeom prst="rect">
            <a:avLst/>
          </a:prstGeom>
          <a:noFill/>
          <a:ln/>
        </p:spPr>
        <p:txBody>
          <a:bodyPr wrap="square" lIns="0" tIns="0" rIns="0" bIns="0" rtlCol="0" anchor="ctr"/>
          <a:lstStyle/>
          <a:p>
            <a:pPr algn="l" indent="0" marL="0">
              <a:buNone/>
            </a:pPr>
            <a:r>
              <a:rPr lang="en-US" sz="1300" b="1" dirty="0">
                <a:solidFill>
                  <a:srgbClr val="121A2C"/>
                </a:solidFill>
                <a:latin typeface="Arial" pitchFamily="34" charset="0"/>
                <a:ea typeface="Arial" pitchFamily="34" charset="-122"/>
                <a:cs typeface="Arial" pitchFamily="34" charset="-120"/>
              </a:rPr>
              <a:t>Buyer answers</a:t>
            </a:r>
            <a:endParaRPr lang="en-US" sz="1300" dirty="0"/>
          </a:p>
        </p:txBody>
      </p:sp>
      <p:pic>
        <p:nvPicPr>
          <p:cNvPr id="17" name="Person 2" descr="Shipper sees the card">    </p:cNvPr>
          <p:cNvPicPr>
            <a:picLocks noChangeAspect="1"/>
          </p:cNvPicPr>
          <p:nvPr/>
        </p:nvPicPr>
        <p:blipFill>
          <a:blip r:embed="rId4"/>
          <a:stretch>
            <a:fillRect/>
          </a:stretch>
        </p:blipFill>
        <p:spPr>
          <a:xfrm>
            <a:off x="10835640" y="4315968"/>
            <a:ext cx="548640" cy="548640"/>
          </a:xfrm>
          <a:prstGeom prst="rect">
            <a:avLst/>
          </a:prstGeom>
        </p:spPr>
      </p:pic>
      <p:sp>
        <p:nvSpPr>
          <p:cNvPr id="18" name="Text 12"/>
          <p:cNvSpPr txBox="1"/>
          <p:nvPr/>
        </p:nvSpPr>
        <p:spPr>
          <a:xfrm>
            <a:off x="8778240" y="4315968"/>
            <a:ext cx="2011680" cy="54864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Shipper sees the card</a:t>
            </a:r>
            <a:endParaRPr lang="en-US" sz="1300" dirty="0"/>
          </a:p>
        </p:txBody>
      </p:sp>
      <p:sp>
        <p:nvSpPr>
          <p:cNvPr id="19" name="Text 13"/>
          <p:cNvSpPr txBox="1"/>
          <p:nvPr/>
        </p:nvSpPr>
        <p:spPr>
          <a:xfrm>
            <a:off x="7086600" y="5138928"/>
            <a:ext cx="429768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No form to fill, no extra step. The next attempt simply knows.</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400" dirty="0"/>
          </a:p>
        </p:txBody>
      </p:sp>
      <p:sp>
        <p:nvSpPr>
          <p:cNvPr id="20" name="Text 1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D5D9E2"/>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1E7"/>
          </a:solidFill>
          <a:ln w="9525">
            <a:solidFill>
              <a:srgbClr val="FFCFB0"/>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private/tmp/claude-503/-Users-davark-Downloads-Everything-Github-Alodi-Regional-Codex-Hackathon-2026/91e569a8-486f-4c0b-b683-a4991468f039/scratchpad/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4A556E"/>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5F6F91"/>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D5D9E2"/>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private/tmp/claude-503/-Users-davark-Downloads-Everything-Github-Alodi-Regional-Codex-Hackathon-2026/91e569a8-486f-4c0b-b683-a4991468f039/scratchpad/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5F6F91"/>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D5D9E2"/>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private/tmp/claude-503/-Users-davark-Downloads-Everything-Github-Alodi-Regional-Codex-Hackathon-2026/91e569a8-486f-4c0b-b683-a4991468f039/scratchpad/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5F6F91"/>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D5D9E2"/>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private/tmp/claude-503/-Users-davark-Downloads-Everything-Github-Alodi-Regional-Codex-Hackathon-2026/91e569a8-486f-4c0b-b683-a4991468f039/scratchpad/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5F6F91"/>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D5D9E2"/>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private/tmp/claude-503/-Users-davark-Downloads-Everything-Github-Alodi-Regional-Codex-Hackathon-2026/91e569a8-486f-4c0b-b683-a4991468f039/scratchpad/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5F6F91"/>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D5D9E2"/>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private/tmp/claude-503/-Users-davark-Downloads-Everything-Github-Alodi-Regional-Codex-Hackathon-2026/91e569a8-486f-4c0b-b683-a4991468f039/scratchpad/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D5D9E2"/>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Product,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D5D9E2"/>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Solution Architect</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Orchestrator, voice agent, eval loop</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D5D9E2"/>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AI Engineer · Deployment</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D5D9E2"/>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private/tmp/claude-503/-Users-davark-Downloads-Everything-Github-Alodi-Regional-Codex-Hackathon-2026/91e569a8-486f-4c0b-b683-a4991468f039/scratchpad/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2011680"/>
            <a:ext cx="5486400" cy="274320"/>
          </a:xfrm>
          <a:prstGeom prst="rect">
            <a:avLst/>
          </a:prstGeom>
          <a:noFill/>
          <a:ln/>
        </p:spPr>
        <p:txBody>
          <a:bodyPr wrap="square" lIns="0" tIns="0" rIns="0" bIns="0" rtlCol="0" anchor="ctr"/>
          <a:lstStyle/>
          <a:p>
            <a:pPr indent="0" marL="0">
              <a:buNone/>
            </a:pPr>
            <a:r>
              <a:rPr lang="en-US" sz="1300" b="1" spc="300" kern="0" dirty="0">
                <a:solidFill>
                  <a:srgbClr val="F05A00"/>
                </a:solidFill>
                <a:latin typeface="Arial" pitchFamily="34" charset="0"/>
                <a:ea typeface="Arial" pitchFamily="34" charset="-122"/>
                <a:cs typeface="Arial" pitchFamily="34" charset="-120"/>
              </a:rPr>
              <a:t>THANK YOU</a:t>
            </a:r>
            <a:endParaRPr lang="en-US" sz="1300" dirty="0"/>
          </a:p>
        </p:txBody>
      </p:sp>
      <p:sp>
        <p:nvSpPr>
          <p:cNvPr id="4" name="Text 1"/>
          <p:cNvSpPr txBox="1"/>
          <p:nvPr/>
        </p:nvSpPr>
        <p:spPr>
          <a:xfrm>
            <a:off x="548640" y="23774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pic>
        <p:nvPicPr>
          <p:cNvPr id="5" name="QR code" descr="QR code to alodi-ai-system.vercel.app">
            <a:hlinkClick r:id="rId3" tooltip=""/>
          </p:cNvPr>
          <p:cNvPicPr>
            <a:picLocks noChangeAspect="1"/>
          </p:cNvPicPr>
          <p:nvPr/>
        </p:nvPicPr>
        <p:blipFill>
          <a:blip r:embed="rId2"/>
          <a:stretch>
            <a:fillRect/>
          </a:stretch>
        </p:blipFill>
        <p:spPr>
          <a:xfrm>
            <a:off x="548640" y="4224528"/>
            <a:ext cx="1234440" cy="1234440"/>
          </a:xfrm>
          <a:prstGeom prst="rect">
            <a:avLst/>
          </a:prstGeom>
        </p:spPr>
      </p:pic>
      <p:sp>
        <p:nvSpPr>
          <p:cNvPr id="6" name="Text 2"/>
          <p:cNvSpPr txBox="1"/>
          <p:nvPr/>
        </p:nvSpPr>
        <p:spPr>
          <a:xfrm>
            <a:off x="1920240" y="4224528"/>
            <a:ext cx="3931920" cy="1234440"/>
          </a:xfrm>
          <a:prstGeom prst="rect">
            <a:avLst/>
          </a:prstGeom>
          <a:noFill/>
          <a:ln/>
        </p:spPr>
        <p:txBody>
          <a:bodyPr wrap="square" lIns="0" tIns="0" rIns="0" bIns="0" rtlCol="0" anchor="ctr"/>
          <a:lstStyle/>
          <a:p>
            <a:pPr indent="0" marL="0">
              <a:buNone/>
            </a:pPr>
            <a:r>
              <a:rPr lang="en-US" sz="1600" b="1" dirty="0">
                <a:solidFill>
                  <a:srgbClr val="121A2C"/>
                </a:solidFill>
                <a:latin typeface="Arial" pitchFamily="34" charset="0"/>
                <a:ea typeface="Arial" pitchFamily="34" charset="-122"/>
                <a:cs typeface="Arial" pitchFamily="34" charset="-120"/>
              </a:rPr>
              <a:t>Scan to try the demo</a:t>
            </a:r>
            <a:endParaRPr lang="en-US" sz="1600" dirty="0"/>
          </a:p>
          <a:p>
            <a:pPr indent="0" marL="0">
              <a:buNone/>
            </a:pPr>
            <a:r>
              <a:rPr lang="en-US" sz="1200" dirty="0">
                <a:solidFill>
                  <a:srgbClr val="3A4358"/>
                </a:solidFill>
                <a:latin typeface="Arial" pitchFamily="34" charset="0"/>
                <a:ea typeface="Arial" pitchFamily="34" charset="-122"/>
                <a:cs typeface="Arial" pitchFamily="34" charset="-120"/>
              </a:rPr>
              <a:t>alodi-ai-system.vercel.app</a:t>
            </a:r>
            <a:endParaRPr lang="en-US" sz="1600" dirty="0"/>
          </a:p>
        </p:txBody>
      </p:sp>
      <p:pic>
        <p:nvPicPr>
          <p:cNvPr id="7" name="Avatar 1" descr="preencoded.png">    </p:cNvPr>
          <p:cNvPicPr>
            <a:picLocks noChangeAspect="1"/>
          </p:cNvPicPr>
          <p:nvPr/>
        </p:nvPicPr>
        <p:blipFill>
          <a:blip r:embed="rId4"/>
          <a:stretch>
            <a:fillRect/>
          </a:stretch>
        </p:blipFill>
        <p:spPr>
          <a:xfrm>
            <a:off x="548640" y="5715000"/>
            <a:ext cx="457200" cy="457200"/>
          </a:xfrm>
          <a:prstGeom prst="rect">
            <a:avLst/>
          </a:prstGeom>
        </p:spPr>
      </p:pic>
      <p:pic>
        <p:nvPicPr>
          <p:cNvPr id="8" name="Avatar 2" descr="preencoded.png">    </p:cNvPr>
          <p:cNvPicPr>
            <a:picLocks noChangeAspect="1"/>
          </p:cNvPicPr>
          <p:nvPr/>
        </p:nvPicPr>
        <p:blipFill>
          <a:blip r:embed="rId5"/>
          <a:stretch>
            <a:fillRect/>
          </a:stretch>
        </p:blipFill>
        <p:spPr>
          <a:xfrm>
            <a:off x="886968" y="5715000"/>
            <a:ext cx="457200" cy="457200"/>
          </a:xfrm>
          <a:prstGeom prst="rect">
            <a:avLst/>
          </a:prstGeom>
        </p:spPr>
      </p:pic>
      <p:pic>
        <p:nvPicPr>
          <p:cNvPr id="9" name="Avatar 3" descr="preencoded.png">    </p:cNvPr>
          <p:cNvPicPr>
            <a:picLocks noChangeAspect="1"/>
          </p:cNvPicPr>
          <p:nvPr/>
        </p:nvPicPr>
        <p:blipFill>
          <a:blip r:embed="rId6"/>
          <a:stretch>
            <a:fillRect/>
          </a:stretch>
        </p:blipFill>
        <p:spPr>
          <a:xfrm>
            <a:off x="1225296" y="5715000"/>
            <a:ext cx="457200" cy="457200"/>
          </a:xfrm>
          <a:prstGeom prst="rect">
            <a:avLst/>
          </a:prstGeom>
        </p:spPr>
      </p:pic>
      <p:pic>
        <p:nvPicPr>
          <p:cNvPr id="10" name="Avatar 4" descr="preencoded.png">    </p:cNvPr>
          <p:cNvPicPr>
            <a:picLocks noChangeAspect="1"/>
          </p:cNvPicPr>
          <p:nvPr/>
        </p:nvPicPr>
        <p:blipFill>
          <a:blip r:embed="rId7"/>
          <a:stretch>
            <a:fillRect/>
          </a:stretch>
        </p:blipFill>
        <p:spPr>
          <a:xfrm>
            <a:off x="1563624" y="5715000"/>
            <a:ext cx="457200" cy="457200"/>
          </a:xfrm>
          <a:prstGeom prst="rect">
            <a:avLst/>
          </a:prstGeom>
        </p:spPr>
      </p:pic>
      <p:sp>
        <p:nvSpPr>
          <p:cNvPr id="11" name="Text 3"/>
          <p:cNvSpPr txBox="1"/>
          <p:nvPr/>
        </p:nvSpPr>
        <p:spPr>
          <a:xfrm>
            <a:off x="2194560" y="5733288"/>
            <a:ext cx="402336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Sea × OpenAI Regional Codex Hackathon · October 2026</a:t>
            </a:r>
            <a:endParaRPr lang="en-US" sz="1050" dirty="0"/>
          </a:p>
        </p:txBody>
      </p:sp>
      <p:pic>
        <p:nvPicPr>
          <p:cNvPr id="12" name="Close photo" descr="Ho Chi Minh City street">    </p:cNvPr>
          <p:cNvPicPr>
            <a:picLocks noChangeAspect="1"/>
          </p:cNvPicPr>
          <p:nvPr/>
        </p:nvPicPr>
        <p:blipFill>
          <a:blip r:embed="rId8"/>
          <a:stretch>
            <a:fillRect/>
          </a:stretch>
        </p:blipFill>
        <p:spPr>
          <a:xfrm>
            <a:off x="6199632" y="457200"/>
            <a:ext cx="5440680" cy="594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D5D9E2"/>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shippers;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D5D9E2"/>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D5D9E2"/>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D5D9E2"/>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D5D9E2"/>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D5D9E2"/>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D5D9E2"/>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shipper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D5D9E2"/>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D5D9E2"/>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shippers,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D5D9E2"/>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D5D9E2"/>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D5D9E2"/>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PHOTOS</a:t>
            </a:r>
            <a:endParaRPr lang="en-US" sz="95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3A4358"/>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2026-10-31T10:29:28Z</dcterms:created>
  <dcterms:modified xsi:type="dcterms:W3CDTF">2026-10-31T10:29:28Z</dcterms:modified>
</cp:coreProperties>
</file>