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94d6409-88c8-a28b-24ab-ebda6d7034c6}">
          <p14:sldIdLst>
            <p14:sldId id="256"/>
          </p14:sldIdLst>
        </p14:section>
        <p14:section name="Problem" id="{e84d2292-ac48-c2fd-545a-4b149625f95c}">
          <p14:sldIdLst>
            <p14:sldId id="257"/>
            <p14:sldId id="258"/>
            <p14:sldId id="259"/>
            <p14:sldId id="260"/>
          </p14:sldIdLst>
        </p14:section>
        <p14:section name="Alodi" id="{68fab473-d10b-06ea-1c12-f516a9866896}">
          <p14:sldIdLst>
            <p14:sldId id="261"/>
            <p14:sldId id="262"/>
            <p14:sldId id="263"/>
            <p14:sldId id="264"/>
          </p14:sldIdLst>
        </p14:section>
        <p14:section name="Technology" id="{c9b1c517-3dd8-898d-3787-8526d1d1c48a}">
          <p14:sldIdLst>
            <p14:sldId id="265"/>
          </p14:sldIdLst>
        </p14:section>
        <p14:section name="Close" id="{74e31db7-2fdf-d806-58e8-b6b29107a7f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moment everyone knows: the courier calls, you are in a meeting, the parcel goes back. Alodi makes the second drop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failed delivery is a time negotiation that happens off the system. The context that would fix it is compressed into one error code, so the next attempt repeats the same conditions.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one area of 20 couriers: 320 failed deliveries a day, 240 returned, about ₫473M lost a month, most of it return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survey asks both sides of the same call: buyers who can't pick a time, couriers whose calls go unanswered. Replace the values with the interview export before the final pitch.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root cause is not routing. The buyer's answer never enters the system: zero windows, one error code, about five callers per area, and Shopee's five-day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two-minute film here. To embed it: Insert &gt; Video &gt; This Device, then resize it to the dark frame and delete the placeholder shapes.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courier taps once. The Decisions API on GPT-6 Luna triages; the buyer gets a chat and, if silent, a GPT-Live-1 call; GPT-5.6 Terra orchestrates and writes the card. High-stakes decisions stay with people.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Courier phone, buyer chat, ops console and a hub dashboard stay in sync. The demo runs on a fast-forward clock and mock data for one 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numbers are measured live from the event log and the eval set. Money is projected: ₫473M lost a month, Alodi recovers ₫215M, costs ₫29M to run, ₫186M net, 39% of the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GPT-Live-1 talks to the buyer in real time. The Decisions API on GPT-6 Luna triages every signal. GPT-5.6 Terra orchestrates the case under company policy and shortens the exchange between buyer and courier. Agents SDK, Evals, a local gpt-oss-20b fallback and Codex complete the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a full build in November, shadow mode at one area in Q1 2027 with no buyer contact, then controlled real channels, a region and national scale by 2028.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line: make the second drop land. Point to the QR code; replace the placeholder with the final demo link once it is deployed.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3/-Users-davark-Downloads-Everything-Github-Alodi-Regional-Codex-Hackathon-2026/91e569a8-486f-4c0b-b683-a4991468f039/scratchpad/deck/assets/logo-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420624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3048" y="6400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chemeClr val="accent3"/>
                </a:solidFill>
              </a:rPr>
              <a:t>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19088"/>
            <a:ext cx="420624" cy="1828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13048" y="6400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chemeClr val="accent4"/>
                </a:solidFill>
              </a:rPr>
              <a:t>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bleed">
    <p:bg>
      <p:bgPr>
        <a:solidFill>
          <a:srgbClr val="12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8.png"/><Relationship Id="rId10" Type="http://schemas.openxmlformats.org/officeDocument/2006/relationships/image" Target="../media/image-1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image" Target="../media/image-7-3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1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4.png"/><Relationship Id="rId6" Type="http://schemas.openxmlformats.org/officeDocument/2006/relationships/image" Target="../media/image-10-4.png"/><Relationship Id="rId7" Type="http://schemas.openxmlformats.org/officeDocument/2006/relationships/image" Target="../media/image-10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5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photo" descr="Riders in evening traffic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Wash" descr="/private/tmp/claude-503/-Users-davark-Downloads-Everything-Github-Alodi-Regional-Codex-Hackathon-2026/91e569a8-486f-4c0b-b683-a4991468f039/scratchpad/deck/assets/wash-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914400" cy="3931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1874520"/>
            <a:ext cx="5943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 × OPENAI REGIONAL CODEX HACKATHON · OCTOBER 2026</a:t>
            </a:r>
            <a:endParaRPr lang="en-US" sz="95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22402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second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i="1" dirty="0">
                <a:solidFill>
                  <a:srgbClr val="FF9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land.</a:t>
            </a:r>
            <a:endParaRPr lang="en-US" sz="62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42062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failed delivery, rescued with one tap.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taps once; Alodi chats, calls and hands the next courier when, where and who.</a:t>
            </a:r>
            <a:endParaRPr lang="en-US" sz="1400" dirty="0"/>
          </a:p>
        </p:txBody>
      </p:sp>
      <p:pic>
        <p:nvPicPr>
          <p:cNvPr id="8" name="Avatar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60720"/>
            <a:ext cx="384048" cy="384048"/>
          </a:xfrm>
          <a:prstGeom prst="rect">
            <a:avLst/>
          </a:prstGeom>
        </p:spPr>
      </p:pic>
      <p:pic>
        <p:nvPicPr>
          <p:cNvPr id="9" name="Avatar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760720"/>
            <a:ext cx="384048" cy="384048"/>
          </a:xfrm>
          <a:prstGeom prst="rect">
            <a:avLst/>
          </a:prstGeom>
        </p:spPr>
      </p:pic>
      <p:pic>
        <p:nvPicPr>
          <p:cNvPr id="10" name="Avatar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3856" y="5760720"/>
            <a:ext cx="384048" cy="384048"/>
          </a:xfrm>
          <a:prstGeom prst="rect">
            <a:avLst/>
          </a:prstGeom>
        </p:spPr>
      </p:pic>
      <p:pic>
        <p:nvPicPr>
          <p:cNvPr id="11" name="Avatar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6464" y="5760720"/>
            <a:ext cx="384048" cy="384048"/>
          </a:xfrm>
          <a:prstGeom prst="rect">
            <a:avLst/>
          </a:prstGeom>
        </p:spPr>
      </p:pic>
      <p:sp>
        <p:nvSpPr>
          <p:cNvPr id="12" name="Text 3"/>
          <p:cNvSpPr txBox="1"/>
          <p:nvPr/>
        </p:nvSpPr>
        <p:spPr>
          <a:xfrm>
            <a:off x="1965960" y="5742432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Develarper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with OpenAI and Codex</a:t>
            </a:r>
            <a:endParaRPr lang="en-US" sz="1000" dirty="0"/>
          </a:p>
        </p:txBody>
      </p:sp>
      <p:sp>
        <p:nvSpPr>
          <p:cNvPr id="13" name="Rescue card"/>
          <p:cNvSpPr/>
          <p:nvPr/>
        </p:nvSpPr>
        <p:spPr>
          <a:xfrm>
            <a:off x="8183880" y="3977640"/>
            <a:ext cx="3474720" cy="21945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14" name="Text 5"/>
          <p:cNvSpPr txBox="1"/>
          <p:nvPr/>
        </p:nvSpPr>
        <p:spPr>
          <a:xfrm>
            <a:off x="8412480" y="4160520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RESCUE · SPXVN0123456789</a:t>
            </a:r>
            <a:endParaRPr lang="en-US" sz="800" dirty="0"/>
          </a:p>
        </p:txBody>
      </p:sp>
      <p:sp>
        <p:nvSpPr>
          <p:cNvPr id="15" name="Row rule 0"/>
          <p:cNvSpPr/>
          <p:nvPr/>
        </p:nvSpPr>
        <p:spPr>
          <a:xfrm>
            <a:off x="8412480" y="4443984"/>
            <a:ext cx="301752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pic>
        <p:nvPicPr>
          <p:cNvPr id="16" name="Row icon 0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12480" y="4544568"/>
            <a:ext cx="219456" cy="219456"/>
          </a:xfrm>
          <a:prstGeom prst="rect">
            <a:avLst/>
          </a:prstGeom>
        </p:spPr>
      </p:pic>
      <p:sp>
        <p:nvSpPr>
          <p:cNvPr id="17" name="Text 7"/>
          <p:cNvSpPr txBox="1"/>
          <p:nvPr/>
        </p:nvSpPr>
        <p:spPr>
          <a:xfrm>
            <a:off x="8732520" y="453542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taps · No answer</a:t>
            </a:r>
            <a:endParaRPr lang="en-US" sz="1100" dirty="0"/>
          </a:p>
        </p:txBody>
      </p:sp>
      <p:sp>
        <p:nvSpPr>
          <p:cNvPr id="18" name="Text 8"/>
          <p:cNvSpPr txBox="1"/>
          <p:nvPr/>
        </p:nvSpPr>
        <p:spPr>
          <a:xfrm>
            <a:off x="10881360" y="454456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10:02</a:t>
            </a:r>
            <a:endParaRPr lang="en-US" sz="900" dirty="0"/>
          </a:p>
        </p:txBody>
      </p:sp>
      <p:sp>
        <p:nvSpPr>
          <p:cNvPr id="19" name="Row rule 1"/>
          <p:cNvSpPr/>
          <p:nvPr/>
        </p:nvSpPr>
        <p:spPr>
          <a:xfrm>
            <a:off x="8412480" y="4946904"/>
            <a:ext cx="301752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pic>
        <p:nvPicPr>
          <p:cNvPr id="20" name="Row icon 1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12480" y="5047488"/>
            <a:ext cx="219456" cy="219456"/>
          </a:xfrm>
          <a:prstGeom prst="rect">
            <a:avLst/>
          </a:prstGeom>
        </p:spPr>
      </p:pic>
      <p:sp>
        <p:nvSpPr>
          <p:cNvPr id="21" name="Text 10"/>
          <p:cNvSpPr txBox="1"/>
          <p:nvPr/>
        </p:nvSpPr>
        <p:spPr>
          <a:xfrm>
            <a:off x="8732520" y="5038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sent · buyer replies 11:15</a:t>
            </a:r>
            <a:endParaRPr lang="en-US" sz="1100" dirty="0"/>
          </a:p>
        </p:txBody>
      </p:sp>
      <p:sp>
        <p:nvSpPr>
          <p:cNvPr id="22" name="Text 11"/>
          <p:cNvSpPr txBox="1"/>
          <p:nvPr/>
        </p:nvSpPr>
        <p:spPr>
          <a:xfrm>
            <a:off x="10881360" y="504748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10:02</a:t>
            </a:r>
            <a:endParaRPr lang="en-US" sz="900" dirty="0"/>
          </a:p>
        </p:txBody>
      </p:sp>
      <p:sp>
        <p:nvSpPr>
          <p:cNvPr id="23" name="Row rule 2"/>
          <p:cNvSpPr/>
          <p:nvPr/>
        </p:nvSpPr>
        <p:spPr>
          <a:xfrm>
            <a:off x="8412480" y="5449824"/>
            <a:ext cx="301752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pic>
        <p:nvPicPr>
          <p:cNvPr id="24" name="Row icon 2" descr="/private/tmp/claude-503/-Users-davark-Downloads-Everything-Github-Alodi-Regional-Codex-Hackathon-2026/91e569a8-486f-4c0b-b683-a4991468f039/scratchpad/deck/assets/mark-check-oran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12480" y="5550408"/>
            <a:ext cx="219456" cy="219456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8732520" y="554126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ready · 1 Nov, 17:00–20:00</a:t>
            </a:r>
            <a:endParaRPr lang="en-US" sz="1100" dirty="0"/>
          </a:p>
        </p:txBody>
      </p:sp>
      <p:sp>
        <p:nvSpPr>
          <p:cNvPr id="26" name="Text 14"/>
          <p:cNvSpPr txBox="1"/>
          <p:nvPr/>
        </p:nvSpPr>
        <p:spPr>
          <a:xfrm>
            <a:off x="10881360" y="5550408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11:15</a:t>
            </a:r>
            <a:endParaRPr lang="en-US" sz="900" dirty="0"/>
          </a:p>
        </p:txBody>
      </p:sp>
      <p:sp>
        <p:nvSpPr>
          <p:cNvPr id="27" name="Text 15"/>
          <p:cNvSpPr txBox="1"/>
          <p:nvPr/>
        </p:nvSpPr>
        <p:spPr>
          <a:xfrm>
            <a:off x="8961120" y="6446520"/>
            <a:ext cx="2697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frank mckenna, CC0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calls. The buyer is in a meeting.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parcel goes back.</a:t>
            </a:r>
            <a:endParaRPr lang="en-US" sz="3000" dirty="0"/>
          </a:p>
        </p:txBody>
      </p:sp>
      <p:sp>
        <p:nvSpPr>
          <p:cNvPr id="5" name="Rows top rule"/>
          <p:cNvSpPr/>
          <p:nvPr/>
        </p:nvSpPr>
        <p:spPr>
          <a:xfrm>
            <a:off x="548640" y="2880360"/>
            <a:ext cx="5303520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175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 · RETURN FEE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1868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063240" y="3246120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seller pays to ship back every failed Shopee order.</a:t>
            </a:r>
            <a:endParaRPr lang="en-US" sz="1150" dirty="0"/>
          </a:p>
        </p:txBody>
      </p:sp>
      <p:sp>
        <p:nvSpPr>
          <p:cNvPr id="9" name="Row rule 0"/>
          <p:cNvSpPr/>
          <p:nvPr/>
        </p:nvSpPr>
        <p:spPr>
          <a:xfrm>
            <a:off x="548640" y="3931920"/>
            <a:ext cx="5303520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40050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VN · REFUSED AT THE DOOR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20624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8–12</a:t>
            </a:r>
            <a:pPr indent="0" marL="0">
              <a:buNone/>
            </a:pPr>
            <a:r>
              <a:rPr lang="en-US" sz="40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063240" y="4233672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orders nationwide; up to 20% in remote areas, 25–30% in sale season.</a:t>
            </a:r>
            <a:endParaRPr lang="en-US" sz="1150" dirty="0"/>
          </a:p>
        </p:txBody>
      </p:sp>
      <p:sp>
        <p:nvSpPr>
          <p:cNvPr id="13" name="Row rule 1"/>
          <p:cNvSpPr/>
          <p:nvPr/>
        </p:nvSpPr>
        <p:spPr>
          <a:xfrm>
            <a:off x="548640" y="4919472"/>
            <a:ext cx="5303520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9926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· DELIVERY WINDOWS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193792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3063240" y="5221224"/>
            <a:ext cx="2788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a buyer can choose. The time is agreed by phone, off the system.</a:t>
            </a:r>
            <a:endParaRPr lang="en-US" sz="1150" dirty="0"/>
          </a:p>
        </p:txBody>
      </p:sp>
      <p:pic>
        <p:nvPicPr>
          <p:cNvPr id="17" name="Hook photo" descr="A rider carrying goods on a motorbike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502920"/>
            <a:ext cx="5440680" cy="5486400"/>
          </a:xfrm>
          <a:prstGeom prst="rect">
            <a:avLst/>
          </a:prstGeom>
        </p:spPr>
      </p:pic>
      <p:sp>
        <p:nvSpPr>
          <p:cNvPr id="18" name="Courier app card"/>
          <p:cNvSpPr/>
          <p:nvPr/>
        </p:nvSpPr>
        <p:spPr>
          <a:xfrm>
            <a:off x="6537960" y="3703320"/>
            <a:ext cx="34290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6766560" y="3877056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COURIER SEES</a:t>
            </a:r>
            <a:endParaRPr lang="en-US" sz="800" dirty="0"/>
          </a:p>
        </p:txBody>
      </p:sp>
      <p:sp>
        <p:nvSpPr>
          <p:cNvPr id="20" name="Card rule 0"/>
          <p:cNvSpPr/>
          <p:nvPr/>
        </p:nvSpPr>
        <p:spPr>
          <a:xfrm>
            <a:off x="6766560" y="4169664"/>
            <a:ext cx="297180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66560" y="42336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233672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Card rule 1"/>
          <p:cNvSpPr/>
          <p:nvPr/>
        </p:nvSpPr>
        <p:spPr>
          <a:xfrm>
            <a:off x="6766560" y="4517136"/>
            <a:ext cx="297180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766560" y="458114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7863840" y="4581144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Card rule 2"/>
          <p:cNvSpPr/>
          <p:nvPr/>
        </p:nvSpPr>
        <p:spPr>
          <a:xfrm>
            <a:off x="6766560" y="4864608"/>
            <a:ext cx="297180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66560" y="492861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7863840" y="49286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9" name="Card rule 3"/>
          <p:cNvSpPr/>
          <p:nvPr/>
        </p:nvSpPr>
        <p:spPr>
          <a:xfrm>
            <a:off x="6766560" y="5212080"/>
            <a:ext cx="2971800" cy="0"/>
          </a:xfrm>
          <a:prstGeom prst="line">
            <a:avLst/>
          </a:prstGeom>
          <a:noFill/>
          <a:ln w="6350">
            <a:solidFill>
              <a:srgbClr val="E6E8E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766560" y="5276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863840" y="5276088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unreachable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Return &amp; Refund Policy §7.1; ₫40,000 cap since 1 Apr 2025 (GHN). VECOM and Tran Anh Tung via Nguoi Lao Dong, 19 Jul 2025. Shopee Help Center 79559. Photo: Lemic302, CC0.</a:t>
            </a:r>
            <a:endParaRPr lang="en-US" sz="800" dirty="0"/>
          </a:p>
        </p:txBody>
      </p:sp>
      <p:sp>
        <p:nvSpPr>
          <p:cNvPr id="33" name="Text 30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area, one day, one month.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bill lands on the seller.</a:t>
            </a:r>
            <a:endParaRPr lang="en-US" sz="3000" dirty="0"/>
          </a:p>
        </p:txBody>
      </p:sp>
      <p:sp>
        <p:nvSpPr>
          <p:cNvPr id="5" name="Card 1"/>
          <p:cNvSpPr/>
          <p:nvPr/>
        </p:nvSpPr>
        <p:spPr>
          <a:xfrm>
            <a:off x="548640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· ONE AREA A MONTH</a:t>
            </a:r>
            <a:endParaRPr lang="en-US" sz="800" dirty="0"/>
          </a:p>
        </p:txBody>
      </p:sp>
      <p:sp>
        <p:nvSpPr>
          <p:cNvPr id="7" name="Icon tile"/>
          <p:cNvSpPr/>
          <p:nvPr/>
        </p:nvSpPr>
        <p:spPr>
          <a:xfrm>
            <a:off x="2670048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8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34056" y="2258568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77240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473M</a:t>
            </a:r>
            <a:endParaRPr lang="en-US" sz="3800" dirty="0"/>
          </a:p>
        </p:txBody>
      </p:sp>
      <p:sp>
        <p:nvSpPr>
          <p:cNvPr id="10" name="Loss seg 0"/>
          <p:cNvSpPr/>
          <p:nvPr/>
        </p:nvSpPr>
        <p:spPr>
          <a:xfrm>
            <a:off x="777240" y="3657600"/>
            <a:ext cx="1329070" cy="310896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" name="Loss seg 1"/>
          <p:cNvSpPr/>
          <p:nvPr/>
        </p:nvSpPr>
        <p:spPr>
          <a:xfrm>
            <a:off x="2124598" y="3657600"/>
            <a:ext cx="454223" cy="3108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2" name="Loss seg 2"/>
          <p:cNvSpPr/>
          <p:nvPr/>
        </p:nvSpPr>
        <p:spPr>
          <a:xfrm>
            <a:off x="2597109" y="3657600"/>
            <a:ext cx="192237" cy="310896"/>
          </a:xfrm>
          <a:prstGeom prst="rect">
            <a:avLst/>
          </a:prstGeom>
          <a:solidFill>
            <a:srgbClr val="8A91A6"/>
          </a:solidFill>
          <a:ln/>
        </p:spPr>
      </p:sp>
      <p:sp>
        <p:nvSpPr>
          <p:cNvPr id="13" name="Loss seg 3"/>
          <p:cNvSpPr/>
          <p:nvPr/>
        </p:nvSpPr>
        <p:spPr>
          <a:xfrm>
            <a:off x="2807633" y="3657600"/>
            <a:ext cx="164167" cy="310896"/>
          </a:xfrm>
          <a:prstGeom prst="rect">
            <a:avLst/>
          </a:prstGeom>
          <a:solidFill>
            <a:srgbClr val="C3C7D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77240" y="404164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₫288M return fees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2428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₫185M redelivery, CS and door time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800600"/>
            <a:ext cx="2258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fees ₫288M, redelivery pay ₫101M, CS call-backs ₫45M, courier door time ₫39M.</a:t>
            </a:r>
            <a:endParaRPr lang="en-US" sz="1050" dirty="0"/>
          </a:p>
        </p:txBody>
      </p:sp>
      <p:sp>
        <p:nvSpPr>
          <p:cNvPr id="17" name="Card 2"/>
          <p:cNvSpPr/>
          <p:nvPr/>
        </p:nvSpPr>
        <p:spPr>
          <a:xfrm>
            <a:off x="3355848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84448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 · EVERY DAY</a:t>
            </a:r>
            <a:endParaRPr lang="en-US" sz="800" dirty="0"/>
          </a:p>
        </p:txBody>
      </p:sp>
      <p:sp>
        <p:nvSpPr>
          <p:cNvPr id="19" name="Icon tile"/>
          <p:cNvSpPr/>
          <p:nvPr/>
        </p:nvSpPr>
        <p:spPr>
          <a:xfrm>
            <a:off x="5477256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0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2258568"/>
            <a:ext cx="201168" cy="20116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584448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</a:t>
            </a:r>
            <a:endParaRPr lang="en-US" sz="3800" dirty="0"/>
          </a:p>
        </p:txBody>
      </p:sp>
      <p:sp>
        <p:nvSpPr>
          <p:cNvPr id="22" name="Waffle 0"/>
          <p:cNvSpPr/>
          <p:nvPr/>
        </p:nvSpPr>
        <p:spPr>
          <a:xfrm>
            <a:off x="3584448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3" name="Waffle 1"/>
          <p:cNvSpPr/>
          <p:nvPr/>
        </p:nvSpPr>
        <p:spPr>
          <a:xfrm>
            <a:off x="3799332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4" name="Waffle 2"/>
          <p:cNvSpPr/>
          <p:nvPr/>
        </p:nvSpPr>
        <p:spPr>
          <a:xfrm>
            <a:off x="4014216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5" name="Waffle 3"/>
          <p:cNvSpPr/>
          <p:nvPr/>
        </p:nvSpPr>
        <p:spPr>
          <a:xfrm>
            <a:off x="4229100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6" name="Waffle 4"/>
          <p:cNvSpPr/>
          <p:nvPr/>
        </p:nvSpPr>
        <p:spPr>
          <a:xfrm>
            <a:off x="4443984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7" name="Waffle 5"/>
          <p:cNvSpPr/>
          <p:nvPr/>
        </p:nvSpPr>
        <p:spPr>
          <a:xfrm>
            <a:off x="4658868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8" name="Waffle 6"/>
          <p:cNvSpPr/>
          <p:nvPr/>
        </p:nvSpPr>
        <p:spPr>
          <a:xfrm>
            <a:off x="4873752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29" name="Waffle 7"/>
          <p:cNvSpPr/>
          <p:nvPr/>
        </p:nvSpPr>
        <p:spPr>
          <a:xfrm>
            <a:off x="5088636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0" name="Waffle 8"/>
          <p:cNvSpPr/>
          <p:nvPr/>
        </p:nvSpPr>
        <p:spPr>
          <a:xfrm>
            <a:off x="5303520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1" name="Waffle 9"/>
          <p:cNvSpPr/>
          <p:nvPr/>
        </p:nvSpPr>
        <p:spPr>
          <a:xfrm>
            <a:off x="5518404" y="347472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2" name="Waffle 10"/>
          <p:cNvSpPr/>
          <p:nvPr/>
        </p:nvSpPr>
        <p:spPr>
          <a:xfrm>
            <a:off x="3584448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3" name="Waffle 11"/>
          <p:cNvSpPr/>
          <p:nvPr/>
        </p:nvSpPr>
        <p:spPr>
          <a:xfrm>
            <a:off x="3799332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4" name="Waffle 12"/>
          <p:cNvSpPr/>
          <p:nvPr/>
        </p:nvSpPr>
        <p:spPr>
          <a:xfrm>
            <a:off x="4014216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5" name="Waffle 13"/>
          <p:cNvSpPr/>
          <p:nvPr/>
        </p:nvSpPr>
        <p:spPr>
          <a:xfrm>
            <a:off x="4229100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6" name="Waffle 14"/>
          <p:cNvSpPr/>
          <p:nvPr/>
        </p:nvSpPr>
        <p:spPr>
          <a:xfrm>
            <a:off x="4443984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7" name="Waffle 15"/>
          <p:cNvSpPr/>
          <p:nvPr/>
        </p:nvSpPr>
        <p:spPr>
          <a:xfrm>
            <a:off x="4658868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8" name="Waffle 16"/>
          <p:cNvSpPr/>
          <p:nvPr/>
        </p:nvSpPr>
        <p:spPr>
          <a:xfrm>
            <a:off x="4873752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39" name="Waffle 17"/>
          <p:cNvSpPr/>
          <p:nvPr/>
        </p:nvSpPr>
        <p:spPr>
          <a:xfrm>
            <a:off x="5088636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0" name="Waffle 18"/>
          <p:cNvSpPr/>
          <p:nvPr/>
        </p:nvSpPr>
        <p:spPr>
          <a:xfrm>
            <a:off x="5303520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1" name="Waffle 19"/>
          <p:cNvSpPr/>
          <p:nvPr/>
        </p:nvSpPr>
        <p:spPr>
          <a:xfrm>
            <a:off x="5518404" y="359816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2" name="Waffle 20"/>
          <p:cNvSpPr/>
          <p:nvPr/>
        </p:nvSpPr>
        <p:spPr>
          <a:xfrm>
            <a:off x="3584448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3" name="Waffle 21"/>
          <p:cNvSpPr/>
          <p:nvPr/>
        </p:nvSpPr>
        <p:spPr>
          <a:xfrm>
            <a:off x="3799332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4" name="Waffle 22"/>
          <p:cNvSpPr/>
          <p:nvPr/>
        </p:nvSpPr>
        <p:spPr>
          <a:xfrm>
            <a:off x="4014216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5" name="Waffle 23"/>
          <p:cNvSpPr/>
          <p:nvPr/>
        </p:nvSpPr>
        <p:spPr>
          <a:xfrm>
            <a:off x="4229100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6" name="Waffle 24"/>
          <p:cNvSpPr/>
          <p:nvPr/>
        </p:nvSpPr>
        <p:spPr>
          <a:xfrm>
            <a:off x="4443984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7" name="Waffle 25"/>
          <p:cNvSpPr/>
          <p:nvPr/>
        </p:nvSpPr>
        <p:spPr>
          <a:xfrm>
            <a:off x="4658868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8" name="Waffle 26"/>
          <p:cNvSpPr/>
          <p:nvPr/>
        </p:nvSpPr>
        <p:spPr>
          <a:xfrm>
            <a:off x="4873752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49" name="Waffle 27"/>
          <p:cNvSpPr/>
          <p:nvPr/>
        </p:nvSpPr>
        <p:spPr>
          <a:xfrm>
            <a:off x="5088636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0" name="Waffle 28"/>
          <p:cNvSpPr/>
          <p:nvPr/>
        </p:nvSpPr>
        <p:spPr>
          <a:xfrm>
            <a:off x="5303520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1" name="Waffle 29"/>
          <p:cNvSpPr/>
          <p:nvPr/>
        </p:nvSpPr>
        <p:spPr>
          <a:xfrm>
            <a:off x="5518404" y="372160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2" name="Waffle 30"/>
          <p:cNvSpPr/>
          <p:nvPr/>
        </p:nvSpPr>
        <p:spPr>
          <a:xfrm>
            <a:off x="3584448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3" name="Waffle 31"/>
          <p:cNvSpPr/>
          <p:nvPr/>
        </p:nvSpPr>
        <p:spPr>
          <a:xfrm>
            <a:off x="3799332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4" name="Waffle 32"/>
          <p:cNvSpPr/>
          <p:nvPr/>
        </p:nvSpPr>
        <p:spPr>
          <a:xfrm>
            <a:off x="4014216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5" name="Waffle 33"/>
          <p:cNvSpPr/>
          <p:nvPr/>
        </p:nvSpPr>
        <p:spPr>
          <a:xfrm>
            <a:off x="4229100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6" name="Waffle 34"/>
          <p:cNvSpPr/>
          <p:nvPr/>
        </p:nvSpPr>
        <p:spPr>
          <a:xfrm>
            <a:off x="4443984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7" name="Waffle 35"/>
          <p:cNvSpPr/>
          <p:nvPr/>
        </p:nvSpPr>
        <p:spPr>
          <a:xfrm>
            <a:off x="4658868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8" name="Waffle 36"/>
          <p:cNvSpPr/>
          <p:nvPr/>
        </p:nvSpPr>
        <p:spPr>
          <a:xfrm>
            <a:off x="4873752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59" name="Waffle 37"/>
          <p:cNvSpPr/>
          <p:nvPr/>
        </p:nvSpPr>
        <p:spPr>
          <a:xfrm>
            <a:off x="5088636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0" name="Waffle 38"/>
          <p:cNvSpPr/>
          <p:nvPr/>
        </p:nvSpPr>
        <p:spPr>
          <a:xfrm>
            <a:off x="5303520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1" name="Waffle 39"/>
          <p:cNvSpPr/>
          <p:nvPr/>
        </p:nvSpPr>
        <p:spPr>
          <a:xfrm>
            <a:off x="5518404" y="384505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2" name="Waffle 40"/>
          <p:cNvSpPr/>
          <p:nvPr/>
        </p:nvSpPr>
        <p:spPr>
          <a:xfrm>
            <a:off x="3584448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3" name="Waffle 41"/>
          <p:cNvSpPr/>
          <p:nvPr/>
        </p:nvSpPr>
        <p:spPr>
          <a:xfrm>
            <a:off x="3799332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4" name="Waffle 42"/>
          <p:cNvSpPr/>
          <p:nvPr/>
        </p:nvSpPr>
        <p:spPr>
          <a:xfrm>
            <a:off x="4014216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5" name="Waffle 43"/>
          <p:cNvSpPr/>
          <p:nvPr/>
        </p:nvSpPr>
        <p:spPr>
          <a:xfrm>
            <a:off x="4229100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6" name="Waffle 44"/>
          <p:cNvSpPr/>
          <p:nvPr/>
        </p:nvSpPr>
        <p:spPr>
          <a:xfrm>
            <a:off x="4443984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7" name="Waffle 45"/>
          <p:cNvSpPr/>
          <p:nvPr/>
        </p:nvSpPr>
        <p:spPr>
          <a:xfrm>
            <a:off x="4658868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8" name="Waffle 46"/>
          <p:cNvSpPr/>
          <p:nvPr/>
        </p:nvSpPr>
        <p:spPr>
          <a:xfrm>
            <a:off x="4873752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69" name="Waffle 47"/>
          <p:cNvSpPr/>
          <p:nvPr/>
        </p:nvSpPr>
        <p:spPr>
          <a:xfrm>
            <a:off x="5088636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0" name="Waffle 48"/>
          <p:cNvSpPr/>
          <p:nvPr/>
        </p:nvSpPr>
        <p:spPr>
          <a:xfrm>
            <a:off x="5303520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1" name="Waffle 49"/>
          <p:cNvSpPr/>
          <p:nvPr/>
        </p:nvSpPr>
        <p:spPr>
          <a:xfrm>
            <a:off x="5518404" y="396849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2" name="Waffle 50"/>
          <p:cNvSpPr/>
          <p:nvPr/>
        </p:nvSpPr>
        <p:spPr>
          <a:xfrm>
            <a:off x="3584448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3" name="Waffle 51"/>
          <p:cNvSpPr/>
          <p:nvPr/>
        </p:nvSpPr>
        <p:spPr>
          <a:xfrm>
            <a:off x="3799332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4" name="Waffle 52"/>
          <p:cNvSpPr/>
          <p:nvPr/>
        </p:nvSpPr>
        <p:spPr>
          <a:xfrm>
            <a:off x="4014216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5" name="Waffle 53"/>
          <p:cNvSpPr/>
          <p:nvPr/>
        </p:nvSpPr>
        <p:spPr>
          <a:xfrm>
            <a:off x="4229100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6" name="Waffle 54"/>
          <p:cNvSpPr/>
          <p:nvPr/>
        </p:nvSpPr>
        <p:spPr>
          <a:xfrm>
            <a:off x="4443984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7" name="Waffle 55"/>
          <p:cNvSpPr/>
          <p:nvPr/>
        </p:nvSpPr>
        <p:spPr>
          <a:xfrm>
            <a:off x="4658868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8" name="Waffle 56"/>
          <p:cNvSpPr/>
          <p:nvPr/>
        </p:nvSpPr>
        <p:spPr>
          <a:xfrm>
            <a:off x="4873752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79" name="Waffle 57"/>
          <p:cNvSpPr/>
          <p:nvPr/>
        </p:nvSpPr>
        <p:spPr>
          <a:xfrm>
            <a:off x="5088636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0" name="Waffle 58"/>
          <p:cNvSpPr/>
          <p:nvPr/>
        </p:nvSpPr>
        <p:spPr>
          <a:xfrm>
            <a:off x="5303520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1" name="Waffle 59"/>
          <p:cNvSpPr/>
          <p:nvPr/>
        </p:nvSpPr>
        <p:spPr>
          <a:xfrm>
            <a:off x="5518404" y="4091940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2" name="Waffle 60"/>
          <p:cNvSpPr/>
          <p:nvPr/>
        </p:nvSpPr>
        <p:spPr>
          <a:xfrm>
            <a:off x="3584448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3" name="Waffle 61"/>
          <p:cNvSpPr/>
          <p:nvPr/>
        </p:nvSpPr>
        <p:spPr>
          <a:xfrm>
            <a:off x="3799332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4" name="Waffle 62"/>
          <p:cNvSpPr/>
          <p:nvPr/>
        </p:nvSpPr>
        <p:spPr>
          <a:xfrm>
            <a:off x="4014216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5" name="Waffle 63"/>
          <p:cNvSpPr/>
          <p:nvPr/>
        </p:nvSpPr>
        <p:spPr>
          <a:xfrm>
            <a:off x="4229100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6" name="Waffle 64"/>
          <p:cNvSpPr/>
          <p:nvPr/>
        </p:nvSpPr>
        <p:spPr>
          <a:xfrm>
            <a:off x="4443984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7" name="Waffle 65"/>
          <p:cNvSpPr/>
          <p:nvPr/>
        </p:nvSpPr>
        <p:spPr>
          <a:xfrm>
            <a:off x="4658868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8" name="Waffle 66"/>
          <p:cNvSpPr/>
          <p:nvPr/>
        </p:nvSpPr>
        <p:spPr>
          <a:xfrm>
            <a:off x="4873752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89" name="Waffle 67"/>
          <p:cNvSpPr/>
          <p:nvPr/>
        </p:nvSpPr>
        <p:spPr>
          <a:xfrm>
            <a:off x="5088636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0" name="Waffle 68"/>
          <p:cNvSpPr/>
          <p:nvPr/>
        </p:nvSpPr>
        <p:spPr>
          <a:xfrm>
            <a:off x="5303520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1" name="Waffle 69"/>
          <p:cNvSpPr/>
          <p:nvPr/>
        </p:nvSpPr>
        <p:spPr>
          <a:xfrm>
            <a:off x="5518404" y="4215384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2" name="Waffle 70"/>
          <p:cNvSpPr/>
          <p:nvPr/>
        </p:nvSpPr>
        <p:spPr>
          <a:xfrm>
            <a:off x="3584448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3" name="Waffle 71"/>
          <p:cNvSpPr/>
          <p:nvPr/>
        </p:nvSpPr>
        <p:spPr>
          <a:xfrm>
            <a:off x="3799332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4" name="Waffle 72"/>
          <p:cNvSpPr/>
          <p:nvPr/>
        </p:nvSpPr>
        <p:spPr>
          <a:xfrm>
            <a:off x="4014216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5" name="Waffle 73"/>
          <p:cNvSpPr/>
          <p:nvPr/>
        </p:nvSpPr>
        <p:spPr>
          <a:xfrm>
            <a:off x="4229100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6" name="Waffle 74"/>
          <p:cNvSpPr/>
          <p:nvPr/>
        </p:nvSpPr>
        <p:spPr>
          <a:xfrm>
            <a:off x="4443984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7" name="Waffle 75"/>
          <p:cNvSpPr/>
          <p:nvPr/>
        </p:nvSpPr>
        <p:spPr>
          <a:xfrm>
            <a:off x="4658868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8" name="Waffle 76"/>
          <p:cNvSpPr/>
          <p:nvPr/>
        </p:nvSpPr>
        <p:spPr>
          <a:xfrm>
            <a:off x="4873752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99" name="Waffle 77"/>
          <p:cNvSpPr/>
          <p:nvPr/>
        </p:nvSpPr>
        <p:spPr>
          <a:xfrm>
            <a:off x="5088636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0" name="Waffle 78"/>
          <p:cNvSpPr/>
          <p:nvPr/>
        </p:nvSpPr>
        <p:spPr>
          <a:xfrm>
            <a:off x="5303520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1" name="Waffle 79"/>
          <p:cNvSpPr/>
          <p:nvPr/>
        </p:nvSpPr>
        <p:spPr>
          <a:xfrm>
            <a:off x="5518404" y="4338828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2" name="Waffle 80"/>
          <p:cNvSpPr/>
          <p:nvPr/>
        </p:nvSpPr>
        <p:spPr>
          <a:xfrm>
            <a:off x="3584448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3" name="Waffle 81"/>
          <p:cNvSpPr/>
          <p:nvPr/>
        </p:nvSpPr>
        <p:spPr>
          <a:xfrm>
            <a:off x="3799332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4" name="Waffle 82"/>
          <p:cNvSpPr/>
          <p:nvPr/>
        </p:nvSpPr>
        <p:spPr>
          <a:xfrm>
            <a:off x="4014216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5" name="Waffle 83"/>
          <p:cNvSpPr/>
          <p:nvPr/>
        </p:nvSpPr>
        <p:spPr>
          <a:xfrm>
            <a:off x="4229100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6" name="Waffle 84"/>
          <p:cNvSpPr/>
          <p:nvPr/>
        </p:nvSpPr>
        <p:spPr>
          <a:xfrm>
            <a:off x="4443984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7" name="Waffle 85"/>
          <p:cNvSpPr/>
          <p:nvPr/>
        </p:nvSpPr>
        <p:spPr>
          <a:xfrm>
            <a:off x="4658868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8" name="Waffle 86"/>
          <p:cNvSpPr/>
          <p:nvPr/>
        </p:nvSpPr>
        <p:spPr>
          <a:xfrm>
            <a:off x="4873752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09" name="Waffle 87"/>
          <p:cNvSpPr/>
          <p:nvPr/>
        </p:nvSpPr>
        <p:spPr>
          <a:xfrm>
            <a:off x="5088636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0" name="Waffle 88"/>
          <p:cNvSpPr/>
          <p:nvPr/>
        </p:nvSpPr>
        <p:spPr>
          <a:xfrm>
            <a:off x="5303520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1" name="Waffle 89"/>
          <p:cNvSpPr/>
          <p:nvPr/>
        </p:nvSpPr>
        <p:spPr>
          <a:xfrm>
            <a:off x="5518404" y="4462272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2" name="Waffle 90"/>
          <p:cNvSpPr/>
          <p:nvPr/>
        </p:nvSpPr>
        <p:spPr>
          <a:xfrm>
            <a:off x="3584448" y="458571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3" name="Waffle 91"/>
          <p:cNvSpPr/>
          <p:nvPr/>
        </p:nvSpPr>
        <p:spPr>
          <a:xfrm>
            <a:off x="3799332" y="4585716"/>
            <a:ext cx="173736" cy="91440"/>
          </a:xfrm>
          <a:prstGeom prst="rect">
            <a:avLst/>
          </a:prstGeom>
          <a:solidFill>
            <a:srgbClr val="E1E3E8"/>
          </a:solidFill>
          <a:ln/>
        </p:spPr>
      </p:sp>
      <p:sp>
        <p:nvSpPr>
          <p:cNvPr id="114" name="Waffle 92"/>
          <p:cNvSpPr/>
          <p:nvPr/>
        </p:nvSpPr>
        <p:spPr>
          <a:xfrm>
            <a:off x="4014216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5" name="Waffle 93"/>
          <p:cNvSpPr/>
          <p:nvPr/>
        </p:nvSpPr>
        <p:spPr>
          <a:xfrm>
            <a:off x="4229100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6" name="Waffle 94"/>
          <p:cNvSpPr/>
          <p:nvPr/>
        </p:nvSpPr>
        <p:spPr>
          <a:xfrm>
            <a:off x="4443984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7" name="Waffle 95"/>
          <p:cNvSpPr/>
          <p:nvPr/>
        </p:nvSpPr>
        <p:spPr>
          <a:xfrm>
            <a:off x="4658868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8" name="Waffle 96"/>
          <p:cNvSpPr/>
          <p:nvPr/>
        </p:nvSpPr>
        <p:spPr>
          <a:xfrm>
            <a:off x="4873752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19" name="Waffle 97"/>
          <p:cNvSpPr/>
          <p:nvPr/>
        </p:nvSpPr>
        <p:spPr>
          <a:xfrm>
            <a:off x="5088636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0" name="Waffle 98"/>
          <p:cNvSpPr/>
          <p:nvPr/>
        </p:nvSpPr>
        <p:spPr>
          <a:xfrm>
            <a:off x="5303520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1" name="Waffle 99"/>
          <p:cNvSpPr/>
          <p:nvPr/>
        </p:nvSpPr>
        <p:spPr>
          <a:xfrm>
            <a:off x="5518404" y="4585716"/>
            <a:ext cx="173736" cy="91440"/>
          </a:xfrm>
          <a:prstGeom prst="rect">
            <a:avLst/>
          </a:prstGeom>
          <a:solidFill>
            <a:srgbClr val="F05A00"/>
          </a:solidFill>
          <a:ln/>
        </p:spPr>
      </p:sp>
      <p:sp>
        <p:nvSpPr>
          <p:cNvPr id="122" name="Text 118"/>
          <p:cNvSpPr txBox="1"/>
          <p:nvPr/>
        </p:nvSpPr>
        <p:spPr>
          <a:xfrm>
            <a:off x="3584448" y="4800600"/>
            <a:ext cx="2258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4,000 orders fail the first attempt: 8 in every 100 (VECOM low end).</a:t>
            </a:r>
            <a:endParaRPr lang="en-US" sz="1050" dirty="0"/>
          </a:p>
        </p:txBody>
      </p:sp>
      <p:sp>
        <p:nvSpPr>
          <p:cNvPr id="123" name="Card 3"/>
          <p:cNvSpPr/>
          <p:nvPr/>
        </p:nvSpPr>
        <p:spPr>
          <a:xfrm>
            <a:off x="6163056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24" name="Text 120"/>
          <p:cNvSpPr txBox="1"/>
          <p:nvPr/>
        </p:nvSpPr>
        <p:spPr>
          <a:xfrm>
            <a:off x="6391656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RETURNED · EVERY DAY</a:t>
            </a:r>
            <a:endParaRPr lang="en-US" sz="800" dirty="0"/>
          </a:p>
        </p:txBody>
      </p:sp>
      <p:sp>
        <p:nvSpPr>
          <p:cNvPr id="125" name="Icon tile"/>
          <p:cNvSpPr/>
          <p:nvPr/>
        </p:nvSpPr>
        <p:spPr>
          <a:xfrm>
            <a:off x="8284464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26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472" y="2258568"/>
            <a:ext cx="201168" cy="201168"/>
          </a:xfrm>
          <a:prstGeom prst="rect">
            <a:avLst/>
          </a:prstGeom>
        </p:spPr>
      </p:pic>
      <p:sp>
        <p:nvSpPr>
          <p:cNvPr id="127" name="Text 122"/>
          <p:cNvSpPr txBox="1"/>
          <p:nvPr/>
        </p:nvSpPr>
        <p:spPr>
          <a:xfrm>
            <a:off x="6391656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</a:t>
            </a:r>
            <a:endParaRPr lang="en-US" sz="3800" dirty="0"/>
          </a:p>
        </p:txBody>
      </p:sp>
      <p:sp>
        <p:nvSpPr>
          <p:cNvPr id="128" name="Rescued bar"/>
          <p:cNvSpPr/>
          <p:nvPr/>
        </p:nvSpPr>
        <p:spPr>
          <a:xfrm>
            <a:off x="6391656" y="3611880"/>
            <a:ext cx="553212" cy="310896"/>
          </a:xfrm>
          <a:prstGeom prst="rect">
            <a:avLst/>
          </a:prstGeom>
          <a:solidFill>
            <a:srgbClr val="8A91A6"/>
          </a:solidFill>
          <a:ln/>
        </p:spPr>
      </p:sp>
      <p:sp>
        <p:nvSpPr>
          <p:cNvPr id="129" name="Returned bar"/>
          <p:cNvSpPr/>
          <p:nvPr/>
        </p:nvSpPr>
        <p:spPr>
          <a:xfrm>
            <a:off x="6963156" y="3611880"/>
            <a:ext cx="1641348" cy="310896"/>
          </a:xfrm>
          <a:prstGeom prst="rect">
            <a:avLst/>
          </a:prstGeom>
          <a:solidFill>
            <a:srgbClr val="1F2A44"/>
          </a:solidFill>
          <a:ln/>
        </p:spPr>
      </p:sp>
      <p:sp>
        <p:nvSpPr>
          <p:cNvPr id="130" name="Text 125"/>
          <p:cNvSpPr txBox="1"/>
          <p:nvPr/>
        </p:nvSpPr>
        <p:spPr>
          <a:xfrm>
            <a:off x="6391656" y="40050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rescued</a:t>
            </a:r>
            <a:endParaRPr lang="en-US" sz="850" dirty="0"/>
          </a:p>
        </p:txBody>
      </p:sp>
      <p:sp>
        <p:nvSpPr>
          <p:cNvPr id="131" name="Text 126"/>
          <p:cNvSpPr txBox="1"/>
          <p:nvPr/>
        </p:nvSpPr>
        <p:spPr>
          <a:xfrm>
            <a:off x="7260336" y="400507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returned</a:t>
            </a:r>
            <a:endParaRPr lang="en-US" sz="850" dirty="0"/>
          </a:p>
        </p:txBody>
      </p:sp>
      <p:sp>
        <p:nvSpPr>
          <p:cNvPr id="132" name="Text 127"/>
          <p:cNvSpPr txBox="1"/>
          <p:nvPr/>
        </p:nvSpPr>
        <p:spPr>
          <a:xfrm>
            <a:off x="6391656" y="4800600"/>
            <a:ext cx="2258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back to the seller. Today only about 1 in 4 failed orders is rescued (Shipsy).</a:t>
            </a:r>
            <a:endParaRPr lang="en-US" sz="1050" dirty="0"/>
          </a:p>
        </p:txBody>
      </p:sp>
      <p:sp>
        <p:nvSpPr>
          <p:cNvPr id="133" name="Card 4"/>
          <p:cNvSpPr/>
          <p:nvPr/>
        </p:nvSpPr>
        <p:spPr>
          <a:xfrm>
            <a:off x="8970264" y="2011680"/>
            <a:ext cx="2670048" cy="3931920"/>
          </a:xfrm>
          <a:prstGeom prst="roundRect">
            <a:avLst>
              <a:gd name="adj" fmla="val 4795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34" name="Text 129"/>
          <p:cNvSpPr txBox="1"/>
          <p:nvPr/>
        </p:nvSpPr>
        <p:spPr>
          <a:xfrm>
            <a:off x="9198864" y="226771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· PER AREA</a:t>
            </a:r>
            <a:endParaRPr lang="en-US" sz="800" dirty="0"/>
          </a:p>
        </p:txBody>
      </p:sp>
      <p:sp>
        <p:nvSpPr>
          <p:cNvPr id="135" name="Icon tile"/>
          <p:cNvSpPr/>
          <p:nvPr/>
        </p:nvSpPr>
        <p:spPr>
          <a:xfrm>
            <a:off x="11091672" y="21945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36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0" y="2258568"/>
            <a:ext cx="201168" cy="201168"/>
          </a:xfrm>
          <a:prstGeom prst="rect">
            <a:avLst/>
          </a:prstGeom>
        </p:spPr>
      </p:pic>
      <p:sp>
        <p:nvSpPr>
          <p:cNvPr id="137" name="Text 131"/>
          <p:cNvSpPr txBox="1"/>
          <p:nvPr/>
        </p:nvSpPr>
        <p:spPr>
          <a:xfrm>
            <a:off x="9198864" y="2606040"/>
            <a:ext cx="2304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</a:t>
            </a:r>
            <a:pPr indent="0" marL="0">
              <a:buNone/>
            </a:pPr>
            <a:r>
              <a:rPr lang="en-US" sz="3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800" dirty="0"/>
          </a:p>
        </p:txBody>
      </p:sp>
      <p:sp>
        <p:nvSpPr>
          <p:cNvPr id="138" name="Person 0"/>
          <p:cNvSpPr/>
          <p:nvPr/>
        </p:nvSpPr>
        <p:spPr>
          <a:xfrm>
            <a:off x="9198864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39" name="Person 1"/>
          <p:cNvSpPr/>
          <p:nvPr/>
        </p:nvSpPr>
        <p:spPr>
          <a:xfrm>
            <a:off x="9637776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0" name="Person 2"/>
          <p:cNvSpPr/>
          <p:nvPr/>
        </p:nvSpPr>
        <p:spPr>
          <a:xfrm>
            <a:off x="10076688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1" name="Person 3"/>
          <p:cNvSpPr/>
          <p:nvPr/>
        </p:nvSpPr>
        <p:spPr>
          <a:xfrm>
            <a:off x="10515600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2" name="Person 4"/>
          <p:cNvSpPr/>
          <p:nvPr/>
        </p:nvSpPr>
        <p:spPr>
          <a:xfrm>
            <a:off x="10954512" y="3566160"/>
            <a:ext cx="310896" cy="310896"/>
          </a:xfrm>
          <a:prstGeom prst="ellipse">
            <a:avLst/>
          </a:prstGeom>
          <a:solidFill>
            <a:srgbClr val="1F2A44"/>
          </a:solidFill>
          <a:ln w="9525">
            <a:solidFill>
              <a:srgbClr val="1F2A44"/>
            </a:solidFill>
            <a:prstDash val="solid"/>
          </a:ln>
        </p:spPr>
      </p:sp>
      <p:sp>
        <p:nvSpPr>
          <p:cNvPr id="143" name="Person 5"/>
          <p:cNvSpPr/>
          <p:nvPr/>
        </p:nvSpPr>
        <p:spPr>
          <a:xfrm>
            <a:off x="9198864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7D0"/>
            </a:solidFill>
            <a:prstDash val="solid"/>
          </a:ln>
        </p:spPr>
      </p:sp>
      <p:sp>
        <p:nvSpPr>
          <p:cNvPr id="144" name="Person 6"/>
          <p:cNvSpPr/>
          <p:nvPr/>
        </p:nvSpPr>
        <p:spPr>
          <a:xfrm>
            <a:off x="9637776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7D0"/>
            </a:solidFill>
            <a:prstDash val="solid"/>
          </a:ln>
        </p:spPr>
      </p:sp>
      <p:sp>
        <p:nvSpPr>
          <p:cNvPr id="145" name="Person 7"/>
          <p:cNvSpPr/>
          <p:nvPr/>
        </p:nvSpPr>
        <p:spPr>
          <a:xfrm>
            <a:off x="10076688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7D0"/>
            </a:solidFill>
            <a:prstDash val="solid"/>
          </a:ln>
        </p:spPr>
      </p:sp>
      <p:sp>
        <p:nvSpPr>
          <p:cNvPr id="146" name="Person 8"/>
          <p:cNvSpPr/>
          <p:nvPr/>
        </p:nvSpPr>
        <p:spPr>
          <a:xfrm>
            <a:off x="10515600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7D0"/>
            </a:solidFill>
            <a:prstDash val="solid"/>
          </a:ln>
        </p:spPr>
      </p:sp>
      <p:sp>
        <p:nvSpPr>
          <p:cNvPr id="147" name="Person 9"/>
          <p:cNvSpPr/>
          <p:nvPr/>
        </p:nvSpPr>
        <p:spPr>
          <a:xfrm>
            <a:off x="10954512" y="4005072"/>
            <a:ext cx="310896" cy="310896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7D0"/>
            </a:solidFill>
            <a:prstDash val="solid"/>
          </a:ln>
        </p:spPr>
      </p:sp>
      <p:sp>
        <p:nvSpPr>
          <p:cNvPr id="148" name="Text 142"/>
          <p:cNvSpPr txBox="1"/>
          <p:nvPr/>
        </p:nvSpPr>
        <p:spPr>
          <a:xfrm>
            <a:off x="9198864" y="4800600"/>
            <a:ext cx="22585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full-time callers just to phone 320 buyers twice a day. People don’t scale.</a:t>
            </a:r>
            <a:endParaRPr lang="en-US" sz="1050" dirty="0"/>
          </a:p>
        </p:txBody>
      </p:sp>
      <p:sp>
        <p:nvSpPr>
          <p:cNvPr id="149" name="Text 143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cost model, PRD §18.8: 20 couriers, 4,000 orders a day, 8% failure (VECOM), 25% baseline rescue (Shipsy, vendor), ₫40,000 return fee (Shopee §7.1, GHN), ₫6–8k courier pay (GHN). Modelled.</a:t>
            </a:r>
            <a:endParaRPr lang="en-US" sz="800" dirty="0"/>
          </a:p>
        </p:txBody>
      </p:sp>
      <p:sp>
        <p:nvSpPr>
          <p:cNvPr id="150" name="Text 144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480060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21208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HEARD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4800600" y="841248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asked both sides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same missed call.</a:t>
            </a:r>
            <a:endParaRPr lang="en-US" sz="3000" dirty="0"/>
          </a:p>
        </p:txBody>
      </p:sp>
      <p:pic>
        <p:nvPicPr>
          <p:cNvPr id="5" name="Field photo" descr="SPX Express hub, Ho Chi Minh Cit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3886200" cy="5486400"/>
          </a:xfrm>
          <a:prstGeom prst="rect">
            <a:avLst/>
          </a:prstGeom>
        </p:spPr>
      </p:pic>
      <p:pic>
        <p:nvPicPr>
          <p:cNvPr id="6" name="Photo fade" descr="/private/tmp/claude-503/-Users-davark-Downloads-Everything-Github-Alodi-Regional-Codex-Hackathon-2026/91e569a8-486f-4c0b-b683-a4991468f039/scratchpad/deck/assets/fade-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0"/>
            <a:ext cx="3886200" cy="1417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7240" y="562356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VISIT · SPX EXPRESS HUB, HCMC</a:t>
            </a:r>
            <a:endParaRPr lang="en-US" sz="850" dirty="0"/>
          </a:p>
        </p:txBody>
      </p:sp>
      <p:sp>
        <p:nvSpPr>
          <p:cNvPr id="8" name="Group rule 0"/>
          <p:cNvSpPr/>
          <p:nvPr/>
        </p:nvSpPr>
        <p:spPr>
          <a:xfrm>
            <a:off x="4800600" y="2057400"/>
            <a:ext cx="6839712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4800600" y="2194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· N = 100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4800600" y="2468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pPr indent="0" marL="0">
              <a:buNone/>
            </a:pPr>
            <a:r>
              <a:rPr lang="en-US" sz="4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480060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 to choose a delivery window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8275320" y="246888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</a:t>
            </a:r>
            <a:pPr indent="0" marL="0">
              <a:buNone/>
            </a:pPr>
            <a:r>
              <a:rPr lang="en-US" sz="4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3" name="Text 9"/>
          <p:cNvSpPr txBox="1"/>
          <p:nvPr/>
        </p:nvSpPr>
        <p:spPr>
          <a:xfrm>
            <a:off x="8275320" y="32461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the courier back and couldn’t reach them</a:t>
            </a:r>
            <a:endParaRPr lang="en-US" sz="1150" dirty="0"/>
          </a:p>
        </p:txBody>
      </p:sp>
      <p:sp>
        <p:nvSpPr>
          <p:cNvPr id="14" name="Group rule 1"/>
          <p:cNvSpPr/>
          <p:nvPr/>
        </p:nvSpPr>
        <p:spPr>
          <a:xfrm>
            <a:off x="4800600" y="3840480"/>
            <a:ext cx="6839712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800600" y="39776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COURIERS · N = 12 · 6 CARRIERS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80060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pPr indent="0" marL="0">
              <a:buNone/>
            </a:pPr>
            <a:r>
              <a:rPr lang="en-US" sz="4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7" name="Text 13"/>
          <p:cNvSpPr txBox="1"/>
          <p:nvPr/>
        </p:nvSpPr>
        <p:spPr>
          <a:xfrm>
            <a:off x="4800600" y="5029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their calls to buyers go unanswered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42519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pPr indent="0" marL="0">
              <a:buNone/>
            </a:pPr>
            <a:r>
              <a:rPr lang="en-US" sz="48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4800" dirty="0"/>
          </a:p>
        </p:txBody>
      </p:sp>
      <p:sp>
        <p:nvSpPr>
          <p:cNvPr id="19" name="Text 15"/>
          <p:cNvSpPr txBox="1"/>
          <p:nvPr/>
        </p:nvSpPr>
        <p:spPr>
          <a:xfrm>
            <a:off x="8275320" y="5029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would use an Alodi-like system</a:t>
            </a:r>
            <a:endParaRPr lang="en-US" sz="1150" dirty="0"/>
          </a:p>
        </p:txBody>
      </p:sp>
      <p:sp>
        <p:nvSpPr>
          <p:cNvPr id="20" name="Status"/>
          <p:cNvSpPr/>
          <p:nvPr/>
        </p:nvSpPr>
        <p:spPr>
          <a:xfrm>
            <a:off x="4800600" y="5623560"/>
            <a:ext cx="6839712" cy="365760"/>
          </a:xfrm>
          <a:prstGeom prst="roundRect">
            <a:avLst>
              <a:gd name="adj" fmla="val 35000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983480" y="5687568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4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values until the interview export replaces prep/06-survey (data_status = MOCK).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hone photo" descr="A hand holding a 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480560" cy="5486400"/>
          </a:xfrm>
          <a:prstGeom prst="rect">
            <a:avLst/>
          </a:prstGeom>
        </p:spPr>
      </p:pic>
      <p:pic>
        <p:nvPicPr>
          <p:cNvPr id="3" name="Photo fade" descr="/private/tmp/claude-503/-Users-davark-Downloads-Everything-Github-Alodi-Regional-Codex-Hackathon-2026/91e569a8-486f-4c0b-b683-a4991468f039/scratchpad/deck/assets/fade-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4480560" cy="2057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50749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“Called twice. No answer.”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822960" y="557784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Samson Vowles, CC0</a:t>
            </a:r>
            <a:endParaRPr lang="en-US" sz="800" dirty="0"/>
          </a:p>
        </p:txBody>
      </p:sp>
      <p:sp>
        <p:nvSpPr>
          <p:cNvPr id="6" name="Eyebrow rule"/>
          <p:cNvSpPr/>
          <p:nvPr/>
        </p:nvSpPr>
        <p:spPr>
          <a:xfrm>
            <a:off x="5440680" y="612648"/>
            <a:ext cx="292608" cy="0"/>
          </a:xfrm>
          <a:prstGeom prst="line">
            <a:avLst/>
          </a:prstGeom>
          <a:noFill/>
          <a:ln w="15875">
            <a:solidFill>
              <a:srgbClr val="FF9D6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5216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ROOT CAUSE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440680" y="841248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6F7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is broken in the route.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dies in a phone call.</a:t>
            </a:r>
            <a:endParaRPr lang="en-US" sz="3000" dirty="0"/>
          </a:p>
        </p:txBody>
      </p:sp>
      <p:sp>
        <p:nvSpPr>
          <p:cNvPr id="9" name="Cause 1"/>
          <p:cNvSpPr/>
          <p:nvPr/>
        </p:nvSpPr>
        <p:spPr>
          <a:xfrm>
            <a:off x="5440680" y="251460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669280" y="26974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5669280" y="3319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to choose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669280" y="35935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is agreed by phone, outside every system.</a:t>
            </a:r>
            <a:endParaRPr lang="en-US" sz="1050" dirty="0"/>
          </a:p>
        </p:txBody>
      </p:sp>
      <p:sp>
        <p:nvSpPr>
          <p:cNvPr id="13" name="Cause 2"/>
          <p:cNvSpPr/>
          <p:nvPr/>
        </p:nvSpPr>
        <p:spPr>
          <a:xfrm>
            <a:off x="8595360" y="251460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823960" y="269748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1"/>
          <p:cNvSpPr txBox="1"/>
          <p:nvPr/>
        </p:nvSpPr>
        <p:spPr>
          <a:xfrm>
            <a:off x="8823960" y="33192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code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8823960" y="35935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answer” replaces when, where and who.</a:t>
            </a:r>
            <a:endParaRPr lang="en-US" sz="1050" dirty="0"/>
          </a:p>
        </p:txBody>
      </p:sp>
      <p:sp>
        <p:nvSpPr>
          <p:cNvPr id="17" name="Cause 3"/>
          <p:cNvSpPr/>
          <p:nvPr/>
        </p:nvSpPr>
        <p:spPr>
          <a:xfrm>
            <a:off x="5440680" y="425196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669280" y="44348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5669280" y="5056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callers per area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5669280" y="53309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phone 320 buyers twice a day.</a:t>
            </a:r>
            <a:endParaRPr lang="en-US" sz="1050" dirty="0"/>
          </a:p>
        </p:txBody>
      </p:sp>
      <p:sp>
        <p:nvSpPr>
          <p:cNvPr id="21" name="Cause 4"/>
          <p:cNvSpPr/>
          <p:nvPr/>
        </p:nvSpPr>
        <p:spPr>
          <a:xfrm>
            <a:off x="8595360" y="4251960"/>
            <a:ext cx="3017520" cy="1600200"/>
          </a:xfrm>
          <a:prstGeom prst="roundRect">
            <a:avLst>
              <a:gd name="adj" fmla="val 8000"/>
            </a:avLst>
          </a:prstGeom>
          <a:solidFill>
            <a:srgbClr val="1B2438"/>
          </a:solidFill>
          <a:ln w="9525">
            <a:solidFill>
              <a:srgbClr val="2A355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823960" y="4434840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400" dirty="0"/>
          </a:p>
        </p:txBody>
      </p:sp>
      <p:sp>
        <p:nvSpPr>
          <p:cNvPr id="23" name="Text 19"/>
          <p:cNvSpPr txBox="1"/>
          <p:nvPr/>
        </p:nvSpPr>
        <p:spPr>
          <a:xfrm>
            <a:off x="8823960" y="5056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days, then it’s gone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8823960" y="53309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Shopee allows 2–3 contacts within 5 days.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 ALODI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Alodi is the AI agent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rescues failed deliveries.</a:t>
            </a:r>
            <a:endParaRPr lang="en-US" sz="3000" dirty="0"/>
          </a:p>
        </p:txBody>
      </p:sp>
      <p:sp>
        <p:nvSpPr>
          <p:cNvPr id="5" name="Fact rule 0"/>
          <p:cNvSpPr/>
          <p:nvPr/>
        </p:nvSpPr>
        <p:spPr>
          <a:xfrm>
            <a:off x="548640" y="2880360"/>
            <a:ext cx="3931920" cy="0"/>
          </a:xfrm>
          <a:prstGeom prst="line">
            <a:avLst/>
          </a:prstGeom>
          <a:noFill/>
          <a:ln w="12700">
            <a:solidFill>
              <a:srgbClr val="121A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008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97180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Carriers like SPX, their couriers and buyers</a:t>
            </a:r>
            <a:endParaRPr lang="en-US" sz="1200" dirty="0"/>
          </a:p>
        </p:txBody>
      </p:sp>
      <p:sp>
        <p:nvSpPr>
          <p:cNvPr id="8" name="Fact rule 1"/>
          <p:cNvSpPr/>
          <p:nvPr/>
        </p:nvSpPr>
        <p:spPr>
          <a:xfrm>
            <a:off x="548640" y="3630168"/>
            <a:ext cx="3931920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5818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WITH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37216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tap: No answer · Rescheduled · Refused</a:t>
            </a:r>
            <a:endParaRPr lang="en-US" sz="1200" dirty="0"/>
          </a:p>
        </p:txBody>
      </p:sp>
      <p:sp>
        <p:nvSpPr>
          <p:cNvPr id="11" name="Fact rule 2"/>
          <p:cNvSpPr/>
          <p:nvPr/>
        </p:nvSpPr>
        <p:spPr>
          <a:xfrm>
            <a:off x="548640" y="4379976"/>
            <a:ext cx="3931920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50799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447141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Chats now, calls if silent, writes a context card</a:t>
            </a:r>
            <a:endParaRPr lang="en-US" sz="1200" dirty="0"/>
          </a:p>
        </p:txBody>
      </p:sp>
      <p:sp>
        <p:nvSpPr>
          <p:cNvPr id="14" name="Fact rule 3"/>
          <p:cNvSpPr/>
          <p:nvPr/>
        </p:nvSpPr>
        <p:spPr>
          <a:xfrm>
            <a:off x="548640" y="5129784"/>
            <a:ext cx="3931920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5257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1783080" y="522122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or returns an order without a person</a:t>
            </a:r>
            <a:endParaRPr lang="en-US" sz="1200" dirty="0"/>
          </a:p>
        </p:txBody>
      </p:sp>
      <p:sp>
        <p:nvSpPr>
          <p:cNvPr id="17" name="Video frame"/>
          <p:cNvSpPr/>
          <p:nvPr/>
        </p:nvSpPr>
        <p:spPr>
          <a:xfrm>
            <a:off x="4846320" y="502920"/>
            <a:ext cx="6793992" cy="5486400"/>
          </a:xfrm>
          <a:prstGeom prst="roundRect">
            <a:avLst>
              <a:gd name="adj" fmla="val 3333"/>
            </a:avLst>
          </a:prstGeom>
          <a:solidFill>
            <a:srgbClr val="121A2C"/>
          </a:solidFill>
          <a:ln/>
        </p:spPr>
      </p:sp>
      <p:pic>
        <p:nvPicPr>
          <p:cNvPr id="18" name="Video mark" descr="/private/tmp/claude-503/-Users-davark-Downloads-Everything-Github-Alodi-Regional-Codex-Hackathon-2026/91e569a8-486f-4c0b-b683-a4991468f039/scratchpad/deck/assets/mark-bars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822960"/>
            <a:ext cx="292608" cy="29260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577840" y="85953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FILM · 2:00</a:t>
            </a:r>
            <a:endParaRPr lang="en-US" sz="900" dirty="0"/>
          </a:p>
        </p:txBody>
      </p:sp>
      <p:sp>
        <p:nvSpPr>
          <p:cNvPr id="20" name="Play"/>
          <p:cNvSpPr/>
          <p:nvPr/>
        </p:nvSpPr>
        <p:spPr>
          <a:xfrm>
            <a:off x="7827264" y="2697480"/>
            <a:ext cx="868680" cy="868680"/>
          </a:xfrm>
          <a:prstGeom prst="ellipse">
            <a:avLst/>
          </a:prstGeom>
          <a:solidFill>
            <a:srgbClr val="F05A00"/>
          </a:solidFill>
          <a:ln/>
        </p:spPr>
      </p:sp>
      <p:sp>
        <p:nvSpPr>
          <p:cNvPr id="21" name="Play icon"/>
          <p:cNvSpPr/>
          <p:nvPr/>
        </p:nvSpPr>
        <p:spPr>
          <a:xfrm rot="5400000">
            <a:off x="8156448" y="2926080"/>
            <a:ext cx="329184" cy="402336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846320" y="3794760"/>
            <a:ext cx="6793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rescue, from the courier’s tap to the second drop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846320" y="4160520"/>
            <a:ext cx="6793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 › Video, then fit the film to this frame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 in.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context card out.</a:t>
            </a:r>
            <a:endParaRPr lang="en-US" sz="3000" dirty="0"/>
          </a:p>
        </p:txBody>
      </p:sp>
      <p:sp>
        <p:nvSpPr>
          <p:cNvPr id="5" name="Step 1"/>
          <p:cNvSpPr/>
          <p:nvPr/>
        </p:nvSpPr>
        <p:spPr>
          <a:xfrm>
            <a:off x="54864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6" name="Icon tile"/>
          <p:cNvSpPr/>
          <p:nvPr/>
        </p:nvSpPr>
        <p:spPr>
          <a:xfrm>
            <a:off x="74980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7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2414016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taps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49808" y="3520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answer · Rescheduled · Refused, with a 2-minute undo</a:t>
            </a:r>
            <a:endParaRPr lang="en-US" sz="1050" dirty="0"/>
          </a:p>
        </p:txBody>
      </p:sp>
      <p:sp>
        <p:nvSpPr>
          <p:cNvPr id="11" name="Arrow 0"/>
          <p:cNvSpPr/>
          <p:nvPr/>
        </p:nvSpPr>
        <p:spPr>
          <a:xfrm>
            <a:off x="2633472" y="3401568"/>
            <a:ext cx="128016" cy="0"/>
          </a:xfrm>
          <a:prstGeom prst="line">
            <a:avLst/>
          </a:prstGeom>
          <a:noFill/>
          <a:ln w="12700">
            <a:solidFill>
              <a:srgbClr val="C3C7D0"/>
            </a:solidFill>
            <a:prstDash val="solid"/>
            <a:tailEnd type="triangle"/>
          </a:ln>
        </p:spPr>
      </p:sp>
      <p:sp>
        <p:nvSpPr>
          <p:cNvPr id="12" name="Step 2"/>
          <p:cNvSpPr/>
          <p:nvPr/>
        </p:nvSpPr>
        <p:spPr>
          <a:xfrm>
            <a:off x="278892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3" name="Icon tile"/>
          <p:cNvSpPr/>
          <p:nvPr/>
        </p:nvSpPr>
        <p:spPr>
          <a:xfrm>
            <a:off x="299008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4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096" y="2414016"/>
            <a:ext cx="201168" cy="201168"/>
          </a:xfrm>
          <a:prstGeom prst="rect">
            <a:avLst/>
          </a:prstGeom>
        </p:spPr>
      </p:pic>
      <p:pic>
        <p:nvPicPr>
          <p:cNvPr id="15" name="OpenAI 1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404872"/>
            <a:ext cx="219456" cy="21945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99008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299008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2990088" y="3520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API on GPT-6 Luna sorts the case and scores confidence</a:t>
            </a:r>
            <a:endParaRPr lang="en-US" sz="1050" dirty="0"/>
          </a:p>
        </p:txBody>
      </p:sp>
      <p:sp>
        <p:nvSpPr>
          <p:cNvPr id="19" name="Arrow 1"/>
          <p:cNvSpPr/>
          <p:nvPr/>
        </p:nvSpPr>
        <p:spPr>
          <a:xfrm>
            <a:off x="4873752" y="3401568"/>
            <a:ext cx="128016" cy="0"/>
          </a:xfrm>
          <a:prstGeom prst="line">
            <a:avLst/>
          </a:prstGeom>
          <a:noFill/>
          <a:ln w="12700">
            <a:solidFill>
              <a:srgbClr val="C3C7D0"/>
            </a:solidFill>
            <a:prstDash val="solid"/>
            <a:tailEnd type="triangle"/>
          </a:ln>
        </p:spPr>
      </p:sp>
      <p:sp>
        <p:nvSpPr>
          <p:cNvPr id="20" name="Step 3"/>
          <p:cNvSpPr/>
          <p:nvPr/>
        </p:nvSpPr>
        <p:spPr>
          <a:xfrm>
            <a:off x="502920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1" name="Icon tile"/>
          <p:cNvSpPr/>
          <p:nvPr/>
        </p:nvSpPr>
        <p:spPr>
          <a:xfrm>
            <a:off x="523036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2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4376" y="2414016"/>
            <a:ext cx="201168" cy="201168"/>
          </a:xfrm>
          <a:prstGeom prst="rect">
            <a:avLst/>
          </a:prstGeom>
        </p:spPr>
      </p:pic>
      <p:pic>
        <p:nvPicPr>
          <p:cNvPr id="23" name="OpenAI 2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7688" y="2404872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23036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23036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the buyer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5230368" y="3520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now; GPT-Live-1 calls after 60′ of silence, again after 2 h</a:t>
            </a:r>
            <a:endParaRPr lang="en-US" sz="1050" dirty="0"/>
          </a:p>
        </p:txBody>
      </p:sp>
      <p:sp>
        <p:nvSpPr>
          <p:cNvPr id="27" name="Arrow 2"/>
          <p:cNvSpPr/>
          <p:nvPr/>
        </p:nvSpPr>
        <p:spPr>
          <a:xfrm>
            <a:off x="7114032" y="3401568"/>
            <a:ext cx="128016" cy="0"/>
          </a:xfrm>
          <a:prstGeom prst="line">
            <a:avLst/>
          </a:prstGeom>
          <a:noFill/>
          <a:ln w="12700">
            <a:solidFill>
              <a:srgbClr val="C3C7D0"/>
            </a:solidFill>
            <a:prstDash val="solid"/>
            <a:tailEnd type="triangle"/>
          </a:ln>
        </p:spPr>
      </p:sp>
      <p:sp>
        <p:nvSpPr>
          <p:cNvPr id="28" name="Step 4"/>
          <p:cNvSpPr/>
          <p:nvPr/>
        </p:nvSpPr>
        <p:spPr>
          <a:xfrm>
            <a:off x="726948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9" name="Icon tile"/>
          <p:cNvSpPr/>
          <p:nvPr/>
        </p:nvSpPr>
        <p:spPr>
          <a:xfrm>
            <a:off x="747064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0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4656" y="2414016"/>
            <a:ext cx="201168" cy="201168"/>
          </a:xfrm>
          <a:prstGeom prst="rect">
            <a:avLst/>
          </a:prstGeom>
        </p:spPr>
      </p:pic>
      <p:pic>
        <p:nvPicPr>
          <p:cNvPr id="31" name="OpenAI 3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87968" y="2404872"/>
            <a:ext cx="219456" cy="219456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747064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33" name="Text 24"/>
          <p:cNvSpPr txBox="1"/>
          <p:nvPr/>
        </p:nvSpPr>
        <p:spPr>
          <a:xfrm>
            <a:off x="747064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7470648" y="3520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 applies policy and writes when, where and who</a:t>
            </a:r>
            <a:endParaRPr lang="en-US" sz="1050" dirty="0"/>
          </a:p>
        </p:txBody>
      </p:sp>
      <p:sp>
        <p:nvSpPr>
          <p:cNvPr id="35" name="Arrow 3"/>
          <p:cNvSpPr/>
          <p:nvPr/>
        </p:nvSpPr>
        <p:spPr>
          <a:xfrm>
            <a:off x="9354312" y="3401568"/>
            <a:ext cx="128016" cy="0"/>
          </a:xfrm>
          <a:prstGeom prst="line">
            <a:avLst/>
          </a:prstGeom>
          <a:noFill/>
          <a:ln w="12700">
            <a:solidFill>
              <a:srgbClr val="C3C7D0"/>
            </a:solidFill>
            <a:prstDash val="solid"/>
            <a:tailEnd type="triangle"/>
          </a:ln>
        </p:spPr>
      </p:sp>
      <p:sp>
        <p:nvSpPr>
          <p:cNvPr id="36" name="Step 5"/>
          <p:cNvSpPr/>
          <p:nvPr/>
        </p:nvSpPr>
        <p:spPr>
          <a:xfrm>
            <a:off x="9509760" y="2148840"/>
            <a:ext cx="2057400" cy="2240280"/>
          </a:xfrm>
          <a:prstGeom prst="roundRect">
            <a:avLst>
              <a:gd name="adj" fmla="val 6222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37" name="Icon tile"/>
          <p:cNvSpPr/>
          <p:nvPr/>
        </p:nvSpPr>
        <p:spPr>
          <a:xfrm>
            <a:off x="9710928" y="235000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38" name="Icon" descr="/private/tmp/claude-503/-Users-davark-Downloads-Everything-Github-Alodi-Regional-Codex-Hackathon-2026/91e569a8-486f-4c0b-b683-a4991468f039/scratchpad/deck/assets/mark-check-oran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74936" y="2414016"/>
            <a:ext cx="201168" cy="20116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710928" y="28803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Text 30"/>
          <p:cNvSpPr txBox="1"/>
          <p:nvPr/>
        </p:nvSpPr>
        <p:spPr>
          <a:xfrm>
            <a:off x="9710928" y="3136392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attempt</a:t>
            </a:r>
            <a:endParaRPr lang="en-US" sz="1500" dirty="0"/>
          </a:p>
        </p:txBody>
      </p:sp>
      <p:sp>
        <p:nvSpPr>
          <p:cNvPr id="41" name="Text 31"/>
          <p:cNvSpPr txBox="1"/>
          <p:nvPr/>
        </p:nvSpPr>
        <p:spPr>
          <a:xfrm>
            <a:off x="9710928" y="35204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to the courier; refusals and labels go to a person</a:t>
            </a:r>
            <a:endParaRPr lang="en-US" sz="1050" dirty="0"/>
          </a:p>
        </p:txBody>
      </p:sp>
      <p:sp>
        <p:nvSpPr>
          <p:cNvPr id="42" name="Text 32"/>
          <p:cNvSpPr txBox="1"/>
          <p:nvPr/>
        </p:nvSpPr>
        <p:spPr>
          <a:xfrm>
            <a:off x="548640" y="4800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RULES · ENFORCED IN CODE</a:t>
            </a:r>
            <a:endParaRPr lang="en-US" sz="800" dirty="0"/>
          </a:p>
        </p:txBody>
      </p:sp>
      <p:sp>
        <p:nvSpPr>
          <p:cNvPr id="43" name="Rule 0"/>
          <p:cNvSpPr/>
          <p:nvPr/>
        </p:nvSpPr>
        <p:spPr>
          <a:xfrm>
            <a:off x="548640" y="5074920"/>
            <a:ext cx="2053742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548640" y="5074920"/>
            <a:ext cx="20537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Calls 08:00–20:30 only</a:t>
            </a:r>
            <a:endParaRPr lang="en-US" sz="1050" dirty="0"/>
          </a:p>
        </p:txBody>
      </p:sp>
      <p:sp>
        <p:nvSpPr>
          <p:cNvPr id="45" name="Rule 1"/>
          <p:cNvSpPr/>
          <p:nvPr/>
        </p:nvSpPr>
        <p:spPr>
          <a:xfrm>
            <a:off x="2739542" y="5074920"/>
            <a:ext cx="1674266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2739542" y="5074920"/>
            <a:ext cx="1674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2 calls a cycle</a:t>
            </a:r>
            <a:endParaRPr lang="en-US" sz="1050" dirty="0"/>
          </a:p>
        </p:txBody>
      </p:sp>
      <p:sp>
        <p:nvSpPr>
          <p:cNvPr id="47" name="Rule 2"/>
          <p:cNvSpPr/>
          <p:nvPr/>
        </p:nvSpPr>
        <p:spPr>
          <a:xfrm>
            <a:off x="4550969" y="5074920"/>
            <a:ext cx="1901952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4550969" y="5074920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Auto-apply at ≥ 0.85</a:t>
            </a:r>
            <a:endParaRPr lang="en-US" sz="1050" dirty="0"/>
          </a:p>
        </p:txBody>
      </p:sp>
      <p:sp>
        <p:nvSpPr>
          <p:cNvPr id="49" name="Rule 3"/>
          <p:cNvSpPr/>
          <p:nvPr/>
        </p:nvSpPr>
        <p:spPr>
          <a:xfrm>
            <a:off x="6590081" y="5074920"/>
            <a:ext cx="1826057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6590081" y="5074920"/>
            <a:ext cx="182605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“Stop” ends contact</a:t>
            </a:r>
            <a:endParaRPr lang="en-US" sz="1050" dirty="0"/>
          </a:p>
        </p:txBody>
      </p:sp>
      <p:sp>
        <p:nvSpPr>
          <p:cNvPr id="51" name="Rule 4"/>
          <p:cNvSpPr/>
          <p:nvPr/>
        </p:nvSpPr>
        <p:spPr>
          <a:xfrm>
            <a:off x="8553298" y="5074920"/>
            <a:ext cx="1977847" cy="384048"/>
          </a:xfrm>
          <a:prstGeom prst="roundRect">
            <a:avLst>
              <a:gd name="adj" fmla="val 50000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2" name="Text 42"/>
          <p:cNvSpPr txBox="1"/>
          <p:nvPr/>
        </p:nvSpPr>
        <p:spPr>
          <a:xfrm>
            <a:off x="8553298" y="5074920"/>
            <a:ext cx="197784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approve labels</a:t>
            </a:r>
            <a:endParaRPr lang="en-US" sz="1050" dirty="0"/>
          </a:p>
        </p:txBody>
      </p:sp>
      <p:sp>
        <p:nvSpPr>
          <p:cNvPr id="53" name="Text 43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§5, §6, §16.7. OpenAI GPT-Live-1, Decisions API (GPT-6 Luna) and GPT-5.6 Terra: developers.openai.com, checked 31 Oct 2026.</a:t>
            </a:r>
            <a:endParaRPr lang="en-US" sz="800" dirty="0"/>
          </a:p>
        </p:txBody>
      </p:sp>
      <p:sp>
        <p:nvSpPr>
          <p:cNvPr id="54" name="Text 44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841248"/>
            <a:ext cx="3703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screens, one agent.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on stage.</a:t>
            </a:r>
            <a:endParaRPr lang="en-US" sz="3000" dirty="0"/>
          </a:p>
        </p:txBody>
      </p:sp>
      <p:sp>
        <p:nvSpPr>
          <p:cNvPr id="5" name="Screen frame"/>
          <p:cNvSpPr/>
          <p:nvPr/>
        </p:nvSpPr>
        <p:spPr>
          <a:xfrm>
            <a:off x="548640" y="502920"/>
            <a:ext cx="7086600" cy="5486400"/>
          </a:xfrm>
          <a:prstGeom prst="roundRect">
            <a:avLst>
              <a:gd name="adj" fmla="val 3333"/>
            </a:avLst>
          </a:prstGeom>
          <a:solidFill>
            <a:srgbClr val="F7F7F8"/>
          </a:solidFill>
          <a:ln w="9525">
            <a:solidFill>
              <a:srgbClr val="E6E8EC"/>
            </a:solidFill>
            <a:prstDash val="solid"/>
          </a:ln>
        </p:spPr>
      </p:sp>
      <p:pic>
        <p:nvPicPr>
          <p:cNvPr id="6" name="Demo screenshot" descr="Demo stage: courier app, buyer chat and operations pan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6720840" cy="4206240"/>
          </a:xfrm>
          <a:prstGeom prst="rect">
            <a:avLst/>
          </a:prstGeom>
        </p:spPr>
      </p:pic>
      <p:pic>
        <p:nvPicPr>
          <p:cNvPr id="7" name="Dashboard screenshot" descr="Hub dashbo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3886200"/>
            <a:ext cx="3017520" cy="1883664"/>
          </a:xfrm>
          <a:prstGeom prst="rect">
            <a:avLst/>
          </a:prstGeom>
          <a:effectLst>
            <a:outerShdw sx="100000" sy="100000" kx="0" ky="0" algn="bl" rotWithShape="0" blurRad="152400" dist="38100" dir="5400000">
              <a:srgbClr val="121A2C">
                <a:alpha val="20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731520" y="5074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 · Buyer · Ops · Dashboard, in sync on a fast-forward clock</a:t>
            </a:r>
            <a:endParaRPr lang="en-US" sz="1050" dirty="0"/>
          </a:p>
        </p:txBody>
      </p:sp>
      <p:sp>
        <p:nvSpPr>
          <p:cNvPr id="9" name="Icon tile"/>
          <p:cNvSpPr/>
          <p:nvPr/>
        </p:nvSpPr>
        <p:spPr>
          <a:xfrm>
            <a:off x="7955280" y="25146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0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9288" y="2578608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412480" y="249631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tap, no typing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412480" y="2788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courier picks the outcome; nothing to write.</a:t>
            </a:r>
            <a:endParaRPr lang="en-US" sz="1050" dirty="0"/>
          </a:p>
        </p:txBody>
      </p:sp>
      <p:sp>
        <p:nvSpPr>
          <p:cNvPr id="13" name="Icon tile"/>
          <p:cNvSpPr/>
          <p:nvPr/>
        </p:nvSpPr>
        <p:spPr>
          <a:xfrm>
            <a:off x="7955280" y="338328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4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288" y="3447288"/>
            <a:ext cx="201168" cy="2011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12480" y="33649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first, call if silent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8412480" y="36576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GPT-Live-1 calls only inside 08:00–20:30.</a:t>
            </a:r>
            <a:endParaRPr lang="en-US" sz="1050" dirty="0"/>
          </a:p>
        </p:txBody>
      </p:sp>
      <p:sp>
        <p:nvSpPr>
          <p:cNvPr id="17" name="Icon tile"/>
          <p:cNvSpPr/>
          <p:nvPr/>
        </p:nvSpPr>
        <p:spPr>
          <a:xfrm>
            <a:off x="7955280" y="425196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8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9288" y="4315968"/>
            <a:ext cx="201168" cy="201168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8412480" y="42336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card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8412480" y="4526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When, where, who; ≥ 0.85 applies itself.</a:t>
            </a:r>
            <a:endParaRPr lang="en-US" sz="1050" dirty="0"/>
          </a:p>
        </p:txBody>
      </p:sp>
      <p:sp>
        <p:nvSpPr>
          <p:cNvPr id="21" name="Icon tile"/>
          <p:cNvSpPr/>
          <p:nvPr/>
        </p:nvSpPr>
        <p:spPr>
          <a:xfrm>
            <a:off x="7955280" y="512064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2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9288" y="5184648"/>
            <a:ext cx="201168" cy="201168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412480" y="510235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dashboard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8412480" y="539496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simulated 4,000-order day: pipeline, routes, CS.</a:t>
            </a:r>
            <a:endParaRPr lang="en-US" sz="1050" dirty="0"/>
          </a:p>
        </p:txBody>
      </p:sp>
      <p:sp>
        <p:nvSpPr>
          <p:cNvPr id="25" name="Text 17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OUTCOMES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stage.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for one area.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019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STAGE · PRD §2.3, §23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593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 · PROJECTED · PRD §18.8</a:t>
            </a:r>
            <a:endParaRPr lang="en-US" sz="800" dirty="0"/>
          </a:p>
        </p:txBody>
      </p:sp>
      <p:sp>
        <p:nvSpPr>
          <p:cNvPr id="7" name="Outcome 00"/>
          <p:cNvSpPr/>
          <p:nvPr/>
        </p:nvSpPr>
        <p:spPr>
          <a:xfrm>
            <a:off x="548640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TIME-TO-CONTEXT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10</a:t>
            </a:r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3101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buyer’s answer → courier’s card, median</a:t>
            </a:r>
            <a:endParaRPr lang="en-US" sz="1000" dirty="0"/>
          </a:p>
        </p:txBody>
      </p:sp>
      <p:sp>
        <p:nvSpPr>
          <p:cNvPr id="11" name="Outcome 01"/>
          <p:cNvSpPr/>
          <p:nvPr/>
        </p:nvSpPr>
        <p:spPr>
          <a:xfrm>
            <a:off x="3355848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57016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F1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3557016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0.90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3557016" y="33101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field, held-out chat, call and memo</a:t>
            </a:r>
            <a:endParaRPr lang="en-US" sz="1000" dirty="0"/>
          </a:p>
        </p:txBody>
      </p:sp>
      <p:sp>
        <p:nvSpPr>
          <p:cNvPr id="15" name="Outcome 02"/>
          <p:cNvSpPr/>
          <p:nvPr/>
        </p:nvSpPr>
        <p:spPr>
          <a:xfrm>
            <a:off x="6163056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64224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AUTO-APPLIES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6364224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2</a:t>
            </a:r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364224" y="33101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cases the agent closes alone</a:t>
            </a:r>
            <a:endParaRPr lang="en-US" sz="1000" dirty="0"/>
          </a:p>
        </p:txBody>
      </p:sp>
      <p:sp>
        <p:nvSpPr>
          <p:cNvPr id="19" name="Outcome 03"/>
          <p:cNvSpPr/>
          <p:nvPr/>
        </p:nvSpPr>
        <p:spPr>
          <a:xfrm>
            <a:off x="8970264" y="21488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71432" y="23317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PERSON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9171432" y="25877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9171432" y="33101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labels, returns or calls out of hours</a:t>
            </a:r>
            <a:endParaRPr lang="en-US" sz="1000" dirty="0"/>
          </a:p>
        </p:txBody>
      </p:sp>
      <p:sp>
        <p:nvSpPr>
          <p:cNvPr id="23" name="Outcome 10"/>
          <p:cNvSpPr/>
          <p:nvPr/>
        </p:nvSpPr>
        <p:spPr>
          <a:xfrm>
            <a:off x="548640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9808" y="43891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CALLS A DAY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416</a:t>
            </a:r>
            <a:endParaRPr lang="en-US" sz="34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3675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handled by the agent, ≈ 28 staff-hours</a:t>
            </a:r>
            <a:endParaRPr lang="en-US" sz="1000" dirty="0"/>
          </a:p>
        </p:txBody>
      </p:sp>
      <p:sp>
        <p:nvSpPr>
          <p:cNvPr id="27" name="Outcome 11"/>
          <p:cNvSpPr/>
          <p:nvPr/>
        </p:nvSpPr>
        <p:spPr>
          <a:xfrm>
            <a:off x="3355848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557016" y="43891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WASTED TRIPS A DAY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557016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3400" dirty="0"/>
          </a:p>
        </p:txBody>
      </p:sp>
      <p:sp>
        <p:nvSpPr>
          <p:cNvPr id="30" name="Text 28"/>
          <p:cNvSpPr txBox="1"/>
          <p:nvPr/>
        </p:nvSpPr>
        <p:spPr>
          <a:xfrm>
            <a:off x="3557016" y="53675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 failed × 0.3 fewer attempts</a:t>
            </a:r>
            <a:endParaRPr lang="en-US" sz="1000" dirty="0"/>
          </a:p>
        </p:txBody>
      </p:sp>
      <p:sp>
        <p:nvSpPr>
          <p:cNvPr id="31" name="Outcome 12"/>
          <p:cNvSpPr/>
          <p:nvPr/>
        </p:nvSpPr>
        <p:spPr>
          <a:xfrm>
            <a:off x="6163056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364224" y="43891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COURIER A DAY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364224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3400" dirty="0"/>
          </a:p>
        </p:txBody>
      </p:sp>
      <p:sp>
        <p:nvSpPr>
          <p:cNvPr id="34" name="Text 32"/>
          <p:cNvSpPr txBox="1"/>
          <p:nvPr/>
        </p:nvSpPr>
        <p:spPr>
          <a:xfrm>
            <a:off x="6364224" y="53675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on the road</a:t>
            </a:r>
            <a:endParaRPr lang="en-US" sz="1000" dirty="0"/>
          </a:p>
        </p:txBody>
      </p:sp>
      <p:sp>
        <p:nvSpPr>
          <p:cNvPr id="35" name="Outcome 13"/>
          <p:cNvSpPr/>
          <p:nvPr/>
        </p:nvSpPr>
        <p:spPr>
          <a:xfrm>
            <a:off x="8970264" y="4206240"/>
            <a:ext cx="2670048" cy="1691640"/>
          </a:xfrm>
          <a:prstGeom prst="roundRect">
            <a:avLst>
              <a:gd name="adj" fmla="val 7568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71432" y="438912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SAVING A MONTH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9171432" y="464515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₫</a:t>
            </a:r>
            <a:pPr indent="0" marL="0">
              <a:buNone/>
            </a:pPr>
            <a:r>
              <a:rPr lang="en-US" sz="3400" b="1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186M</a:t>
            </a:r>
            <a:endParaRPr lang="en-US" sz="3400" dirty="0"/>
          </a:p>
        </p:txBody>
      </p:sp>
      <p:sp>
        <p:nvSpPr>
          <p:cNvPr id="38" name="Text 36"/>
          <p:cNvSpPr txBox="1"/>
          <p:nvPr/>
        </p:nvSpPr>
        <p:spPr>
          <a:xfrm>
            <a:off x="9171432" y="536752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39% of the ₫473M loss, after ₫29M running cost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§2.3, §23 targets; team cost model PRD §18.8 with OpenAI list prices; best-in-class rescue 25% → 65% (Shipsy, vendor); base case ₫91M a month. Every formula: alodi-numbers.pdf.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ECOSYSTEM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OpenAI,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first line to the last call.</a:t>
            </a:r>
            <a:endParaRPr lang="en-US" sz="3000" dirty="0"/>
          </a:p>
        </p:txBody>
      </p:sp>
      <p:sp>
        <p:nvSpPr>
          <p:cNvPr id="5" name="OpenAI 1"/>
          <p:cNvSpPr/>
          <p:nvPr/>
        </p:nvSpPr>
        <p:spPr>
          <a:xfrm>
            <a:off x="54864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pic>
        <p:nvPicPr>
          <p:cNvPr id="6" name="OpenAI logo 0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26771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TALKS TO THE BUYER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GPT-Live-1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4612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Full-duplex voice: listens while it speaks, hands reasoning to the agent.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04672" y="411480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v1/live/sessions · $0.05 a minute</a:t>
            </a:r>
            <a:endParaRPr lang="en-US" sz="900" dirty="0"/>
          </a:p>
        </p:txBody>
      </p:sp>
      <p:sp>
        <p:nvSpPr>
          <p:cNvPr id="11" name="OpenAI 2"/>
          <p:cNvSpPr/>
          <p:nvPr/>
        </p:nvSpPr>
        <p:spPr>
          <a:xfrm>
            <a:off x="429768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pic>
        <p:nvPicPr>
          <p:cNvPr id="12" name="OpenAI logo 1" descr="/private/tmp/claude-503/-Users-davark-Downloads-Everything-Github-Alodi-Regional-Codex-Hackathon-2026/91e569a8-486f-4c0b-b683-a4991468f039/scratchpad/deck/assets/openai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712" y="2267712"/>
            <a:ext cx="329184" cy="32918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02920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SORTS EVERY SIGNAL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455371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API · GPT-6 Luna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553712" y="324612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case, which window, how sure: answers with probabilities for the 0.85 rule.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53712" y="411480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/v1/decisions · $0.10 per 1M input</a:t>
            </a:r>
            <a:endParaRPr lang="en-US" sz="900" dirty="0"/>
          </a:p>
        </p:txBody>
      </p:sp>
      <p:sp>
        <p:nvSpPr>
          <p:cNvPr id="17" name="OpenAI 3"/>
          <p:cNvSpPr/>
          <p:nvPr/>
        </p:nvSpPr>
        <p:spPr>
          <a:xfrm>
            <a:off x="8046720" y="2011680"/>
            <a:ext cx="3593592" cy="2606040"/>
          </a:xfrm>
          <a:prstGeom prst="roundRect">
            <a:avLst>
              <a:gd name="adj" fmla="val 4912"/>
            </a:avLst>
          </a:prstGeom>
          <a:solidFill>
            <a:srgbClr val="121A2C"/>
          </a:solidFill>
          <a:ln/>
        </p:spPr>
      </p:sp>
      <p:pic>
        <p:nvPicPr>
          <p:cNvPr id="18" name="OpenAI logo 2" descr="/private/tmp/claude-503/-Users-davark-Downloads-Everything-Github-Alodi-Regional-Codex-Hackathon-2026/91e569a8-486f-4c0b-b683-a4991468f039/scratchpad/deck/assets/openai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2752" y="2267712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778240" y="234086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9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ORCHESTRATES THE CASE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8302752" y="2788920"/>
            <a:ext cx="3227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GPT-5.6 Terra</a:t>
            </a:r>
            <a:endParaRPr lang="en-US" sz="1700" dirty="0"/>
          </a:p>
        </p:txBody>
      </p:sp>
      <p:sp>
        <p:nvSpPr>
          <p:cNvPr id="21" name="Text 16"/>
          <p:cNvSpPr txBox="1"/>
          <p:nvPr/>
        </p:nvSpPr>
        <p:spPr>
          <a:xfrm>
            <a:off x="8302752" y="3246120"/>
            <a:ext cx="3090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the agent across buyer, courier and policy; writes the card with Structured Outputs.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411480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Responses API · Agents SDK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548640" y="489204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IN THE STACK</a:t>
            </a:r>
            <a:endParaRPr lang="en-US" sz="800" dirty="0"/>
          </a:p>
        </p:txBody>
      </p:sp>
      <p:sp>
        <p:nvSpPr>
          <p:cNvPr id="24" name="Also rule 0"/>
          <p:cNvSpPr/>
          <p:nvPr/>
        </p:nvSpPr>
        <p:spPr>
          <a:xfrm>
            <a:off x="548640" y="5166360"/>
            <a:ext cx="2670048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pic>
        <p:nvPicPr>
          <p:cNvPr id="25" name="Also logo 0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330952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41248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SDK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841248" y="5559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· handoff · traces</a:t>
            </a:r>
            <a:endParaRPr lang="en-US" sz="1000" dirty="0"/>
          </a:p>
        </p:txBody>
      </p:sp>
      <p:sp>
        <p:nvSpPr>
          <p:cNvPr id="28" name="Also rule 1"/>
          <p:cNvSpPr/>
          <p:nvPr/>
        </p:nvSpPr>
        <p:spPr>
          <a:xfrm>
            <a:off x="3355848" y="5166360"/>
            <a:ext cx="2670048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pic>
        <p:nvPicPr>
          <p:cNvPr id="29" name="Also logo 1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5848" y="5330952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648456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Evals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3648456" y="5559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change</a:t>
            </a:r>
            <a:endParaRPr lang="en-US" sz="1000" dirty="0"/>
          </a:p>
        </p:txBody>
      </p:sp>
      <p:sp>
        <p:nvSpPr>
          <p:cNvPr id="32" name="Also rule 2"/>
          <p:cNvSpPr/>
          <p:nvPr/>
        </p:nvSpPr>
        <p:spPr>
          <a:xfrm>
            <a:off x="6163056" y="5166360"/>
            <a:ext cx="2670048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pic>
        <p:nvPicPr>
          <p:cNvPr id="33" name="Also logo 2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5330952"/>
            <a:ext cx="201168" cy="20116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455664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gpt-oss-20b</a:t>
            </a:r>
            <a:endParaRPr lang="en-US" sz="1200" dirty="0"/>
          </a:p>
        </p:txBody>
      </p:sp>
      <p:sp>
        <p:nvSpPr>
          <p:cNvPr id="35" name="Text 27"/>
          <p:cNvSpPr txBox="1"/>
          <p:nvPr/>
        </p:nvSpPr>
        <p:spPr>
          <a:xfrm>
            <a:off x="6455664" y="5559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fallback</a:t>
            </a:r>
            <a:endParaRPr lang="en-US" sz="1000" dirty="0"/>
          </a:p>
        </p:txBody>
      </p:sp>
      <p:sp>
        <p:nvSpPr>
          <p:cNvPr id="36" name="Also rule 3"/>
          <p:cNvSpPr/>
          <p:nvPr/>
        </p:nvSpPr>
        <p:spPr>
          <a:xfrm>
            <a:off x="8970264" y="5166360"/>
            <a:ext cx="2670048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pic>
        <p:nvPicPr>
          <p:cNvPr id="37" name="Also logo 3" descr="/private/tmp/claude-503/-Users-davark-Downloads-Everything-Github-Alodi-Regional-Codex-Hackathon-2026/91e569a8-486f-4c0b-b683-a4991468f039/scratchpad/deck/assets/openai-gree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70264" y="5330952"/>
            <a:ext cx="201168" cy="201168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9262872" y="5294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</a:t>
            </a:r>
            <a:endParaRPr lang="en-US" sz="1200" dirty="0"/>
          </a:p>
        </p:txBody>
      </p:sp>
      <p:sp>
        <p:nvSpPr>
          <p:cNvPr id="39" name="Text 30"/>
          <p:cNvSpPr txBox="1"/>
          <p:nvPr/>
        </p:nvSpPr>
        <p:spPr>
          <a:xfrm>
            <a:off x="9262872" y="5559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build → review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model pages: GPT-Live-1, GPT-5.6 Terra (developers.openai.com); Decisions API (openai.com/index/decisions-api); checked 31 Oct 2026. Production design; PRD §16.7.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 rule"/>
          <p:cNvSpPr/>
          <p:nvPr/>
        </p:nvSpPr>
        <p:spPr>
          <a:xfrm>
            <a:off x="548640" y="612648"/>
            <a:ext cx="292608" cy="0"/>
          </a:xfrm>
          <a:prstGeom prst="line">
            <a:avLst/>
          </a:prstGeom>
          <a:noFill/>
          <a:ln w="15875">
            <a:solidFill>
              <a:srgbClr val="F05A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60120" y="5029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950" b="1" spc="200" kern="0" dirty="0">
                <a:solidFill>
                  <a:srgbClr val="1F2A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41248"/>
            <a:ext cx="5943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C3C7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stage demo </a:t>
            </a:r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national rollout.</a:t>
            </a:r>
            <a:endParaRPr lang="en-US" sz="3000" dirty="0"/>
          </a:p>
        </p:txBody>
      </p:sp>
      <p:pic>
        <p:nvPicPr>
          <p:cNvPr id="5" name="Roadmap photo" descr="A developer at a 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02920"/>
            <a:ext cx="4206240" cy="1691640"/>
          </a:xfrm>
          <a:prstGeom prst="rect">
            <a:avLst/>
          </a:prstGeom>
        </p:spPr>
      </p:pic>
      <p:sp>
        <p:nvSpPr>
          <p:cNvPr id="6" name="Timeline"/>
          <p:cNvSpPr/>
          <p:nvPr/>
        </p:nvSpPr>
        <p:spPr>
          <a:xfrm>
            <a:off x="640080" y="2697480"/>
            <a:ext cx="10972800" cy="0"/>
          </a:xfrm>
          <a:prstGeom prst="line">
            <a:avLst/>
          </a:prstGeom>
          <a:noFill/>
          <a:ln w="12700">
            <a:solidFill>
              <a:srgbClr val="E6E8EC"/>
            </a:solidFill>
            <a:prstDash val="solid"/>
          </a:ln>
        </p:spPr>
      </p:sp>
      <p:sp>
        <p:nvSpPr>
          <p:cNvPr id="7" name="Dot 0"/>
          <p:cNvSpPr/>
          <p:nvPr/>
        </p:nvSpPr>
        <p:spPr>
          <a:xfrm>
            <a:off x="594360" y="2615184"/>
            <a:ext cx="164592" cy="164592"/>
          </a:xfrm>
          <a:prstGeom prst="ellipse">
            <a:avLst/>
          </a:prstGeom>
          <a:solidFill>
            <a:srgbClr val="F05A00"/>
          </a:solidFill>
          <a:ln w="12700">
            <a:solidFill>
              <a:srgbClr val="F05A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F05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850" dirty="0"/>
          </a:p>
        </p:txBody>
      </p:sp>
      <p:sp>
        <p:nvSpPr>
          <p:cNvPr id="9" name="Phase 0"/>
          <p:cNvSpPr/>
          <p:nvPr/>
        </p:nvSpPr>
        <p:spPr>
          <a:xfrm>
            <a:off x="548640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4EC"/>
          </a:solidFill>
          <a:ln w="9525">
            <a:solidFill>
              <a:srgbClr val="FFD7BF"/>
            </a:solidFill>
            <a:prstDash val="solid"/>
          </a:ln>
        </p:spPr>
      </p:sp>
      <p:sp>
        <p:nvSpPr>
          <p:cNvPr id="10" name="Icon tile"/>
          <p:cNvSpPr/>
          <p:nvPr/>
        </p:nvSpPr>
        <p:spPr>
          <a:xfrm>
            <a:off x="731520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/>
        </p:spPr>
      </p:sp>
      <p:pic>
        <p:nvPicPr>
          <p:cNvPr id="11" name="Icon" descr="/private/tmp/claude-503/-Users-davark-Downloads-Everything-Github-Alodi-Regional-Codex-Hackathon-2026/91e569a8-486f-4c0b-b683-a4991468f039/scratchpad/deck/assets/mark-dot-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3264408"/>
            <a:ext cx="201168" cy="20116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1520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demo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31520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screens on mock data; AC-01 to AC-15 pass in rehearsal</a:t>
            </a:r>
            <a:endParaRPr lang="en-US" sz="1050" dirty="0"/>
          </a:p>
        </p:txBody>
      </p:sp>
      <p:sp>
        <p:nvSpPr>
          <p:cNvPr id="14" name="Dot 1"/>
          <p:cNvSpPr/>
          <p:nvPr/>
        </p:nvSpPr>
        <p:spPr>
          <a:xfrm>
            <a:off x="2459736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7D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06624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850" dirty="0"/>
          </a:p>
        </p:txBody>
      </p:sp>
      <p:sp>
        <p:nvSpPr>
          <p:cNvPr id="16" name="Phase 1"/>
          <p:cNvSpPr/>
          <p:nvPr/>
        </p:nvSpPr>
        <p:spPr>
          <a:xfrm>
            <a:off x="2414016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7" name="Icon tile"/>
          <p:cNvSpPr/>
          <p:nvPr/>
        </p:nvSpPr>
        <p:spPr>
          <a:xfrm>
            <a:off x="2596896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18" name="Icon" descr="/private/tmp/claude-503/-Users-davark-Downloads-Everything-Github-Alodi-Regional-Codex-Hackathon-2026/91e569a8-486f-4c0b-b683-a4991468f039/scratchpad/deck/assets/mark-square-nav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3264408"/>
            <a:ext cx="201168" cy="201168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596896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build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596896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engine, real call audio, ≥ 200 eval samples</a:t>
            </a:r>
            <a:endParaRPr lang="en-US" sz="1050" dirty="0"/>
          </a:p>
        </p:txBody>
      </p:sp>
      <p:sp>
        <p:nvSpPr>
          <p:cNvPr id="21" name="Dot 2"/>
          <p:cNvSpPr/>
          <p:nvPr/>
        </p:nvSpPr>
        <p:spPr>
          <a:xfrm>
            <a:off x="4325112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7D0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572000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850" dirty="0"/>
          </a:p>
        </p:txBody>
      </p:sp>
      <p:sp>
        <p:nvSpPr>
          <p:cNvPr id="23" name="Phase 2"/>
          <p:cNvSpPr/>
          <p:nvPr/>
        </p:nvSpPr>
        <p:spPr>
          <a:xfrm>
            <a:off x="4279392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4" name="Icon tile"/>
          <p:cNvSpPr/>
          <p:nvPr/>
        </p:nvSpPr>
        <p:spPr>
          <a:xfrm>
            <a:off x="4462272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25" name="Icon" descr="/private/tmp/claude-503/-Users-davark-Downloads-Everything-Github-Alodi-Regional-Codex-Hackathon-2026/91e569a8-486f-4c0b-b683-a4991468f039/scratchpad/deck/assets/mark-bars-nav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3264408"/>
            <a:ext cx="201168" cy="20116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462272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 mode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462272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area, real events, no buyer contact</a:t>
            </a:r>
            <a:endParaRPr lang="en-US" sz="1050" dirty="0"/>
          </a:p>
        </p:txBody>
      </p:sp>
      <p:sp>
        <p:nvSpPr>
          <p:cNvPr id="28" name="Dot 3"/>
          <p:cNvSpPr/>
          <p:nvPr/>
        </p:nvSpPr>
        <p:spPr>
          <a:xfrm>
            <a:off x="6190488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7D0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6437376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2027</a:t>
            </a:r>
            <a:endParaRPr lang="en-US" sz="850" dirty="0"/>
          </a:p>
        </p:txBody>
      </p:sp>
      <p:sp>
        <p:nvSpPr>
          <p:cNvPr id="30" name="Phase 3"/>
          <p:cNvSpPr/>
          <p:nvPr/>
        </p:nvSpPr>
        <p:spPr>
          <a:xfrm>
            <a:off x="6144768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1" name="Icon tile"/>
          <p:cNvSpPr/>
          <p:nvPr/>
        </p:nvSpPr>
        <p:spPr>
          <a:xfrm>
            <a:off x="6327648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2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3264408"/>
            <a:ext cx="201168" cy="201168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6327648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channels</a:t>
            </a:r>
            <a:endParaRPr lang="en-US" sz="1400" dirty="0"/>
          </a:p>
        </p:txBody>
      </p:sp>
      <p:sp>
        <p:nvSpPr>
          <p:cNvPr id="34" name="Text 27"/>
          <p:cNvSpPr txBox="1"/>
          <p:nvPr/>
        </p:nvSpPr>
        <p:spPr>
          <a:xfrm>
            <a:off x="6327648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and GPT-Live-1 calls for risky orders</a:t>
            </a:r>
            <a:endParaRPr lang="en-US" sz="1050" dirty="0"/>
          </a:p>
        </p:txBody>
      </p:sp>
      <p:sp>
        <p:nvSpPr>
          <p:cNvPr id="35" name="Dot 4"/>
          <p:cNvSpPr/>
          <p:nvPr/>
        </p:nvSpPr>
        <p:spPr>
          <a:xfrm>
            <a:off x="8055864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7D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8302752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2027</a:t>
            </a:r>
            <a:endParaRPr lang="en-US" sz="850" dirty="0"/>
          </a:p>
        </p:txBody>
      </p:sp>
      <p:sp>
        <p:nvSpPr>
          <p:cNvPr id="37" name="Phase 4"/>
          <p:cNvSpPr/>
          <p:nvPr/>
        </p:nvSpPr>
        <p:spPr>
          <a:xfrm>
            <a:off x="8010144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8" name="Icon tile"/>
          <p:cNvSpPr/>
          <p:nvPr/>
        </p:nvSpPr>
        <p:spPr>
          <a:xfrm>
            <a:off x="8193024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39" name="Icon" descr="/private/tmp/claude-503/-Users-davark-Downloads-Everything-Github-Alodi-Regional-Codex-Hackathon-2026/91e569a8-486f-4c0b-b683-a4991468f039/scratchpad/deck/assets/mark-dot-nav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3264408"/>
            <a:ext cx="201168" cy="201168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8193024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</a:t>
            </a:r>
            <a:endParaRPr lang="en-US" sz="1400" dirty="0"/>
          </a:p>
        </p:txBody>
      </p:sp>
      <p:sp>
        <p:nvSpPr>
          <p:cNvPr id="41" name="Text 33"/>
          <p:cNvSpPr txBox="1"/>
          <p:nvPr/>
        </p:nvSpPr>
        <p:spPr>
          <a:xfrm>
            <a:off x="8193024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5–20 hubs, cost per case on target</a:t>
            </a:r>
            <a:endParaRPr lang="en-US" sz="1050" dirty="0"/>
          </a:p>
        </p:txBody>
      </p:sp>
      <p:sp>
        <p:nvSpPr>
          <p:cNvPr id="42" name="Dot 5"/>
          <p:cNvSpPr/>
          <p:nvPr/>
        </p:nvSpPr>
        <p:spPr>
          <a:xfrm>
            <a:off x="9921240" y="261518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7D0"/>
            </a:solidFill>
            <a:prstDash val="solid"/>
          </a:ln>
        </p:spPr>
      </p:sp>
      <p:sp>
        <p:nvSpPr>
          <p:cNvPr id="43" name="Text 35"/>
          <p:cNvSpPr txBox="1"/>
          <p:nvPr/>
        </p:nvSpPr>
        <p:spPr>
          <a:xfrm>
            <a:off x="10168128" y="259689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850" dirty="0"/>
          </a:p>
        </p:txBody>
      </p:sp>
      <p:sp>
        <p:nvSpPr>
          <p:cNvPr id="44" name="Phase 5"/>
          <p:cNvSpPr/>
          <p:nvPr/>
        </p:nvSpPr>
        <p:spPr>
          <a:xfrm>
            <a:off x="9875520" y="3017520"/>
            <a:ext cx="1755648" cy="2377440"/>
          </a:xfrm>
          <a:prstGeom prst="roundRect">
            <a:avLst>
              <a:gd name="adj" fmla="val 7292"/>
            </a:avLst>
          </a:prstGeom>
          <a:solidFill>
            <a:srgbClr val="FFFFFF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5" name="Icon tile"/>
          <p:cNvSpPr/>
          <p:nvPr/>
        </p:nvSpPr>
        <p:spPr>
          <a:xfrm>
            <a:off x="10058400" y="3200400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F1F2F5"/>
          </a:solidFill>
          <a:ln/>
        </p:spPr>
      </p:sp>
      <p:pic>
        <p:nvPicPr>
          <p:cNvPr id="46" name="Icon" descr="/private/tmp/claude-503/-Users-davark-Downloads-Everything-Github-Alodi-Regional-Codex-Hackathon-2026/91e569a8-486f-4c0b-b683-a4991468f039/scratchpad/deck/assets/mark-check-nav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22408" y="3264408"/>
            <a:ext cx="201168" cy="201168"/>
          </a:xfrm>
          <a:prstGeom prst="rect">
            <a:avLst/>
          </a:prstGeom>
        </p:spPr>
      </p:pic>
      <p:sp>
        <p:nvSpPr>
          <p:cNvPr id="47" name="Text 38"/>
          <p:cNvSpPr txBox="1"/>
          <p:nvPr/>
        </p:nvSpPr>
        <p:spPr>
          <a:xfrm>
            <a:off x="10058400" y="367588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</a:t>
            </a:r>
            <a:endParaRPr lang="en-US" sz="1400" dirty="0"/>
          </a:p>
        </p:txBody>
      </p:sp>
      <p:sp>
        <p:nvSpPr>
          <p:cNvPr id="48" name="Text 39"/>
          <p:cNvSpPr txBox="1"/>
          <p:nvPr/>
        </p:nvSpPr>
        <p:spPr>
          <a:xfrm>
            <a:off x="10058400" y="4206240"/>
            <a:ext cx="14447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D44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20–100 hubs, break-even</a:t>
            </a:r>
            <a:endParaRPr lang="en-US" sz="1050" dirty="0"/>
          </a:p>
        </p:txBody>
      </p:sp>
      <p:sp>
        <p:nvSpPr>
          <p:cNvPr id="49" name="Text 40"/>
          <p:cNvSpPr txBox="1"/>
          <p:nvPr/>
        </p:nvSpPr>
        <p:spPr>
          <a:xfrm>
            <a:off x="548640" y="608990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1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PRD §28 release plan. Photo: Tirza van Dijk, CC0.</a:t>
            </a:r>
            <a:endParaRPr lang="en-US" sz="800" dirty="0"/>
          </a:p>
        </p:txBody>
      </p:sp>
      <p:sp>
        <p:nvSpPr>
          <p:cNvPr id="50" name="Text 41"/>
          <p:cNvSpPr txBox="1"/>
          <p:nvPr/>
        </p:nvSpPr>
        <p:spPr>
          <a:xfrm>
            <a:off x="10728655" y="6400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e photo" descr="Ho Chi Minh City stre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Wash" descr="/private/tmp/claude-503/-Users-davark-Downloads-Everything-Github-Alodi-Regional-Codex-Hackathon-2026/91e569a8-486f-4c0b-b683-a4991468f039/scratchpad/deck/assets/wash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Logo" descr="/private/tmp/claude-503/-Users-davark-Downloads-Everything-Github-Alodi-Regional-Codex-Hackathon-2026/91e569a8-486f-4c0b-b683-a4991468f039/scratchpad/deck/assets/logo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914400" cy="39319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548640" y="141732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56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second</a:t>
            </a:r>
            <a:endParaRPr lang="en-US" sz="5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600" i="1" dirty="0">
                <a:solidFill>
                  <a:srgbClr val="FF9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drop land.</a:t>
            </a:r>
            <a:endParaRPr lang="en-US" sz="56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32461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F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Couriers stop repeating failed attempts. Buyers get asked, not chased. Every high-stakes decision stays with a person.</a:t>
            </a:r>
            <a:endParaRPr lang="en-US" sz="1400" dirty="0"/>
          </a:p>
        </p:txBody>
      </p:sp>
      <p:pic>
        <p:nvPicPr>
          <p:cNvPr id="7" name="Team 1" descr="Nomura Yoshi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43400"/>
            <a:ext cx="1005840" cy="1005840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5486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Nomura Yoshio</a:t>
            </a:r>
            <a:endParaRPr lang="en-US" sz="1100" dirty="0"/>
          </a:p>
        </p:txBody>
      </p:sp>
      <p:sp>
        <p:nvSpPr>
          <p:cNvPr id="9" name="Text 3"/>
          <p:cNvSpPr txBox="1"/>
          <p:nvPr/>
        </p:nvSpPr>
        <p:spPr>
          <a:xfrm>
            <a:off x="548640" y="56875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Lead · Presenter</a:t>
            </a:r>
            <a:endParaRPr lang="en-US" sz="900" dirty="0"/>
          </a:p>
        </p:txBody>
      </p:sp>
      <p:pic>
        <p:nvPicPr>
          <p:cNvPr id="10" name="Team 2" descr="Long Quan 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840" y="4343400"/>
            <a:ext cx="1005840" cy="100584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21488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Quan Ton</a:t>
            </a:r>
            <a:endParaRPr lang="en-US" sz="1100" dirty="0"/>
          </a:p>
        </p:txBody>
      </p:sp>
      <p:sp>
        <p:nvSpPr>
          <p:cNvPr id="12" name="Text 5"/>
          <p:cNvSpPr txBox="1"/>
          <p:nvPr/>
        </p:nvSpPr>
        <p:spPr>
          <a:xfrm>
            <a:off x="2148840" y="56875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 · Architect</a:t>
            </a:r>
            <a:endParaRPr lang="en-US" sz="900" dirty="0"/>
          </a:p>
        </p:txBody>
      </p:sp>
      <p:pic>
        <p:nvPicPr>
          <p:cNvPr id="13" name="Team 3" descr="Khanh Tuong Huyn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0" y="4343400"/>
            <a:ext cx="1005840" cy="1005840"/>
          </a:xfrm>
          <a:prstGeom prst="rect">
            <a:avLst/>
          </a:prstGeom>
        </p:spPr>
      </p:pic>
      <p:sp>
        <p:nvSpPr>
          <p:cNvPr id="14" name="Text 6"/>
          <p:cNvSpPr txBox="1"/>
          <p:nvPr/>
        </p:nvSpPr>
        <p:spPr>
          <a:xfrm>
            <a:off x="37490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Khanh Tuong Huynh</a:t>
            </a:r>
            <a:endParaRPr lang="en-US" sz="1100" dirty="0"/>
          </a:p>
        </p:txBody>
      </p:sp>
      <p:sp>
        <p:nvSpPr>
          <p:cNvPr id="15" name="Text 7"/>
          <p:cNvSpPr txBox="1"/>
          <p:nvPr/>
        </p:nvSpPr>
        <p:spPr>
          <a:xfrm>
            <a:off x="3749040" y="56875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Engineer · Deployment</a:t>
            </a:r>
            <a:endParaRPr lang="en-US" sz="900" dirty="0"/>
          </a:p>
        </p:txBody>
      </p:sp>
      <p:pic>
        <p:nvPicPr>
          <p:cNvPr id="16" name="Team 4" descr="Thanh Loi Tr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9240" y="4343400"/>
            <a:ext cx="1005840" cy="100584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5349240" y="544068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Thanh Loi Tran</a:t>
            </a:r>
            <a:endParaRPr lang="en-US" sz="1100" dirty="0"/>
          </a:p>
        </p:txBody>
      </p:sp>
      <p:sp>
        <p:nvSpPr>
          <p:cNvPr id="18" name="Text 9"/>
          <p:cNvSpPr txBox="1"/>
          <p:nvPr/>
        </p:nvSpPr>
        <p:spPr>
          <a:xfrm>
            <a:off x="5349240" y="5687568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Engineer · Backend</a:t>
            </a:r>
            <a:endParaRPr lang="en-US" sz="900" dirty="0"/>
          </a:p>
        </p:txBody>
      </p:sp>
      <p:sp>
        <p:nvSpPr>
          <p:cNvPr id="19" name="QR card"/>
          <p:cNvSpPr/>
          <p:nvPr/>
        </p:nvSpPr>
        <p:spPr>
          <a:xfrm>
            <a:off x="8412480" y="1463040"/>
            <a:ext cx="3246120" cy="4206240"/>
          </a:xfrm>
          <a:prstGeom prst="roundRect">
            <a:avLst>
              <a:gd name="adj" fmla="val 507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121A2C">
                <a:alpha val="16000"/>
              </a:srgbClr>
            </a:outerShdw>
          </a:effectLst>
        </p:spPr>
      </p:sp>
      <p:sp>
        <p:nvSpPr>
          <p:cNvPr id="20" name="QR placeholder"/>
          <p:cNvSpPr/>
          <p:nvPr/>
        </p:nvSpPr>
        <p:spPr>
          <a:xfrm>
            <a:off x="8915400" y="1828800"/>
            <a:ext cx="2240280" cy="2240280"/>
          </a:xfrm>
          <a:prstGeom prst="roundRect">
            <a:avLst>
              <a:gd name="adj" fmla="val 4082"/>
            </a:avLst>
          </a:prstGeom>
          <a:solidFill>
            <a:srgbClr val="F7F7F8"/>
          </a:solidFill>
          <a:ln w="12700">
            <a:solidFill>
              <a:srgbClr val="C3C7D0"/>
            </a:solidFill>
            <a:prstDash val="dash"/>
          </a:ln>
        </p:spPr>
      </p:sp>
      <p:sp>
        <p:nvSpPr>
          <p:cNvPr id="21" name="Text 12"/>
          <p:cNvSpPr txBox="1"/>
          <p:nvPr/>
        </p:nvSpPr>
        <p:spPr>
          <a:xfrm>
            <a:off x="8915400" y="274320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to the live demo</a:t>
            </a:r>
            <a:endParaRPr lang="en-US" sz="1000" dirty="0"/>
          </a:p>
        </p:txBody>
      </p:sp>
      <p:sp>
        <p:nvSpPr>
          <p:cNvPr id="22" name="Text 13"/>
          <p:cNvSpPr txBox="1"/>
          <p:nvPr/>
        </p:nvSpPr>
        <p:spPr>
          <a:xfrm>
            <a:off x="8549640" y="429768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1A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yourself</a:t>
            </a:r>
            <a:endParaRPr lang="en-US" sz="1600" dirty="0"/>
          </a:p>
        </p:txBody>
      </p:sp>
      <p:sp>
        <p:nvSpPr>
          <p:cNvPr id="23" name="Text 14"/>
          <p:cNvSpPr txBox="1"/>
          <p:nvPr/>
        </p:nvSpPr>
        <p:spPr>
          <a:xfrm>
            <a:off x="8641080" y="466344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Four-screen demo, hub dashboard and the numbers proof.</a:t>
            </a:r>
            <a:endParaRPr lang="en-US" sz="1050" dirty="0"/>
          </a:p>
        </p:txBody>
      </p:sp>
      <p:sp>
        <p:nvSpPr>
          <p:cNvPr id="24" name="Text 15"/>
          <p:cNvSpPr txBox="1"/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BFC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Develarper · Sea × OpenAI Regional Codex Hackathon · October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odi">
  <a:themeElements>
    <a:clrScheme name="Alodi">
      <a:dk1>
        <a:srgbClr val="121A2C"/>
      </a:dk1>
      <a:lt1>
        <a:srgbClr val="FFFFFF"/>
      </a:lt1>
      <a:dk2>
        <a:srgbClr val="1F2A44"/>
      </a:dk2>
      <a:lt2>
        <a:srgbClr val="F7F7F8"/>
      </a:lt2>
      <a:accent1>
        <a:srgbClr val="F05A00"/>
      </a:accent1>
      <a:accent2>
        <a:srgbClr val="FF9D66"/>
      </a:accent2>
      <a:accent3>
        <a:srgbClr val="5B6275"/>
      </a:accent3>
      <a:accent4>
        <a:srgbClr val="C3C7D0"/>
      </a:accent4>
      <a:accent5>
        <a:srgbClr val="E6E8EC"/>
      </a:accent5>
      <a:accent6>
        <a:srgbClr val="0E8A6C"/>
      </a:accent6>
      <a:hlink>
        <a:srgbClr val="F05A00"/>
      </a:hlink>
      <a:folHlink>
        <a:srgbClr val="C94B00"/>
      </a:folHlink>
    </a:clrScheme>
    <a:fontScheme name="Alod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Team Develarper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Alodi · Make the second drop land</dc:title>
  <dc:subject>PptxGenJS Presentation</dc:subject>
  <dc:creator>Team Develarper</dc:creator>
  <cp:lastModifiedBy>Team Develarper</cp:lastModifiedBy>
  <cp:revision>1</cp:revision>
  <dcterms:created xsi:type="dcterms:W3CDTF">2026-10-31T05:23:59Z</dcterms:created>
  <dcterms:modified xsi:type="dcterms:W3CDTF">2026-10-31T05:23:59Z</dcterms:modified>
</cp:coreProperties>
</file>