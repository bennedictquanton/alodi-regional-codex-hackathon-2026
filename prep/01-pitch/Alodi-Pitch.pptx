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ef4af6d3-1561-0e24-a59f-9e5ddfd35327}">
          <p14:sldIdLst>
            <p14:sldId id="256"/>
          </p14:sldIdLst>
        </p14:section>
        <p14:section name="Problem" id="{83547dbf-59a9-0f75-3cc6-7a854c465a50}">
          <p14:sldIdLst>
            <p14:sldId id="257"/>
            <p14:sldId id="258"/>
            <p14:sldId id="259"/>
            <p14:sldId id="260"/>
          </p14:sldIdLst>
        </p14:section>
        <p14:section name="Alodi" id="{a8a47549-fe7a-5615-4ab2-2b0f290dbf93}">
          <p14:sldIdLst>
            <p14:sldId id="261"/>
            <p14:sldId id="262"/>
            <p14:sldId id="263"/>
            <p14:sldId id="264"/>
          </p14:sldIdLst>
        </p14:section>
        <p14:section name="Technology" id="{e7c1f903-3dd7-9951-273d-aedf5910ec9f}">
          <p14:sldIdLst>
            <p14:sldId id="265"/>
          </p14:sldIdLst>
        </p14:section>
        <p14:section name="Close" id="{5dc26d4d-e7b5-aedf-a23e-2157e44adcee}">
          <p14:sldIdLst>
            <p14:sldId id="266"/>
            <p14:sldId id="267"/>
          </p14:sldIdLst>
        </p14:section>
        <p14:section name="Appendix" id="{adf422eb-27fb-4fa4-ced0-f16a6a94877a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on the moment everyone knows: the courier calls, you are in a meeting, the parcel goes back. Alodi makes the second drop land.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failed delivery is a time negotiation that happens off the system. The context that would fix it is compressed into one error code, so the next attempt repeats the same conditions.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one area of 20 couriers: 320 failed deliveries a day, 240 returned, about ₫473M lost a month, most of it return fees.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survey asks both sides of the same call: buyers who can't pick a time, couriers whose calls go unanswered. Replace the values with the interview export before the final pitch.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root cause is not routing. The buyer's answer never enters the system: zero windows, one error code, about five callers per area, and Shopee's five-day frame.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Play the two-minute film here. To embed it: Insert &gt; Video &gt; This Device, then resize it to the dark frame and delete the placeholder shapes.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courier taps once. The Decisions API on GPT-6 Luna triages; the buyer gets a chat and, if silent, a GPT-Live-1 call; GPT-5.6 Terra orchestrates and writes the card. High-stakes decisions stay with people.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Courier phone, buyer chat, ops console and a hub dashboard stay in sync. The demo runs on a fast-forward clock and mock data for one hub.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numbers are measured live from the event log and the eval set. Money is projected: ₫473M lost a month, Alodi recovers ₫215M, costs ₫29M to run, ₫186M net, 39% of the loss.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GPT-Live-1 talks to the buyer in real time. The Decisions API on GPT-6 Luna triages every signal. GPT-5.6 Terra orchestrates the case under company policy and shortens the exchange between buyer and courier. Agents SDK, Evals, a local gpt-oss-20b fallback and Codex complete the stack.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Next: a full build in November, shadow mode at one area in Q1 2027 with no buyer contact, then controlled real channels, a region and national scale by 2028.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line: make the second drop land. Point to the QR code; replace the placeholder with the final demo link once it is deployed.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Appendix: every reference marker in the deck points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3/-Users-davark-Downloads-Everything-Github-Alodi-Regional-Codex-Hackathon-2026/91e569a8-486f-4c0b-b683-a4991468f039/scratchpad/deck/assets/logo-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19088"/>
            <a:ext cx="420624" cy="1828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813048" y="640080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chemeClr val="accent3"/>
                </a:solidFill>
              </a:rPr>
              <a:t>Sea × OpenAI Regional Codex Hackathon · October 2026</a:t>
            </a:r>
            <a:endParaRPr lang="en-US" sz="9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21A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3/-Users-davark-Downloads-Everything-Github-Alodi-Regional-Codex-Hackathon-2026/91e569a8-486f-4c0b-b683-a4991468f039/scratchpad/deck/assets/log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19088"/>
            <a:ext cx="420624" cy="1828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813048" y="640080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chemeClr val="accent4"/>
                </a:solidFill>
              </a:rPr>
              <a:t>Sea × OpenAI Regional Codex Hackathon · October 2026</a:t>
            </a:r>
            <a:endParaRPr lang="en-US" sz="9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ull bleed">
    <p:bg>
      <p:bgPr>
        <a:solidFill>
          <a:srgbClr val="121A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8.png"/><Relationship Id="rId10" Type="http://schemas.openxmlformats.org/officeDocument/2006/relationships/image" Target="../media/image-1-10.png"/><Relationship Id="rId11" Type="http://schemas.openxmlformats.org/officeDocument/2006/relationships/slideLayout" Target="../slideLayouts/slideLayout4.xml"/><Relationship Id="rId1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3.png"/><Relationship Id="rId6" Type="http://schemas.openxmlformats.org/officeDocument/2006/relationships/image" Target="../media/image-7-6.png"/><Relationship Id="rId7" Type="http://schemas.openxmlformats.org/officeDocument/2006/relationships/image" Target="../media/image-7-3.png"/><Relationship Id="rId8" Type="http://schemas.openxmlformats.org/officeDocument/2006/relationships/image" Target="../media/image-7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1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4.png"/><Relationship Id="rId6" Type="http://schemas.openxmlformats.org/officeDocument/2006/relationships/image" Target="../media/image-10-4.png"/><Relationship Id="rId7" Type="http://schemas.openxmlformats.org/officeDocument/2006/relationships/image" Target="../media/image-10-4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5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e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ver photo" descr="Riders in evening traffic, Ho Chi Minh Cit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Wash" descr="/private/tmp/claude-503/-Users-davark-Downloads-Everything-Github-Alodi-Regional-Codex-Hackathon-2026/91e569a8-486f-4c0b-b683-a4991468f039/scratchpad/deck/assets/wash-co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Logo" descr="/private/tmp/claude-503/-Users-davark-Downloads-Everything-Github-Alodi-Regional-Codex-Hackathon-2026/91e569a8-486f-4c0b-b683-a4991468f039/scratchpad/deck/assets/logo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48640"/>
            <a:ext cx="914400" cy="3931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548640" y="187452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F0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 × OPENAI REGIONAL CODEX HACKATHON · OCTOBER 2026</a:t>
            </a:r>
            <a:endParaRPr lang="en-US" sz="950" dirty="0"/>
          </a:p>
        </p:txBody>
      </p:sp>
      <p:sp>
        <p:nvSpPr>
          <p:cNvPr id="6" name="Text 1"/>
          <p:cNvSpPr txBox="1"/>
          <p:nvPr/>
        </p:nvSpPr>
        <p:spPr>
          <a:xfrm>
            <a:off x="548640" y="2240280"/>
            <a:ext cx="6400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62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the second</a:t>
            </a:r>
            <a:endParaRPr lang="en-US" sz="62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6200" i="1" dirty="0">
                <a:solidFill>
                  <a:srgbClr val="F05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drop land.</a:t>
            </a:r>
            <a:endParaRPr lang="en-US" sz="6200" dirty="0"/>
          </a:p>
        </p:txBody>
      </p:sp>
      <p:sp>
        <p:nvSpPr>
          <p:cNvPr id="7" name="Text 2"/>
          <p:cNvSpPr txBox="1"/>
          <p:nvPr/>
        </p:nvSpPr>
        <p:spPr>
          <a:xfrm>
            <a:off x="548640" y="420624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failed delivery, rescued with one tap.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D2D7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courier taps once; Alodi chats, calls and hands the next courier when, where and who.</a:t>
            </a:r>
            <a:endParaRPr lang="en-US" sz="1400" dirty="0"/>
          </a:p>
        </p:txBody>
      </p:sp>
      <p:pic>
        <p:nvPicPr>
          <p:cNvPr id="8" name="Avatar 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5760720"/>
            <a:ext cx="384048" cy="384048"/>
          </a:xfrm>
          <a:prstGeom prst="rect">
            <a:avLst/>
          </a:prstGeom>
        </p:spPr>
      </p:pic>
      <p:pic>
        <p:nvPicPr>
          <p:cNvPr id="9" name="Avatar 2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248" y="5760720"/>
            <a:ext cx="384048" cy="384048"/>
          </a:xfrm>
          <a:prstGeom prst="rect">
            <a:avLst/>
          </a:prstGeom>
        </p:spPr>
      </p:pic>
      <p:pic>
        <p:nvPicPr>
          <p:cNvPr id="10" name="Avatar 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33856" y="5760720"/>
            <a:ext cx="384048" cy="384048"/>
          </a:xfrm>
          <a:prstGeom prst="rect">
            <a:avLst/>
          </a:prstGeom>
        </p:spPr>
      </p:pic>
      <p:pic>
        <p:nvPicPr>
          <p:cNvPr id="11" name="Avatar 4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26464" y="5760720"/>
            <a:ext cx="384048" cy="384048"/>
          </a:xfrm>
          <a:prstGeom prst="rect">
            <a:avLst/>
          </a:prstGeom>
        </p:spPr>
      </p:pic>
      <p:sp>
        <p:nvSpPr>
          <p:cNvPr id="12" name="Text 3"/>
          <p:cNvSpPr txBox="1"/>
          <p:nvPr/>
        </p:nvSpPr>
        <p:spPr>
          <a:xfrm>
            <a:off x="1965960" y="5742432"/>
            <a:ext cx="3657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Develarper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2D7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with OpenAI and Codex</a:t>
            </a:r>
            <a:endParaRPr lang="en-US" sz="1000" dirty="0"/>
          </a:p>
        </p:txBody>
      </p:sp>
      <p:sp>
        <p:nvSpPr>
          <p:cNvPr id="13" name="Rescue card"/>
          <p:cNvSpPr/>
          <p:nvPr/>
        </p:nvSpPr>
        <p:spPr>
          <a:xfrm>
            <a:off x="8183880" y="3977640"/>
            <a:ext cx="3474720" cy="21945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121A2C">
                <a:alpha val="16000"/>
              </a:srgbClr>
            </a:outerShdw>
          </a:effectLst>
        </p:spPr>
      </p:sp>
      <p:sp>
        <p:nvSpPr>
          <p:cNvPr id="14" name="Text 5"/>
          <p:cNvSpPr txBox="1"/>
          <p:nvPr/>
        </p:nvSpPr>
        <p:spPr>
          <a:xfrm>
            <a:off x="8412480" y="4160520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464E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RESCUE · SPXVN0123456789</a:t>
            </a:r>
            <a:endParaRPr lang="en-US" sz="800" dirty="0"/>
          </a:p>
        </p:txBody>
      </p:sp>
      <p:sp>
        <p:nvSpPr>
          <p:cNvPr id="15" name="Row rule 0"/>
          <p:cNvSpPr/>
          <p:nvPr/>
        </p:nvSpPr>
        <p:spPr>
          <a:xfrm>
            <a:off x="8412480" y="4443984"/>
            <a:ext cx="3017520" cy="0"/>
          </a:xfrm>
          <a:prstGeom prst="line">
            <a:avLst/>
          </a:prstGeom>
          <a:noFill/>
          <a:ln w="6350">
            <a:solidFill>
              <a:srgbClr val="E3E5EA"/>
            </a:solidFill>
            <a:prstDash val="solid"/>
          </a:ln>
        </p:spPr>
      </p:sp>
      <p:pic>
        <p:nvPicPr>
          <p:cNvPr id="16" name="Row icon 0" descr="/private/tmp/claude-503/-Users-davark-Downloads-Everything-Github-Alodi-Regional-Codex-Hackathon-2026/91e569a8-486f-4c0b-b683-a4991468f039/scratchpad/deck/assets/mark-dot-navy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12480" y="4544568"/>
            <a:ext cx="219456" cy="219456"/>
          </a:xfrm>
          <a:prstGeom prst="rect">
            <a:avLst/>
          </a:prstGeom>
        </p:spPr>
      </p:pic>
      <p:sp>
        <p:nvSpPr>
          <p:cNvPr id="17" name="Text 7"/>
          <p:cNvSpPr txBox="1"/>
          <p:nvPr/>
        </p:nvSpPr>
        <p:spPr>
          <a:xfrm>
            <a:off x="8732520" y="45262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Courier taps · No answer</a:t>
            </a:r>
            <a:endParaRPr lang="en-US" sz="1200" dirty="0"/>
          </a:p>
        </p:txBody>
      </p:sp>
      <p:sp>
        <p:nvSpPr>
          <p:cNvPr id="18" name="Text 8"/>
          <p:cNvSpPr txBox="1"/>
          <p:nvPr/>
        </p:nvSpPr>
        <p:spPr>
          <a:xfrm>
            <a:off x="10881360" y="454456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10:02</a:t>
            </a:r>
            <a:endParaRPr lang="en-US" sz="900" dirty="0"/>
          </a:p>
        </p:txBody>
      </p:sp>
      <p:sp>
        <p:nvSpPr>
          <p:cNvPr id="19" name="Row rule 1"/>
          <p:cNvSpPr/>
          <p:nvPr/>
        </p:nvSpPr>
        <p:spPr>
          <a:xfrm>
            <a:off x="8412480" y="4946904"/>
            <a:ext cx="3017520" cy="0"/>
          </a:xfrm>
          <a:prstGeom prst="line">
            <a:avLst/>
          </a:prstGeom>
          <a:noFill/>
          <a:ln w="6350">
            <a:solidFill>
              <a:srgbClr val="E3E5EA"/>
            </a:solidFill>
            <a:prstDash val="solid"/>
          </a:ln>
        </p:spPr>
      </p:sp>
      <p:pic>
        <p:nvPicPr>
          <p:cNvPr id="20" name="Row icon 1" descr="/private/tmp/claude-503/-Users-davark-Downloads-Everything-Github-Alodi-Regional-Codex-Hackathon-2026/91e569a8-486f-4c0b-b683-a4991468f039/scratchpad/deck/assets/mark-dot-navy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12480" y="5047488"/>
            <a:ext cx="219456" cy="219456"/>
          </a:xfrm>
          <a:prstGeom prst="rect">
            <a:avLst/>
          </a:prstGeom>
        </p:spPr>
      </p:pic>
      <p:sp>
        <p:nvSpPr>
          <p:cNvPr id="21" name="Text 10"/>
          <p:cNvSpPr txBox="1"/>
          <p:nvPr/>
        </p:nvSpPr>
        <p:spPr>
          <a:xfrm>
            <a:off x="8732520" y="502920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 sent · buyer replies 11:15</a:t>
            </a:r>
            <a:endParaRPr lang="en-US" sz="1200" dirty="0"/>
          </a:p>
        </p:txBody>
      </p:sp>
      <p:sp>
        <p:nvSpPr>
          <p:cNvPr id="22" name="Text 11"/>
          <p:cNvSpPr txBox="1"/>
          <p:nvPr/>
        </p:nvSpPr>
        <p:spPr>
          <a:xfrm>
            <a:off x="10881360" y="504748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10:02</a:t>
            </a:r>
            <a:endParaRPr lang="en-US" sz="900" dirty="0"/>
          </a:p>
        </p:txBody>
      </p:sp>
      <p:sp>
        <p:nvSpPr>
          <p:cNvPr id="23" name="Row rule 2"/>
          <p:cNvSpPr/>
          <p:nvPr/>
        </p:nvSpPr>
        <p:spPr>
          <a:xfrm>
            <a:off x="8412480" y="5449824"/>
            <a:ext cx="3017520" cy="0"/>
          </a:xfrm>
          <a:prstGeom prst="line">
            <a:avLst/>
          </a:prstGeom>
          <a:noFill/>
          <a:ln w="6350">
            <a:solidFill>
              <a:srgbClr val="E3E5EA"/>
            </a:solidFill>
            <a:prstDash val="solid"/>
          </a:ln>
        </p:spPr>
      </p:sp>
      <p:pic>
        <p:nvPicPr>
          <p:cNvPr id="24" name="Row icon 2" descr="/private/tmp/claude-503/-Users-davark-Downloads-Everything-Github-Alodi-Regional-Codex-Hackathon-2026/91e569a8-486f-4c0b-b683-a4991468f039/scratchpad/deck/assets/mark-check-orang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412480" y="5550408"/>
            <a:ext cx="219456" cy="219456"/>
          </a:xfrm>
          <a:prstGeom prst="rect">
            <a:avLst/>
          </a:prstGeom>
        </p:spPr>
      </p:pic>
      <p:sp>
        <p:nvSpPr>
          <p:cNvPr id="25" name="Text 13"/>
          <p:cNvSpPr txBox="1"/>
          <p:nvPr/>
        </p:nvSpPr>
        <p:spPr>
          <a:xfrm>
            <a:off x="8732520" y="55321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0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 ready · 1 Nov, 17–20h</a:t>
            </a:r>
            <a:endParaRPr lang="en-US" sz="1200" dirty="0"/>
          </a:p>
        </p:txBody>
      </p:sp>
      <p:sp>
        <p:nvSpPr>
          <p:cNvPr id="26" name="Text 14"/>
          <p:cNvSpPr txBox="1"/>
          <p:nvPr/>
        </p:nvSpPr>
        <p:spPr>
          <a:xfrm>
            <a:off x="10881360" y="555040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11:15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 rule"/>
          <p:cNvSpPr/>
          <p:nvPr/>
        </p:nvSpPr>
        <p:spPr>
          <a:xfrm>
            <a:off x="548640" y="612648"/>
            <a:ext cx="292608" cy="0"/>
          </a:xfrm>
          <a:prstGeom prst="line">
            <a:avLst/>
          </a:prstGeom>
          <a:noFill/>
          <a:ln w="15875">
            <a:solidFill>
              <a:srgbClr val="F05A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60120" y="493776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200" kern="0" dirty="0">
                <a:solidFill>
                  <a:srgbClr val="6B72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</a:t>
            </a:r>
            <a:pPr indent="0" marL="0">
              <a:buNone/>
            </a:pPr>
            <a:r>
              <a:rPr lang="en-US" sz="1050" b="1" spc="200" kern="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41248"/>
            <a:ext cx="5349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98A0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courier calls. The buyer is in a meeting. </a:t>
            </a:r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21A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parcel goes back.</a:t>
            </a:r>
            <a:endParaRPr lang="en-US" sz="3000" dirty="0"/>
          </a:p>
        </p:txBody>
      </p:sp>
      <p:sp>
        <p:nvSpPr>
          <p:cNvPr id="5" name="Rows top rule"/>
          <p:cNvSpPr/>
          <p:nvPr/>
        </p:nvSpPr>
        <p:spPr>
          <a:xfrm>
            <a:off x="548640" y="2880360"/>
            <a:ext cx="5303520" cy="0"/>
          </a:xfrm>
          <a:prstGeom prst="line">
            <a:avLst/>
          </a:prstGeom>
          <a:noFill/>
          <a:ln w="12700">
            <a:solidFill>
              <a:srgbClr val="121A2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3017520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464E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 · RETURN FEE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218688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0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₫</a:t>
            </a:r>
            <a:pPr indent="0" marL="0">
              <a:buNone/>
            </a:pPr>
            <a:r>
              <a:rPr lang="en-US" sz="4000" b="1" dirty="0">
                <a:solidFill>
                  <a:srgbClr val="121A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40,000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3017520" y="3163824"/>
            <a:ext cx="28803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31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seller pays to ship back every failed Shopee order.</a:t>
            </a:r>
            <a:pPr indent="0" marL="0">
              <a:buNone/>
            </a:pPr>
            <a:r>
              <a:rPr lang="en-US" sz="1000" dirty="0">
                <a:solidFill>
                  <a:srgbClr val="6B72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[1][2]</a:t>
            </a:r>
            <a:endParaRPr lang="en-US" sz="1400" dirty="0"/>
          </a:p>
        </p:txBody>
      </p:sp>
      <p:sp>
        <p:nvSpPr>
          <p:cNvPr id="9" name="Row rule 0"/>
          <p:cNvSpPr/>
          <p:nvPr/>
        </p:nvSpPr>
        <p:spPr>
          <a:xfrm>
            <a:off x="548640" y="3931920"/>
            <a:ext cx="5303520" cy="0"/>
          </a:xfrm>
          <a:prstGeom prst="line">
            <a:avLst/>
          </a:prstGeom>
          <a:noFill/>
          <a:ln w="9525">
            <a:solidFill>
              <a:srgbClr val="E3E5E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4005072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464E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 · REFUSED AT THE DOOR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206240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21A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8–12</a:t>
            </a:r>
            <a:pPr indent="0" marL="0">
              <a:buNone/>
            </a:pPr>
            <a:r>
              <a:rPr lang="en-US" sz="4000" b="1" dirty="0">
                <a:solidFill>
                  <a:srgbClr val="F0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3017520" y="4151376"/>
            <a:ext cx="28803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31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orders nationwide; up to 20% in remote areas, 25–30% in sale season.</a:t>
            </a:r>
            <a:pPr indent="0" marL="0">
              <a:buNone/>
            </a:pPr>
            <a:r>
              <a:rPr lang="en-US" sz="1000" dirty="0">
                <a:solidFill>
                  <a:srgbClr val="6B72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[3]</a:t>
            </a:r>
            <a:endParaRPr lang="en-US" sz="1400" dirty="0"/>
          </a:p>
        </p:txBody>
      </p:sp>
      <p:sp>
        <p:nvSpPr>
          <p:cNvPr id="13" name="Row rule 1"/>
          <p:cNvSpPr/>
          <p:nvPr/>
        </p:nvSpPr>
        <p:spPr>
          <a:xfrm>
            <a:off x="548640" y="4919472"/>
            <a:ext cx="5303520" cy="0"/>
          </a:xfrm>
          <a:prstGeom prst="line">
            <a:avLst/>
          </a:prstGeom>
          <a:noFill/>
          <a:ln w="9525">
            <a:solidFill>
              <a:srgbClr val="E3E5E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499262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464E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SHOPEE · DELIVERY WINDOWS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193792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21A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4000" dirty="0"/>
          </a:p>
        </p:txBody>
      </p:sp>
      <p:sp>
        <p:nvSpPr>
          <p:cNvPr id="16" name="Text 14"/>
          <p:cNvSpPr txBox="1"/>
          <p:nvPr/>
        </p:nvSpPr>
        <p:spPr>
          <a:xfrm>
            <a:off x="3017520" y="5138928"/>
            <a:ext cx="28803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31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 a buyer can choose. The time is agreed by phone, off the system.</a:t>
            </a:r>
            <a:pPr indent="0" marL="0">
              <a:buNone/>
            </a:pPr>
            <a:r>
              <a:rPr lang="en-US" sz="1000" dirty="0">
                <a:solidFill>
                  <a:srgbClr val="6B72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[4]</a:t>
            </a:r>
            <a:endParaRPr lang="en-US" sz="1400" dirty="0"/>
          </a:p>
        </p:txBody>
      </p:sp>
      <p:pic>
        <p:nvPicPr>
          <p:cNvPr id="17" name="Hook photo" descr="A rider carrying goods on a motorbike, Ho Chi Minh Cit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99632" y="502920"/>
            <a:ext cx="5440680" cy="5486400"/>
          </a:xfrm>
          <a:prstGeom prst="rect">
            <a:avLst/>
          </a:prstGeom>
        </p:spPr>
      </p:pic>
      <p:sp>
        <p:nvSpPr>
          <p:cNvPr id="18" name="Courier app card"/>
          <p:cNvSpPr/>
          <p:nvPr/>
        </p:nvSpPr>
        <p:spPr>
          <a:xfrm>
            <a:off x="6537960" y="3703320"/>
            <a:ext cx="3429000" cy="1965960"/>
          </a:xfrm>
          <a:prstGeom prst="roundRect">
            <a:avLst>
              <a:gd name="adj" fmla="val 651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121A2C">
                <a:alpha val="16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6766560" y="3877056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464E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NEXT COURIER SEES</a:t>
            </a:r>
            <a:endParaRPr lang="en-US" sz="800" dirty="0"/>
          </a:p>
        </p:txBody>
      </p:sp>
      <p:sp>
        <p:nvSpPr>
          <p:cNvPr id="20" name="Card rule 0"/>
          <p:cNvSpPr/>
          <p:nvPr/>
        </p:nvSpPr>
        <p:spPr>
          <a:xfrm>
            <a:off x="6766560" y="4169664"/>
            <a:ext cx="2971800" cy="0"/>
          </a:xfrm>
          <a:prstGeom prst="line">
            <a:avLst/>
          </a:prstGeom>
          <a:noFill/>
          <a:ln w="6350">
            <a:solidFill>
              <a:srgbClr val="E3E5EA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766560" y="422452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7863840" y="4224528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100" dirty="0"/>
          </a:p>
        </p:txBody>
      </p:sp>
      <p:sp>
        <p:nvSpPr>
          <p:cNvPr id="23" name="Card rule 1"/>
          <p:cNvSpPr/>
          <p:nvPr/>
        </p:nvSpPr>
        <p:spPr>
          <a:xfrm>
            <a:off x="6766560" y="4517136"/>
            <a:ext cx="2971800" cy="0"/>
          </a:xfrm>
          <a:prstGeom prst="line">
            <a:avLst/>
          </a:prstGeom>
          <a:noFill/>
          <a:ln w="6350">
            <a:solidFill>
              <a:srgbClr val="E3E5E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766560" y="45720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7863840" y="4572000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100" dirty="0"/>
          </a:p>
        </p:txBody>
      </p:sp>
      <p:sp>
        <p:nvSpPr>
          <p:cNvPr id="26" name="Card rule 2"/>
          <p:cNvSpPr/>
          <p:nvPr/>
        </p:nvSpPr>
        <p:spPr>
          <a:xfrm>
            <a:off x="6766560" y="4864608"/>
            <a:ext cx="2971800" cy="0"/>
          </a:xfrm>
          <a:prstGeom prst="line">
            <a:avLst/>
          </a:prstGeom>
          <a:noFill/>
          <a:ln w="6350">
            <a:solidFill>
              <a:srgbClr val="E3E5E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766560" y="491947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7863840" y="491947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100" dirty="0"/>
          </a:p>
        </p:txBody>
      </p:sp>
      <p:sp>
        <p:nvSpPr>
          <p:cNvPr id="29" name="Card rule 3"/>
          <p:cNvSpPr/>
          <p:nvPr/>
        </p:nvSpPr>
        <p:spPr>
          <a:xfrm>
            <a:off x="6766560" y="5212080"/>
            <a:ext cx="2971800" cy="0"/>
          </a:xfrm>
          <a:prstGeom prst="line">
            <a:avLst/>
          </a:prstGeom>
          <a:noFill/>
          <a:ln w="6350">
            <a:solidFill>
              <a:srgbClr val="E3E5EA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766560" y="526694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7863840" y="5266944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0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Buyer unreachable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10728655" y="6400800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464E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13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 rule"/>
          <p:cNvSpPr/>
          <p:nvPr/>
        </p:nvSpPr>
        <p:spPr>
          <a:xfrm>
            <a:off x="548640" y="612648"/>
            <a:ext cx="292608" cy="0"/>
          </a:xfrm>
          <a:prstGeom prst="line">
            <a:avLst/>
          </a:prstGeom>
          <a:noFill/>
          <a:ln w="15875">
            <a:solidFill>
              <a:srgbClr val="F05A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60120" y="493776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200" kern="0" dirty="0">
                <a:solidFill>
                  <a:srgbClr val="6B72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</a:t>
            </a:r>
            <a:pPr indent="0" marL="0">
              <a:buNone/>
            </a:pPr>
            <a:r>
              <a:rPr lang="en-US" sz="1050" b="1" spc="200" kern="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COST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41248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98A0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area, one day, one month. </a:t>
            </a:r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21A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bill lands on the seller.</a:t>
            </a:r>
            <a:endParaRPr lang="en-US" sz="3000" dirty="0"/>
          </a:p>
        </p:txBody>
      </p:sp>
      <p:sp>
        <p:nvSpPr>
          <p:cNvPr id="5" name="Card 1"/>
          <p:cNvSpPr/>
          <p:nvPr/>
        </p:nvSpPr>
        <p:spPr>
          <a:xfrm>
            <a:off x="548640" y="2011680"/>
            <a:ext cx="2670048" cy="3931920"/>
          </a:xfrm>
          <a:prstGeom prst="roundRect">
            <a:avLst>
              <a:gd name="adj" fmla="val 4795"/>
            </a:avLst>
          </a:prstGeom>
          <a:solidFill>
            <a:srgbClr val="FFF4EC"/>
          </a:solidFill>
          <a:ln w="9525">
            <a:solidFill>
              <a:srgbClr val="FFD7B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2267712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464E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LOSS · AREA / MONTH</a:t>
            </a:r>
            <a:endParaRPr lang="en-US" sz="900" dirty="0"/>
          </a:p>
        </p:txBody>
      </p:sp>
      <p:sp>
        <p:nvSpPr>
          <p:cNvPr id="7" name="Icon tile"/>
          <p:cNvSpPr/>
          <p:nvPr/>
        </p:nvSpPr>
        <p:spPr>
          <a:xfrm>
            <a:off x="2670048" y="2194560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/>
        </p:spPr>
      </p:sp>
      <p:pic>
        <p:nvPicPr>
          <p:cNvPr id="8" name="Icon" descr="/private/tmp/claude-503/-Users-davark-Downloads-Everything-Github-Alodi-Regional-Codex-Hackathon-2026/91e569a8-486f-4c0b-b683-a4991468f039/scratchpad/deck/assets/mark-dot-oran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34056" y="2258568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777240" y="2606040"/>
            <a:ext cx="23042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0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₫</a:t>
            </a:r>
            <a:pPr indent="0" marL="0">
              <a:buNone/>
            </a:pPr>
            <a:r>
              <a:rPr lang="en-US" sz="3800" b="1" dirty="0">
                <a:solidFill>
                  <a:srgbClr val="121A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473M</a:t>
            </a:r>
            <a:endParaRPr lang="en-US" sz="3800" dirty="0"/>
          </a:p>
        </p:txBody>
      </p:sp>
      <p:sp>
        <p:nvSpPr>
          <p:cNvPr id="10" name="Loss seg 0"/>
          <p:cNvSpPr/>
          <p:nvPr/>
        </p:nvSpPr>
        <p:spPr>
          <a:xfrm>
            <a:off x="777240" y="3657600"/>
            <a:ext cx="1329070" cy="310896"/>
          </a:xfrm>
          <a:prstGeom prst="rect">
            <a:avLst/>
          </a:prstGeom>
          <a:solidFill>
            <a:srgbClr val="F05A00"/>
          </a:solidFill>
          <a:ln/>
        </p:spPr>
      </p:sp>
      <p:sp>
        <p:nvSpPr>
          <p:cNvPr id="11" name="Loss seg 1"/>
          <p:cNvSpPr/>
          <p:nvPr/>
        </p:nvSpPr>
        <p:spPr>
          <a:xfrm>
            <a:off x="2124598" y="3657600"/>
            <a:ext cx="454223" cy="310896"/>
          </a:xfrm>
          <a:prstGeom prst="rect">
            <a:avLst/>
          </a:prstGeom>
          <a:solidFill>
            <a:srgbClr val="1F2A44"/>
          </a:solidFill>
          <a:ln/>
        </p:spPr>
      </p:sp>
      <p:sp>
        <p:nvSpPr>
          <p:cNvPr id="12" name="Loss seg 2"/>
          <p:cNvSpPr/>
          <p:nvPr/>
        </p:nvSpPr>
        <p:spPr>
          <a:xfrm>
            <a:off x="2597109" y="3657600"/>
            <a:ext cx="192237" cy="310896"/>
          </a:xfrm>
          <a:prstGeom prst="rect">
            <a:avLst/>
          </a:prstGeom>
          <a:solidFill>
            <a:srgbClr val="8A91A6"/>
          </a:solidFill>
          <a:ln/>
        </p:spPr>
      </p:sp>
      <p:sp>
        <p:nvSpPr>
          <p:cNvPr id="13" name="Loss seg 3"/>
          <p:cNvSpPr/>
          <p:nvPr/>
        </p:nvSpPr>
        <p:spPr>
          <a:xfrm>
            <a:off x="2807633" y="3657600"/>
            <a:ext cx="164167" cy="310896"/>
          </a:xfrm>
          <a:prstGeom prst="rect">
            <a:avLst/>
          </a:prstGeom>
          <a:solidFill>
            <a:srgbClr val="98A0B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777240" y="4041648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0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₫288M return fees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777240" y="4279392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64E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₫185M redelivery, CS and door time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777240" y="4663440"/>
            <a:ext cx="228600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2A31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Return fees ₫288M, redelivery pay ₫101M, CS call-backs ₫45M, courier door time ₫39M.</a:t>
            </a:r>
            <a:pPr indent="0" marL="0">
              <a:buNone/>
            </a:pPr>
            <a:r>
              <a:rPr lang="en-US" sz="1000" dirty="0">
                <a:solidFill>
                  <a:srgbClr val="6B72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[6][8]</a:t>
            </a:r>
            <a:endParaRPr lang="en-US" sz="1200" dirty="0"/>
          </a:p>
        </p:txBody>
      </p:sp>
      <p:sp>
        <p:nvSpPr>
          <p:cNvPr id="17" name="Card 2"/>
          <p:cNvSpPr/>
          <p:nvPr/>
        </p:nvSpPr>
        <p:spPr>
          <a:xfrm>
            <a:off x="3355848" y="2011680"/>
            <a:ext cx="2670048" cy="3931920"/>
          </a:xfrm>
          <a:prstGeom prst="roundRect">
            <a:avLst>
              <a:gd name="adj" fmla="val 4795"/>
            </a:avLst>
          </a:prstGeom>
          <a:solidFill>
            <a:srgbClr val="FFFFFF"/>
          </a:solidFill>
          <a:ln w="9525">
            <a:solidFill>
              <a:srgbClr val="E3E5E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584448" y="2267712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464E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FAILED · EVERY DAY</a:t>
            </a:r>
            <a:endParaRPr lang="en-US" sz="900" dirty="0"/>
          </a:p>
        </p:txBody>
      </p:sp>
      <p:sp>
        <p:nvSpPr>
          <p:cNvPr id="19" name="Icon tile"/>
          <p:cNvSpPr/>
          <p:nvPr/>
        </p:nvSpPr>
        <p:spPr>
          <a:xfrm>
            <a:off x="5477256" y="2194560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F1F2F5"/>
          </a:solidFill>
          <a:ln/>
        </p:spPr>
      </p:sp>
      <p:pic>
        <p:nvPicPr>
          <p:cNvPr id="20" name="Icon" descr="/private/tmp/claude-503/-Users-davark-Downloads-Everything-Github-Alodi-Regional-Codex-Hackathon-2026/91e569a8-486f-4c0b-b683-a4991468f039/scratchpad/deck/assets/mark-square-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1264" y="2258568"/>
            <a:ext cx="201168" cy="201168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3584448" y="2606040"/>
            <a:ext cx="23042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21A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320</a:t>
            </a:r>
            <a:endParaRPr lang="en-US" sz="3800" dirty="0"/>
          </a:p>
        </p:txBody>
      </p:sp>
      <p:sp>
        <p:nvSpPr>
          <p:cNvPr id="22" name="Waffle 0"/>
          <p:cNvSpPr/>
          <p:nvPr/>
        </p:nvSpPr>
        <p:spPr>
          <a:xfrm>
            <a:off x="3584448" y="3474720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23" name="Waffle 1"/>
          <p:cNvSpPr/>
          <p:nvPr/>
        </p:nvSpPr>
        <p:spPr>
          <a:xfrm>
            <a:off x="3799332" y="3474720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24" name="Waffle 2"/>
          <p:cNvSpPr/>
          <p:nvPr/>
        </p:nvSpPr>
        <p:spPr>
          <a:xfrm>
            <a:off x="4014216" y="3474720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25" name="Waffle 3"/>
          <p:cNvSpPr/>
          <p:nvPr/>
        </p:nvSpPr>
        <p:spPr>
          <a:xfrm>
            <a:off x="4229100" y="3474720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26" name="Waffle 4"/>
          <p:cNvSpPr/>
          <p:nvPr/>
        </p:nvSpPr>
        <p:spPr>
          <a:xfrm>
            <a:off x="4443984" y="3474720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27" name="Waffle 5"/>
          <p:cNvSpPr/>
          <p:nvPr/>
        </p:nvSpPr>
        <p:spPr>
          <a:xfrm>
            <a:off x="4658868" y="3474720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28" name="Waffle 6"/>
          <p:cNvSpPr/>
          <p:nvPr/>
        </p:nvSpPr>
        <p:spPr>
          <a:xfrm>
            <a:off x="4873752" y="3474720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29" name="Waffle 7"/>
          <p:cNvSpPr/>
          <p:nvPr/>
        </p:nvSpPr>
        <p:spPr>
          <a:xfrm>
            <a:off x="5088636" y="3474720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30" name="Waffle 8"/>
          <p:cNvSpPr/>
          <p:nvPr/>
        </p:nvSpPr>
        <p:spPr>
          <a:xfrm>
            <a:off x="5303520" y="3474720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31" name="Waffle 9"/>
          <p:cNvSpPr/>
          <p:nvPr/>
        </p:nvSpPr>
        <p:spPr>
          <a:xfrm>
            <a:off x="5518404" y="3474720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32" name="Waffle 10"/>
          <p:cNvSpPr/>
          <p:nvPr/>
        </p:nvSpPr>
        <p:spPr>
          <a:xfrm>
            <a:off x="3584448" y="3598164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33" name="Waffle 11"/>
          <p:cNvSpPr/>
          <p:nvPr/>
        </p:nvSpPr>
        <p:spPr>
          <a:xfrm>
            <a:off x="3799332" y="3598164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34" name="Waffle 12"/>
          <p:cNvSpPr/>
          <p:nvPr/>
        </p:nvSpPr>
        <p:spPr>
          <a:xfrm>
            <a:off x="4014216" y="3598164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35" name="Waffle 13"/>
          <p:cNvSpPr/>
          <p:nvPr/>
        </p:nvSpPr>
        <p:spPr>
          <a:xfrm>
            <a:off x="4229100" y="3598164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36" name="Waffle 14"/>
          <p:cNvSpPr/>
          <p:nvPr/>
        </p:nvSpPr>
        <p:spPr>
          <a:xfrm>
            <a:off x="4443984" y="3598164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37" name="Waffle 15"/>
          <p:cNvSpPr/>
          <p:nvPr/>
        </p:nvSpPr>
        <p:spPr>
          <a:xfrm>
            <a:off x="4658868" y="3598164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38" name="Waffle 16"/>
          <p:cNvSpPr/>
          <p:nvPr/>
        </p:nvSpPr>
        <p:spPr>
          <a:xfrm>
            <a:off x="4873752" y="3598164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39" name="Waffle 17"/>
          <p:cNvSpPr/>
          <p:nvPr/>
        </p:nvSpPr>
        <p:spPr>
          <a:xfrm>
            <a:off x="5088636" y="3598164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40" name="Waffle 18"/>
          <p:cNvSpPr/>
          <p:nvPr/>
        </p:nvSpPr>
        <p:spPr>
          <a:xfrm>
            <a:off x="5303520" y="3598164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41" name="Waffle 19"/>
          <p:cNvSpPr/>
          <p:nvPr/>
        </p:nvSpPr>
        <p:spPr>
          <a:xfrm>
            <a:off x="5518404" y="3598164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42" name="Waffle 20"/>
          <p:cNvSpPr/>
          <p:nvPr/>
        </p:nvSpPr>
        <p:spPr>
          <a:xfrm>
            <a:off x="3584448" y="3721608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43" name="Waffle 21"/>
          <p:cNvSpPr/>
          <p:nvPr/>
        </p:nvSpPr>
        <p:spPr>
          <a:xfrm>
            <a:off x="3799332" y="3721608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44" name="Waffle 22"/>
          <p:cNvSpPr/>
          <p:nvPr/>
        </p:nvSpPr>
        <p:spPr>
          <a:xfrm>
            <a:off x="4014216" y="3721608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45" name="Waffle 23"/>
          <p:cNvSpPr/>
          <p:nvPr/>
        </p:nvSpPr>
        <p:spPr>
          <a:xfrm>
            <a:off x="4229100" y="3721608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46" name="Waffle 24"/>
          <p:cNvSpPr/>
          <p:nvPr/>
        </p:nvSpPr>
        <p:spPr>
          <a:xfrm>
            <a:off x="4443984" y="3721608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47" name="Waffle 25"/>
          <p:cNvSpPr/>
          <p:nvPr/>
        </p:nvSpPr>
        <p:spPr>
          <a:xfrm>
            <a:off x="4658868" y="3721608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48" name="Waffle 26"/>
          <p:cNvSpPr/>
          <p:nvPr/>
        </p:nvSpPr>
        <p:spPr>
          <a:xfrm>
            <a:off x="4873752" y="3721608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49" name="Waffle 27"/>
          <p:cNvSpPr/>
          <p:nvPr/>
        </p:nvSpPr>
        <p:spPr>
          <a:xfrm>
            <a:off x="5088636" y="3721608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50" name="Waffle 28"/>
          <p:cNvSpPr/>
          <p:nvPr/>
        </p:nvSpPr>
        <p:spPr>
          <a:xfrm>
            <a:off x="5303520" y="3721608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51" name="Waffle 29"/>
          <p:cNvSpPr/>
          <p:nvPr/>
        </p:nvSpPr>
        <p:spPr>
          <a:xfrm>
            <a:off x="5518404" y="3721608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52" name="Waffle 30"/>
          <p:cNvSpPr/>
          <p:nvPr/>
        </p:nvSpPr>
        <p:spPr>
          <a:xfrm>
            <a:off x="3584448" y="3845052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53" name="Waffle 31"/>
          <p:cNvSpPr/>
          <p:nvPr/>
        </p:nvSpPr>
        <p:spPr>
          <a:xfrm>
            <a:off x="3799332" y="3845052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54" name="Waffle 32"/>
          <p:cNvSpPr/>
          <p:nvPr/>
        </p:nvSpPr>
        <p:spPr>
          <a:xfrm>
            <a:off x="4014216" y="3845052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55" name="Waffle 33"/>
          <p:cNvSpPr/>
          <p:nvPr/>
        </p:nvSpPr>
        <p:spPr>
          <a:xfrm>
            <a:off x="4229100" y="3845052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56" name="Waffle 34"/>
          <p:cNvSpPr/>
          <p:nvPr/>
        </p:nvSpPr>
        <p:spPr>
          <a:xfrm>
            <a:off x="4443984" y="3845052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57" name="Waffle 35"/>
          <p:cNvSpPr/>
          <p:nvPr/>
        </p:nvSpPr>
        <p:spPr>
          <a:xfrm>
            <a:off x="4658868" y="3845052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58" name="Waffle 36"/>
          <p:cNvSpPr/>
          <p:nvPr/>
        </p:nvSpPr>
        <p:spPr>
          <a:xfrm>
            <a:off x="4873752" y="3845052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59" name="Waffle 37"/>
          <p:cNvSpPr/>
          <p:nvPr/>
        </p:nvSpPr>
        <p:spPr>
          <a:xfrm>
            <a:off x="5088636" y="3845052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60" name="Waffle 38"/>
          <p:cNvSpPr/>
          <p:nvPr/>
        </p:nvSpPr>
        <p:spPr>
          <a:xfrm>
            <a:off x="5303520" y="3845052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61" name="Waffle 39"/>
          <p:cNvSpPr/>
          <p:nvPr/>
        </p:nvSpPr>
        <p:spPr>
          <a:xfrm>
            <a:off x="5518404" y="3845052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62" name="Waffle 40"/>
          <p:cNvSpPr/>
          <p:nvPr/>
        </p:nvSpPr>
        <p:spPr>
          <a:xfrm>
            <a:off x="3584448" y="3968496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63" name="Waffle 41"/>
          <p:cNvSpPr/>
          <p:nvPr/>
        </p:nvSpPr>
        <p:spPr>
          <a:xfrm>
            <a:off x="3799332" y="3968496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64" name="Waffle 42"/>
          <p:cNvSpPr/>
          <p:nvPr/>
        </p:nvSpPr>
        <p:spPr>
          <a:xfrm>
            <a:off x="4014216" y="3968496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65" name="Waffle 43"/>
          <p:cNvSpPr/>
          <p:nvPr/>
        </p:nvSpPr>
        <p:spPr>
          <a:xfrm>
            <a:off x="4229100" y="3968496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66" name="Waffle 44"/>
          <p:cNvSpPr/>
          <p:nvPr/>
        </p:nvSpPr>
        <p:spPr>
          <a:xfrm>
            <a:off x="4443984" y="3968496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67" name="Waffle 45"/>
          <p:cNvSpPr/>
          <p:nvPr/>
        </p:nvSpPr>
        <p:spPr>
          <a:xfrm>
            <a:off x="4658868" y="3968496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68" name="Waffle 46"/>
          <p:cNvSpPr/>
          <p:nvPr/>
        </p:nvSpPr>
        <p:spPr>
          <a:xfrm>
            <a:off x="4873752" y="3968496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69" name="Waffle 47"/>
          <p:cNvSpPr/>
          <p:nvPr/>
        </p:nvSpPr>
        <p:spPr>
          <a:xfrm>
            <a:off x="5088636" y="3968496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70" name="Waffle 48"/>
          <p:cNvSpPr/>
          <p:nvPr/>
        </p:nvSpPr>
        <p:spPr>
          <a:xfrm>
            <a:off x="5303520" y="3968496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71" name="Waffle 49"/>
          <p:cNvSpPr/>
          <p:nvPr/>
        </p:nvSpPr>
        <p:spPr>
          <a:xfrm>
            <a:off x="5518404" y="3968496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72" name="Waffle 50"/>
          <p:cNvSpPr/>
          <p:nvPr/>
        </p:nvSpPr>
        <p:spPr>
          <a:xfrm>
            <a:off x="3584448" y="4091940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73" name="Waffle 51"/>
          <p:cNvSpPr/>
          <p:nvPr/>
        </p:nvSpPr>
        <p:spPr>
          <a:xfrm>
            <a:off x="3799332" y="4091940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74" name="Waffle 52"/>
          <p:cNvSpPr/>
          <p:nvPr/>
        </p:nvSpPr>
        <p:spPr>
          <a:xfrm>
            <a:off x="4014216" y="4091940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75" name="Waffle 53"/>
          <p:cNvSpPr/>
          <p:nvPr/>
        </p:nvSpPr>
        <p:spPr>
          <a:xfrm>
            <a:off x="4229100" y="4091940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76" name="Waffle 54"/>
          <p:cNvSpPr/>
          <p:nvPr/>
        </p:nvSpPr>
        <p:spPr>
          <a:xfrm>
            <a:off x="4443984" y="4091940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77" name="Waffle 55"/>
          <p:cNvSpPr/>
          <p:nvPr/>
        </p:nvSpPr>
        <p:spPr>
          <a:xfrm>
            <a:off x="4658868" y="4091940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78" name="Waffle 56"/>
          <p:cNvSpPr/>
          <p:nvPr/>
        </p:nvSpPr>
        <p:spPr>
          <a:xfrm>
            <a:off x="4873752" y="4091940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79" name="Waffle 57"/>
          <p:cNvSpPr/>
          <p:nvPr/>
        </p:nvSpPr>
        <p:spPr>
          <a:xfrm>
            <a:off x="5088636" y="4091940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80" name="Waffle 58"/>
          <p:cNvSpPr/>
          <p:nvPr/>
        </p:nvSpPr>
        <p:spPr>
          <a:xfrm>
            <a:off x="5303520" y="4091940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81" name="Waffle 59"/>
          <p:cNvSpPr/>
          <p:nvPr/>
        </p:nvSpPr>
        <p:spPr>
          <a:xfrm>
            <a:off x="5518404" y="4091940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82" name="Waffle 60"/>
          <p:cNvSpPr/>
          <p:nvPr/>
        </p:nvSpPr>
        <p:spPr>
          <a:xfrm>
            <a:off x="3584448" y="4215384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83" name="Waffle 61"/>
          <p:cNvSpPr/>
          <p:nvPr/>
        </p:nvSpPr>
        <p:spPr>
          <a:xfrm>
            <a:off x="3799332" y="4215384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84" name="Waffle 62"/>
          <p:cNvSpPr/>
          <p:nvPr/>
        </p:nvSpPr>
        <p:spPr>
          <a:xfrm>
            <a:off x="4014216" y="4215384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85" name="Waffle 63"/>
          <p:cNvSpPr/>
          <p:nvPr/>
        </p:nvSpPr>
        <p:spPr>
          <a:xfrm>
            <a:off x="4229100" y="4215384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86" name="Waffle 64"/>
          <p:cNvSpPr/>
          <p:nvPr/>
        </p:nvSpPr>
        <p:spPr>
          <a:xfrm>
            <a:off x="4443984" y="4215384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87" name="Waffle 65"/>
          <p:cNvSpPr/>
          <p:nvPr/>
        </p:nvSpPr>
        <p:spPr>
          <a:xfrm>
            <a:off x="4658868" y="4215384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88" name="Waffle 66"/>
          <p:cNvSpPr/>
          <p:nvPr/>
        </p:nvSpPr>
        <p:spPr>
          <a:xfrm>
            <a:off x="4873752" y="4215384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89" name="Waffle 67"/>
          <p:cNvSpPr/>
          <p:nvPr/>
        </p:nvSpPr>
        <p:spPr>
          <a:xfrm>
            <a:off x="5088636" y="4215384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90" name="Waffle 68"/>
          <p:cNvSpPr/>
          <p:nvPr/>
        </p:nvSpPr>
        <p:spPr>
          <a:xfrm>
            <a:off x="5303520" y="4215384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91" name="Waffle 69"/>
          <p:cNvSpPr/>
          <p:nvPr/>
        </p:nvSpPr>
        <p:spPr>
          <a:xfrm>
            <a:off x="5518404" y="4215384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92" name="Waffle 70"/>
          <p:cNvSpPr/>
          <p:nvPr/>
        </p:nvSpPr>
        <p:spPr>
          <a:xfrm>
            <a:off x="3584448" y="4338828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93" name="Waffle 71"/>
          <p:cNvSpPr/>
          <p:nvPr/>
        </p:nvSpPr>
        <p:spPr>
          <a:xfrm>
            <a:off x="3799332" y="4338828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94" name="Waffle 72"/>
          <p:cNvSpPr/>
          <p:nvPr/>
        </p:nvSpPr>
        <p:spPr>
          <a:xfrm>
            <a:off x="4014216" y="4338828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95" name="Waffle 73"/>
          <p:cNvSpPr/>
          <p:nvPr/>
        </p:nvSpPr>
        <p:spPr>
          <a:xfrm>
            <a:off x="4229100" y="4338828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96" name="Waffle 74"/>
          <p:cNvSpPr/>
          <p:nvPr/>
        </p:nvSpPr>
        <p:spPr>
          <a:xfrm>
            <a:off x="4443984" y="4338828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97" name="Waffle 75"/>
          <p:cNvSpPr/>
          <p:nvPr/>
        </p:nvSpPr>
        <p:spPr>
          <a:xfrm>
            <a:off x="4658868" y="4338828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98" name="Waffle 76"/>
          <p:cNvSpPr/>
          <p:nvPr/>
        </p:nvSpPr>
        <p:spPr>
          <a:xfrm>
            <a:off x="4873752" y="4338828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99" name="Waffle 77"/>
          <p:cNvSpPr/>
          <p:nvPr/>
        </p:nvSpPr>
        <p:spPr>
          <a:xfrm>
            <a:off x="5088636" y="4338828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100" name="Waffle 78"/>
          <p:cNvSpPr/>
          <p:nvPr/>
        </p:nvSpPr>
        <p:spPr>
          <a:xfrm>
            <a:off x="5303520" y="4338828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101" name="Waffle 79"/>
          <p:cNvSpPr/>
          <p:nvPr/>
        </p:nvSpPr>
        <p:spPr>
          <a:xfrm>
            <a:off x="5518404" y="4338828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102" name="Waffle 80"/>
          <p:cNvSpPr/>
          <p:nvPr/>
        </p:nvSpPr>
        <p:spPr>
          <a:xfrm>
            <a:off x="3584448" y="4462272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103" name="Waffle 81"/>
          <p:cNvSpPr/>
          <p:nvPr/>
        </p:nvSpPr>
        <p:spPr>
          <a:xfrm>
            <a:off x="3799332" y="4462272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104" name="Waffle 82"/>
          <p:cNvSpPr/>
          <p:nvPr/>
        </p:nvSpPr>
        <p:spPr>
          <a:xfrm>
            <a:off x="4014216" y="4462272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105" name="Waffle 83"/>
          <p:cNvSpPr/>
          <p:nvPr/>
        </p:nvSpPr>
        <p:spPr>
          <a:xfrm>
            <a:off x="4229100" y="4462272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106" name="Waffle 84"/>
          <p:cNvSpPr/>
          <p:nvPr/>
        </p:nvSpPr>
        <p:spPr>
          <a:xfrm>
            <a:off x="4443984" y="4462272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107" name="Waffle 85"/>
          <p:cNvSpPr/>
          <p:nvPr/>
        </p:nvSpPr>
        <p:spPr>
          <a:xfrm>
            <a:off x="4658868" y="4462272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108" name="Waffle 86"/>
          <p:cNvSpPr/>
          <p:nvPr/>
        </p:nvSpPr>
        <p:spPr>
          <a:xfrm>
            <a:off x="4873752" y="4462272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109" name="Waffle 87"/>
          <p:cNvSpPr/>
          <p:nvPr/>
        </p:nvSpPr>
        <p:spPr>
          <a:xfrm>
            <a:off x="5088636" y="4462272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110" name="Waffle 88"/>
          <p:cNvSpPr/>
          <p:nvPr/>
        </p:nvSpPr>
        <p:spPr>
          <a:xfrm>
            <a:off x="5303520" y="4462272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111" name="Waffle 89"/>
          <p:cNvSpPr/>
          <p:nvPr/>
        </p:nvSpPr>
        <p:spPr>
          <a:xfrm>
            <a:off x="5518404" y="4462272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112" name="Waffle 90"/>
          <p:cNvSpPr/>
          <p:nvPr/>
        </p:nvSpPr>
        <p:spPr>
          <a:xfrm>
            <a:off x="3584448" y="4585716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113" name="Waffle 91"/>
          <p:cNvSpPr/>
          <p:nvPr/>
        </p:nvSpPr>
        <p:spPr>
          <a:xfrm>
            <a:off x="3799332" y="4585716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114" name="Waffle 92"/>
          <p:cNvSpPr/>
          <p:nvPr/>
        </p:nvSpPr>
        <p:spPr>
          <a:xfrm>
            <a:off x="4014216" y="4585716"/>
            <a:ext cx="173736" cy="91440"/>
          </a:xfrm>
          <a:prstGeom prst="rect">
            <a:avLst/>
          </a:prstGeom>
          <a:solidFill>
            <a:srgbClr val="F05A00"/>
          </a:solidFill>
          <a:ln/>
        </p:spPr>
      </p:sp>
      <p:sp>
        <p:nvSpPr>
          <p:cNvPr id="115" name="Waffle 93"/>
          <p:cNvSpPr/>
          <p:nvPr/>
        </p:nvSpPr>
        <p:spPr>
          <a:xfrm>
            <a:off x="4229100" y="4585716"/>
            <a:ext cx="173736" cy="91440"/>
          </a:xfrm>
          <a:prstGeom prst="rect">
            <a:avLst/>
          </a:prstGeom>
          <a:solidFill>
            <a:srgbClr val="F05A00"/>
          </a:solidFill>
          <a:ln/>
        </p:spPr>
      </p:sp>
      <p:sp>
        <p:nvSpPr>
          <p:cNvPr id="116" name="Waffle 94"/>
          <p:cNvSpPr/>
          <p:nvPr/>
        </p:nvSpPr>
        <p:spPr>
          <a:xfrm>
            <a:off x="4443984" y="4585716"/>
            <a:ext cx="173736" cy="91440"/>
          </a:xfrm>
          <a:prstGeom prst="rect">
            <a:avLst/>
          </a:prstGeom>
          <a:solidFill>
            <a:srgbClr val="F05A00"/>
          </a:solidFill>
          <a:ln/>
        </p:spPr>
      </p:sp>
      <p:sp>
        <p:nvSpPr>
          <p:cNvPr id="117" name="Waffle 95"/>
          <p:cNvSpPr/>
          <p:nvPr/>
        </p:nvSpPr>
        <p:spPr>
          <a:xfrm>
            <a:off x="4658868" y="4585716"/>
            <a:ext cx="173736" cy="91440"/>
          </a:xfrm>
          <a:prstGeom prst="rect">
            <a:avLst/>
          </a:prstGeom>
          <a:solidFill>
            <a:srgbClr val="F05A00"/>
          </a:solidFill>
          <a:ln/>
        </p:spPr>
      </p:sp>
      <p:sp>
        <p:nvSpPr>
          <p:cNvPr id="118" name="Waffle 96"/>
          <p:cNvSpPr/>
          <p:nvPr/>
        </p:nvSpPr>
        <p:spPr>
          <a:xfrm>
            <a:off x="4873752" y="4585716"/>
            <a:ext cx="173736" cy="91440"/>
          </a:xfrm>
          <a:prstGeom prst="rect">
            <a:avLst/>
          </a:prstGeom>
          <a:solidFill>
            <a:srgbClr val="F05A00"/>
          </a:solidFill>
          <a:ln/>
        </p:spPr>
      </p:sp>
      <p:sp>
        <p:nvSpPr>
          <p:cNvPr id="119" name="Waffle 97"/>
          <p:cNvSpPr/>
          <p:nvPr/>
        </p:nvSpPr>
        <p:spPr>
          <a:xfrm>
            <a:off x="5088636" y="4585716"/>
            <a:ext cx="173736" cy="91440"/>
          </a:xfrm>
          <a:prstGeom prst="rect">
            <a:avLst/>
          </a:prstGeom>
          <a:solidFill>
            <a:srgbClr val="F05A00"/>
          </a:solidFill>
          <a:ln/>
        </p:spPr>
      </p:sp>
      <p:sp>
        <p:nvSpPr>
          <p:cNvPr id="120" name="Waffle 98"/>
          <p:cNvSpPr/>
          <p:nvPr/>
        </p:nvSpPr>
        <p:spPr>
          <a:xfrm>
            <a:off x="5303520" y="4585716"/>
            <a:ext cx="173736" cy="91440"/>
          </a:xfrm>
          <a:prstGeom prst="rect">
            <a:avLst/>
          </a:prstGeom>
          <a:solidFill>
            <a:srgbClr val="F05A00"/>
          </a:solidFill>
          <a:ln/>
        </p:spPr>
      </p:sp>
      <p:sp>
        <p:nvSpPr>
          <p:cNvPr id="121" name="Waffle 99"/>
          <p:cNvSpPr/>
          <p:nvPr/>
        </p:nvSpPr>
        <p:spPr>
          <a:xfrm>
            <a:off x="5518404" y="4585716"/>
            <a:ext cx="173736" cy="91440"/>
          </a:xfrm>
          <a:prstGeom prst="rect">
            <a:avLst/>
          </a:prstGeom>
          <a:solidFill>
            <a:srgbClr val="F05A00"/>
          </a:solidFill>
          <a:ln/>
        </p:spPr>
      </p:sp>
      <p:sp>
        <p:nvSpPr>
          <p:cNvPr id="122" name="Text 118"/>
          <p:cNvSpPr txBox="1"/>
          <p:nvPr/>
        </p:nvSpPr>
        <p:spPr>
          <a:xfrm>
            <a:off x="3584448" y="4663440"/>
            <a:ext cx="228600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2A31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4,000 orders fail the first attempt: 8 in every 100.</a:t>
            </a:r>
            <a:pPr indent="0" marL="0">
              <a:buNone/>
            </a:pPr>
            <a:r>
              <a:rPr lang="en-US" sz="1000" dirty="0">
                <a:solidFill>
                  <a:srgbClr val="6B72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[3]</a:t>
            </a:r>
            <a:endParaRPr lang="en-US" sz="1200" dirty="0"/>
          </a:p>
        </p:txBody>
      </p:sp>
      <p:sp>
        <p:nvSpPr>
          <p:cNvPr id="123" name="Card 3"/>
          <p:cNvSpPr/>
          <p:nvPr/>
        </p:nvSpPr>
        <p:spPr>
          <a:xfrm>
            <a:off x="6163056" y="2011680"/>
            <a:ext cx="2670048" cy="3931920"/>
          </a:xfrm>
          <a:prstGeom prst="roundRect">
            <a:avLst>
              <a:gd name="adj" fmla="val 4795"/>
            </a:avLst>
          </a:prstGeom>
          <a:solidFill>
            <a:srgbClr val="FFFFFF"/>
          </a:solidFill>
          <a:ln w="9525">
            <a:solidFill>
              <a:srgbClr val="E3E5EA"/>
            </a:solidFill>
            <a:prstDash val="solid"/>
          </a:ln>
        </p:spPr>
      </p:sp>
      <p:sp>
        <p:nvSpPr>
          <p:cNvPr id="124" name="Text 120"/>
          <p:cNvSpPr txBox="1"/>
          <p:nvPr/>
        </p:nvSpPr>
        <p:spPr>
          <a:xfrm>
            <a:off x="6391656" y="2267712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464E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RETURNED · EVERY DAY</a:t>
            </a:r>
            <a:endParaRPr lang="en-US" sz="900" dirty="0"/>
          </a:p>
        </p:txBody>
      </p:sp>
      <p:sp>
        <p:nvSpPr>
          <p:cNvPr id="125" name="Icon tile"/>
          <p:cNvSpPr/>
          <p:nvPr/>
        </p:nvSpPr>
        <p:spPr>
          <a:xfrm>
            <a:off x="8284464" y="2194560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F1F2F5"/>
          </a:solidFill>
          <a:ln/>
        </p:spPr>
      </p:sp>
      <p:pic>
        <p:nvPicPr>
          <p:cNvPr id="126" name="Icon" descr="/private/tmp/claude-503/-Users-davark-Downloads-Everything-Github-Alodi-Regional-Codex-Hackathon-2026/91e569a8-486f-4c0b-b683-a4991468f039/scratchpad/deck/assets/mark-check-nav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48472" y="2258568"/>
            <a:ext cx="201168" cy="201168"/>
          </a:xfrm>
          <a:prstGeom prst="rect">
            <a:avLst/>
          </a:prstGeom>
        </p:spPr>
      </p:pic>
      <p:sp>
        <p:nvSpPr>
          <p:cNvPr id="127" name="Text 122"/>
          <p:cNvSpPr txBox="1"/>
          <p:nvPr/>
        </p:nvSpPr>
        <p:spPr>
          <a:xfrm>
            <a:off x="6391656" y="2606040"/>
            <a:ext cx="23042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21A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240</a:t>
            </a:r>
            <a:endParaRPr lang="en-US" sz="3800" dirty="0"/>
          </a:p>
        </p:txBody>
      </p:sp>
      <p:sp>
        <p:nvSpPr>
          <p:cNvPr id="128" name="Rescued bar"/>
          <p:cNvSpPr/>
          <p:nvPr/>
        </p:nvSpPr>
        <p:spPr>
          <a:xfrm>
            <a:off x="6391656" y="3611880"/>
            <a:ext cx="553212" cy="310896"/>
          </a:xfrm>
          <a:prstGeom prst="rect">
            <a:avLst/>
          </a:prstGeom>
          <a:solidFill>
            <a:srgbClr val="8A91A6"/>
          </a:solidFill>
          <a:ln/>
        </p:spPr>
      </p:sp>
      <p:sp>
        <p:nvSpPr>
          <p:cNvPr id="129" name="Returned bar"/>
          <p:cNvSpPr/>
          <p:nvPr/>
        </p:nvSpPr>
        <p:spPr>
          <a:xfrm>
            <a:off x="6963156" y="3611880"/>
            <a:ext cx="1641348" cy="310896"/>
          </a:xfrm>
          <a:prstGeom prst="rect">
            <a:avLst/>
          </a:prstGeom>
          <a:solidFill>
            <a:srgbClr val="1F2A44"/>
          </a:solidFill>
          <a:ln/>
        </p:spPr>
      </p:sp>
      <p:sp>
        <p:nvSpPr>
          <p:cNvPr id="130" name="Text 125"/>
          <p:cNvSpPr txBox="1"/>
          <p:nvPr/>
        </p:nvSpPr>
        <p:spPr>
          <a:xfrm>
            <a:off x="6391656" y="4005072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64E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 rescued</a:t>
            </a:r>
            <a:endParaRPr lang="en-US" sz="1000" dirty="0"/>
          </a:p>
        </p:txBody>
      </p:sp>
      <p:sp>
        <p:nvSpPr>
          <p:cNvPr id="131" name="Text 126"/>
          <p:cNvSpPr txBox="1"/>
          <p:nvPr/>
        </p:nvSpPr>
        <p:spPr>
          <a:xfrm>
            <a:off x="7260336" y="4005072"/>
            <a:ext cx="1143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240 returned</a:t>
            </a:r>
            <a:endParaRPr lang="en-US" sz="1000" dirty="0"/>
          </a:p>
        </p:txBody>
      </p:sp>
      <p:sp>
        <p:nvSpPr>
          <p:cNvPr id="132" name="Text 127"/>
          <p:cNvSpPr txBox="1"/>
          <p:nvPr/>
        </p:nvSpPr>
        <p:spPr>
          <a:xfrm>
            <a:off x="6391656" y="4663440"/>
            <a:ext cx="228600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2A31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 back to the seller. Today only about 1 in 4 failed orders is rescued.</a:t>
            </a:r>
            <a:pPr indent="0" marL="0">
              <a:buNone/>
            </a:pPr>
            <a:r>
              <a:rPr lang="en-US" sz="1000" dirty="0">
                <a:solidFill>
                  <a:srgbClr val="6B72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[7]</a:t>
            </a:r>
            <a:endParaRPr lang="en-US" sz="1200" dirty="0"/>
          </a:p>
        </p:txBody>
      </p:sp>
      <p:sp>
        <p:nvSpPr>
          <p:cNvPr id="133" name="Card 4"/>
          <p:cNvSpPr/>
          <p:nvPr/>
        </p:nvSpPr>
        <p:spPr>
          <a:xfrm>
            <a:off x="8970264" y="2011680"/>
            <a:ext cx="2670048" cy="3931920"/>
          </a:xfrm>
          <a:prstGeom prst="roundRect">
            <a:avLst>
              <a:gd name="adj" fmla="val 4795"/>
            </a:avLst>
          </a:prstGeom>
          <a:solidFill>
            <a:srgbClr val="FFFFFF"/>
          </a:solidFill>
          <a:ln w="9525">
            <a:solidFill>
              <a:srgbClr val="E3E5EA"/>
            </a:solidFill>
            <a:prstDash val="solid"/>
          </a:ln>
        </p:spPr>
      </p:sp>
      <p:sp>
        <p:nvSpPr>
          <p:cNvPr id="134" name="Text 129"/>
          <p:cNvSpPr txBox="1"/>
          <p:nvPr/>
        </p:nvSpPr>
        <p:spPr>
          <a:xfrm>
            <a:off x="9198864" y="2267712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464E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PEOPLE · PER AREA</a:t>
            </a:r>
            <a:endParaRPr lang="en-US" sz="900" dirty="0"/>
          </a:p>
        </p:txBody>
      </p:sp>
      <p:sp>
        <p:nvSpPr>
          <p:cNvPr id="135" name="Icon tile"/>
          <p:cNvSpPr/>
          <p:nvPr/>
        </p:nvSpPr>
        <p:spPr>
          <a:xfrm>
            <a:off x="11091672" y="2194560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F1F2F5"/>
          </a:solidFill>
          <a:ln/>
        </p:spPr>
      </p:sp>
      <p:pic>
        <p:nvPicPr>
          <p:cNvPr id="136" name="Icon" descr="/private/tmp/claude-503/-Users-davark-Downloads-Everything-Github-Alodi-Regional-Codex-Hackathon-2026/91e569a8-486f-4c0b-b683-a4991468f039/scratchpad/deck/assets/mark-bars-nav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55680" y="2258568"/>
            <a:ext cx="201168" cy="201168"/>
          </a:xfrm>
          <a:prstGeom prst="rect">
            <a:avLst/>
          </a:prstGeom>
        </p:spPr>
      </p:pic>
      <p:sp>
        <p:nvSpPr>
          <p:cNvPr id="137" name="Text 131"/>
          <p:cNvSpPr txBox="1"/>
          <p:nvPr/>
        </p:nvSpPr>
        <p:spPr>
          <a:xfrm>
            <a:off x="9198864" y="2606040"/>
            <a:ext cx="23042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0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</a:t>
            </a:r>
            <a:pPr indent="0" marL="0">
              <a:buNone/>
            </a:pPr>
            <a:r>
              <a:rPr lang="en-US" sz="3800" b="1" dirty="0">
                <a:solidFill>
                  <a:srgbClr val="121A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3800" dirty="0"/>
          </a:p>
        </p:txBody>
      </p:sp>
      <p:sp>
        <p:nvSpPr>
          <p:cNvPr id="138" name="Person 0"/>
          <p:cNvSpPr/>
          <p:nvPr/>
        </p:nvSpPr>
        <p:spPr>
          <a:xfrm>
            <a:off x="9198864" y="3566160"/>
            <a:ext cx="310896" cy="310896"/>
          </a:xfrm>
          <a:prstGeom prst="ellipse">
            <a:avLst/>
          </a:prstGeom>
          <a:solidFill>
            <a:srgbClr val="1F2A44"/>
          </a:solidFill>
          <a:ln w="9525">
            <a:solidFill>
              <a:srgbClr val="1F2A44"/>
            </a:solidFill>
            <a:prstDash val="solid"/>
          </a:ln>
        </p:spPr>
      </p:sp>
      <p:sp>
        <p:nvSpPr>
          <p:cNvPr id="139" name="Person 1"/>
          <p:cNvSpPr/>
          <p:nvPr/>
        </p:nvSpPr>
        <p:spPr>
          <a:xfrm>
            <a:off x="9637776" y="3566160"/>
            <a:ext cx="310896" cy="310896"/>
          </a:xfrm>
          <a:prstGeom prst="ellipse">
            <a:avLst/>
          </a:prstGeom>
          <a:solidFill>
            <a:srgbClr val="1F2A44"/>
          </a:solidFill>
          <a:ln w="9525">
            <a:solidFill>
              <a:srgbClr val="1F2A44"/>
            </a:solidFill>
            <a:prstDash val="solid"/>
          </a:ln>
        </p:spPr>
      </p:sp>
      <p:sp>
        <p:nvSpPr>
          <p:cNvPr id="140" name="Person 2"/>
          <p:cNvSpPr/>
          <p:nvPr/>
        </p:nvSpPr>
        <p:spPr>
          <a:xfrm>
            <a:off x="10076688" y="3566160"/>
            <a:ext cx="310896" cy="310896"/>
          </a:xfrm>
          <a:prstGeom prst="ellipse">
            <a:avLst/>
          </a:prstGeom>
          <a:solidFill>
            <a:srgbClr val="1F2A44"/>
          </a:solidFill>
          <a:ln w="9525">
            <a:solidFill>
              <a:srgbClr val="1F2A44"/>
            </a:solidFill>
            <a:prstDash val="solid"/>
          </a:ln>
        </p:spPr>
      </p:sp>
      <p:sp>
        <p:nvSpPr>
          <p:cNvPr id="141" name="Person 3"/>
          <p:cNvSpPr/>
          <p:nvPr/>
        </p:nvSpPr>
        <p:spPr>
          <a:xfrm>
            <a:off x="10515600" y="3566160"/>
            <a:ext cx="310896" cy="310896"/>
          </a:xfrm>
          <a:prstGeom prst="ellipse">
            <a:avLst/>
          </a:prstGeom>
          <a:solidFill>
            <a:srgbClr val="1F2A44"/>
          </a:solidFill>
          <a:ln w="9525">
            <a:solidFill>
              <a:srgbClr val="1F2A44"/>
            </a:solidFill>
            <a:prstDash val="solid"/>
          </a:ln>
        </p:spPr>
      </p:sp>
      <p:sp>
        <p:nvSpPr>
          <p:cNvPr id="142" name="Person 4"/>
          <p:cNvSpPr/>
          <p:nvPr/>
        </p:nvSpPr>
        <p:spPr>
          <a:xfrm>
            <a:off x="10954512" y="3566160"/>
            <a:ext cx="310896" cy="310896"/>
          </a:xfrm>
          <a:prstGeom prst="ellipse">
            <a:avLst/>
          </a:prstGeom>
          <a:solidFill>
            <a:srgbClr val="1F2A44"/>
          </a:solidFill>
          <a:ln w="9525">
            <a:solidFill>
              <a:srgbClr val="1F2A44"/>
            </a:solidFill>
            <a:prstDash val="solid"/>
          </a:ln>
        </p:spPr>
      </p:sp>
      <p:sp>
        <p:nvSpPr>
          <p:cNvPr id="143" name="Person 5"/>
          <p:cNvSpPr/>
          <p:nvPr/>
        </p:nvSpPr>
        <p:spPr>
          <a:xfrm>
            <a:off x="9198864" y="4005072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8A0B2"/>
            </a:solidFill>
            <a:prstDash val="solid"/>
          </a:ln>
        </p:spPr>
      </p:sp>
      <p:sp>
        <p:nvSpPr>
          <p:cNvPr id="144" name="Person 6"/>
          <p:cNvSpPr/>
          <p:nvPr/>
        </p:nvSpPr>
        <p:spPr>
          <a:xfrm>
            <a:off x="9637776" y="4005072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8A0B2"/>
            </a:solidFill>
            <a:prstDash val="solid"/>
          </a:ln>
        </p:spPr>
      </p:sp>
      <p:sp>
        <p:nvSpPr>
          <p:cNvPr id="145" name="Person 7"/>
          <p:cNvSpPr/>
          <p:nvPr/>
        </p:nvSpPr>
        <p:spPr>
          <a:xfrm>
            <a:off x="10076688" y="4005072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8A0B2"/>
            </a:solidFill>
            <a:prstDash val="solid"/>
          </a:ln>
        </p:spPr>
      </p:sp>
      <p:sp>
        <p:nvSpPr>
          <p:cNvPr id="146" name="Person 8"/>
          <p:cNvSpPr/>
          <p:nvPr/>
        </p:nvSpPr>
        <p:spPr>
          <a:xfrm>
            <a:off x="10515600" y="4005072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8A0B2"/>
            </a:solidFill>
            <a:prstDash val="solid"/>
          </a:ln>
        </p:spPr>
      </p:sp>
      <p:sp>
        <p:nvSpPr>
          <p:cNvPr id="147" name="Person 9"/>
          <p:cNvSpPr/>
          <p:nvPr/>
        </p:nvSpPr>
        <p:spPr>
          <a:xfrm>
            <a:off x="10954512" y="4005072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8A0B2"/>
            </a:solidFill>
            <a:prstDash val="solid"/>
          </a:ln>
        </p:spPr>
      </p:sp>
      <p:sp>
        <p:nvSpPr>
          <p:cNvPr id="148" name="Text 142"/>
          <p:cNvSpPr txBox="1"/>
          <p:nvPr/>
        </p:nvSpPr>
        <p:spPr>
          <a:xfrm>
            <a:off x="9198864" y="4663440"/>
            <a:ext cx="228600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2A31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full-time callers just to phone 320 buyers twice a day. People don’t scale.</a:t>
            </a:r>
            <a:pPr indent="0" marL="0">
              <a:buNone/>
            </a:pPr>
            <a:r>
              <a:rPr lang="en-US" sz="1000" dirty="0">
                <a:solidFill>
                  <a:srgbClr val="6B72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[8]</a:t>
            </a:r>
            <a:endParaRPr lang="en-US" sz="1200" dirty="0"/>
          </a:p>
        </p:txBody>
      </p:sp>
      <p:sp>
        <p:nvSpPr>
          <p:cNvPr id="149" name="Text 143"/>
          <p:cNvSpPr txBox="1"/>
          <p:nvPr/>
        </p:nvSpPr>
        <p:spPr>
          <a:xfrm>
            <a:off x="10728655" y="6400800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464E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13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 rule"/>
          <p:cNvSpPr/>
          <p:nvPr/>
        </p:nvSpPr>
        <p:spPr>
          <a:xfrm>
            <a:off x="4800600" y="612648"/>
            <a:ext cx="292608" cy="0"/>
          </a:xfrm>
          <a:prstGeom prst="line">
            <a:avLst/>
          </a:prstGeom>
          <a:noFill/>
          <a:ln w="15875">
            <a:solidFill>
              <a:srgbClr val="F05A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212080" y="493776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200" kern="0" dirty="0">
                <a:solidFill>
                  <a:srgbClr val="6B72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</a:t>
            </a:r>
            <a:pPr indent="0" marL="0">
              <a:buNone/>
            </a:pPr>
            <a:r>
              <a:rPr lang="en-US" sz="1050" b="1" spc="200" kern="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HEARD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4800600" y="841248"/>
            <a:ext cx="6858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98A0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asked both sides </a:t>
            </a:r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21A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the same missed call.</a:t>
            </a:r>
            <a:endParaRPr lang="en-US" sz="3000" dirty="0"/>
          </a:p>
        </p:txBody>
      </p:sp>
      <p:pic>
        <p:nvPicPr>
          <p:cNvPr id="5" name="Field photo" descr="SPX Express hub, Ho Chi Minh Cit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3886200" cy="5486400"/>
          </a:xfrm>
          <a:prstGeom prst="rect">
            <a:avLst/>
          </a:prstGeom>
        </p:spPr>
      </p:pic>
      <p:pic>
        <p:nvPicPr>
          <p:cNvPr id="6" name="Photo fade" descr="/private/tmp/claude-503/-Users-davark-Downloads-Everything-Github-Alodi-Regional-Codex-Hackathon-2026/91e569a8-486f-4c0b-b683-a4991468f039/scratchpad/deck/assets/fade-botto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572000"/>
            <a:ext cx="3886200" cy="1417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77240" y="5623560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 VISIT · SPX EXPRESS HUB, HCMC</a:t>
            </a:r>
            <a:endParaRPr lang="en-US" sz="850" dirty="0"/>
          </a:p>
        </p:txBody>
      </p:sp>
      <p:sp>
        <p:nvSpPr>
          <p:cNvPr id="8" name="Group rule 0"/>
          <p:cNvSpPr/>
          <p:nvPr/>
        </p:nvSpPr>
        <p:spPr>
          <a:xfrm>
            <a:off x="4800600" y="2057400"/>
            <a:ext cx="6839712" cy="0"/>
          </a:xfrm>
          <a:prstGeom prst="line">
            <a:avLst/>
          </a:prstGeom>
          <a:noFill/>
          <a:ln w="12700">
            <a:solidFill>
              <a:srgbClr val="121A2C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4800600" y="219456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464E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BUYERS · N = 100</a:t>
            </a:r>
            <a:endParaRPr lang="en-US" sz="900" dirty="0"/>
          </a:p>
        </p:txBody>
      </p:sp>
      <p:sp>
        <p:nvSpPr>
          <p:cNvPr id="10" name="Text 6"/>
          <p:cNvSpPr txBox="1"/>
          <p:nvPr/>
        </p:nvSpPr>
        <p:spPr>
          <a:xfrm>
            <a:off x="4800600" y="246888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21A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</a:t>
            </a:r>
            <a:pPr indent="0" marL="0">
              <a:buNone/>
            </a:pPr>
            <a:r>
              <a:rPr lang="en-US" sz="4800" b="1" dirty="0">
                <a:solidFill>
                  <a:srgbClr val="F0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</a:t>
            </a:r>
            <a:endParaRPr lang="en-US" sz="4800" dirty="0"/>
          </a:p>
        </p:txBody>
      </p:sp>
      <p:sp>
        <p:nvSpPr>
          <p:cNvPr id="11" name="Text 7"/>
          <p:cNvSpPr txBox="1"/>
          <p:nvPr/>
        </p:nvSpPr>
        <p:spPr>
          <a:xfrm>
            <a:off x="4800600" y="3227832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31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want to choose a delivery window</a:t>
            </a:r>
            <a:pPr indent="0" marL="0">
              <a:buNone/>
            </a:pPr>
            <a:r>
              <a:rPr lang="en-US" sz="1000" dirty="0">
                <a:solidFill>
                  <a:srgbClr val="6B72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[9]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8275320" y="246888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21A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</a:t>
            </a:r>
            <a:pPr indent="0" marL="0">
              <a:buNone/>
            </a:pPr>
            <a:r>
              <a:rPr lang="en-US" sz="4800" b="1" dirty="0">
                <a:solidFill>
                  <a:srgbClr val="F0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</a:t>
            </a:r>
            <a:endParaRPr lang="en-US" sz="4800" dirty="0"/>
          </a:p>
        </p:txBody>
      </p:sp>
      <p:sp>
        <p:nvSpPr>
          <p:cNvPr id="13" name="Text 9"/>
          <p:cNvSpPr txBox="1"/>
          <p:nvPr/>
        </p:nvSpPr>
        <p:spPr>
          <a:xfrm>
            <a:off x="8275320" y="3227832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31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called the courier back and couldn’t reach them</a:t>
            </a:r>
            <a:pPr indent="0" marL="0">
              <a:buNone/>
            </a:pPr>
            <a:r>
              <a:rPr lang="en-US" sz="1000" dirty="0">
                <a:solidFill>
                  <a:srgbClr val="6B72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[9]</a:t>
            </a:r>
            <a:endParaRPr lang="en-US" sz="1400" dirty="0"/>
          </a:p>
        </p:txBody>
      </p:sp>
      <p:sp>
        <p:nvSpPr>
          <p:cNvPr id="14" name="Group rule 1"/>
          <p:cNvSpPr/>
          <p:nvPr/>
        </p:nvSpPr>
        <p:spPr>
          <a:xfrm>
            <a:off x="4800600" y="3840480"/>
            <a:ext cx="6839712" cy="0"/>
          </a:xfrm>
          <a:prstGeom prst="line">
            <a:avLst/>
          </a:prstGeom>
          <a:noFill/>
          <a:ln w="12700">
            <a:solidFill>
              <a:srgbClr val="121A2C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800600" y="397764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464E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COURIERS · N = 12 · 6 CARRIERS</a:t>
            </a:r>
            <a:endParaRPr lang="en-US" sz="900" dirty="0"/>
          </a:p>
        </p:txBody>
      </p:sp>
      <p:sp>
        <p:nvSpPr>
          <p:cNvPr id="16" name="Text 12"/>
          <p:cNvSpPr txBox="1"/>
          <p:nvPr/>
        </p:nvSpPr>
        <p:spPr>
          <a:xfrm>
            <a:off x="4800600" y="425196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21A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pPr indent="0" marL="0">
              <a:buNone/>
            </a:pPr>
            <a:r>
              <a:rPr lang="en-US" sz="4800" b="1" dirty="0">
                <a:solidFill>
                  <a:srgbClr val="F0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</a:t>
            </a:r>
            <a:endParaRPr lang="en-US" sz="4800" dirty="0"/>
          </a:p>
        </p:txBody>
      </p:sp>
      <p:sp>
        <p:nvSpPr>
          <p:cNvPr id="17" name="Text 13"/>
          <p:cNvSpPr txBox="1"/>
          <p:nvPr/>
        </p:nvSpPr>
        <p:spPr>
          <a:xfrm>
            <a:off x="4800600" y="5010912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31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their calls to buyers go unanswered</a:t>
            </a:r>
            <a:pPr indent="0" marL="0">
              <a:buNone/>
            </a:pPr>
            <a:r>
              <a:rPr lang="en-US" sz="1000" dirty="0">
                <a:solidFill>
                  <a:srgbClr val="6B72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[9]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8275320" y="425196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21A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</a:t>
            </a:r>
            <a:pPr indent="0" marL="0">
              <a:buNone/>
            </a:pPr>
            <a:r>
              <a:rPr lang="en-US" sz="4800" b="1" dirty="0">
                <a:solidFill>
                  <a:srgbClr val="F0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</a:t>
            </a:r>
            <a:endParaRPr lang="en-US" sz="4800" dirty="0"/>
          </a:p>
        </p:txBody>
      </p:sp>
      <p:sp>
        <p:nvSpPr>
          <p:cNvPr id="19" name="Text 15"/>
          <p:cNvSpPr txBox="1"/>
          <p:nvPr/>
        </p:nvSpPr>
        <p:spPr>
          <a:xfrm>
            <a:off x="8275320" y="5010912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31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would use an Alodi-like system</a:t>
            </a:r>
            <a:pPr indent="0" marL="0">
              <a:buNone/>
            </a:pPr>
            <a:r>
              <a:rPr lang="en-US" sz="1000" dirty="0">
                <a:solidFill>
                  <a:srgbClr val="6B72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[9]</a:t>
            </a:r>
            <a:endParaRPr lang="en-US" sz="1400" dirty="0"/>
          </a:p>
        </p:txBody>
      </p:sp>
      <p:sp>
        <p:nvSpPr>
          <p:cNvPr id="20" name="Text 16"/>
          <p:cNvSpPr txBox="1"/>
          <p:nvPr/>
        </p:nvSpPr>
        <p:spPr>
          <a:xfrm>
            <a:off x="10728655" y="6400800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464E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 13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hone photo" descr="A hand holding a smartph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4480560" cy="5486400"/>
          </a:xfrm>
          <a:prstGeom prst="rect">
            <a:avLst/>
          </a:prstGeom>
        </p:spPr>
      </p:pic>
      <p:pic>
        <p:nvPicPr>
          <p:cNvPr id="3" name="Photo fade" descr="/private/tmp/claude-503/-Users-davark-Downloads-Everything-Github-Alodi-Regional-Codex-Hackathon-2026/91e569a8-486f-4c0b-b683-a4991468f039/scratchpad/deck/assets/fade-botto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931920"/>
            <a:ext cx="4480560" cy="20574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822960" y="507492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“Called twice. No answer.”</a:t>
            </a:r>
            <a:endParaRPr lang="en-US" sz="2200" dirty="0"/>
          </a:p>
        </p:txBody>
      </p:sp>
      <p:sp>
        <p:nvSpPr>
          <p:cNvPr id="5" name="Eyebrow rule"/>
          <p:cNvSpPr/>
          <p:nvPr/>
        </p:nvSpPr>
        <p:spPr>
          <a:xfrm>
            <a:off x="5440680" y="612648"/>
            <a:ext cx="292608" cy="0"/>
          </a:xfrm>
          <a:prstGeom prst="line">
            <a:avLst/>
          </a:prstGeom>
          <a:noFill/>
          <a:ln w="15875">
            <a:solidFill>
              <a:srgbClr val="F05A00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5852160" y="5029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6B72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</a:t>
            </a:r>
            <a:pPr indent="0" marL="0">
              <a:buNone/>
            </a:pPr>
            <a:r>
              <a:rPr lang="en-US" sz="9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ROOT CAUSE</a:t>
            </a:r>
            <a:endParaRPr lang="en-US" sz="950" dirty="0"/>
          </a:p>
        </p:txBody>
      </p:sp>
      <p:sp>
        <p:nvSpPr>
          <p:cNvPr id="7" name="Text 3"/>
          <p:cNvSpPr txBox="1"/>
          <p:nvPr/>
        </p:nvSpPr>
        <p:spPr>
          <a:xfrm>
            <a:off x="5440680" y="841248"/>
            <a:ext cx="6217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9A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Nothing is broken in the route. </a:t>
            </a:r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context dies in a phone call.</a:t>
            </a:r>
            <a:endParaRPr lang="en-US" sz="3000" dirty="0"/>
          </a:p>
        </p:txBody>
      </p:sp>
      <p:sp>
        <p:nvSpPr>
          <p:cNvPr id="8" name="Cause 1"/>
          <p:cNvSpPr/>
          <p:nvPr/>
        </p:nvSpPr>
        <p:spPr>
          <a:xfrm>
            <a:off x="5440680" y="2514600"/>
            <a:ext cx="3017520" cy="1600200"/>
          </a:xfrm>
          <a:prstGeom prst="roundRect">
            <a:avLst>
              <a:gd name="adj" fmla="val 8000"/>
            </a:avLst>
          </a:prstGeom>
          <a:solidFill>
            <a:srgbClr val="1B2438"/>
          </a:solidFill>
          <a:ln w="9525">
            <a:solidFill>
              <a:srgbClr val="2A3550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669280" y="269748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0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3400" dirty="0"/>
          </a:p>
        </p:txBody>
      </p:sp>
      <p:sp>
        <p:nvSpPr>
          <p:cNvPr id="10" name="Text 6"/>
          <p:cNvSpPr txBox="1"/>
          <p:nvPr/>
        </p:nvSpPr>
        <p:spPr>
          <a:xfrm>
            <a:off x="5669280" y="331927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 to choose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5669280" y="3575304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2D7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is agreed by phone, off the system.</a:t>
            </a:r>
            <a:pPr indent="0" marL="0">
              <a:buNone/>
            </a:pPr>
            <a:r>
              <a:rPr lang="en-US" sz="1000" dirty="0">
                <a:solidFill>
                  <a:srgbClr val="9A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[4]</a:t>
            </a:r>
            <a:endParaRPr lang="en-US" sz="1250" dirty="0"/>
          </a:p>
        </p:txBody>
      </p:sp>
      <p:sp>
        <p:nvSpPr>
          <p:cNvPr id="12" name="Cause 2"/>
          <p:cNvSpPr/>
          <p:nvPr/>
        </p:nvSpPr>
        <p:spPr>
          <a:xfrm>
            <a:off x="8595360" y="2514600"/>
            <a:ext cx="3017520" cy="1600200"/>
          </a:xfrm>
          <a:prstGeom prst="roundRect">
            <a:avLst>
              <a:gd name="adj" fmla="val 8000"/>
            </a:avLst>
          </a:prstGeom>
          <a:solidFill>
            <a:srgbClr val="1B2438"/>
          </a:solidFill>
          <a:ln w="9525">
            <a:solidFill>
              <a:srgbClr val="2A3550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823960" y="269748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0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3400" dirty="0"/>
          </a:p>
        </p:txBody>
      </p:sp>
      <p:sp>
        <p:nvSpPr>
          <p:cNvPr id="14" name="Text 10"/>
          <p:cNvSpPr txBox="1"/>
          <p:nvPr/>
        </p:nvSpPr>
        <p:spPr>
          <a:xfrm>
            <a:off x="8823960" y="331927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 code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8823960" y="3575304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2D7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“No answer” replaces when, where and who.</a:t>
            </a:r>
            <a:endParaRPr lang="en-US" sz="1250" dirty="0"/>
          </a:p>
        </p:txBody>
      </p:sp>
      <p:sp>
        <p:nvSpPr>
          <p:cNvPr id="16" name="Cause 3"/>
          <p:cNvSpPr/>
          <p:nvPr/>
        </p:nvSpPr>
        <p:spPr>
          <a:xfrm>
            <a:off x="5440680" y="4251960"/>
            <a:ext cx="3017520" cy="1600200"/>
          </a:xfrm>
          <a:prstGeom prst="roundRect">
            <a:avLst>
              <a:gd name="adj" fmla="val 8000"/>
            </a:avLst>
          </a:prstGeom>
          <a:solidFill>
            <a:srgbClr val="1B2438"/>
          </a:solidFill>
          <a:ln w="9525">
            <a:solidFill>
              <a:srgbClr val="2A3550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669280" y="443484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0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5</a:t>
            </a:r>
            <a:endParaRPr lang="en-US" sz="3400" dirty="0"/>
          </a:p>
        </p:txBody>
      </p:sp>
      <p:sp>
        <p:nvSpPr>
          <p:cNvPr id="18" name="Text 14"/>
          <p:cNvSpPr txBox="1"/>
          <p:nvPr/>
        </p:nvSpPr>
        <p:spPr>
          <a:xfrm>
            <a:off x="5669280" y="505663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callers per area</a:t>
            </a:r>
            <a:endParaRPr lang="en-US" sz="1300" dirty="0"/>
          </a:p>
        </p:txBody>
      </p:sp>
      <p:sp>
        <p:nvSpPr>
          <p:cNvPr id="19" name="Text 15"/>
          <p:cNvSpPr txBox="1"/>
          <p:nvPr/>
        </p:nvSpPr>
        <p:spPr>
          <a:xfrm>
            <a:off x="5669280" y="5312664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2D7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phone 320 buyers twice a day.</a:t>
            </a:r>
            <a:endParaRPr lang="en-US" sz="1250" dirty="0"/>
          </a:p>
        </p:txBody>
      </p:sp>
      <p:sp>
        <p:nvSpPr>
          <p:cNvPr id="20" name="Cause 4"/>
          <p:cNvSpPr/>
          <p:nvPr/>
        </p:nvSpPr>
        <p:spPr>
          <a:xfrm>
            <a:off x="8595360" y="4251960"/>
            <a:ext cx="3017520" cy="1600200"/>
          </a:xfrm>
          <a:prstGeom prst="roundRect">
            <a:avLst>
              <a:gd name="adj" fmla="val 8000"/>
            </a:avLst>
          </a:prstGeom>
          <a:solidFill>
            <a:srgbClr val="1B2438"/>
          </a:solidFill>
          <a:ln w="9525">
            <a:solidFill>
              <a:srgbClr val="2A3550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8823960" y="443484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0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3400" dirty="0"/>
          </a:p>
        </p:txBody>
      </p:sp>
      <p:sp>
        <p:nvSpPr>
          <p:cNvPr id="22" name="Text 18"/>
          <p:cNvSpPr txBox="1"/>
          <p:nvPr/>
        </p:nvSpPr>
        <p:spPr>
          <a:xfrm>
            <a:off x="8823960" y="505663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days, then it’s gone</a:t>
            </a:r>
            <a:endParaRPr lang="en-US" sz="1300" dirty="0"/>
          </a:p>
        </p:txBody>
      </p:sp>
      <p:sp>
        <p:nvSpPr>
          <p:cNvPr id="23" name="Text 19"/>
          <p:cNvSpPr txBox="1"/>
          <p:nvPr/>
        </p:nvSpPr>
        <p:spPr>
          <a:xfrm>
            <a:off x="8823960" y="5312664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2D7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Shopee allows 2–3 contacts in 5 days.</a:t>
            </a:r>
            <a:pPr indent="0" marL="0">
              <a:buNone/>
            </a:pPr>
            <a:r>
              <a:rPr lang="en-US" sz="1000" dirty="0">
                <a:solidFill>
                  <a:srgbClr val="9A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[5]</a:t>
            </a:r>
            <a:endParaRPr lang="en-US" sz="1250" dirty="0"/>
          </a:p>
        </p:txBody>
      </p:sp>
      <p:sp>
        <p:nvSpPr>
          <p:cNvPr id="24" name="Text 20"/>
          <p:cNvSpPr txBox="1"/>
          <p:nvPr/>
        </p:nvSpPr>
        <p:spPr>
          <a:xfrm>
            <a:off x="10728655" y="6400800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98A0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 13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 rule"/>
          <p:cNvSpPr/>
          <p:nvPr/>
        </p:nvSpPr>
        <p:spPr>
          <a:xfrm>
            <a:off x="548640" y="612648"/>
            <a:ext cx="292608" cy="0"/>
          </a:xfrm>
          <a:prstGeom prst="line">
            <a:avLst/>
          </a:prstGeom>
          <a:noFill/>
          <a:ln w="15875">
            <a:solidFill>
              <a:srgbClr val="F05A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60120" y="493776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200" kern="0" dirty="0">
                <a:solidFill>
                  <a:srgbClr val="6B72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</a:t>
            </a:r>
            <a:pPr indent="0" marL="0">
              <a:buNone/>
            </a:pPr>
            <a:r>
              <a:rPr lang="en-US" sz="1050" b="1" spc="200" kern="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INTRODUCING ALODI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41248"/>
            <a:ext cx="4114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98A0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Alodi is the AI agent </a:t>
            </a:r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21A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 rescues failed deliveries.</a:t>
            </a:r>
            <a:endParaRPr lang="en-US" sz="3000" dirty="0"/>
          </a:p>
        </p:txBody>
      </p:sp>
      <p:sp>
        <p:nvSpPr>
          <p:cNvPr id="5" name="Fact rule 0"/>
          <p:cNvSpPr/>
          <p:nvPr/>
        </p:nvSpPr>
        <p:spPr>
          <a:xfrm>
            <a:off x="548640" y="2880360"/>
            <a:ext cx="3931920" cy="0"/>
          </a:xfrm>
          <a:prstGeom prst="line">
            <a:avLst/>
          </a:prstGeom>
          <a:noFill/>
          <a:ln w="12700">
            <a:solidFill>
              <a:srgbClr val="121A2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3008376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464E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783080" y="297180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Carriers like SPX, their couriers and buyers</a:t>
            </a:r>
            <a:endParaRPr lang="en-US" sz="1200" dirty="0"/>
          </a:p>
        </p:txBody>
      </p:sp>
      <p:sp>
        <p:nvSpPr>
          <p:cNvPr id="8" name="Fact rule 1"/>
          <p:cNvSpPr/>
          <p:nvPr/>
        </p:nvSpPr>
        <p:spPr>
          <a:xfrm>
            <a:off x="548640" y="3630168"/>
            <a:ext cx="3931920" cy="0"/>
          </a:xfrm>
          <a:prstGeom prst="line">
            <a:avLst/>
          </a:prstGeom>
          <a:noFill/>
          <a:ln w="9525">
            <a:solidFill>
              <a:srgbClr val="E3E5E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3758184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464E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WITH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1783080" y="3721608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tap: No answer · Rescheduled · Refused</a:t>
            </a:r>
            <a:endParaRPr lang="en-US" sz="1200" dirty="0"/>
          </a:p>
        </p:txBody>
      </p:sp>
      <p:sp>
        <p:nvSpPr>
          <p:cNvPr id="11" name="Fact rule 2"/>
          <p:cNvSpPr/>
          <p:nvPr/>
        </p:nvSpPr>
        <p:spPr>
          <a:xfrm>
            <a:off x="548640" y="4379976"/>
            <a:ext cx="3931920" cy="0"/>
          </a:xfrm>
          <a:prstGeom prst="line">
            <a:avLst/>
          </a:prstGeom>
          <a:noFill/>
          <a:ln w="9525">
            <a:solidFill>
              <a:srgbClr val="E3E5E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4507992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464E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DOES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1783080" y="4471416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Chats now, calls if silent, writes a context card</a:t>
            </a:r>
            <a:endParaRPr lang="en-US" sz="1200" dirty="0"/>
          </a:p>
        </p:txBody>
      </p:sp>
      <p:sp>
        <p:nvSpPr>
          <p:cNvPr id="14" name="Fact rule 3"/>
          <p:cNvSpPr/>
          <p:nvPr/>
        </p:nvSpPr>
        <p:spPr>
          <a:xfrm>
            <a:off x="548640" y="5129784"/>
            <a:ext cx="3931920" cy="0"/>
          </a:xfrm>
          <a:prstGeom prst="line">
            <a:avLst/>
          </a:prstGeom>
          <a:noFill/>
          <a:ln w="9525">
            <a:solidFill>
              <a:srgbClr val="E3E5E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5257800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464E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783080" y="5221224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Labels or returns an order without a person</a:t>
            </a:r>
            <a:endParaRPr lang="en-US" sz="1200" dirty="0"/>
          </a:p>
        </p:txBody>
      </p:sp>
      <p:sp>
        <p:nvSpPr>
          <p:cNvPr id="17" name="Video frame"/>
          <p:cNvSpPr/>
          <p:nvPr/>
        </p:nvSpPr>
        <p:spPr>
          <a:xfrm>
            <a:off x="4846320" y="502920"/>
            <a:ext cx="6793992" cy="5486400"/>
          </a:xfrm>
          <a:prstGeom prst="roundRect">
            <a:avLst>
              <a:gd name="adj" fmla="val 3333"/>
            </a:avLst>
          </a:prstGeom>
          <a:solidFill>
            <a:srgbClr val="121A2C"/>
          </a:solidFill>
          <a:ln/>
        </p:spPr>
      </p:sp>
      <p:pic>
        <p:nvPicPr>
          <p:cNvPr id="18" name="Video mark" descr="/private/tmp/claude-503/-Users-davark-Downloads-Everything-Github-Alodi-Regional-Codex-Hackathon-2026/91e569a8-486f-4c0b-b683-a4991468f039/scratchpad/deck/assets/mark-bars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66360" y="822960"/>
            <a:ext cx="292608" cy="292608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5577840" y="85953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F0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FILM · 2:00</a:t>
            </a:r>
            <a:endParaRPr lang="en-US" sz="900" dirty="0"/>
          </a:p>
        </p:txBody>
      </p:sp>
      <p:sp>
        <p:nvSpPr>
          <p:cNvPr id="20" name="Play"/>
          <p:cNvSpPr/>
          <p:nvPr/>
        </p:nvSpPr>
        <p:spPr>
          <a:xfrm>
            <a:off x="7827264" y="2697480"/>
            <a:ext cx="868680" cy="868680"/>
          </a:xfrm>
          <a:prstGeom prst="ellipse">
            <a:avLst/>
          </a:prstGeom>
          <a:solidFill>
            <a:srgbClr val="F05A00"/>
          </a:solidFill>
          <a:ln/>
        </p:spPr>
      </p:sp>
      <p:sp>
        <p:nvSpPr>
          <p:cNvPr id="21" name="Play icon"/>
          <p:cNvSpPr/>
          <p:nvPr/>
        </p:nvSpPr>
        <p:spPr>
          <a:xfrm rot="5400000">
            <a:off x="8156448" y="2926080"/>
            <a:ext cx="329184" cy="402336"/>
          </a:xfrm>
          <a:prstGeom prst="triangle">
            <a:avLst/>
          </a:prstGeom>
          <a:solidFill>
            <a:srgbClr val="FFFFFF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4846320" y="3794760"/>
            <a:ext cx="67939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full rescue, from the courier’s tap to the second drop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4846320" y="4160520"/>
            <a:ext cx="6793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Insert › Video, then fit the film to this frame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10728655" y="6400800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464E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 13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 rule"/>
          <p:cNvSpPr/>
          <p:nvPr/>
        </p:nvSpPr>
        <p:spPr>
          <a:xfrm>
            <a:off x="548640" y="612648"/>
            <a:ext cx="292608" cy="0"/>
          </a:xfrm>
          <a:prstGeom prst="line">
            <a:avLst/>
          </a:prstGeom>
          <a:noFill/>
          <a:ln w="15875">
            <a:solidFill>
              <a:srgbClr val="F05A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60120" y="493776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200" kern="0" dirty="0">
                <a:solidFill>
                  <a:srgbClr val="6B72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</a:t>
            </a:r>
            <a:pPr indent="0" marL="0">
              <a:buNone/>
            </a:pPr>
            <a:r>
              <a:rPr lang="en-US" sz="1050" b="1" spc="200" kern="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WORKS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41248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98A0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tap in. </a:t>
            </a:r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21A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context card out.</a:t>
            </a:r>
            <a:endParaRPr lang="en-US" sz="3000" dirty="0"/>
          </a:p>
        </p:txBody>
      </p:sp>
      <p:sp>
        <p:nvSpPr>
          <p:cNvPr id="5" name="Step 1"/>
          <p:cNvSpPr/>
          <p:nvPr/>
        </p:nvSpPr>
        <p:spPr>
          <a:xfrm>
            <a:off x="548640" y="2148840"/>
            <a:ext cx="2057400" cy="224028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 w="9525">
            <a:solidFill>
              <a:srgbClr val="E3E5EA"/>
            </a:solidFill>
            <a:prstDash val="solid"/>
          </a:ln>
        </p:spPr>
      </p:sp>
      <p:sp>
        <p:nvSpPr>
          <p:cNvPr id="6" name="Icon tile"/>
          <p:cNvSpPr/>
          <p:nvPr/>
        </p:nvSpPr>
        <p:spPr>
          <a:xfrm>
            <a:off x="749808" y="235000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F1F2F5"/>
          </a:solidFill>
          <a:ln/>
        </p:spPr>
      </p:sp>
      <p:pic>
        <p:nvPicPr>
          <p:cNvPr id="7" name="Icon" descr="/private/tmp/claude-503/-Users-davark-Downloads-Everything-Github-Alodi-Regional-Codex-Hackathon-2026/91e569a8-486f-4c0b-b683-a4991468f039/scratchpad/deck/assets/mark-dot-oran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" y="2414016"/>
            <a:ext cx="201168" cy="20116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49808" y="288036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0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749808" y="3136392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A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Courier taps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749808" y="3502152"/>
            <a:ext cx="172821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A31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answer · Rescheduled · Refused, with a 2-minute undo</a:t>
            </a:r>
            <a:endParaRPr lang="en-US" sz="1200" dirty="0"/>
          </a:p>
        </p:txBody>
      </p:sp>
      <p:sp>
        <p:nvSpPr>
          <p:cNvPr id="11" name="Arrow 0"/>
          <p:cNvSpPr/>
          <p:nvPr/>
        </p:nvSpPr>
        <p:spPr>
          <a:xfrm>
            <a:off x="2633472" y="3401568"/>
            <a:ext cx="128016" cy="0"/>
          </a:xfrm>
          <a:prstGeom prst="line">
            <a:avLst/>
          </a:prstGeom>
          <a:noFill/>
          <a:ln w="12700">
            <a:solidFill>
              <a:srgbClr val="98A0B2"/>
            </a:solidFill>
            <a:prstDash val="solid"/>
            <a:tailEnd type="triangle"/>
          </a:ln>
        </p:spPr>
      </p:sp>
      <p:sp>
        <p:nvSpPr>
          <p:cNvPr id="12" name="Step 2"/>
          <p:cNvSpPr/>
          <p:nvPr/>
        </p:nvSpPr>
        <p:spPr>
          <a:xfrm>
            <a:off x="2788920" y="2148840"/>
            <a:ext cx="2057400" cy="224028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 w="9525">
            <a:solidFill>
              <a:srgbClr val="E3E5EA"/>
            </a:solidFill>
            <a:prstDash val="solid"/>
          </a:ln>
        </p:spPr>
      </p:sp>
      <p:sp>
        <p:nvSpPr>
          <p:cNvPr id="13" name="Icon tile"/>
          <p:cNvSpPr/>
          <p:nvPr/>
        </p:nvSpPr>
        <p:spPr>
          <a:xfrm>
            <a:off x="2990088" y="235000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F1F2F5"/>
          </a:solidFill>
          <a:ln/>
        </p:spPr>
      </p:sp>
      <p:pic>
        <p:nvPicPr>
          <p:cNvPr id="14" name="Icon" descr="/private/tmp/claude-503/-Users-davark-Downloads-Everything-Github-Alodi-Regional-Codex-Hackathon-2026/91e569a8-486f-4c0b-b683-a4991468f039/scratchpad/deck/assets/mark-square-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4096" y="2414016"/>
            <a:ext cx="201168" cy="201168"/>
          </a:xfrm>
          <a:prstGeom prst="rect">
            <a:avLst/>
          </a:prstGeom>
        </p:spPr>
      </p:pic>
      <p:pic>
        <p:nvPicPr>
          <p:cNvPr id="15" name="OpenAI 1" descr="/private/tmp/claude-503/-Users-davark-Downloads-Everything-Github-Alodi-Regional-Codex-Hackathon-2026/91e569a8-486f-4c0b-b683-a4991468f039/scratchpad/deck/assets/openai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7408" y="2404872"/>
            <a:ext cx="219456" cy="21945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2990088" y="288036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0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00" dirty="0"/>
          </a:p>
        </p:txBody>
      </p:sp>
      <p:sp>
        <p:nvSpPr>
          <p:cNvPr id="17" name="Text 12"/>
          <p:cNvSpPr txBox="1"/>
          <p:nvPr/>
        </p:nvSpPr>
        <p:spPr>
          <a:xfrm>
            <a:off x="2990088" y="3136392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A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Triage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2990088" y="3502152"/>
            <a:ext cx="172821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A31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Decisions API on GPT-6 Luna sorts the case and scores it</a:t>
            </a:r>
            <a:pPr indent="0" marL="0">
              <a:buNone/>
            </a:pPr>
            <a:r>
              <a:rPr lang="en-US" sz="1000" dirty="0">
                <a:solidFill>
                  <a:srgbClr val="6B72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[11]</a:t>
            </a:r>
            <a:endParaRPr lang="en-US" sz="1200" dirty="0"/>
          </a:p>
        </p:txBody>
      </p:sp>
      <p:sp>
        <p:nvSpPr>
          <p:cNvPr id="19" name="Arrow 1"/>
          <p:cNvSpPr/>
          <p:nvPr/>
        </p:nvSpPr>
        <p:spPr>
          <a:xfrm>
            <a:off x="4873752" y="3401568"/>
            <a:ext cx="128016" cy="0"/>
          </a:xfrm>
          <a:prstGeom prst="line">
            <a:avLst/>
          </a:prstGeom>
          <a:noFill/>
          <a:ln w="12700">
            <a:solidFill>
              <a:srgbClr val="98A0B2"/>
            </a:solidFill>
            <a:prstDash val="solid"/>
            <a:tailEnd type="triangle"/>
          </a:ln>
        </p:spPr>
      </p:sp>
      <p:sp>
        <p:nvSpPr>
          <p:cNvPr id="20" name="Step 3"/>
          <p:cNvSpPr/>
          <p:nvPr/>
        </p:nvSpPr>
        <p:spPr>
          <a:xfrm>
            <a:off x="5029200" y="2148840"/>
            <a:ext cx="2057400" cy="224028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 w="9525">
            <a:solidFill>
              <a:srgbClr val="E3E5EA"/>
            </a:solidFill>
            <a:prstDash val="solid"/>
          </a:ln>
        </p:spPr>
      </p:sp>
      <p:sp>
        <p:nvSpPr>
          <p:cNvPr id="21" name="Icon tile"/>
          <p:cNvSpPr/>
          <p:nvPr/>
        </p:nvSpPr>
        <p:spPr>
          <a:xfrm>
            <a:off x="5230368" y="235000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F1F2F5"/>
          </a:solidFill>
          <a:ln/>
        </p:spPr>
      </p:sp>
      <p:pic>
        <p:nvPicPr>
          <p:cNvPr id="22" name="Icon" descr="/private/tmp/claude-503/-Users-davark-Downloads-Everything-Github-Alodi-Regional-Codex-Hackathon-2026/91e569a8-486f-4c0b-b683-a4991468f039/scratchpad/deck/assets/mark-bars-nav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4376" y="2414016"/>
            <a:ext cx="201168" cy="201168"/>
          </a:xfrm>
          <a:prstGeom prst="rect">
            <a:avLst/>
          </a:prstGeom>
        </p:spPr>
      </p:pic>
      <p:pic>
        <p:nvPicPr>
          <p:cNvPr id="23" name="OpenAI 2" descr="/private/tmp/claude-503/-Users-davark-Downloads-Everything-Github-Alodi-Regional-Codex-Hackathon-2026/91e569a8-486f-4c0b-b683-a4991468f039/scratchpad/deck/assets/openai-in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7688" y="2404872"/>
            <a:ext cx="219456" cy="219456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5230368" y="288036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0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00" dirty="0"/>
          </a:p>
        </p:txBody>
      </p:sp>
      <p:sp>
        <p:nvSpPr>
          <p:cNvPr id="25" name="Text 18"/>
          <p:cNvSpPr txBox="1"/>
          <p:nvPr/>
        </p:nvSpPr>
        <p:spPr>
          <a:xfrm>
            <a:off x="5230368" y="3136392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A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Reach the buyer</a:t>
            </a:r>
            <a:endParaRPr lang="en-US" sz="1500" dirty="0"/>
          </a:p>
        </p:txBody>
      </p:sp>
      <p:sp>
        <p:nvSpPr>
          <p:cNvPr id="26" name="Text 19"/>
          <p:cNvSpPr txBox="1"/>
          <p:nvPr/>
        </p:nvSpPr>
        <p:spPr>
          <a:xfrm>
            <a:off x="5230368" y="3502152"/>
            <a:ext cx="172821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A31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 now; GPT-Live-1 calls after 60′, again after 2 h</a:t>
            </a:r>
            <a:pPr indent="0" marL="0">
              <a:buNone/>
            </a:pPr>
            <a:r>
              <a:rPr lang="en-US" sz="1000" dirty="0">
                <a:solidFill>
                  <a:srgbClr val="6B72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[11]</a:t>
            </a:r>
            <a:endParaRPr lang="en-US" sz="1200" dirty="0"/>
          </a:p>
        </p:txBody>
      </p:sp>
      <p:sp>
        <p:nvSpPr>
          <p:cNvPr id="27" name="Arrow 2"/>
          <p:cNvSpPr/>
          <p:nvPr/>
        </p:nvSpPr>
        <p:spPr>
          <a:xfrm>
            <a:off x="7114032" y="3401568"/>
            <a:ext cx="128016" cy="0"/>
          </a:xfrm>
          <a:prstGeom prst="line">
            <a:avLst/>
          </a:prstGeom>
          <a:noFill/>
          <a:ln w="12700">
            <a:solidFill>
              <a:srgbClr val="98A0B2"/>
            </a:solidFill>
            <a:prstDash val="solid"/>
            <a:tailEnd type="triangle"/>
          </a:ln>
        </p:spPr>
      </p:sp>
      <p:sp>
        <p:nvSpPr>
          <p:cNvPr id="28" name="Step 4"/>
          <p:cNvSpPr/>
          <p:nvPr/>
        </p:nvSpPr>
        <p:spPr>
          <a:xfrm>
            <a:off x="7269480" y="2148840"/>
            <a:ext cx="2057400" cy="224028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 w="9525">
            <a:solidFill>
              <a:srgbClr val="E3E5EA"/>
            </a:solidFill>
            <a:prstDash val="solid"/>
          </a:ln>
        </p:spPr>
      </p:sp>
      <p:sp>
        <p:nvSpPr>
          <p:cNvPr id="29" name="Icon tile"/>
          <p:cNvSpPr/>
          <p:nvPr/>
        </p:nvSpPr>
        <p:spPr>
          <a:xfrm>
            <a:off x="7470648" y="235000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F1F2F5"/>
          </a:solidFill>
          <a:ln/>
        </p:spPr>
      </p:sp>
      <p:pic>
        <p:nvPicPr>
          <p:cNvPr id="30" name="Icon" descr="/private/tmp/claude-503/-Users-davark-Downloads-Everything-Github-Alodi-Regional-Codex-Hackathon-2026/91e569a8-486f-4c0b-b683-a4991468f039/scratchpad/deck/assets/mark-check-navy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34656" y="2414016"/>
            <a:ext cx="201168" cy="201168"/>
          </a:xfrm>
          <a:prstGeom prst="rect">
            <a:avLst/>
          </a:prstGeom>
        </p:spPr>
      </p:pic>
      <p:pic>
        <p:nvPicPr>
          <p:cNvPr id="31" name="OpenAI 3" descr="/private/tmp/claude-503/-Users-davark-Downloads-Everything-Github-Alodi-Regional-Codex-Hackathon-2026/91e569a8-486f-4c0b-b683-a4991468f039/scratchpad/deck/assets/openai-ink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87968" y="2404872"/>
            <a:ext cx="219456" cy="219456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7470648" y="288036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0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00" dirty="0"/>
          </a:p>
        </p:txBody>
      </p:sp>
      <p:sp>
        <p:nvSpPr>
          <p:cNvPr id="33" name="Text 24"/>
          <p:cNvSpPr txBox="1"/>
          <p:nvPr/>
        </p:nvSpPr>
        <p:spPr>
          <a:xfrm>
            <a:off x="7470648" y="3136392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A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Orchestrate</a:t>
            </a:r>
            <a:endParaRPr lang="en-US" sz="1500" dirty="0"/>
          </a:p>
        </p:txBody>
      </p:sp>
      <p:sp>
        <p:nvSpPr>
          <p:cNvPr id="34" name="Text 25"/>
          <p:cNvSpPr txBox="1"/>
          <p:nvPr/>
        </p:nvSpPr>
        <p:spPr>
          <a:xfrm>
            <a:off x="7470648" y="3502152"/>
            <a:ext cx="172821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A31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GPT-5.6 Terra applies policy, writes when, where, who</a:t>
            </a:r>
            <a:pPr indent="0" marL="0">
              <a:buNone/>
            </a:pPr>
            <a:r>
              <a:rPr lang="en-US" sz="1000" dirty="0">
                <a:solidFill>
                  <a:srgbClr val="6B72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[11]</a:t>
            </a:r>
            <a:endParaRPr lang="en-US" sz="1200" dirty="0"/>
          </a:p>
        </p:txBody>
      </p:sp>
      <p:sp>
        <p:nvSpPr>
          <p:cNvPr id="35" name="Arrow 3"/>
          <p:cNvSpPr/>
          <p:nvPr/>
        </p:nvSpPr>
        <p:spPr>
          <a:xfrm>
            <a:off x="9354312" y="3401568"/>
            <a:ext cx="128016" cy="0"/>
          </a:xfrm>
          <a:prstGeom prst="line">
            <a:avLst/>
          </a:prstGeom>
          <a:noFill/>
          <a:ln w="12700">
            <a:solidFill>
              <a:srgbClr val="98A0B2"/>
            </a:solidFill>
            <a:prstDash val="solid"/>
            <a:tailEnd type="triangle"/>
          </a:ln>
        </p:spPr>
      </p:sp>
      <p:sp>
        <p:nvSpPr>
          <p:cNvPr id="36" name="Step 5"/>
          <p:cNvSpPr/>
          <p:nvPr/>
        </p:nvSpPr>
        <p:spPr>
          <a:xfrm>
            <a:off x="9509760" y="2148840"/>
            <a:ext cx="2057400" cy="2240280"/>
          </a:xfrm>
          <a:prstGeom prst="roundRect">
            <a:avLst>
              <a:gd name="adj" fmla="val 6222"/>
            </a:avLst>
          </a:prstGeom>
          <a:solidFill>
            <a:srgbClr val="FFF4EC"/>
          </a:solidFill>
          <a:ln w="9525">
            <a:solidFill>
              <a:srgbClr val="FFD7BF"/>
            </a:solidFill>
            <a:prstDash val="solid"/>
          </a:ln>
        </p:spPr>
      </p:sp>
      <p:sp>
        <p:nvSpPr>
          <p:cNvPr id="37" name="Icon tile"/>
          <p:cNvSpPr/>
          <p:nvPr/>
        </p:nvSpPr>
        <p:spPr>
          <a:xfrm>
            <a:off x="9710928" y="235000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/>
        </p:spPr>
      </p:sp>
      <p:pic>
        <p:nvPicPr>
          <p:cNvPr id="38" name="Icon" descr="/private/tmp/claude-503/-Users-davark-Downloads-Everything-Github-Alodi-Regional-Codex-Hackathon-2026/91e569a8-486f-4c0b-b683-a4991468f039/scratchpad/deck/assets/mark-check-orang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774936" y="2414016"/>
            <a:ext cx="201168" cy="201168"/>
          </a:xfrm>
          <a:prstGeom prst="rect">
            <a:avLst/>
          </a:prstGeom>
        </p:spPr>
      </p:pic>
      <p:sp>
        <p:nvSpPr>
          <p:cNvPr id="39" name="Text 29"/>
          <p:cNvSpPr txBox="1"/>
          <p:nvPr/>
        </p:nvSpPr>
        <p:spPr>
          <a:xfrm>
            <a:off x="9710928" y="288036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0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900" dirty="0"/>
          </a:p>
        </p:txBody>
      </p:sp>
      <p:sp>
        <p:nvSpPr>
          <p:cNvPr id="40" name="Text 30"/>
          <p:cNvSpPr txBox="1"/>
          <p:nvPr/>
        </p:nvSpPr>
        <p:spPr>
          <a:xfrm>
            <a:off x="9710928" y="3136392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A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attempt</a:t>
            </a:r>
            <a:endParaRPr lang="en-US" sz="1500" dirty="0"/>
          </a:p>
        </p:txBody>
      </p:sp>
      <p:sp>
        <p:nvSpPr>
          <p:cNvPr id="41" name="Text 31"/>
          <p:cNvSpPr txBox="1"/>
          <p:nvPr/>
        </p:nvSpPr>
        <p:spPr>
          <a:xfrm>
            <a:off x="9710928" y="3502152"/>
            <a:ext cx="172821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A31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 to the courier; refusals and labels go to a person</a:t>
            </a:r>
            <a:endParaRPr lang="en-US" sz="1200" dirty="0"/>
          </a:p>
        </p:txBody>
      </p:sp>
      <p:sp>
        <p:nvSpPr>
          <p:cNvPr id="42" name="Text 32"/>
          <p:cNvSpPr txBox="1"/>
          <p:nvPr/>
        </p:nvSpPr>
        <p:spPr>
          <a:xfrm>
            <a:off x="548640" y="480060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464E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 RULES · ENFORCED IN CODE</a:t>
            </a:r>
            <a:endParaRPr lang="en-US" sz="900" dirty="0"/>
          </a:p>
        </p:txBody>
      </p:sp>
      <p:sp>
        <p:nvSpPr>
          <p:cNvPr id="43" name="Rule 0"/>
          <p:cNvSpPr/>
          <p:nvPr/>
        </p:nvSpPr>
        <p:spPr>
          <a:xfrm>
            <a:off x="548640" y="5074920"/>
            <a:ext cx="2271370" cy="384048"/>
          </a:xfrm>
          <a:prstGeom prst="roundRect">
            <a:avLst>
              <a:gd name="adj" fmla="val 50000"/>
            </a:avLst>
          </a:prstGeom>
          <a:solidFill>
            <a:srgbClr val="F7F7F8"/>
          </a:solidFill>
          <a:ln w="9525">
            <a:solidFill>
              <a:srgbClr val="E3E5EA"/>
            </a:solidFill>
            <a:prstDash val="solid"/>
          </a:ln>
        </p:spPr>
      </p:sp>
      <p:sp>
        <p:nvSpPr>
          <p:cNvPr id="44" name="Text 34"/>
          <p:cNvSpPr txBox="1"/>
          <p:nvPr/>
        </p:nvSpPr>
        <p:spPr>
          <a:xfrm>
            <a:off x="548640" y="5074920"/>
            <a:ext cx="227137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Calls 08:00–20:30 only</a:t>
            </a:r>
            <a:endParaRPr lang="en-US" sz="1150" dirty="0"/>
          </a:p>
        </p:txBody>
      </p:sp>
      <p:sp>
        <p:nvSpPr>
          <p:cNvPr id="45" name="Rule 1"/>
          <p:cNvSpPr/>
          <p:nvPr/>
        </p:nvSpPr>
        <p:spPr>
          <a:xfrm>
            <a:off x="2957170" y="5074920"/>
            <a:ext cx="1850746" cy="384048"/>
          </a:xfrm>
          <a:prstGeom prst="roundRect">
            <a:avLst>
              <a:gd name="adj" fmla="val 50000"/>
            </a:avLst>
          </a:prstGeom>
          <a:solidFill>
            <a:srgbClr val="F7F7F8"/>
          </a:solidFill>
          <a:ln w="9525">
            <a:solidFill>
              <a:srgbClr val="E3E5EA"/>
            </a:solidFill>
            <a:prstDash val="solid"/>
          </a:ln>
        </p:spPr>
      </p:sp>
      <p:sp>
        <p:nvSpPr>
          <p:cNvPr id="46" name="Text 36"/>
          <p:cNvSpPr txBox="1"/>
          <p:nvPr/>
        </p:nvSpPr>
        <p:spPr>
          <a:xfrm>
            <a:off x="2957170" y="5074920"/>
            <a:ext cx="185074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≤ 2 calls a cycle</a:t>
            </a:r>
            <a:endParaRPr lang="en-US" sz="1150" dirty="0"/>
          </a:p>
        </p:txBody>
      </p:sp>
      <p:sp>
        <p:nvSpPr>
          <p:cNvPr id="47" name="Rule 2"/>
          <p:cNvSpPr/>
          <p:nvPr/>
        </p:nvSpPr>
        <p:spPr>
          <a:xfrm>
            <a:off x="4945075" y="507492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F7F7F8"/>
          </a:solidFill>
          <a:ln w="9525">
            <a:solidFill>
              <a:srgbClr val="E3E5EA"/>
            </a:solidFill>
            <a:prstDash val="solid"/>
          </a:ln>
        </p:spPr>
      </p:sp>
      <p:sp>
        <p:nvSpPr>
          <p:cNvPr id="48" name="Text 38"/>
          <p:cNvSpPr txBox="1"/>
          <p:nvPr/>
        </p:nvSpPr>
        <p:spPr>
          <a:xfrm>
            <a:off x="4945075" y="507492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Auto-apply at ≥ 0.85</a:t>
            </a:r>
            <a:endParaRPr lang="en-US" sz="1150" dirty="0"/>
          </a:p>
        </p:txBody>
      </p:sp>
      <p:sp>
        <p:nvSpPr>
          <p:cNvPr id="49" name="Rule 3"/>
          <p:cNvSpPr/>
          <p:nvPr/>
        </p:nvSpPr>
        <p:spPr>
          <a:xfrm>
            <a:off x="7185355" y="5074920"/>
            <a:ext cx="2018995" cy="384048"/>
          </a:xfrm>
          <a:prstGeom prst="roundRect">
            <a:avLst>
              <a:gd name="adj" fmla="val 50000"/>
            </a:avLst>
          </a:prstGeom>
          <a:solidFill>
            <a:srgbClr val="F7F7F8"/>
          </a:solidFill>
          <a:ln w="9525">
            <a:solidFill>
              <a:srgbClr val="E3E5EA"/>
            </a:solidFill>
            <a:prstDash val="solid"/>
          </a:ln>
        </p:spPr>
      </p:sp>
      <p:sp>
        <p:nvSpPr>
          <p:cNvPr id="50" name="Text 40"/>
          <p:cNvSpPr txBox="1"/>
          <p:nvPr/>
        </p:nvSpPr>
        <p:spPr>
          <a:xfrm>
            <a:off x="7185355" y="5074920"/>
            <a:ext cx="20189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“Stop” ends contact</a:t>
            </a:r>
            <a:endParaRPr lang="en-US" sz="1150" dirty="0"/>
          </a:p>
        </p:txBody>
      </p:sp>
      <p:sp>
        <p:nvSpPr>
          <p:cNvPr id="51" name="Rule 4"/>
          <p:cNvSpPr/>
          <p:nvPr/>
        </p:nvSpPr>
        <p:spPr>
          <a:xfrm>
            <a:off x="9341510" y="5074920"/>
            <a:ext cx="2187245" cy="384048"/>
          </a:xfrm>
          <a:prstGeom prst="roundRect">
            <a:avLst>
              <a:gd name="adj" fmla="val 50000"/>
            </a:avLst>
          </a:prstGeom>
          <a:solidFill>
            <a:srgbClr val="F7F7F8"/>
          </a:solidFill>
          <a:ln w="9525">
            <a:solidFill>
              <a:srgbClr val="E3E5EA"/>
            </a:solidFill>
            <a:prstDash val="solid"/>
          </a:ln>
        </p:spPr>
      </p:sp>
      <p:sp>
        <p:nvSpPr>
          <p:cNvPr id="52" name="Text 42"/>
          <p:cNvSpPr txBox="1"/>
          <p:nvPr/>
        </p:nvSpPr>
        <p:spPr>
          <a:xfrm>
            <a:off x="9341510" y="5074920"/>
            <a:ext cx="218724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People approve labels</a:t>
            </a:r>
            <a:endParaRPr lang="en-US" sz="1150" dirty="0"/>
          </a:p>
        </p:txBody>
      </p:sp>
      <p:sp>
        <p:nvSpPr>
          <p:cNvPr id="53" name="Text 43"/>
          <p:cNvSpPr txBox="1"/>
          <p:nvPr/>
        </p:nvSpPr>
        <p:spPr>
          <a:xfrm>
            <a:off x="10728655" y="6400800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464E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 13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 rule"/>
          <p:cNvSpPr/>
          <p:nvPr/>
        </p:nvSpPr>
        <p:spPr>
          <a:xfrm>
            <a:off x="548640" y="612648"/>
            <a:ext cx="292608" cy="0"/>
          </a:xfrm>
          <a:prstGeom prst="line">
            <a:avLst/>
          </a:prstGeom>
          <a:noFill/>
          <a:ln w="15875">
            <a:solidFill>
              <a:srgbClr val="F05A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60120" y="493776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200" kern="0" dirty="0">
                <a:solidFill>
                  <a:srgbClr val="6B72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</a:t>
            </a:r>
            <a:pPr indent="0" marL="0">
              <a:buNone/>
            </a:pPr>
            <a:r>
              <a:rPr lang="en-US" sz="1050" b="1" spc="200" kern="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BUILT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7955280" y="841248"/>
            <a:ext cx="3703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98A0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screens, one agent. </a:t>
            </a:r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21A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on stage.</a:t>
            </a:r>
            <a:endParaRPr lang="en-US" sz="3000" dirty="0"/>
          </a:p>
        </p:txBody>
      </p:sp>
      <p:sp>
        <p:nvSpPr>
          <p:cNvPr id="5" name="Screen frame"/>
          <p:cNvSpPr/>
          <p:nvPr/>
        </p:nvSpPr>
        <p:spPr>
          <a:xfrm>
            <a:off x="548640" y="502920"/>
            <a:ext cx="7086600" cy="5486400"/>
          </a:xfrm>
          <a:prstGeom prst="roundRect">
            <a:avLst>
              <a:gd name="adj" fmla="val 3333"/>
            </a:avLst>
          </a:prstGeom>
          <a:solidFill>
            <a:srgbClr val="F7F7F8"/>
          </a:solidFill>
          <a:ln w="9525">
            <a:solidFill>
              <a:srgbClr val="E3E5EA"/>
            </a:solidFill>
            <a:prstDash val="solid"/>
          </a:ln>
        </p:spPr>
      </p:sp>
      <p:pic>
        <p:nvPicPr>
          <p:cNvPr id="6" name="Demo screenshot" descr="Demo stage: courier app, buyer chat and operations pan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685800"/>
            <a:ext cx="6720840" cy="4206240"/>
          </a:xfrm>
          <a:prstGeom prst="rect">
            <a:avLst/>
          </a:prstGeom>
        </p:spPr>
      </p:pic>
      <p:pic>
        <p:nvPicPr>
          <p:cNvPr id="7" name="Dashboard screenshot" descr="Hub dashboa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840" y="3886200"/>
            <a:ext cx="3017520" cy="1883664"/>
          </a:xfrm>
          <a:prstGeom prst="rect">
            <a:avLst/>
          </a:prstGeom>
          <a:effectLst>
            <a:outerShdw sx="100000" sy="100000" kx="0" ky="0" algn="bl" rotWithShape="0" blurRad="152400" dist="38100" dir="5400000">
              <a:srgbClr val="121A2C">
                <a:alpha val="20000"/>
              </a:srgbClr>
            </a:outerShdw>
          </a:effectLst>
        </p:spPr>
      </p:pic>
      <p:sp>
        <p:nvSpPr>
          <p:cNvPr id="8" name="Text 4"/>
          <p:cNvSpPr txBox="1"/>
          <p:nvPr/>
        </p:nvSpPr>
        <p:spPr>
          <a:xfrm>
            <a:off x="731520" y="502920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64E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Courier · Buyer · Ops · Dashboard, in sync on a fast-forward clock</a:t>
            </a:r>
            <a:endParaRPr lang="en-US" sz="1200" dirty="0"/>
          </a:p>
        </p:txBody>
      </p:sp>
      <p:sp>
        <p:nvSpPr>
          <p:cNvPr id="9" name="Icon tile"/>
          <p:cNvSpPr/>
          <p:nvPr/>
        </p:nvSpPr>
        <p:spPr>
          <a:xfrm>
            <a:off x="7955280" y="2514600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F1F2F5"/>
          </a:solidFill>
          <a:ln/>
        </p:spPr>
      </p:sp>
      <p:pic>
        <p:nvPicPr>
          <p:cNvPr id="10" name="Icon" descr="/private/tmp/claude-503/-Users-davark-Downloads-Everything-Github-Alodi-Regional-Codex-Hackathon-2026/91e569a8-486f-4c0b-b683-a4991468f039/scratchpad/deck/assets/mark-dot-orang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9288" y="2578608"/>
            <a:ext cx="201168" cy="20116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8412480" y="2496312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1A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tap, no typing</a:t>
            </a:r>
            <a:endParaRPr lang="en-US" sz="1300" dirty="0"/>
          </a:p>
        </p:txBody>
      </p:sp>
      <p:sp>
        <p:nvSpPr>
          <p:cNvPr id="12" name="Text 7"/>
          <p:cNvSpPr txBox="1"/>
          <p:nvPr/>
        </p:nvSpPr>
        <p:spPr>
          <a:xfrm>
            <a:off x="8412480" y="278892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31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courier picks the outcome; nothing to write.</a:t>
            </a:r>
            <a:endParaRPr lang="en-US" sz="1200" dirty="0"/>
          </a:p>
        </p:txBody>
      </p:sp>
      <p:sp>
        <p:nvSpPr>
          <p:cNvPr id="13" name="Icon tile"/>
          <p:cNvSpPr/>
          <p:nvPr/>
        </p:nvSpPr>
        <p:spPr>
          <a:xfrm>
            <a:off x="7955280" y="3383280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F1F2F5"/>
          </a:solidFill>
          <a:ln/>
        </p:spPr>
      </p:sp>
      <p:pic>
        <p:nvPicPr>
          <p:cNvPr id="14" name="Icon" descr="/private/tmp/claude-503/-Users-davark-Downloads-Everything-Github-Alodi-Regional-Codex-Hackathon-2026/91e569a8-486f-4c0b-b683-a4991468f039/scratchpad/deck/assets/mark-bars-nav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9288" y="3447288"/>
            <a:ext cx="201168" cy="201168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8412480" y="3364992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1A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 first, call if silent</a:t>
            </a:r>
            <a:endParaRPr lang="en-US" sz="1300" dirty="0"/>
          </a:p>
        </p:txBody>
      </p:sp>
      <p:sp>
        <p:nvSpPr>
          <p:cNvPr id="16" name="Text 10"/>
          <p:cNvSpPr txBox="1"/>
          <p:nvPr/>
        </p:nvSpPr>
        <p:spPr>
          <a:xfrm>
            <a:off x="8412480" y="365760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31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GPT-Live-1 calls only inside 08:00–20:30.</a:t>
            </a:r>
            <a:endParaRPr lang="en-US" sz="1200" dirty="0"/>
          </a:p>
        </p:txBody>
      </p:sp>
      <p:sp>
        <p:nvSpPr>
          <p:cNvPr id="17" name="Icon tile"/>
          <p:cNvSpPr/>
          <p:nvPr/>
        </p:nvSpPr>
        <p:spPr>
          <a:xfrm>
            <a:off x="7955280" y="4251960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F1F2F5"/>
          </a:solidFill>
          <a:ln/>
        </p:spPr>
      </p:sp>
      <p:pic>
        <p:nvPicPr>
          <p:cNvPr id="18" name="Icon" descr="/private/tmp/claude-503/-Users-davark-Downloads-Everything-Github-Alodi-Regional-Codex-Hackathon-2026/91e569a8-486f-4c0b-b683-a4991468f039/scratchpad/deck/assets/mark-check-navy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19288" y="4315968"/>
            <a:ext cx="201168" cy="201168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8412480" y="4233672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1A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card</a:t>
            </a:r>
            <a:endParaRPr lang="en-US" sz="1300" dirty="0"/>
          </a:p>
        </p:txBody>
      </p:sp>
      <p:sp>
        <p:nvSpPr>
          <p:cNvPr id="20" name="Text 13"/>
          <p:cNvSpPr txBox="1"/>
          <p:nvPr/>
        </p:nvSpPr>
        <p:spPr>
          <a:xfrm>
            <a:off x="8412480" y="45262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31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When, where, who; ≥ 0.85 applies itself.</a:t>
            </a:r>
            <a:endParaRPr lang="en-US" sz="1200" dirty="0"/>
          </a:p>
        </p:txBody>
      </p:sp>
      <p:sp>
        <p:nvSpPr>
          <p:cNvPr id="21" name="Icon tile"/>
          <p:cNvSpPr/>
          <p:nvPr/>
        </p:nvSpPr>
        <p:spPr>
          <a:xfrm>
            <a:off x="7955280" y="5120640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F1F2F5"/>
          </a:solidFill>
          <a:ln/>
        </p:spPr>
      </p:sp>
      <p:pic>
        <p:nvPicPr>
          <p:cNvPr id="22" name="Icon" descr="/private/tmp/claude-503/-Users-davark-Downloads-Everything-Github-Alodi-Regional-Codex-Hackathon-2026/91e569a8-486f-4c0b-b683-a4991468f039/scratchpad/deck/assets/mark-square-navy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19288" y="5184648"/>
            <a:ext cx="201168" cy="201168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8412480" y="5102352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1A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Hub dashboard</a:t>
            </a:r>
            <a:endParaRPr lang="en-US" sz="1300" dirty="0"/>
          </a:p>
        </p:txBody>
      </p:sp>
      <p:sp>
        <p:nvSpPr>
          <p:cNvPr id="24" name="Text 16"/>
          <p:cNvSpPr txBox="1"/>
          <p:nvPr/>
        </p:nvSpPr>
        <p:spPr>
          <a:xfrm>
            <a:off x="8412480" y="539496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31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simulated 4,000-order day: pipeline, routes, CS.</a:t>
            </a:r>
            <a:endParaRPr lang="en-US" sz="1200" dirty="0"/>
          </a:p>
        </p:txBody>
      </p:sp>
      <p:sp>
        <p:nvSpPr>
          <p:cNvPr id="25" name="Text 17"/>
          <p:cNvSpPr txBox="1"/>
          <p:nvPr/>
        </p:nvSpPr>
        <p:spPr>
          <a:xfrm>
            <a:off x="10728655" y="6400800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464E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/ 13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 rule"/>
          <p:cNvSpPr/>
          <p:nvPr/>
        </p:nvSpPr>
        <p:spPr>
          <a:xfrm>
            <a:off x="548640" y="612648"/>
            <a:ext cx="292608" cy="0"/>
          </a:xfrm>
          <a:prstGeom prst="line">
            <a:avLst/>
          </a:prstGeom>
          <a:noFill/>
          <a:ln w="15875">
            <a:solidFill>
              <a:srgbClr val="F05A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60120" y="493776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200" kern="0" dirty="0">
                <a:solidFill>
                  <a:srgbClr val="6B72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</a:t>
            </a:r>
            <a:pPr indent="0" marL="0">
              <a:buNone/>
            </a:pPr>
            <a:r>
              <a:rPr lang="en-US" sz="1050" b="1" spc="200" kern="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OUTCOMES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41248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98A0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 on stage. </a:t>
            </a:r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21A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Projected for one area.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901952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464E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 ON STAGE · PRD §2.3, §23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959352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464E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AREA · PROJECTED · PRD §18.8</a:t>
            </a:r>
            <a:endParaRPr lang="en-US" sz="900" dirty="0"/>
          </a:p>
        </p:txBody>
      </p:sp>
      <p:sp>
        <p:nvSpPr>
          <p:cNvPr id="7" name="Outcome 00"/>
          <p:cNvSpPr/>
          <p:nvPr/>
        </p:nvSpPr>
        <p:spPr>
          <a:xfrm>
            <a:off x="548640" y="2148840"/>
            <a:ext cx="2670048" cy="1691640"/>
          </a:xfrm>
          <a:prstGeom prst="roundRect">
            <a:avLst>
              <a:gd name="adj" fmla="val 7568"/>
            </a:avLst>
          </a:prstGeom>
          <a:solidFill>
            <a:srgbClr val="FFFFFF"/>
          </a:solidFill>
          <a:ln w="9525">
            <a:solidFill>
              <a:srgbClr val="E3E5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9808" y="233172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464E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TIME-TO-CONTEXT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2587752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1A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 10</a:t>
            </a:r>
            <a:pPr indent="0" marL="0">
              <a:buNone/>
            </a:pPr>
            <a:r>
              <a:rPr lang="en-US" sz="3400" b="1" dirty="0">
                <a:solidFill>
                  <a:srgbClr val="F0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326440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31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buyer’s answer → courier’s card, median</a:t>
            </a:r>
            <a:pPr indent="0" marL="0">
              <a:buNone/>
            </a:pPr>
            <a:r>
              <a:rPr lang="en-US" sz="1000" dirty="0">
                <a:solidFill>
                  <a:srgbClr val="6B72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[10]</a:t>
            </a:r>
            <a:endParaRPr lang="en-US" sz="1150" dirty="0"/>
          </a:p>
        </p:txBody>
      </p:sp>
      <p:sp>
        <p:nvSpPr>
          <p:cNvPr id="11" name="Outcome 01"/>
          <p:cNvSpPr/>
          <p:nvPr/>
        </p:nvSpPr>
        <p:spPr>
          <a:xfrm>
            <a:off x="3355848" y="2148840"/>
            <a:ext cx="2670048" cy="1691640"/>
          </a:xfrm>
          <a:prstGeom prst="roundRect">
            <a:avLst>
              <a:gd name="adj" fmla="val 7568"/>
            </a:avLst>
          </a:prstGeom>
          <a:solidFill>
            <a:srgbClr val="FFFFFF"/>
          </a:solidFill>
          <a:ln w="9525">
            <a:solidFill>
              <a:srgbClr val="E3E5E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557016" y="233172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464E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EXTRACTION F1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3557016" y="2587752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1A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≥ 0.90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3557016" y="326440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31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field, held-out chat, call and memo</a:t>
            </a:r>
            <a:pPr indent="0" marL="0">
              <a:buNone/>
            </a:pPr>
            <a:r>
              <a:rPr lang="en-US" sz="1000" dirty="0">
                <a:solidFill>
                  <a:srgbClr val="6B72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[10]</a:t>
            </a:r>
            <a:endParaRPr lang="en-US" sz="1150" dirty="0"/>
          </a:p>
        </p:txBody>
      </p:sp>
      <p:sp>
        <p:nvSpPr>
          <p:cNvPr id="15" name="Outcome 02"/>
          <p:cNvSpPr/>
          <p:nvPr/>
        </p:nvSpPr>
        <p:spPr>
          <a:xfrm>
            <a:off x="6163056" y="2148840"/>
            <a:ext cx="2670048" cy="1691640"/>
          </a:xfrm>
          <a:prstGeom prst="roundRect">
            <a:avLst>
              <a:gd name="adj" fmla="val 7568"/>
            </a:avLst>
          </a:prstGeom>
          <a:solidFill>
            <a:srgbClr val="FFFFFF"/>
          </a:solidFill>
          <a:ln w="9525">
            <a:solidFill>
              <a:srgbClr val="E3E5E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64224" y="233172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464E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WRONG AUTO-APPLIES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6364224" y="2587752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1A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 2</a:t>
            </a:r>
            <a:pPr indent="0" marL="0">
              <a:buNone/>
            </a:pPr>
            <a:r>
              <a:rPr lang="en-US" sz="3400" b="1" dirty="0">
                <a:solidFill>
                  <a:srgbClr val="F0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</a:t>
            </a:r>
            <a:endParaRPr lang="en-US" sz="3400" dirty="0"/>
          </a:p>
        </p:txBody>
      </p:sp>
      <p:sp>
        <p:nvSpPr>
          <p:cNvPr id="18" name="Text 16"/>
          <p:cNvSpPr txBox="1"/>
          <p:nvPr/>
        </p:nvSpPr>
        <p:spPr>
          <a:xfrm>
            <a:off x="6364224" y="326440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31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the cases the agent closes alone</a:t>
            </a:r>
            <a:pPr indent="0" marL="0">
              <a:buNone/>
            </a:pPr>
            <a:r>
              <a:rPr lang="en-US" sz="1000" dirty="0">
                <a:solidFill>
                  <a:srgbClr val="6B72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[10]</a:t>
            </a:r>
            <a:endParaRPr lang="en-US" sz="1150" dirty="0"/>
          </a:p>
        </p:txBody>
      </p:sp>
      <p:sp>
        <p:nvSpPr>
          <p:cNvPr id="19" name="Outcome 03"/>
          <p:cNvSpPr/>
          <p:nvPr/>
        </p:nvSpPr>
        <p:spPr>
          <a:xfrm>
            <a:off x="8970264" y="2148840"/>
            <a:ext cx="2670048" cy="1691640"/>
          </a:xfrm>
          <a:prstGeom prst="roundRect">
            <a:avLst>
              <a:gd name="adj" fmla="val 7568"/>
            </a:avLst>
          </a:prstGeom>
          <a:solidFill>
            <a:srgbClr val="FFFFFF"/>
          </a:solidFill>
          <a:ln w="9525">
            <a:solidFill>
              <a:srgbClr val="E3E5E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171432" y="233172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464E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WITHOUT A PERSON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9171432" y="2587752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1A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3400" dirty="0"/>
          </a:p>
        </p:txBody>
      </p:sp>
      <p:sp>
        <p:nvSpPr>
          <p:cNvPr id="22" name="Text 20"/>
          <p:cNvSpPr txBox="1"/>
          <p:nvPr/>
        </p:nvSpPr>
        <p:spPr>
          <a:xfrm>
            <a:off x="9171432" y="326440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31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labels, returns or calls out of hours</a:t>
            </a:r>
            <a:pPr indent="0" marL="0">
              <a:buNone/>
            </a:pPr>
            <a:r>
              <a:rPr lang="en-US" sz="1000" dirty="0">
                <a:solidFill>
                  <a:srgbClr val="6B72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[10]</a:t>
            </a:r>
            <a:endParaRPr lang="en-US" sz="1150" dirty="0"/>
          </a:p>
        </p:txBody>
      </p:sp>
      <p:sp>
        <p:nvSpPr>
          <p:cNvPr id="23" name="Outcome 10"/>
          <p:cNvSpPr/>
          <p:nvPr/>
        </p:nvSpPr>
        <p:spPr>
          <a:xfrm>
            <a:off x="548640" y="4206240"/>
            <a:ext cx="2670048" cy="1691640"/>
          </a:xfrm>
          <a:prstGeom prst="roundRect">
            <a:avLst>
              <a:gd name="adj" fmla="val 7568"/>
            </a:avLst>
          </a:prstGeom>
          <a:solidFill>
            <a:srgbClr val="FFFFFF"/>
          </a:solidFill>
          <a:ln w="9525">
            <a:solidFill>
              <a:srgbClr val="E3E5E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49808" y="438912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464E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 CALLS A DAY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749808" y="4645152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1A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416</a:t>
            </a:r>
            <a:endParaRPr lang="en-US" sz="3400" dirty="0"/>
          </a:p>
        </p:txBody>
      </p:sp>
      <p:sp>
        <p:nvSpPr>
          <p:cNvPr id="26" name="Text 24"/>
          <p:cNvSpPr txBox="1"/>
          <p:nvPr/>
        </p:nvSpPr>
        <p:spPr>
          <a:xfrm>
            <a:off x="749808" y="532180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31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handled by the agent, ≈ 28 staff-hours</a:t>
            </a:r>
            <a:pPr indent="0" marL="0">
              <a:buNone/>
            </a:pPr>
            <a:r>
              <a:rPr lang="en-US" sz="1000" dirty="0">
                <a:solidFill>
                  <a:srgbClr val="6B72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[8]</a:t>
            </a:r>
            <a:endParaRPr lang="en-US" sz="1150" dirty="0"/>
          </a:p>
        </p:txBody>
      </p:sp>
      <p:sp>
        <p:nvSpPr>
          <p:cNvPr id="27" name="Outcome 11"/>
          <p:cNvSpPr/>
          <p:nvPr/>
        </p:nvSpPr>
        <p:spPr>
          <a:xfrm>
            <a:off x="3355848" y="4206240"/>
            <a:ext cx="2670048" cy="1691640"/>
          </a:xfrm>
          <a:prstGeom prst="roundRect">
            <a:avLst>
              <a:gd name="adj" fmla="val 7568"/>
            </a:avLst>
          </a:prstGeom>
          <a:solidFill>
            <a:srgbClr val="FFFFFF"/>
          </a:solidFill>
          <a:ln w="9525">
            <a:solidFill>
              <a:srgbClr val="E3E5E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557016" y="438912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464E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WASTED TRIPS A DAY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3557016" y="4645152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1A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−96</a:t>
            </a:r>
            <a:endParaRPr lang="en-US" sz="3400" dirty="0"/>
          </a:p>
        </p:txBody>
      </p:sp>
      <p:sp>
        <p:nvSpPr>
          <p:cNvPr id="30" name="Text 28"/>
          <p:cNvSpPr txBox="1"/>
          <p:nvPr/>
        </p:nvSpPr>
        <p:spPr>
          <a:xfrm>
            <a:off x="3557016" y="532180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31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320 failed × 0.3 fewer attempts</a:t>
            </a:r>
            <a:pPr indent="0" marL="0">
              <a:buNone/>
            </a:pPr>
            <a:r>
              <a:rPr lang="en-US" sz="1000" dirty="0">
                <a:solidFill>
                  <a:srgbClr val="6B72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[8]</a:t>
            </a:r>
            <a:endParaRPr lang="en-US" sz="1150" dirty="0"/>
          </a:p>
        </p:txBody>
      </p:sp>
      <p:sp>
        <p:nvSpPr>
          <p:cNvPr id="31" name="Outcome 12"/>
          <p:cNvSpPr/>
          <p:nvPr/>
        </p:nvSpPr>
        <p:spPr>
          <a:xfrm>
            <a:off x="6163056" y="4206240"/>
            <a:ext cx="2670048" cy="1691640"/>
          </a:xfrm>
          <a:prstGeom prst="roundRect">
            <a:avLst>
              <a:gd name="adj" fmla="val 7568"/>
            </a:avLst>
          </a:prstGeom>
          <a:solidFill>
            <a:srgbClr val="FFFFFF"/>
          </a:solidFill>
          <a:ln w="9525">
            <a:solidFill>
              <a:srgbClr val="E3E5E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364224" y="438912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464E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COURIER A DAY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6364224" y="4645152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1A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pPr indent="0" marL="0">
              <a:buNone/>
            </a:pPr>
            <a:r>
              <a:rPr lang="en-US" sz="3400" b="1" dirty="0">
                <a:solidFill>
                  <a:srgbClr val="F0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min</a:t>
            </a:r>
            <a:endParaRPr lang="en-US" sz="3400" dirty="0"/>
          </a:p>
        </p:txBody>
      </p:sp>
      <p:sp>
        <p:nvSpPr>
          <p:cNvPr id="34" name="Text 32"/>
          <p:cNvSpPr txBox="1"/>
          <p:nvPr/>
        </p:nvSpPr>
        <p:spPr>
          <a:xfrm>
            <a:off x="6364224" y="532180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31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 on the road</a:t>
            </a:r>
            <a:pPr indent="0" marL="0">
              <a:buNone/>
            </a:pPr>
            <a:r>
              <a:rPr lang="en-US" sz="1000" dirty="0">
                <a:solidFill>
                  <a:srgbClr val="6B72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[8]</a:t>
            </a:r>
            <a:endParaRPr lang="en-US" sz="1150" dirty="0"/>
          </a:p>
        </p:txBody>
      </p:sp>
      <p:sp>
        <p:nvSpPr>
          <p:cNvPr id="35" name="Outcome 13"/>
          <p:cNvSpPr/>
          <p:nvPr/>
        </p:nvSpPr>
        <p:spPr>
          <a:xfrm>
            <a:off x="8970264" y="4206240"/>
            <a:ext cx="2670048" cy="1691640"/>
          </a:xfrm>
          <a:prstGeom prst="roundRect">
            <a:avLst>
              <a:gd name="adj" fmla="val 7568"/>
            </a:avLst>
          </a:prstGeom>
          <a:solidFill>
            <a:srgbClr val="FFF4EC"/>
          </a:solidFill>
          <a:ln w="9525">
            <a:solidFill>
              <a:srgbClr val="FFD7BF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9171432" y="438912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464E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SAVING A MONTH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9171432" y="4645152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0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₫</a:t>
            </a:r>
            <a:pPr indent="0" marL="0">
              <a:buNone/>
            </a:pPr>
            <a:r>
              <a:rPr lang="en-US" sz="3400" b="1" dirty="0">
                <a:solidFill>
                  <a:srgbClr val="F0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186M</a:t>
            </a:r>
            <a:endParaRPr lang="en-US" sz="3400" dirty="0"/>
          </a:p>
        </p:txBody>
      </p:sp>
      <p:sp>
        <p:nvSpPr>
          <p:cNvPr id="38" name="Text 36"/>
          <p:cNvSpPr txBox="1"/>
          <p:nvPr/>
        </p:nvSpPr>
        <p:spPr>
          <a:xfrm>
            <a:off x="9171432" y="532180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31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39% of the ₫473M loss, after ₫29M running cost</a:t>
            </a:r>
            <a:pPr indent="0" marL="0">
              <a:buNone/>
            </a:pPr>
            <a:r>
              <a:rPr lang="en-US" sz="1000" dirty="0">
                <a:solidFill>
                  <a:srgbClr val="6B72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[8]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10728655" y="6400800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464E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/ 13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 rule"/>
          <p:cNvSpPr/>
          <p:nvPr/>
        </p:nvSpPr>
        <p:spPr>
          <a:xfrm>
            <a:off x="548640" y="612648"/>
            <a:ext cx="292608" cy="0"/>
          </a:xfrm>
          <a:prstGeom prst="line">
            <a:avLst/>
          </a:prstGeom>
          <a:noFill/>
          <a:ln w="15875">
            <a:solidFill>
              <a:srgbClr val="F05A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60120" y="493776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200" kern="0" dirty="0">
                <a:solidFill>
                  <a:srgbClr val="6B72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</a:t>
            </a:r>
            <a:pPr indent="0" marL="0">
              <a:buNone/>
            </a:pPr>
            <a:r>
              <a:rPr lang="en-US" sz="1050" b="1" spc="200" kern="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 ECOSYSTEM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41248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98A0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on OpenAI, </a:t>
            </a:r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21A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the first line to the last call.</a:t>
            </a:r>
            <a:endParaRPr lang="en-US" sz="3000" dirty="0"/>
          </a:p>
        </p:txBody>
      </p:sp>
      <p:sp>
        <p:nvSpPr>
          <p:cNvPr id="5" name="OpenAI 1"/>
          <p:cNvSpPr/>
          <p:nvPr/>
        </p:nvSpPr>
        <p:spPr>
          <a:xfrm>
            <a:off x="548640" y="2011680"/>
            <a:ext cx="3593592" cy="2606040"/>
          </a:xfrm>
          <a:prstGeom prst="roundRect">
            <a:avLst>
              <a:gd name="adj" fmla="val 4912"/>
            </a:avLst>
          </a:prstGeom>
          <a:solidFill>
            <a:srgbClr val="FFFFFF"/>
          </a:solidFill>
          <a:ln w="9525">
            <a:solidFill>
              <a:srgbClr val="E3E5EA"/>
            </a:solidFill>
            <a:prstDash val="solid"/>
          </a:ln>
        </p:spPr>
      </p:sp>
      <p:pic>
        <p:nvPicPr>
          <p:cNvPr id="6" name="OpenAI logo 0" descr="/private/tmp/claude-503/-Users-davark-Downloads-Everything-Github-Alodi-Regional-Codex-Hackathon-2026/91e569a8-486f-4c0b-b683-a4991468f039/scratchpad/deck/assets/openai-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2267712"/>
            <a:ext cx="329184" cy="3291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80160" y="234086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F0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TALKS TO THE BUYER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804672" y="2788920"/>
            <a:ext cx="32278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1A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GPT-Live-1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804672" y="3218688"/>
            <a:ext cx="31363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31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Full-duplex voice: listens while it speaks, hands reasoning to the agent.</a:t>
            </a:r>
            <a:pPr indent="0" marL="0">
              <a:buNone/>
            </a:pPr>
            <a:r>
              <a:rPr lang="en-US" sz="1000" dirty="0">
                <a:solidFill>
                  <a:srgbClr val="6B72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[11]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804672" y="4133088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64E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v1/live/sessions · $0.05 a minute</a:t>
            </a:r>
            <a:endParaRPr lang="en-US" sz="1000" dirty="0"/>
          </a:p>
        </p:txBody>
      </p:sp>
      <p:sp>
        <p:nvSpPr>
          <p:cNvPr id="11" name="OpenAI 2"/>
          <p:cNvSpPr/>
          <p:nvPr/>
        </p:nvSpPr>
        <p:spPr>
          <a:xfrm>
            <a:off x="4297680" y="2011680"/>
            <a:ext cx="3593592" cy="2606040"/>
          </a:xfrm>
          <a:prstGeom prst="roundRect">
            <a:avLst>
              <a:gd name="adj" fmla="val 4912"/>
            </a:avLst>
          </a:prstGeom>
          <a:solidFill>
            <a:srgbClr val="FFFFFF"/>
          </a:solidFill>
          <a:ln w="9525">
            <a:solidFill>
              <a:srgbClr val="E3E5EA"/>
            </a:solidFill>
            <a:prstDash val="solid"/>
          </a:ln>
        </p:spPr>
      </p:sp>
      <p:pic>
        <p:nvPicPr>
          <p:cNvPr id="12" name="OpenAI logo 1" descr="/private/tmp/claude-503/-Users-davark-Downloads-Everything-Github-Alodi-Regional-Codex-Hackathon-2026/91e569a8-486f-4c0b-b683-a4991468f039/scratchpad/deck/assets/openai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53712" y="2267712"/>
            <a:ext cx="329184" cy="32918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029200" y="234086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F0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SORTS EVERY SIGNAL</a:t>
            </a:r>
            <a:endParaRPr lang="en-US" sz="800" dirty="0"/>
          </a:p>
        </p:txBody>
      </p:sp>
      <p:sp>
        <p:nvSpPr>
          <p:cNvPr id="14" name="Text 10"/>
          <p:cNvSpPr txBox="1"/>
          <p:nvPr/>
        </p:nvSpPr>
        <p:spPr>
          <a:xfrm>
            <a:off x="4553712" y="2788920"/>
            <a:ext cx="32278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1A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Decisions API · GPT-6 Luna</a:t>
            </a:r>
            <a:endParaRPr lang="en-US" sz="1700" dirty="0"/>
          </a:p>
        </p:txBody>
      </p:sp>
      <p:sp>
        <p:nvSpPr>
          <p:cNvPr id="15" name="Text 11"/>
          <p:cNvSpPr txBox="1"/>
          <p:nvPr/>
        </p:nvSpPr>
        <p:spPr>
          <a:xfrm>
            <a:off x="4553712" y="3218688"/>
            <a:ext cx="31363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31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case, which window, how sure: probabilities for the 0.85 rule.</a:t>
            </a:r>
            <a:pPr indent="0" marL="0">
              <a:buNone/>
            </a:pPr>
            <a:r>
              <a:rPr lang="en-US" sz="1000" dirty="0">
                <a:solidFill>
                  <a:srgbClr val="6B72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[11]</a:t>
            </a:r>
            <a:endParaRPr lang="en-US" sz="1250" dirty="0"/>
          </a:p>
        </p:txBody>
      </p:sp>
      <p:sp>
        <p:nvSpPr>
          <p:cNvPr id="16" name="Text 12"/>
          <p:cNvSpPr txBox="1"/>
          <p:nvPr/>
        </p:nvSpPr>
        <p:spPr>
          <a:xfrm>
            <a:off x="4553712" y="4133088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64E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/v1/decisions · $0.10 per 1M input</a:t>
            </a:r>
            <a:endParaRPr lang="en-US" sz="1000" dirty="0"/>
          </a:p>
        </p:txBody>
      </p:sp>
      <p:sp>
        <p:nvSpPr>
          <p:cNvPr id="17" name="OpenAI 3"/>
          <p:cNvSpPr/>
          <p:nvPr/>
        </p:nvSpPr>
        <p:spPr>
          <a:xfrm>
            <a:off x="8046720" y="2011680"/>
            <a:ext cx="3593592" cy="2606040"/>
          </a:xfrm>
          <a:prstGeom prst="roundRect">
            <a:avLst>
              <a:gd name="adj" fmla="val 4912"/>
            </a:avLst>
          </a:prstGeom>
          <a:solidFill>
            <a:srgbClr val="121A2C"/>
          </a:solidFill>
          <a:ln/>
        </p:spPr>
      </p:sp>
      <p:pic>
        <p:nvPicPr>
          <p:cNvPr id="18" name="OpenAI logo 2" descr="/private/tmp/claude-503/-Users-davark-Downloads-Everything-Github-Alodi-Regional-Codex-Hackathon-2026/91e569a8-486f-4c0b-b683-a4991468f039/scratchpad/deck/assets/openai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2752" y="2267712"/>
            <a:ext cx="329184" cy="329184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8778240" y="234086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F0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ORCHESTRATES THE CASE</a:t>
            </a:r>
            <a:endParaRPr lang="en-US" sz="800" dirty="0"/>
          </a:p>
        </p:txBody>
      </p:sp>
      <p:sp>
        <p:nvSpPr>
          <p:cNvPr id="20" name="Text 15"/>
          <p:cNvSpPr txBox="1"/>
          <p:nvPr/>
        </p:nvSpPr>
        <p:spPr>
          <a:xfrm>
            <a:off x="8302752" y="2788920"/>
            <a:ext cx="32278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GPT-5.6 Terra</a:t>
            </a:r>
            <a:endParaRPr lang="en-US" sz="1700" dirty="0"/>
          </a:p>
        </p:txBody>
      </p:sp>
      <p:sp>
        <p:nvSpPr>
          <p:cNvPr id="21" name="Text 16"/>
          <p:cNvSpPr txBox="1"/>
          <p:nvPr/>
        </p:nvSpPr>
        <p:spPr>
          <a:xfrm>
            <a:off x="8302752" y="3218688"/>
            <a:ext cx="31363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EE2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the agent across buyer, courier and policy; writes the card.</a:t>
            </a:r>
            <a:pPr indent="0" marL="0">
              <a:buNone/>
            </a:pPr>
            <a:r>
              <a:rPr lang="en-US" sz="1000" dirty="0">
                <a:solidFill>
                  <a:srgbClr val="9A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[11]</a:t>
            </a:r>
            <a:endParaRPr lang="en-US" sz="1250" dirty="0"/>
          </a:p>
        </p:txBody>
      </p:sp>
      <p:sp>
        <p:nvSpPr>
          <p:cNvPr id="22" name="Text 17"/>
          <p:cNvSpPr txBox="1"/>
          <p:nvPr/>
        </p:nvSpPr>
        <p:spPr>
          <a:xfrm>
            <a:off x="8302752" y="4133088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Responses API · Agents SDK</a:t>
            </a:r>
            <a:endParaRPr lang="en-US" sz="1000" dirty="0"/>
          </a:p>
        </p:txBody>
      </p:sp>
      <p:sp>
        <p:nvSpPr>
          <p:cNvPr id="23" name="Text 18"/>
          <p:cNvSpPr txBox="1"/>
          <p:nvPr/>
        </p:nvSpPr>
        <p:spPr>
          <a:xfrm>
            <a:off x="548640" y="489204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464E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ALSO IN THE STACK</a:t>
            </a:r>
            <a:endParaRPr lang="en-US" sz="900" dirty="0"/>
          </a:p>
        </p:txBody>
      </p:sp>
      <p:sp>
        <p:nvSpPr>
          <p:cNvPr id="24" name="Also rule 0"/>
          <p:cNvSpPr/>
          <p:nvPr/>
        </p:nvSpPr>
        <p:spPr>
          <a:xfrm>
            <a:off x="548640" y="5166360"/>
            <a:ext cx="2670048" cy="0"/>
          </a:xfrm>
          <a:prstGeom prst="line">
            <a:avLst/>
          </a:prstGeom>
          <a:noFill/>
          <a:ln w="9525">
            <a:solidFill>
              <a:srgbClr val="E3E5EA"/>
            </a:solidFill>
            <a:prstDash val="solid"/>
          </a:ln>
        </p:spPr>
      </p:sp>
      <p:pic>
        <p:nvPicPr>
          <p:cNvPr id="25" name="Also logo 0" descr="/private/tmp/claude-503/-Users-davark-Downloads-Everything-Github-Alodi-Regional-Codex-Hackathon-2026/91e569a8-486f-4c0b-b683-a4991468f039/scratchpad/deck/assets/openai-gre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5330952"/>
            <a:ext cx="201168" cy="201168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841248" y="52943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1A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 SDK</a:t>
            </a:r>
            <a:endParaRPr lang="en-US" sz="1200" dirty="0"/>
          </a:p>
        </p:txBody>
      </p:sp>
      <p:sp>
        <p:nvSpPr>
          <p:cNvPr id="27" name="Text 21"/>
          <p:cNvSpPr txBox="1"/>
          <p:nvPr/>
        </p:nvSpPr>
        <p:spPr>
          <a:xfrm>
            <a:off x="841248" y="555955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64E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tools · handoff · traces</a:t>
            </a:r>
            <a:endParaRPr lang="en-US" sz="1150" dirty="0"/>
          </a:p>
        </p:txBody>
      </p:sp>
      <p:sp>
        <p:nvSpPr>
          <p:cNvPr id="28" name="Also rule 1"/>
          <p:cNvSpPr/>
          <p:nvPr/>
        </p:nvSpPr>
        <p:spPr>
          <a:xfrm>
            <a:off x="3355848" y="5166360"/>
            <a:ext cx="2670048" cy="0"/>
          </a:xfrm>
          <a:prstGeom prst="line">
            <a:avLst/>
          </a:prstGeom>
          <a:noFill/>
          <a:ln w="9525">
            <a:solidFill>
              <a:srgbClr val="E3E5EA"/>
            </a:solidFill>
            <a:prstDash val="solid"/>
          </a:ln>
        </p:spPr>
      </p:sp>
      <p:pic>
        <p:nvPicPr>
          <p:cNvPr id="29" name="Also logo 1" descr="/private/tmp/claude-503/-Users-davark-Downloads-Everything-Github-Alodi-Regional-Codex-Hackathon-2026/91e569a8-486f-4c0b-b683-a4991468f039/scratchpad/deck/assets/openai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55848" y="5330952"/>
            <a:ext cx="201168" cy="201168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3648456" y="52943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1A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Evals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3648456" y="555955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64E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 every change</a:t>
            </a:r>
            <a:endParaRPr lang="en-US" sz="1150" dirty="0"/>
          </a:p>
        </p:txBody>
      </p:sp>
      <p:sp>
        <p:nvSpPr>
          <p:cNvPr id="32" name="Also rule 2"/>
          <p:cNvSpPr/>
          <p:nvPr/>
        </p:nvSpPr>
        <p:spPr>
          <a:xfrm>
            <a:off x="6163056" y="5166360"/>
            <a:ext cx="2670048" cy="0"/>
          </a:xfrm>
          <a:prstGeom prst="line">
            <a:avLst/>
          </a:prstGeom>
          <a:noFill/>
          <a:ln w="9525">
            <a:solidFill>
              <a:srgbClr val="E3E5EA"/>
            </a:solidFill>
            <a:prstDash val="solid"/>
          </a:ln>
        </p:spPr>
      </p:sp>
      <p:pic>
        <p:nvPicPr>
          <p:cNvPr id="33" name="Also logo 2" descr="/private/tmp/claude-503/-Users-davark-Downloads-Everything-Github-Alodi-Regional-Codex-Hackathon-2026/91e569a8-486f-4c0b-b683-a4991468f039/scratchpad/deck/assets/openai-gree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63056" y="5330952"/>
            <a:ext cx="201168" cy="20116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455664" y="52943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1A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gpt-oss-20b</a:t>
            </a:r>
            <a:endParaRPr lang="en-US" sz="1200" dirty="0"/>
          </a:p>
        </p:txBody>
      </p:sp>
      <p:sp>
        <p:nvSpPr>
          <p:cNvPr id="35" name="Text 27"/>
          <p:cNvSpPr txBox="1"/>
          <p:nvPr/>
        </p:nvSpPr>
        <p:spPr>
          <a:xfrm>
            <a:off x="6455664" y="555955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64E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offline fallback</a:t>
            </a:r>
            <a:endParaRPr lang="en-US" sz="1150" dirty="0"/>
          </a:p>
        </p:txBody>
      </p:sp>
      <p:sp>
        <p:nvSpPr>
          <p:cNvPr id="36" name="Also rule 3"/>
          <p:cNvSpPr/>
          <p:nvPr/>
        </p:nvSpPr>
        <p:spPr>
          <a:xfrm>
            <a:off x="8970264" y="5166360"/>
            <a:ext cx="2670048" cy="0"/>
          </a:xfrm>
          <a:prstGeom prst="line">
            <a:avLst/>
          </a:prstGeom>
          <a:noFill/>
          <a:ln w="9525">
            <a:solidFill>
              <a:srgbClr val="E3E5EA"/>
            </a:solidFill>
            <a:prstDash val="solid"/>
          </a:ln>
        </p:spPr>
      </p:sp>
      <p:pic>
        <p:nvPicPr>
          <p:cNvPr id="37" name="Also logo 3" descr="/private/tmp/claude-503/-Users-davark-Downloads-Everything-Github-Alodi-Regional-Codex-Hackathon-2026/91e569a8-486f-4c0b-b683-a4991468f039/scratchpad/deck/assets/openai-green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70264" y="5330952"/>
            <a:ext cx="201168" cy="201168"/>
          </a:xfrm>
          <a:prstGeom prst="rect">
            <a:avLst/>
          </a:prstGeom>
        </p:spPr>
      </p:pic>
      <p:sp>
        <p:nvSpPr>
          <p:cNvPr id="38" name="Text 29"/>
          <p:cNvSpPr txBox="1"/>
          <p:nvPr/>
        </p:nvSpPr>
        <p:spPr>
          <a:xfrm>
            <a:off x="9262872" y="52943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1A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Codex</a:t>
            </a:r>
            <a:endParaRPr lang="en-US" sz="1200" dirty="0"/>
          </a:p>
        </p:txBody>
      </p:sp>
      <p:sp>
        <p:nvSpPr>
          <p:cNvPr id="39" name="Text 30"/>
          <p:cNvSpPr txBox="1"/>
          <p:nvPr/>
        </p:nvSpPr>
        <p:spPr>
          <a:xfrm>
            <a:off x="9262872" y="555955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64E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 → build → review</a:t>
            </a:r>
            <a:endParaRPr lang="en-US" sz="1150" dirty="0"/>
          </a:p>
        </p:txBody>
      </p:sp>
      <p:sp>
        <p:nvSpPr>
          <p:cNvPr id="40" name="Text 31"/>
          <p:cNvSpPr txBox="1"/>
          <p:nvPr/>
        </p:nvSpPr>
        <p:spPr>
          <a:xfrm>
            <a:off x="10728655" y="6400800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464E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13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 rule"/>
          <p:cNvSpPr/>
          <p:nvPr/>
        </p:nvSpPr>
        <p:spPr>
          <a:xfrm>
            <a:off x="548640" y="612648"/>
            <a:ext cx="292608" cy="0"/>
          </a:xfrm>
          <a:prstGeom prst="line">
            <a:avLst/>
          </a:prstGeom>
          <a:noFill/>
          <a:ln w="15875">
            <a:solidFill>
              <a:srgbClr val="F05A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60120" y="493776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200" kern="0" dirty="0">
                <a:solidFill>
                  <a:srgbClr val="6B72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</a:t>
            </a:r>
            <a:pPr indent="0" marL="0">
              <a:buNone/>
            </a:pPr>
            <a:r>
              <a:rPr lang="en-US" sz="1050" b="1" spc="200" kern="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COMES NEXT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41248"/>
            <a:ext cx="5943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98A0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a stage demo </a:t>
            </a:r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21A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a national rollout.</a:t>
            </a:r>
            <a:endParaRPr lang="en-US" sz="3000" dirty="0"/>
          </a:p>
        </p:txBody>
      </p:sp>
      <p:pic>
        <p:nvPicPr>
          <p:cNvPr id="5" name="Roadmap photo" descr="A developer at a lapto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34072" y="502920"/>
            <a:ext cx="4206240" cy="1691640"/>
          </a:xfrm>
          <a:prstGeom prst="rect">
            <a:avLst/>
          </a:prstGeom>
        </p:spPr>
      </p:pic>
      <p:sp>
        <p:nvSpPr>
          <p:cNvPr id="6" name="Timeline"/>
          <p:cNvSpPr/>
          <p:nvPr/>
        </p:nvSpPr>
        <p:spPr>
          <a:xfrm>
            <a:off x="640080" y="2697480"/>
            <a:ext cx="10972800" cy="0"/>
          </a:xfrm>
          <a:prstGeom prst="line">
            <a:avLst/>
          </a:prstGeom>
          <a:noFill/>
          <a:ln w="12700">
            <a:solidFill>
              <a:srgbClr val="E3E5EA"/>
            </a:solidFill>
            <a:prstDash val="solid"/>
          </a:ln>
        </p:spPr>
      </p:sp>
      <p:sp>
        <p:nvSpPr>
          <p:cNvPr id="7" name="Dot 0"/>
          <p:cNvSpPr/>
          <p:nvPr/>
        </p:nvSpPr>
        <p:spPr>
          <a:xfrm>
            <a:off x="594360" y="2615184"/>
            <a:ext cx="164592" cy="164592"/>
          </a:xfrm>
          <a:prstGeom prst="ellipse">
            <a:avLst/>
          </a:prstGeom>
          <a:solidFill>
            <a:srgbClr val="F05A00"/>
          </a:solidFill>
          <a:ln w="12700">
            <a:solidFill>
              <a:srgbClr val="F05A0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41248" y="259689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F0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 2026</a:t>
            </a:r>
            <a:endParaRPr lang="en-US" sz="850" dirty="0"/>
          </a:p>
        </p:txBody>
      </p:sp>
      <p:sp>
        <p:nvSpPr>
          <p:cNvPr id="9" name="Phase 0"/>
          <p:cNvSpPr/>
          <p:nvPr/>
        </p:nvSpPr>
        <p:spPr>
          <a:xfrm>
            <a:off x="548640" y="3017520"/>
            <a:ext cx="1755648" cy="2377440"/>
          </a:xfrm>
          <a:prstGeom prst="roundRect">
            <a:avLst>
              <a:gd name="adj" fmla="val 7292"/>
            </a:avLst>
          </a:prstGeom>
          <a:solidFill>
            <a:srgbClr val="FFF4EC"/>
          </a:solidFill>
          <a:ln w="9525">
            <a:solidFill>
              <a:srgbClr val="FFD7BF"/>
            </a:solidFill>
            <a:prstDash val="solid"/>
          </a:ln>
        </p:spPr>
      </p:sp>
      <p:sp>
        <p:nvSpPr>
          <p:cNvPr id="10" name="Icon tile"/>
          <p:cNvSpPr/>
          <p:nvPr/>
        </p:nvSpPr>
        <p:spPr>
          <a:xfrm>
            <a:off x="731520" y="3200400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/>
        </p:spPr>
      </p:sp>
      <p:pic>
        <p:nvPicPr>
          <p:cNvPr id="11" name="Icon" descr="/private/tmp/claude-503/-Users-davark-Downloads-Everything-Github-Alodi-Regional-Codex-Hackathon-2026/91e569a8-486f-4c0b-b683-a4991468f039/scratchpad/deck/assets/mark-dot-oran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3264408"/>
            <a:ext cx="201168" cy="20116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31520" y="3675888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1A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 demo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731520" y="4187952"/>
            <a:ext cx="14813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A31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screens, AC-01 to AC-15 pass in rehearsal</a:t>
            </a:r>
            <a:pPr indent="0" marL="0">
              <a:buNone/>
            </a:pPr>
            <a:r>
              <a:rPr lang="en-US" sz="1000" dirty="0">
                <a:solidFill>
                  <a:srgbClr val="6B72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[12]</a:t>
            </a:r>
            <a:endParaRPr lang="en-US" sz="1200" dirty="0"/>
          </a:p>
        </p:txBody>
      </p:sp>
      <p:sp>
        <p:nvSpPr>
          <p:cNvPr id="14" name="Dot 1"/>
          <p:cNvSpPr/>
          <p:nvPr/>
        </p:nvSpPr>
        <p:spPr>
          <a:xfrm>
            <a:off x="2459736" y="2615184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8A0B2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2706624" y="259689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464E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 2026</a:t>
            </a:r>
            <a:endParaRPr lang="en-US" sz="850" dirty="0"/>
          </a:p>
        </p:txBody>
      </p:sp>
      <p:sp>
        <p:nvSpPr>
          <p:cNvPr id="16" name="Phase 1"/>
          <p:cNvSpPr/>
          <p:nvPr/>
        </p:nvSpPr>
        <p:spPr>
          <a:xfrm>
            <a:off x="2414016" y="3017520"/>
            <a:ext cx="1755648" cy="2377440"/>
          </a:xfrm>
          <a:prstGeom prst="roundRect">
            <a:avLst>
              <a:gd name="adj" fmla="val 7292"/>
            </a:avLst>
          </a:prstGeom>
          <a:solidFill>
            <a:srgbClr val="FFFFFF"/>
          </a:solidFill>
          <a:ln w="9525">
            <a:solidFill>
              <a:srgbClr val="E3E5EA"/>
            </a:solidFill>
            <a:prstDash val="solid"/>
          </a:ln>
        </p:spPr>
      </p:sp>
      <p:sp>
        <p:nvSpPr>
          <p:cNvPr id="17" name="Icon tile"/>
          <p:cNvSpPr/>
          <p:nvPr/>
        </p:nvSpPr>
        <p:spPr>
          <a:xfrm>
            <a:off x="2596896" y="3200400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F1F2F5"/>
          </a:solidFill>
          <a:ln/>
        </p:spPr>
      </p:sp>
      <p:pic>
        <p:nvPicPr>
          <p:cNvPr id="18" name="Icon" descr="/private/tmp/claude-503/-Users-davark-Downloads-Everything-Github-Alodi-Regional-Codex-Hackathon-2026/91e569a8-486f-4c0b-b683-a4991468f039/scratchpad/deck/assets/mark-square-nav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60904" y="3264408"/>
            <a:ext cx="201168" cy="201168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2596896" y="3675888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1A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build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2596896" y="4187952"/>
            <a:ext cx="14813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A31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engine, real call audio, ≥ 200 eval samples</a:t>
            </a:r>
            <a:endParaRPr lang="en-US" sz="1200" dirty="0"/>
          </a:p>
        </p:txBody>
      </p:sp>
      <p:sp>
        <p:nvSpPr>
          <p:cNvPr id="21" name="Dot 2"/>
          <p:cNvSpPr/>
          <p:nvPr/>
        </p:nvSpPr>
        <p:spPr>
          <a:xfrm>
            <a:off x="4325112" y="2615184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8A0B2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4572000" y="259689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464E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 2027</a:t>
            </a:r>
            <a:endParaRPr lang="en-US" sz="850" dirty="0"/>
          </a:p>
        </p:txBody>
      </p:sp>
      <p:sp>
        <p:nvSpPr>
          <p:cNvPr id="23" name="Phase 2"/>
          <p:cNvSpPr/>
          <p:nvPr/>
        </p:nvSpPr>
        <p:spPr>
          <a:xfrm>
            <a:off x="4279392" y="3017520"/>
            <a:ext cx="1755648" cy="2377440"/>
          </a:xfrm>
          <a:prstGeom prst="roundRect">
            <a:avLst>
              <a:gd name="adj" fmla="val 7292"/>
            </a:avLst>
          </a:prstGeom>
          <a:solidFill>
            <a:srgbClr val="FFFFFF"/>
          </a:solidFill>
          <a:ln w="9525">
            <a:solidFill>
              <a:srgbClr val="E3E5EA"/>
            </a:solidFill>
            <a:prstDash val="solid"/>
          </a:ln>
        </p:spPr>
      </p:sp>
      <p:sp>
        <p:nvSpPr>
          <p:cNvPr id="24" name="Icon tile"/>
          <p:cNvSpPr/>
          <p:nvPr/>
        </p:nvSpPr>
        <p:spPr>
          <a:xfrm>
            <a:off x="4462272" y="3200400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F1F2F5"/>
          </a:solidFill>
          <a:ln/>
        </p:spPr>
      </p:sp>
      <p:pic>
        <p:nvPicPr>
          <p:cNvPr id="25" name="Icon" descr="/private/tmp/claude-503/-Users-davark-Downloads-Everything-Github-Alodi-Regional-Codex-Hackathon-2026/91e569a8-486f-4c0b-b683-a4991468f039/scratchpad/deck/assets/mark-bars-nav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26280" y="3264408"/>
            <a:ext cx="201168" cy="201168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4462272" y="3675888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1A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Shadow mode</a:t>
            </a:r>
            <a:endParaRPr lang="en-US" sz="1400" dirty="0"/>
          </a:p>
        </p:txBody>
      </p:sp>
      <p:sp>
        <p:nvSpPr>
          <p:cNvPr id="27" name="Text 21"/>
          <p:cNvSpPr txBox="1"/>
          <p:nvPr/>
        </p:nvSpPr>
        <p:spPr>
          <a:xfrm>
            <a:off x="4462272" y="4187952"/>
            <a:ext cx="14813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A31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area, real events, no buyer contact</a:t>
            </a:r>
            <a:endParaRPr lang="en-US" sz="1200" dirty="0"/>
          </a:p>
        </p:txBody>
      </p:sp>
      <p:sp>
        <p:nvSpPr>
          <p:cNvPr id="28" name="Dot 3"/>
          <p:cNvSpPr/>
          <p:nvPr/>
        </p:nvSpPr>
        <p:spPr>
          <a:xfrm>
            <a:off x="6190488" y="2615184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8A0B2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6437376" y="259689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464E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 2027</a:t>
            </a:r>
            <a:endParaRPr lang="en-US" sz="850" dirty="0"/>
          </a:p>
        </p:txBody>
      </p:sp>
      <p:sp>
        <p:nvSpPr>
          <p:cNvPr id="30" name="Phase 3"/>
          <p:cNvSpPr/>
          <p:nvPr/>
        </p:nvSpPr>
        <p:spPr>
          <a:xfrm>
            <a:off x="6144768" y="3017520"/>
            <a:ext cx="1755648" cy="2377440"/>
          </a:xfrm>
          <a:prstGeom prst="roundRect">
            <a:avLst>
              <a:gd name="adj" fmla="val 7292"/>
            </a:avLst>
          </a:prstGeom>
          <a:solidFill>
            <a:srgbClr val="FFFFFF"/>
          </a:solidFill>
          <a:ln w="9525">
            <a:solidFill>
              <a:srgbClr val="E3E5EA"/>
            </a:solidFill>
            <a:prstDash val="solid"/>
          </a:ln>
        </p:spPr>
      </p:sp>
      <p:sp>
        <p:nvSpPr>
          <p:cNvPr id="31" name="Icon tile"/>
          <p:cNvSpPr/>
          <p:nvPr/>
        </p:nvSpPr>
        <p:spPr>
          <a:xfrm>
            <a:off x="6327648" y="3200400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F1F2F5"/>
          </a:solidFill>
          <a:ln/>
        </p:spPr>
      </p:sp>
      <p:pic>
        <p:nvPicPr>
          <p:cNvPr id="32" name="Icon" descr="/private/tmp/claude-503/-Users-davark-Downloads-Everything-Github-Alodi-Regional-Codex-Hackathon-2026/91e569a8-486f-4c0b-b683-a4991468f039/scratchpad/deck/assets/mark-check-navy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91656" y="3264408"/>
            <a:ext cx="201168" cy="201168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6327648" y="3675888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1A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channels</a:t>
            </a:r>
            <a:endParaRPr lang="en-US" sz="1400" dirty="0"/>
          </a:p>
        </p:txBody>
      </p:sp>
      <p:sp>
        <p:nvSpPr>
          <p:cNvPr id="34" name="Text 27"/>
          <p:cNvSpPr txBox="1"/>
          <p:nvPr/>
        </p:nvSpPr>
        <p:spPr>
          <a:xfrm>
            <a:off x="6327648" y="4187952"/>
            <a:ext cx="14813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A31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 and GPT-Live-1 calls for risky orders</a:t>
            </a:r>
            <a:endParaRPr lang="en-US" sz="1200" dirty="0"/>
          </a:p>
        </p:txBody>
      </p:sp>
      <p:sp>
        <p:nvSpPr>
          <p:cNvPr id="35" name="Dot 4"/>
          <p:cNvSpPr/>
          <p:nvPr/>
        </p:nvSpPr>
        <p:spPr>
          <a:xfrm>
            <a:off x="8055864" y="2615184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8A0B2"/>
            </a:solidFill>
            <a:prstDash val="solid"/>
          </a:ln>
        </p:spPr>
      </p:sp>
      <p:sp>
        <p:nvSpPr>
          <p:cNvPr id="36" name="Text 29"/>
          <p:cNvSpPr txBox="1"/>
          <p:nvPr/>
        </p:nvSpPr>
        <p:spPr>
          <a:xfrm>
            <a:off x="8302752" y="259689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464E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H2 2027</a:t>
            </a:r>
            <a:endParaRPr lang="en-US" sz="850" dirty="0"/>
          </a:p>
        </p:txBody>
      </p:sp>
      <p:sp>
        <p:nvSpPr>
          <p:cNvPr id="37" name="Phase 4"/>
          <p:cNvSpPr/>
          <p:nvPr/>
        </p:nvSpPr>
        <p:spPr>
          <a:xfrm>
            <a:off x="8010144" y="3017520"/>
            <a:ext cx="1755648" cy="2377440"/>
          </a:xfrm>
          <a:prstGeom prst="roundRect">
            <a:avLst>
              <a:gd name="adj" fmla="val 7292"/>
            </a:avLst>
          </a:prstGeom>
          <a:solidFill>
            <a:srgbClr val="FFFFFF"/>
          </a:solidFill>
          <a:ln w="9525">
            <a:solidFill>
              <a:srgbClr val="E3E5EA"/>
            </a:solidFill>
            <a:prstDash val="solid"/>
          </a:ln>
        </p:spPr>
      </p:sp>
      <p:sp>
        <p:nvSpPr>
          <p:cNvPr id="38" name="Icon tile"/>
          <p:cNvSpPr/>
          <p:nvPr/>
        </p:nvSpPr>
        <p:spPr>
          <a:xfrm>
            <a:off x="8193024" y="3200400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F1F2F5"/>
          </a:solidFill>
          <a:ln/>
        </p:spPr>
      </p:sp>
      <p:pic>
        <p:nvPicPr>
          <p:cNvPr id="39" name="Icon" descr="/private/tmp/claude-503/-Users-davark-Downloads-Everything-Github-Alodi-Regional-Codex-Hackathon-2026/91e569a8-486f-4c0b-b683-a4991468f039/scratchpad/deck/assets/mark-dot-navy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57032" y="3264408"/>
            <a:ext cx="201168" cy="201168"/>
          </a:xfrm>
          <a:prstGeom prst="rect">
            <a:avLst/>
          </a:prstGeom>
        </p:spPr>
      </p:pic>
      <p:sp>
        <p:nvSpPr>
          <p:cNvPr id="40" name="Text 32"/>
          <p:cNvSpPr txBox="1"/>
          <p:nvPr/>
        </p:nvSpPr>
        <p:spPr>
          <a:xfrm>
            <a:off x="8193024" y="3675888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1A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</a:t>
            </a:r>
            <a:endParaRPr lang="en-US" sz="1400" dirty="0"/>
          </a:p>
        </p:txBody>
      </p:sp>
      <p:sp>
        <p:nvSpPr>
          <p:cNvPr id="41" name="Text 33"/>
          <p:cNvSpPr txBox="1"/>
          <p:nvPr/>
        </p:nvSpPr>
        <p:spPr>
          <a:xfrm>
            <a:off x="8193024" y="4187952"/>
            <a:ext cx="14813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A31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5–20 hubs, cost per case on target</a:t>
            </a:r>
            <a:endParaRPr lang="en-US" sz="1200" dirty="0"/>
          </a:p>
        </p:txBody>
      </p:sp>
      <p:sp>
        <p:nvSpPr>
          <p:cNvPr id="42" name="Dot 5"/>
          <p:cNvSpPr/>
          <p:nvPr/>
        </p:nvSpPr>
        <p:spPr>
          <a:xfrm>
            <a:off x="9921240" y="2615184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8A0B2"/>
            </a:solidFill>
            <a:prstDash val="solid"/>
          </a:ln>
        </p:spPr>
      </p:sp>
      <p:sp>
        <p:nvSpPr>
          <p:cNvPr id="43" name="Text 35"/>
          <p:cNvSpPr txBox="1"/>
          <p:nvPr/>
        </p:nvSpPr>
        <p:spPr>
          <a:xfrm>
            <a:off x="10168128" y="259689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464E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2028</a:t>
            </a:r>
            <a:endParaRPr lang="en-US" sz="850" dirty="0"/>
          </a:p>
        </p:txBody>
      </p:sp>
      <p:sp>
        <p:nvSpPr>
          <p:cNvPr id="44" name="Phase 5"/>
          <p:cNvSpPr/>
          <p:nvPr/>
        </p:nvSpPr>
        <p:spPr>
          <a:xfrm>
            <a:off x="9875520" y="3017520"/>
            <a:ext cx="1755648" cy="2377440"/>
          </a:xfrm>
          <a:prstGeom prst="roundRect">
            <a:avLst>
              <a:gd name="adj" fmla="val 7292"/>
            </a:avLst>
          </a:prstGeom>
          <a:solidFill>
            <a:srgbClr val="FFFFFF"/>
          </a:solidFill>
          <a:ln w="9525">
            <a:solidFill>
              <a:srgbClr val="E3E5EA"/>
            </a:solidFill>
            <a:prstDash val="solid"/>
          </a:ln>
        </p:spPr>
      </p:sp>
      <p:sp>
        <p:nvSpPr>
          <p:cNvPr id="45" name="Icon tile"/>
          <p:cNvSpPr/>
          <p:nvPr/>
        </p:nvSpPr>
        <p:spPr>
          <a:xfrm>
            <a:off x="10058400" y="3200400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F1F2F5"/>
          </a:solidFill>
          <a:ln/>
        </p:spPr>
      </p:sp>
      <p:pic>
        <p:nvPicPr>
          <p:cNvPr id="46" name="Icon" descr="/private/tmp/claude-503/-Users-davark-Downloads-Everything-Github-Alodi-Regional-Codex-Hackathon-2026/91e569a8-486f-4c0b-b683-a4991468f039/scratchpad/deck/assets/mark-check-navy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22408" y="3264408"/>
            <a:ext cx="201168" cy="201168"/>
          </a:xfrm>
          <a:prstGeom prst="rect">
            <a:avLst/>
          </a:prstGeom>
        </p:spPr>
      </p:pic>
      <p:sp>
        <p:nvSpPr>
          <p:cNvPr id="47" name="Text 38"/>
          <p:cNvSpPr txBox="1"/>
          <p:nvPr/>
        </p:nvSpPr>
        <p:spPr>
          <a:xfrm>
            <a:off x="10058400" y="3675888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1A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National</a:t>
            </a:r>
            <a:endParaRPr lang="en-US" sz="1400" dirty="0"/>
          </a:p>
        </p:txBody>
      </p:sp>
      <p:sp>
        <p:nvSpPr>
          <p:cNvPr id="48" name="Text 39"/>
          <p:cNvSpPr txBox="1"/>
          <p:nvPr/>
        </p:nvSpPr>
        <p:spPr>
          <a:xfrm>
            <a:off x="10058400" y="4187952"/>
            <a:ext cx="14813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A31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20–100 hubs, break-even</a:t>
            </a:r>
            <a:endParaRPr lang="en-US" sz="1200" dirty="0"/>
          </a:p>
        </p:txBody>
      </p:sp>
      <p:sp>
        <p:nvSpPr>
          <p:cNvPr id="49" name="Text 40"/>
          <p:cNvSpPr txBox="1"/>
          <p:nvPr/>
        </p:nvSpPr>
        <p:spPr>
          <a:xfrm>
            <a:off x="10728655" y="6400800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464E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13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lose photo" descr="Ho Chi Minh City stree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Wash" descr="/private/tmp/claude-503/-Users-davark-Downloads-Everything-Github-Alodi-Regional-Codex-Hackathon-2026/91e569a8-486f-4c0b-b683-a4991468f039/scratchpad/deck/assets/wash-clo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Logo" descr="/private/tmp/claude-503/-Users-davark-Downloads-Everything-Github-Alodi-Regional-Codex-Hackathon-2026/91e569a8-486f-4c0b-b683-a4991468f039/scratchpad/deck/assets/logo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48640"/>
            <a:ext cx="914400" cy="3931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548640" y="1417320"/>
            <a:ext cx="6858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5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the second</a:t>
            </a:r>
            <a:endParaRPr lang="en-US" sz="56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5600" i="1" dirty="0">
                <a:solidFill>
                  <a:srgbClr val="F05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drop land.</a:t>
            </a:r>
            <a:endParaRPr lang="en-US" sz="5600" dirty="0"/>
          </a:p>
        </p:txBody>
      </p:sp>
      <p:sp>
        <p:nvSpPr>
          <p:cNvPr id="6" name="Text 1"/>
          <p:cNvSpPr txBox="1"/>
          <p:nvPr/>
        </p:nvSpPr>
        <p:spPr>
          <a:xfrm>
            <a:off x="548640" y="324612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EE2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Couriers stop repeating failed attempts. Buyers get asked, not chased. Every high-stakes decision stays with a person.</a:t>
            </a:r>
            <a:endParaRPr lang="en-US" sz="1400" dirty="0"/>
          </a:p>
        </p:txBody>
      </p:sp>
      <p:pic>
        <p:nvPicPr>
          <p:cNvPr id="7" name="Team 1" descr="Nomura Yoshio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4343400"/>
            <a:ext cx="1005840" cy="1005840"/>
          </a:xfrm>
          <a:prstGeom prst="rect">
            <a:avLst/>
          </a:prstGeom>
        </p:spPr>
      </p:pic>
      <p:sp>
        <p:nvSpPr>
          <p:cNvPr id="8" name="Text 2"/>
          <p:cNvSpPr txBox="1"/>
          <p:nvPr/>
        </p:nvSpPr>
        <p:spPr>
          <a:xfrm>
            <a:off x="548640" y="544068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Nomura Yoshio</a:t>
            </a:r>
            <a:endParaRPr lang="en-US" sz="1100" dirty="0"/>
          </a:p>
        </p:txBody>
      </p:sp>
      <p:sp>
        <p:nvSpPr>
          <p:cNvPr id="9" name="Text 3"/>
          <p:cNvSpPr txBox="1"/>
          <p:nvPr/>
        </p:nvSpPr>
        <p:spPr>
          <a:xfrm>
            <a:off x="548640" y="5687568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2D7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Lead · Presenter</a:t>
            </a:r>
            <a:endParaRPr lang="en-US" sz="1000" dirty="0"/>
          </a:p>
        </p:txBody>
      </p:sp>
      <p:pic>
        <p:nvPicPr>
          <p:cNvPr id="10" name="Team 2" descr="Long Quan T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48840" y="4343400"/>
            <a:ext cx="1005840" cy="1005840"/>
          </a:xfrm>
          <a:prstGeom prst="rect">
            <a:avLst/>
          </a:prstGeom>
        </p:spPr>
      </p:pic>
      <p:sp>
        <p:nvSpPr>
          <p:cNvPr id="11" name="Text 4"/>
          <p:cNvSpPr txBox="1"/>
          <p:nvPr/>
        </p:nvSpPr>
        <p:spPr>
          <a:xfrm>
            <a:off x="2148840" y="544068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 Quan Ton</a:t>
            </a:r>
            <a:endParaRPr lang="en-US" sz="1100" dirty="0"/>
          </a:p>
        </p:txBody>
      </p:sp>
      <p:sp>
        <p:nvSpPr>
          <p:cNvPr id="12" name="Text 5"/>
          <p:cNvSpPr txBox="1"/>
          <p:nvPr/>
        </p:nvSpPr>
        <p:spPr>
          <a:xfrm>
            <a:off x="2148840" y="5687568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2D7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Engineer · Architect</a:t>
            </a:r>
            <a:endParaRPr lang="en-US" sz="1000" dirty="0"/>
          </a:p>
        </p:txBody>
      </p:sp>
      <p:pic>
        <p:nvPicPr>
          <p:cNvPr id="13" name="Team 3" descr="Khanh Tuong Huynh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49040" y="4343400"/>
            <a:ext cx="1005840" cy="1005840"/>
          </a:xfrm>
          <a:prstGeom prst="rect">
            <a:avLst/>
          </a:prstGeom>
        </p:spPr>
      </p:pic>
      <p:sp>
        <p:nvSpPr>
          <p:cNvPr id="14" name="Text 6"/>
          <p:cNvSpPr txBox="1"/>
          <p:nvPr/>
        </p:nvSpPr>
        <p:spPr>
          <a:xfrm>
            <a:off x="3749040" y="544068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Khanh Tuong Huynh</a:t>
            </a:r>
            <a:endParaRPr lang="en-US" sz="1100" dirty="0"/>
          </a:p>
        </p:txBody>
      </p:sp>
      <p:sp>
        <p:nvSpPr>
          <p:cNvPr id="15" name="Text 7"/>
          <p:cNvSpPr txBox="1"/>
          <p:nvPr/>
        </p:nvSpPr>
        <p:spPr>
          <a:xfrm>
            <a:off x="3749040" y="5687568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2D7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Engineer · Deployment</a:t>
            </a:r>
            <a:endParaRPr lang="en-US" sz="1000" dirty="0"/>
          </a:p>
        </p:txBody>
      </p:sp>
      <p:pic>
        <p:nvPicPr>
          <p:cNvPr id="16" name="Team 4" descr="Thanh Loi Tra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49240" y="4343400"/>
            <a:ext cx="1005840" cy="1005840"/>
          </a:xfrm>
          <a:prstGeom prst="rect">
            <a:avLst/>
          </a:prstGeom>
        </p:spPr>
      </p:pic>
      <p:sp>
        <p:nvSpPr>
          <p:cNvPr id="17" name="Text 8"/>
          <p:cNvSpPr txBox="1"/>
          <p:nvPr/>
        </p:nvSpPr>
        <p:spPr>
          <a:xfrm>
            <a:off x="5349240" y="544068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Thanh Loi Tran</a:t>
            </a:r>
            <a:endParaRPr lang="en-US" sz="1100" dirty="0"/>
          </a:p>
        </p:txBody>
      </p:sp>
      <p:sp>
        <p:nvSpPr>
          <p:cNvPr id="18" name="Text 9"/>
          <p:cNvSpPr txBox="1"/>
          <p:nvPr/>
        </p:nvSpPr>
        <p:spPr>
          <a:xfrm>
            <a:off x="5349240" y="5687568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2D7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Engineer · Backend</a:t>
            </a:r>
            <a:endParaRPr lang="en-US" sz="1000" dirty="0"/>
          </a:p>
        </p:txBody>
      </p:sp>
      <p:sp>
        <p:nvSpPr>
          <p:cNvPr id="19" name="QR card"/>
          <p:cNvSpPr/>
          <p:nvPr/>
        </p:nvSpPr>
        <p:spPr>
          <a:xfrm>
            <a:off x="8412480" y="1463040"/>
            <a:ext cx="3246120" cy="4206240"/>
          </a:xfrm>
          <a:prstGeom prst="roundRect">
            <a:avLst>
              <a:gd name="adj" fmla="val 507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121A2C">
                <a:alpha val="16000"/>
              </a:srgbClr>
            </a:outerShdw>
          </a:effectLst>
        </p:spPr>
      </p:sp>
      <p:sp>
        <p:nvSpPr>
          <p:cNvPr id="20" name="QR placeholder"/>
          <p:cNvSpPr/>
          <p:nvPr/>
        </p:nvSpPr>
        <p:spPr>
          <a:xfrm>
            <a:off x="8915400" y="1828800"/>
            <a:ext cx="2240280" cy="2240280"/>
          </a:xfrm>
          <a:prstGeom prst="roundRect">
            <a:avLst>
              <a:gd name="adj" fmla="val 4082"/>
            </a:avLst>
          </a:prstGeom>
          <a:solidFill>
            <a:srgbClr val="F7F7F8"/>
          </a:solidFill>
          <a:ln w="12700">
            <a:solidFill>
              <a:srgbClr val="98A0B2"/>
            </a:solidFill>
            <a:prstDash val="dash"/>
          </a:ln>
        </p:spPr>
      </p:sp>
      <p:sp>
        <p:nvSpPr>
          <p:cNvPr id="21" name="Text 12"/>
          <p:cNvSpPr txBox="1"/>
          <p:nvPr/>
        </p:nvSpPr>
        <p:spPr>
          <a:xfrm>
            <a:off x="8915400" y="274320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64E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QR code to the live demo</a:t>
            </a:r>
            <a:endParaRPr lang="en-US" sz="1000" dirty="0"/>
          </a:p>
        </p:txBody>
      </p:sp>
      <p:sp>
        <p:nvSpPr>
          <p:cNvPr id="22" name="Text 13"/>
          <p:cNvSpPr txBox="1"/>
          <p:nvPr/>
        </p:nvSpPr>
        <p:spPr>
          <a:xfrm>
            <a:off x="8549640" y="4297680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1A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it yourself</a:t>
            </a:r>
            <a:endParaRPr lang="en-US" sz="1600" dirty="0"/>
          </a:p>
        </p:txBody>
      </p:sp>
      <p:sp>
        <p:nvSpPr>
          <p:cNvPr id="23" name="Text 14"/>
          <p:cNvSpPr txBox="1"/>
          <p:nvPr/>
        </p:nvSpPr>
        <p:spPr>
          <a:xfrm>
            <a:off x="8595360" y="4645152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64E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Four-screen demo, hub dashboard and the numbers proof.</a:t>
            </a:r>
            <a:endParaRPr lang="en-US" sz="1200" dirty="0"/>
          </a:p>
        </p:txBody>
      </p:sp>
      <p:sp>
        <p:nvSpPr>
          <p:cNvPr id="24" name="Text 15"/>
          <p:cNvSpPr txBox="1"/>
          <p:nvPr/>
        </p:nvSpPr>
        <p:spPr>
          <a:xfrm>
            <a:off x="548640" y="640080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2D7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Develarper · Sea × OpenAI Regional Codex Hackathon · October 2026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 rule"/>
          <p:cNvSpPr/>
          <p:nvPr/>
        </p:nvSpPr>
        <p:spPr>
          <a:xfrm>
            <a:off x="548640" y="612648"/>
            <a:ext cx="292608" cy="0"/>
          </a:xfrm>
          <a:prstGeom prst="line">
            <a:avLst/>
          </a:prstGeom>
          <a:noFill/>
          <a:ln w="15875">
            <a:solidFill>
              <a:srgbClr val="F05A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60120" y="493776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200" kern="0" dirty="0">
                <a:solidFill>
                  <a:srgbClr val="6B72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</a:t>
            </a:r>
            <a:pPr indent="0" marL="0">
              <a:buNone/>
            </a:pPr>
            <a:r>
              <a:rPr lang="en-US" sz="1050" b="1" spc="200" kern="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41248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98A0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number, </a:t>
            </a:r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21A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where it comes from.</a:t>
            </a:r>
            <a:endParaRPr lang="en-US" sz="3000" dirty="0"/>
          </a:p>
        </p:txBody>
      </p:sp>
      <p:sp>
        <p:nvSpPr>
          <p:cNvPr id="5" name="Ref rule 0"/>
          <p:cNvSpPr/>
          <p:nvPr/>
        </p:nvSpPr>
        <p:spPr>
          <a:xfrm>
            <a:off x="548640" y="1874520"/>
            <a:ext cx="5440680" cy="0"/>
          </a:xfrm>
          <a:prstGeom prst="line">
            <a:avLst/>
          </a:prstGeom>
          <a:noFill/>
          <a:ln w="9525">
            <a:solidFill>
              <a:srgbClr val="E3E5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965960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0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[1]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1947672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21A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Shopee Refund Policy §7.1: seller pays return shipping on failed orders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2221992"/>
            <a:ext cx="4983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64E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help.shopee.vn/portal/4/article/77251</a:t>
            </a:r>
            <a:endParaRPr lang="en-US" sz="950" dirty="0"/>
          </a:p>
        </p:txBody>
      </p:sp>
      <p:sp>
        <p:nvSpPr>
          <p:cNvPr id="9" name="Ref rule 1"/>
          <p:cNvSpPr/>
          <p:nvPr/>
        </p:nvSpPr>
        <p:spPr>
          <a:xfrm>
            <a:off x="548640" y="2514600"/>
            <a:ext cx="5440680" cy="0"/>
          </a:xfrm>
          <a:prstGeom prst="line">
            <a:avLst/>
          </a:prstGeom>
          <a:noFill/>
          <a:ln w="9525">
            <a:solidFill>
              <a:srgbClr val="E3E5E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606040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0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[2]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2587752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21A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GHN: ₫40,000 return-fee cap per order since 1 Apr 2025 (₫20,000 express)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1005840" y="2862072"/>
            <a:ext cx="4983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64E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ghn.vn/blogs/tip-ban-hang/tra-hang-shopee-ai-chiu-phi</a:t>
            </a:r>
            <a:endParaRPr lang="en-US" sz="950" dirty="0"/>
          </a:p>
        </p:txBody>
      </p:sp>
      <p:sp>
        <p:nvSpPr>
          <p:cNvPr id="13" name="Ref rule 2"/>
          <p:cNvSpPr/>
          <p:nvPr/>
        </p:nvSpPr>
        <p:spPr>
          <a:xfrm>
            <a:off x="548640" y="3154680"/>
            <a:ext cx="5440680" cy="0"/>
          </a:xfrm>
          <a:prstGeom prst="line">
            <a:avLst/>
          </a:prstGeom>
          <a:noFill/>
          <a:ln w="9525">
            <a:solidFill>
              <a:srgbClr val="E3E5E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246120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0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[3]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005840" y="3227832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21A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Nguoi Lao Dong, 19 Jul 2025: refusal rates, VECOM and Tran Anh Tung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1005840" y="3502152"/>
            <a:ext cx="4983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64E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tuoitre.vn/nld/nhuc-nhoi-nan-bom-hang-19625071822023801.htm</a:t>
            </a:r>
            <a:endParaRPr lang="en-US" sz="950" dirty="0"/>
          </a:p>
        </p:txBody>
      </p:sp>
      <p:sp>
        <p:nvSpPr>
          <p:cNvPr id="17" name="Ref rule 3"/>
          <p:cNvSpPr/>
          <p:nvPr/>
        </p:nvSpPr>
        <p:spPr>
          <a:xfrm>
            <a:off x="548640" y="3794760"/>
            <a:ext cx="5440680" cy="0"/>
          </a:xfrm>
          <a:prstGeom prst="line">
            <a:avLst/>
          </a:prstGeom>
          <a:noFill/>
          <a:ln w="9525">
            <a:solidFill>
              <a:srgbClr val="E3E5E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3886200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0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[4]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1005840" y="3867912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21A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Shopee Help Center 79559: no specific delivery time can be chosen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1005840" y="4142232"/>
            <a:ext cx="4983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64E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help.shopee.vn/portal/4/article/79559</a:t>
            </a:r>
            <a:endParaRPr lang="en-US" sz="950" dirty="0"/>
          </a:p>
        </p:txBody>
      </p:sp>
      <p:sp>
        <p:nvSpPr>
          <p:cNvPr id="21" name="Ref rule 4"/>
          <p:cNvSpPr/>
          <p:nvPr/>
        </p:nvSpPr>
        <p:spPr>
          <a:xfrm>
            <a:off x="548640" y="4434840"/>
            <a:ext cx="5440680" cy="0"/>
          </a:xfrm>
          <a:prstGeom prst="line">
            <a:avLst/>
          </a:prstGeom>
          <a:noFill/>
          <a:ln w="9525">
            <a:solidFill>
              <a:srgbClr val="E3E5E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526280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0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[5]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1005840" y="4507992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21A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Shopee Help Center 79569: 2–3 contacts, reschedule within 5 days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1005840" y="4782312"/>
            <a:ext cx="4983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64E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help.shopee.vn/portal/4/article/79569</a:t>
            </a:r>
            <a:endParaRPr lang="en-US" sz="950" dirty="0"/>
          </a:p>
        </p:txBody>
      </p:sp>
      <p:sp>
        <p:nvSpPr>
          <p:cNvPr id="25" name="Ref rule 5"/>
          <p:cNvSpPr/>
          <p:nvPr/>
        </p:nvSpPr>
        <p:spPr>
          <a:xfrm>
            <a:off x="548640" y="5074920"/>
            <a:ext cx="5440680" cy="0"/>
          </a:xfrm>
          <a:prstGeom prst="line">
            <a:avLst/>
          </a:prstGeom>
          <a:noFill/>
          <a:ln w="9525">
            <a:solidFill>
              <a:srgbClr val="E3E5E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48640" y="5166360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0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[6]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1005840" y="5148072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21A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GHN: courier earns ₫6,000–8,000 per delivered order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1005840" y="5422392"/>
            <a:ext cx="4983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64E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ghn.vn/blogs/tip-ban-hang/mot-don-hang-shipper-shopee-duoc-bao-nhieu-tien</a:t>
            </a:r>
            <a:endParaRPr lang="en-US" sz="950" dirty="0"/>
          </a:p>
        </p:txBody>
      </p:sp>
      <p:sp>
        <p:nvSpPr>
          <p:cNvPr id="29" name="Ref rule 6"/>
          <p:cNvSpPr/>
          <p:nvPr/>
        </p:nvSpPr>
        <p:spPr>
          <a:xfrm>
            <a:off x="6172200" y="1874520"/>
            <a:ext cx="5440680" cy="0"/>
          </a:xfrm>
          <a:prstGeom prst="line">
            <a:avLst/>
          </a:prstGeom>
          <a:noFill/>
          <a:ln w="9525">
            <a:solidFill>
              <a:srgbClr val="E3E5EA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172200" y="1965960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0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[7]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6629400" y="1947672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21A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Shipsy: rescue 20–30% industry, 50–65% best-in-class (vendor)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6629400" y="2221992"/>
            <a:ext cx="4983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64E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shipsy.ai/insights/what-is-ndr-non-delivery-report-management</a:t>
            </a:r>
            <a:endParaRPr lang="en-US" sz="950" dirty="0"/>
          </a:p>
        </p:txBody>
      </p:sp>
      <p:sp>
        <p:nvSpPr>
          <p:cNvPr id="33" name="Ref rule 7"/>
          <p:cNvSpPr/>
          <p:nvPr/>
        </p:nvSpPr>
        <p:spPr>
          <a:xfrm>
            <a:off x="6172200" y="2514600"/>
            <a:ext cx="5440680" cy="0"/>
          </a:xfrm>
          <a:prstGeom prst="line">
            <a:avLst/>
          </a:prstGeom>
          <a:noFill/>
          <a:ln w="9525">
            <a:solidFill>
              <a:srgbClr val="E3E5EA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172200" y="2606040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0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[8]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6629400" y="2587752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21A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cost model, PRD §18.8: one area, 20 couriers, 4,000 orders a day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6629400" y="2862072"/>
            <a:ext cx="4983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64E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prep/02-technical/cost-model · alodi-numbers.pdf</a:t>
            </a:r>
            <a:endParaRPr lang="en-US" sz="950" dirty="0"/>
          </a:p>
        </p:txBody>
      </p:sp>
      <p:sp>
        <p:nvSpPr>
          <p:cNvPr id="37" name="Ref rule 8"/>
          <p:cNvSpPr/>
          <p:nvPr/>
        </p:nvSpPr>
        <p:spPr>
          <a:xfrm>
            <a:off x="6172200" y="3154680"/>
            <a:ext cx="5440680" cy="0"/>
          </a:xfrm>
          <a:prstGeom prst="line">
            <a:avLst/>
          </a:prstGeom>
          <a:noFill/>
          <a:ln w="9525">
            <a:solidFill>
              <a:srgbClr val="E3E5EA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172200" y="3246120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0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[9]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6629400" y="3227832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21A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survey: 100 buyers, 12 couriers; pending the interview export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6629400" y="3502152"/>
            <a:ext cx="4983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64E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prep/06-survey</a:t>
            </a:r>
            <a:endParaRPr lang="en-US" sz="950" dirty="0"/>
          </a:p>
        </p:txBody>
      </p:sp>
      <p:sp>
        <p:nvSpPr>
          <p:cNvPr id="41" name="Ref rule 9"/>
          <p:cNvSpPr/>
          <p:nvPr/>
        </p:nvSpPr>
        <p:spPr>
          <a:xfrm>
            <a:off x="6172200" y="3794760"/>
            <a:ext cx="5440680" cy="0"/>
          </a:xfrm>
          <a:prstGeom prst="line">
            <a:avLst/>
          </a:prstGeom>
          <a:noFill/>
          <a:ln w="9525">
            <a:solidFill>
              <a:srgbClr val="E3E5EA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172200" y="3886200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0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[10]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6629400" y="3867912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21A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Alodi PRD §2.3 and §23: output metrics and evaluation targets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6629400" y="4142232"/>
            <a:ext cx="4983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64E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prep/02-technical/PRD.md</a:t>
            </a:r>
            <a:endParaRPr lang="en-US" sz="950" dirty="0"/>
          </a:p>
        </p:txBody>
      </p:sp>
      <p:sp>
        <p:nvSpPr>
          <p:cNvPr id="45" name="Ref rule 10"/>
          <p:cNvSpPr/>
          <p:nvPr/>
        </p:nvSpPr>
        <p:spPr>
          <a:xfrm>
            <a:off x="6172200" y="4434840"/>
            <a:ext cx="5440680" cy="0"/>
          </a:xfrm>
          <a:prstGeom prst="line">
            <a:avLst/>
          </a:prstGeom>
          <a:noFill/>
          <a:ln w="9525">
            <a:solidFill>
              <a:srgbClr val="E3E5EA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6172200" y="4526280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0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[11]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6629400" y="4507992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21A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OpenAI: GPT-Live-1, GPT-5.6 Terra, Decisions API on GPT-6 Luna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6629400" y="4782312"/>
            <a:ext cx="4983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64E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developers.openai.com · openai.com/index/decisions-api · checked 31 Oct 2026</a:t>
            </a:r>
            <a:endParaRPr lang="en-US" sz="950" dirty="0"/>
          </a:p>
        </p:txBody>
      </p:sp>
      <p:sp>
        <p:nvSpPr>
          <p:cNvPr id="49" name="Ref rule 11"/>
          <p:cNvSpPr/>
          <p:nvPr/>
        </p:nvSpPr>
        <p:spPr>
          <a:xfrm>
            <a:off x="6172200" y="5074920"/>
            <a:ext cx="5440680" cy="0"/>
          </a:xfrm>
          <a:prstGeom prst="line">
            <a:avLst/>
          </a:prstGeom>
          <a:noFill/>
          <a:ln w="9525">
            <a:solidFill>
              <a:srgbClr val="E3E5EA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6172200" y="5166360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0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[12]</a:t>
            </a:r>
            <a:endParaRPr lang="en-US" sz="1100" dirty="0"/>
          </a:p>
        </p:txBody>
      </p:sp>
      <p:sp>
        <p:nvSpPr>
          <p:cNvPr id="51" name="Text 49"/>
          <p:cNvSpPr txBox="1"/>
          <p:nvPr/>
        </p:nvSpPr>
        <p:spPr>
          <a:xfrm>
            <a:off x="6629400" y="5148072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21A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Alodi PRD §28: release plan</a:t>
            </a:r>
            <a:endParaRPr lang="en-US" sz="1100" dirty="0"/>
          </a:p>
        </p:txBody>
      </p:sp>
      <p:sp>
        <p:nvSpPr>
          <p:cNvPr id="52" name="Text 50"/>
          <p:cNvSpPr txBox="1"/>
          <p:nvPr/>
        </p:nvSpPr>
        <p:spPr>
          <a:xfrm>
            <a:off x="6629400" y="5422392"/>
            <a:ext cx="4983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64E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prep/02-technical/PRD.md</a:t>
            </a:r>
            <a:endParaRPr lang="en-US" sz="950" dirty="0"/>
          </a:p>
        </p:txBody>
      </p:sp>
      <p:sp>
        <p:nvSpPr>
          <p:cNvPr id="53" name="Text 51"/>
          <p:cNvSpPr txBox="1"/>
          <p:nvPr/>
        </p:nvSpPr>
        <p:spPr>
          <a:xfrm>
            <a:off x="548640" y="585216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464E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PHOTOS</a:t>
            </a:r>
            <a:endParaRPr lang="en-US" sz="900" dirty="0"/>
          </a:p>
        </p:txBody>
      </p:sp>
      <p:sp>
        <p:nvSpPr>
          <p:cNvPr id="54" name="Text 52"/>
          <p:cNvSpPr txBox="1"/>
          <p:nvPr/>
        </p:nvSpPr>
        <p:spPr>
          <a:xfrm>
            <a:off x="1371600" y="5824728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64E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frank mckenna (cover), Lemic302 (slides 2, 12), Samson Vowles (slide 5), Tirza van Dijk (slide 11): CC0 via Wikimedia Commons. SPX hub (slide 4): Team Develarper field visit.</a:t>
            </a:r>
            <a:endParaRPr lang="en-US" sz="1000" dirty="0"/>
          </a:p>
        </p:txBody>
      </p:sp>
      <p:sp>
        <p:nvSpPr>
          <p:cNvPr id="55" name="Text 53"/>
          <p:cNvSpPr txBox="1"/>
          <p:nvPr/>
        </p:nvSpPr>
        <p:spPr>
          <a:xfrm>
            <a:off x="10728655" y="6400800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464E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lodi">
  <a:themeElements>
    <a:clrScheme name="Alodi">
      <a:dk1>
        <a:srgbClr val="121A2C"/>
      </a:dk1>
      <a:lt1>
        <a:srgbClr val="FFFFFF"/>
      </a:lt1>
      <a:dk2>
        <a:srgbClr val="1F2A44"/>
      </a:dk2>
      <a:lt2>
        <a:srgbClr val="F7F7F8"/>
      </a:lt2>
      <a:accent1>
        <a:srgbClr val="F05A00"/>
      </a:accent1>
      <a:accent2>
        <a:srgbClr val="FF9D66"/>
      </a:accent2>
      <a:accent3>
        <a:srgbClr val="5B6275"/>
      </a:accent3>
      <a:accent4>
        <a:srgbClr val="C3C7D0"/>
      </a:accent4>
      <a:accent5>
        <a:srgbClr val="E6E8EC"/>
      </a:accent5>
      <a:accent6>
        <a:srgbClr val="0E8A6C"/>
      </a:accent6>
      <a:hlink>
        <a:srgbClr val="F05A00"/>
      </a:hlink>
      <a:folHlink>
        <a:srgbClr val="C94B00"/>
      </a:folHlink>
    </a:clrScheme>
    <a:fontScheme name="Alodi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Team Develarper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Alodi · Make the second drop land</dc:title>
  <dc:subject>PptxGenJS Presentation</dc:subject>
  <dc:creator>Team Develarper</dc:creator>
  <cp:lastModifiedBy>Team Develarper</cp:lastModifiedBy>
  <cp:revision>1</cp:revision>
  <dcterms:created xsi:type="dcterms:W3CDTF">2026-10-31T06:04:26Z</dcterms:created>
  <dcterms:modified xsi:type="dcterms:W3CDTF">2026-10-31T06:04:26Z</dcterms:modified>
</cp:coreProperties>
</file>