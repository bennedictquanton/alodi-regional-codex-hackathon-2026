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78b80b3-eda7-a2dd-a597-0244da6e60c3}">
          <p14:sldIdLst>
            <p14:sldId id="256"/>
            <p14:sldId id="257"/>
            <p14:sldId id="258"/>
          </p14:sldIdLst>
        </p14:section>
        <p14:section name="Problem" id="{4012c9f4-891f-852d-e4a8-55ad069567d3}">
          <p14:sldIdLst>
            <p14:sldId id="259"/>
            <p14:sldId id="260"/>
            <p14:sldId id="261"/>
          </p14:sldIdLst>
        </p14:section>
        <p14:section name="Alodi" id="{7d7d5a89-9b24-e2bf-c7ae-a0aa7ed8e7b9}">
          <p14:sldIdLst>
            <p14:sldId id="262"/>
            <p14:sldId id="263"/>
            <p14:sldId id="264"/>
          </p14:sldIdLst>
        </p14:section>
        <p14:section name="Technology" id="{2a2a0745-29da-48e7-44b3-6789962fe8ef}">
          <p14:sldIdLst>
            <p14:sldId id="265"/>
            <p14:sldId id="266"/>
          </p14:sldIdLst>
        </p14:section>
        <p14:section name="Close" id="{d25c660c-eb5e-4d50-bc08-7acee4fb2da0}">
          <p14:sldIdLst>
            <p14:sldId id="267"/>
            <p14:sldId id="268"/>
            <p14:sldId id="269"/>
          </p14:sldIdLst>
        </p14:section>
        <p14:section name="Appendix" id="{f2c4927d-a9f8-a000-2ac3-bacfa2231f73}">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name and the line: make the second drop land. Then roll the skit.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skit here. To embed it: Insert &gt; Video &gt; This Device, fit it to the frame and delete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breath: the courier taps once, Alodi talks to the buyer, and the next attempt arrives with when, where and who. Anything about money or a buyer's record stays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plainly and slowly, as your own story: we missed the call, we called back, we left a note, and the parcel still went back. Annoying for us, wasted trips for the courier, a fee for the seller.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values are still the generated placeholders in prep/06-survey. Replace them with the interview export, then delete the status line, before quoting them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story is not unusual. Sellers pay up to ₫40,000 per failed order, 8 to 12 percent are refused at the door, and buyers have no window to pick. For one area that models to about ₫473M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why we built Alodi. The buyer's answer never enters the system, so we built the agent that collects it, inside the carrier's rules, and hands it to the next courier.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demo film here. To embed it: Insert &gt; Video &gt; This Device, fit it to the frame and delete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blank on purpose: switch to the demo screen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triage, voice, memo, agent. Every step is an API call behind one policy guard, and the whole API bill for one area is about ₫7.2M a month in the cost model: Luna ₫0.47M, Terra ₫1.50M, GPT-Live-1 ₫5.23M. Memos are costed on the local model in that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rows: the targets we hold on stage, and what one area gets back. Money is projected: ₫473M lost a month, ₫215M recovered, ₫27M to run, ₫187M net, 40% of the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full build in November, shadow mode at one area in Q1 2027 with no buyer contact, then controlled real channels, a region and national scale by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who we are and what each of us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make the second drop land.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every reference marker in the deck points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3"/>
                </a:solidFill>
              </a:rPr>
              <a:t>Sea × OpenAI Regional Codex Hackathon · October 2026</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A2C"/>
        </a:solidFill>
      </p:bgPr>
    </p:bg>
    <p:spTree>
      <p:nvGrpSpPr>
        <p:cNvPr id="1" name=""/>
        <p:cNvGrpSpPr/>
        <p:nvPr/>
      </p:nvGrpSpPr>
      <p:grpSpPr>
        <a:xfrm>
          <a:off x="0" y="0"/>
          <a:ext cx="0" cy="0"/>
          <a:chOff x="0" y="0"/>
          <a:chExt cx="0" cy="0"/>
        </a:xfrm>
      </p:grpSpPr>
      <p:pic>
        <p:nvPicPr>
          <p:cNvPr id="2" name="Image 0" descr="/private/tmp/claude-503/-Users-davark-Downloads-Everything-Github-Alodi-Regional-Codex-Hackathon-2026/91e569a8-486f-4c0b-b683-a4991468f039/scratchpad/deck/assets/logo-white.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4"/>
                </a:solidFill>
              </a:rPr>
              <a:t>Sea × OpenAI Regional Codex Hackathon · October 2026</a:t>
            </a: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ull bleed">
    <p:bg>
      <p:bgPr>
        <a:solidFill>
          <a:srgbClr val="121A2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8.png"/><Relationship Id="rId10" Type="http://schemas.openxmlformats.org/officeDocument/2006/relationships/image" Target="../media/image-1-10.png"/><Relationship Id="rId11" Type="http://schemas.openxmlformats.org/officeDocument/2006/relationships/slideLayout" Target="../slideLayouts/slideLayout4.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3.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4.png"/><Relationship Id="rId5" Type="http://schemas.openxmlformats.org/officeDocument/2006/relationships/image" Target="../media/image-10-1.png"/><Relationship Id="rId6" Type="http://schemas.openxmlformats.org/officeDocument/2006/relationships/image" Target="../media/image-10-1.png"/><Relationship Id="rId7" Type="http://schemas.openxmlformats.org/officeDocument/2006/relationships/image" Target="../media/image-10-1.png"/><Relationship Id="rId8" Type="http://schemas.openxmlformats.org/officeDocument/2006/relationships/image" Target="../media/image-10-1.png"/><Relationship Id="rId9" Type="http://schemas.openxmlformats.org/officeDocument/2006/relationships/slideLayout" Target="../slideLayouts/slideLayout3.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5.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Riders in evening traffic, Ho Chi Minh City">    </p:cNvPr>
          <p:cNvPicPr>
            <a:picLocks noChangeAspect="1"/>
          </p:cNvPicPr>
          <p:nvPr/>
        </p:nvPicPr>
        <p:blipFill>
          <a:blip r:embed="rId1"/>
          <a:stretch>
            <a:fillRect/>
          </a:stretch>
        </p:blipFill>
        <p:spPr>
          <a:xfrm>
            <a:off x="0" y="0"/>
            <a:ext cx="12191695" cy="6858000"/>
          </a:xfrm>
          <a:prstGeom prst="rect">
            <a:avLst/>
          </a:prstGeom>
        </p:spPr>
      </p:pic>
      <p:pic>
        <p:nvPicPr>
          <p:cNvPr id="3" name="Wash" descr="/private/tmp/claude-503/-Users-davark-Downloads-Everything-Github-Alodi-Regional-Codex-Hackathon-2026/91e569a8-486f-4c0b-b683-a4991468f039/scratchpad/deck/assets/wash-cover.png">    </p:cNvPr>
          <p:cNvPicPr>
            <a:picLocks noChangeAspect="1"/>
          </p:cNvPicPr>
          <p:nvPr/>
        </p:nvPicPr>
        <p:blipFill>
          <a:blip r:embed="rId2"/>
          <a:stretch>
            <a:fillRect/>
          </a:stretch>
        </p:blipFill>
        <p:spPr>
          <a:xfrm>
            <a:off x="0" y="0"/>
            <a:ext cx="12191695" cy="6858000"/>
          </a:xfrm>
          <a:prstGeom prst="rect">
            <a:avLst/>
          </a:prstGeom>
        </p:spPr>
      </p:pic>
      <p:pic>
        <p:nvPicPr>
          <p:cNvPr id="4" name="Logo" descr="/private/tmp/claude-503/-Users-davark-Downloads-Everything-Github-Alodi-Regional-Codex-Hackathon-2026/91e569a8-486f-4c0b-b683-a4991468f039/scratchpad/deck/assets/logo-white.png">    </p:cNvPr>
          <p:cNvPicPr>
            <a:picLocks noChangeAspect="1"/>
          </p:cNvPicPr>
          <p:nvPr/>
        </p:nvPicPr>
        <p:blipFill>
          <a:blip r:embed="rId3"/>
          <a:stretch>
            <a:fillRect/>
          </a:stretch>
        </p:blipFill>
        <p:spPr>
          <a:xfrm>
            <a:off x="548640" y="548640"/>
            <a:ext cx="914400" cy="393192"/>
          </a:xfrm>
          <a:prstGeom prst="rect">
            <a:avLst/>
          </a:prstGeom>
        </p:spPr>
      </p:pic>
      <p:sp>
        <p:nvSpPr>
          <p:cNvPr id="5" name="Text 0"/>
          <p:cNvSpPr txBox="1"/>
          <p:nvPr/>
        </p:nvSpPr>
        <p:spPr>
          <a:xfrm>
            <a:off x="548640" y="1874520"/>
            <a:ext cx="5943600" cy="228600"/>
          </a:xfrm>
          <a:prstGeom prst="rect">
            <a:avLst/>
          </a:prstGeom>
          <a:noFill/>
          <a:ln/>
        </p:spPr>
        <p:txBody>
          <a:bodyPr wrap="square" lIns="0" tIns="0" rIns="0" bIns="0" rtlCol="0" anchor="ctr"/>
          <a:lstStyle/>
          <a:p>
            <a:pPr indent="0" marL="0">
              <a:buNone/>
            </a:pPr>
            <a:r>
              <a:rPr lang="en-US" sz="950" b="1" spc="200" kern="0" dirty="0">
                <a:solidFill>
                  <a:srgbClr val="F05A00"/>
                </a:solidFill>
                <a:latin typeface="Arial" pitchFamily="34" charset="0"/>
                <a:ea typeface="Arial" pitchFamily="34" charset="-122"/>
                <a:cs typeface="Arial" pitchFamily="34" charset="-120"/>
              </a:rPr>
              <a:t>SEA × OPENAI REGIONAL CODEX HACKATHON · OCTOBER 2026</a:t>
            </a:r>
            <a:endParaRPr lang="en-US" sz="950" dirty="0"/>
          </a:p>
        </p:txBody>
      </p:sp>
      <p:sp>
        <p:nvSpPr>
          <p:cNvPr id="6" name="Text 1"/>
          <p:cNvSpPr txBox="1"/>
          <p:nvPr/>
        </p:nvSpPr>
        <p:spPr>
          <a:xfrm>
            <a:off x="548640" y="2240280"/>
            <a:ext cx="6400800" cy="1828800"/>
          </a:xfrm>
          <a:prstGeom prst="rect">
            <a:avLst/>
          </a:prstGeom>
          <a:noFill/>
          <a:ln/>
        </p:spPr>
        <p:txBody>
          <a:bodyPr wrap="square" lIns="0" tIns="0" rIns="0" bIns="0" rtlCol="0" anchor="ctr"/>
          <a:lstStyle/>
          <a:p>
            <a:pPr indent="0" marL="0">
              <a:lnSpc>
                <a:spcPct val="92000"/>
              </a:lnSpc>
              <a:buNone/>
            </a:pPr>
            <a:r>
              <a:rPr lang="en-US" sz="6200" i="1" dirty="0">
                <a:solidFill>
                  <a:srgbClr val="FFFFFF"/>
                </a:solidFill>
                <a:latin typeface="Cambria" pitchFamily="34" charset="0"/>
                <a:ea typeface="Cambria" pitchFamily="34" charset="-122"/>
                <a:cs typeface="Cambria" pitchFamily="34" charset="-120"/>
              </a:rPr>
              <a:t>Make the second</a:t>
            </a:r>
            <a:endParaRPr lang="en-US" sz="6200" dirty="0"/>
          </a:p>
          <a:p>
            <a:pPr indent="0" marL="0">
              <a:lnSpc>
                <a:spcPct val="92000"/>
              </a:lnSpc>
              <a:buNone/>
            </a:pPr>
            <a:r>
              <a:rPr lang="en-US" sz="6200" i="1" dirty="0">
                <a:solidFill>
                  <a:srgbClr val="F05A00"/>
                </a:solidFill>
                <a:latin typeface="Cambria" pitchFamily="34" charset="0"/>
                <a:ea typeface="Cambria" pitchFamily="34" charset="-122"/>
                <a:cs typeface="Cambria" pitchFamily="34" charset="-120"/>
              </a:rPr>
              <a:t>drop land.</a:t>
            </a:r>
            <a:endParaRPr lang="en-US" sz="6200" dirty="0"/>
          </a:p>
        </p:txBody>
      </p:sp>
      <p:sp>
        <p:nvSpPr>
          <p:cNvPr id="7" name="Text 2"/>
          <p:cNvSpPr txBox="1"/>
          <p:nvPr/>
        </p:nvSpPr>
        <p:spPr>
          <a:xfrm>
            <a:off x="548640" y="4206240"/>
            <a:ext cx="5120640" cy="82296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Arial" pitchFamily="34" charset="0"/>
                <a:ea typeface="Arial" pitchFamily="34" charset="-122"/>
                <a:cs typeface="Arial" pitchFamily="34" charset="-120"/>
              </a:rPr>
              <a:t>Every failed delivery, rescued with one tap. </a:t>
            </a:r>
            <a:pPr indent="0" marL="0">
              <a:lnSpc>
                <a:spcPct val="110000"/>
              </a:lnSpc>
              <a:buNone/>
            </a:pPr>
            <a:r>
              <a:rPr lang="en-US" sz="1400" dirty="0">
                <a:solidFill>
                  <a:srgbClr val="D2D7E1"/>
                </a:solidFill>
                <a:latin typeface="Arial" pitchFamily="34" charset="0"/>
                <a:ea typeface="Arial" pitchFamily="34" charset="-122"/>
                <a:cs typeface="Arial" pitchFamily="34" charset="-120"/>
              </a:rPr>
              <a:t>The courier taps once; Alodi chats, calls and hands the next courier when, where and who.</a:t>
            </a:r>
            <a:endParaRPr lang="en-US" sz="1400" dirty="0"/>
          </a:p>
        </p:txBody>
      </p:sp>
      <p:pic>
        <p:nvPicPr>
          <p:cNvPr id="8" name="Avatar 1" descr="preencoded.png">    </p:cNvPr>
          <p:cNvPicPr>
            <a:picLocks noChangeAspect="1"/>
          </p:cNvPicPr>
          <p:nvPr/>
        </p:nvPicPr>
        <p:blipFill>
          <a:blip r:embed="rId4"/>
          <a:stretch>
            <a:fillRect/>
          </a:stretch>
        </p:blipFill>
        <p:spPr>
          <a:xfrm>
            <a:off x="548640" y="5760720"/>
            <a:ext cx="384048" cy="384048"/>
          </a:xfrm>
          <a:prstGeom prst="rect">
            <a:avLst/>
          </a:prstGeom>
        </p:spPr>
      </p:pic>
      <p:pic>
        <p:nvPicPr>
          <p:cNvPr id="9" name="Avatar 2" descr="preencoded.png">    </p:cNvPr>
          <p:cNvPicPr>
            <a:picLocks noChangeAspect="1"/>
          </p:cNvPicPr>
          <p:nvPr/>
        </p:nvPicPr>
        <p:blipFill>
          <a:blip r:embed="rId5"/>
          <a:stretch>
            <a:fillRect/>
          </a:stretch>
        </p:blipFill>
        <p:spPr>
          <a:xfrm>
            <a:off x="841248" y="5760720"/>
            <a:ext cx="384048" cy="384048"/>
          </a:xfrm>
          <a:prstGeom prst="rect">
            <a:avLst/>
          </a:prstGeom>
        </p:spPr>
      </p:pic>
      <p:pic>
        <p:nvPicPr>
          <p:cNvPr id="10" name="Avatar 3" descr="preencoded.png">    </p:cNvPr>
          <p:cNvPicPr>
            <a:picLocks noChangeAspect="1"/>
          </p:cNvPicPr>
          <p:nvPr/>
        </p:nvPicPr>
        <p:blipFill>
          <a:blip r:embed="rId6"/>
          <a:stretch>
            <a:fillRect/>
          </a:stretch>
        </p:blipFill>
        <p:spPr>
          <a:xfrm>
            <a:off x="1133856" y="5760720"/>
            <a:ext cx="384048" cy="384048"/>
          </a:xfrm>
          <a:prstGeom prst="rect">
            <a:avLst/>
          </a:prstGeom>
        </p:spPr>
      </p:pic>
      <p:pic>
        <p:nvPicPr>
          <p:cNvPr id="11" name="Avatar 4" descr="preencoded.png">    </p:cNvPr>
          <p:cNvPicPr>
            <a:picLocks noChangeAspect="1"/>
          </p:cNvPicPr>
          <p:nvPr/>
        </p:nvPicPr>
        <p:blipFill>
          <a:blip r:embed="rId7"/>
          <a:stretch>
            <a:fillRect/>
          </a:stretch>
        </p:blipFill>
        <p:spPr>
          <a:xfrm>
            <a:off x="1426464" y="5760720"/>
            <a:ext cx="384048" cy="384048"/>
          </a:xfrm>
          <a:prstGeom prst="rect">
            <a:avLst/>
          </a:prstGeom>
        </p:spPr>
      </p:pic>
      <p:sp>
        <p:nvSpPr>
          <p:cNvPr id="12" name="Text 3"/>
          <p:cNvSpPr txBox="1"/>
          <p:nvPr/>
        </p:nvSpPr>
        <p:spPr>
          <a:xfrm>
            <a:off x="1965960" y="5742432"/>
            <a:ext cx="3657600" cy="43891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Team Develarper</a:t>
            </a:r>
            <a:endParaRPr lang="en-US" sz="1000" dirty="0"/>
          </a:p>
          <a:p>
            <a:pPr indent="0" marL="0">
              <a:buNone/>
            </a:pPr>
            <a:r>
              <a:rPr lang="en-US" sz="1000" dirty="0">
                <a:solidFill>
                  <a:srgbClr val="D2D7E1"/>
                </a:solidFill>
                <a:latin typeface="Arial" pitchFamily="34" charset="0"/>
                <a:ea typeface="Arial" pitchFamily="34" charset="-122"/>
                <a:cs typeface="Arial" pitchFamily="34" charset="-120"/>
              </a:rPr>
              <a:t>Built with OpenAI and Codex</a:t>
            </a:r>
            <a:endParaRPr lang="en-US" sz="1000" dirty="0"/>
          </a:p>
        </p:txBody>
      </p:sp>
      <p:sp>
        <p:nvSpPr>
          <p:cNvPr id="13" name="Rescue card"/>
          <p:cNvSpPr/>
          <p:nvPr/>
        </p:nvSpPr>
        <p:spPr>
          <a:xfrm>
            <a:off x="8183880" y="3977640"/>
            <a:ext cx="3474720" cy="2194560"/>
          </a:xfrm>
          <a:prstGeom prst="roundRect">
            <a:avLst>
              <a:gd name="adj" fmla="val 6667"/>
            </a:avLst>
          </a:prstGeom>
          <a:solidFill>
            <a:srgbClr val="FFFFFF"/>
          </a:solidFill>
          <a:ln/>
          <a:effectLst>
            <a:outerShdw sx="100000" sy="100000" kx="0" ky="0" algn="bl" rotWithShape="0" blurRad="177800" dist="38100" dir="5400000">
              <a:srgbClr val="121A2C">
                <a:alpha val="16000"/>
              </a:srgbClr>
            </a:outerShdw>
          </a:effectLst>
        </p:spPr>
      </p:sp>
      <p:sp>
        <p:nvSpPr>
          <p:cNvPr id="14" name="Text 5"/>
          <p:cNvSpPr txBox="1"/>
          <p:nvPr/>
        </p:nvSpPr>
        <p:spPr>
          <a:xfrm>
            <a:off x="8412480" y="4160520"/>
            <a:ext cx="3017520" cy="201168"/>
          </a:xfrm>
          <a:prstGeom prst="rect">
            <a:avLst/>
          </a:prstGeom>
          <a:noFill/>
          <a:ln/>
        </p:spPr>
        <p:txBody>
          <a:bodyPr wrap="square" lIns="0" tIns="0" rIns="0" bIns="0" rtlCol="0" anchor="ctr"/>
          <a:lstStyle/>
          <a:p>
            <a:pPr indent="0" marL="0">
              <a:buNone/>
            </a:pPr>
            <a:r>
              <a:rPr lang="en-US" sz="800" spc="150" kern="0" dirty="0">
                <a:solidFill>
                  <a:srgbClr val="464E62"/>
                </a:solidFill>
                <a:latin typeface="Arial" pitchFamily="34" charset="0"/>
                <a:ea typeface="Arial" pitchFamily="34" charset="-122"/>
                <a:cs typeface="Arial" pitchFamily="34" charset="-120"/>
              </a:rPr>
              <a:t>RESCUE · SPXVN0123456789</a:t>
            </a:r>
            <a:endParaRPr lang="en-US" sz="800" dirty="0"/>
          </a:p>
        </p:txBody>
      </p:sp>
      <p:sp>
        <p:nvSpPr>
          <p:cNvPr id="15" name="Row rule 0"/>
          <p:cNvSpPr/>
          <p:nvPr/>
        </p:nvSpPr>
        <p:spPr>
          <a:xfrm>
            <a:off x="8412480" y="4443984"/>
            <a:ext cx="3017520" cy="0"/>
          </a:xfrm>
          <a:prstGeom prst="line">
            <a:avLst/>
          </a:prstGeom>
          <a:noFill/>
          <a:ln w="6350">
            <a:solidFill>
              <a:srgbClr val="E3E5EA"/>
            </a:solidFill>
            <a:prstDash val="solid"/>
          </a:ln>
        </p:spPr>
      </p:sp>
      <p:pic>
        <p:nvPicPr>
          <p:cNvPr id="16" name="Row icon 0" descr="/private/tmp/claude-503/-Users-davark-Downloads-Everything-Github-Alodi-Regional-Codex-Hackathon-2026/91e569a8-486f-4c0b-b683-a4991468f039/scratchpad/deck/assets/mark-dot-navy.png">    </p:cNvPr>
          <p:cNvPicPr>
            <a:picLocks noChangeAspect="1"/>
          </p:cNvPicPr>
          <p:nvPr/>
        </p:nvPicPr>
        <p:blipFill>
          <a:blip r:embed="rId8"/>
          <a:stretch>
            <a:fillRect/>
          </a:stretch>
        </p:blipFill>
        <p:spPr>
          <a:xfrm>
            <a:off x="8412480" y="4544568"/>
            <a:ext cx="219456" cy="219456"/>
          </a:xfrm>
          <a:prstGeom prst="rect">
            <a:avLst/>
          </a:prstGeom>
        </p:spPr>
      </p:pic>
      <p:sp>
        <p:nvSpPr>
          <p:cNvPr id="17" name="Text 7"/>
          <p:cNvSpPr txBox="1"/>
          <p:nvPr/>
        </p:nvSpPr>
        <p:spPr>
          <a:xfrm>
            <a:off x="8732520" y="4526280"/>
            <a:ext cx="22402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Courier taps · No answer</a:t>
            </a:r>
            <a:endParaRPr lang="en-US" sz="1200" dirty="0"/>
          </a:p>
        </p:txBody>
      </p:sp>
      <p:sp>
        <p:nvSpPr>
          <p:cNvPr id="18" name="Text 8"/>
          <p:cNvSpPr txBox="1"/>
          <p:nvPr/>
        </p:nvSpPr>
        <p:spPr>
          <a:xfrm>
            <a:off x="10881360" y="4544568"/>
            <a:ext cx="548640" cy="237744"/>
          </a:xfrm>
          <a:prstGeom prst="rect">
            <a:avLst/>
          </a:prstGeom>
          <a:noFill/>
          <a:ln/>
        </p:spPr>
        <p:txBody>
          <a:bodyPr wrap="square" lIns="0" tIns="0" rIns="0" bIns="0" rtlCol="0" anchor="ctr"/>
          <a:lstStyle/>
          <a:p>
            <a:pPr algn="r" indent="0" marL="0">
              <a:buNone/>
            </a:pPr>
            <a:r>
              <a:rPr lang="en-US" sz="900" dirty="0">
                <a:solidFill>
                  <a:srgbClr val="6B7285"/>
                </a:solidFill>
                <a:latin typeface="Arial" pitchFamily="34" charset="0"/>
                <a:ea typeface="Arial" pitchFamily="34" charset="-122"/>
                <a:cs typeface="Arial" pitchFamily="34" charset="-120"/>
              </a:rPr>
              <a:t>10:02</a:t>
            </a:r>
            <a:endParaRPr lang="en-US" sz="900" dirty="0"/>
          </a:p>
        </p:txBody>
      </p:sp>
      <p:sp>
        <p:nvSpPr>
          <p:cNvPr id="19" name="Row rule 1"/>
          <p:cNvSpPr/>
          <p:nvPr/>
        </p:nvSpPr>
        <p:spPr>
          <a:xfrm>
            <a:off x="8412480" y="4946904"/>
            <a:ext cx="3017520" cy="0"/>
          </a:xfrm>
          <a:prstGeom prst="line">
            <a:avLst/>
          </a:prstGeom>
          <a:noFill/>
          <a:ln w="6350">
            <a:solidFill>
              <a:srgbClr val="E3E5EA"/>
            </a:solidFill>
            <a:prstDash val="solid"/>
          </a:ln>
        </p:spPr>
      </p:sp>
      <p:pic>
        <p:nvPicPr>
          <p:cNvPr id="20" name="Row icon 1" descr="/private/tmp/claude-503/-Users-davark-Downloads-Everything-Github-Alodi-Regional-Codex-Hackathon-2026/91e569a8-486f-4c0b-b683-a4991468f039/scratchpad/deck/assets/mark-dot-navy.png">    </p:cNvPr>
          <p:cNvPicPr>
            <a:picLocks noChangeAspect="1"/>
          </p:cNvPicPr>
          <p:nvPr/>
        </p:nvPicPr>
        <p:blipFill>
          <a:blip r:embed="rId9"/>
          <a:stretch>
            <a:fillRect/>
          </a:stretch>
        </p:blipFill>
        <p:spPr>
          <a:xfrm>
            <a:off x="8412480" y="5047488"/>
            <a:ext cx="219456" cy="219456"/>
          </a:xfrm>
          <a:prstGeom prst="rect">
            <a:avLst/>
          </a:prstGeom>
        </p:spPr>
      </p:pic>
      <p:sp>
        <p:nvSpPr>
          <p:cNvPr id="21" name="Text 10"/>
          <p:cNvSpPr txBox="1"/>
          <p:nvPr/>
        </p:nvSpPr>
        <p:spPr>
          <a:xfrm>
            <a:off x="8732520" y="5029200"/>
            <a:ext cx="22402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Chat sent · buyer replies 11:15</a:t>
            </a:r>
            <a:endParaRPr lang="en-US" sz="1200" dirty="0"/>
          </a:p>
        </p:txBody>
      </p:sp>
      <p:sp>
        <p:nvSpPr>
          <p:cNvPr id="22" name="Text 11"/>
          <p:cNvSpPr txBox="1"/>
          <p:nvPr/>
        </p:nvSpPr>
        <p:spPr>
          <a:xfrm>
            <a:off x="10881360" y="5047488"/>
            <a:ext cx="548640" cy="237744"/>
          </a:xfrm>
          <a:prstGeom prst="rect">
            <a:avLst/>
          </a:prstGeom>
          <a:noFill/>
          <a:ln/>
        </p:spPr>
        <p:txBody>
          <a:bodyPr wrap="square" lIns="0" tIns="0" rIns="0" bIns="0" rtlCol="0" anchor="ctr"/>
          <a:lstStyle/>
          <a:p>
            <a:pPr algn="r" indent="0" marL="0">
              <a:buNone/>
            </a:pPr>
            <a:r>
              <a:rPr lang="en-US" sz="900" dirty="0">
                <a:solidFill>
                  <a:srgbClr val="6B7285"/>
                </a:solidFill>
                <a:latin typeface="Arial" pitchFamily="34" charset="0"/>
                <a:ea typeface="Arial" pitchFamily="34" charset="-122"/>
                <a:cs typeface="Arial" pitchFamily="34" charset="-120"/>
              </a:rPr>
              <a:t>10:02</a:t>
            </a:r>
            <a:endParaRPr lang="en-US" sz="900" dirty="0"/>
          </a:p>
        </p:txBody>
      </p:sp>
      <p:sp>
        <p:nvSpPr>
          <p:cNvPr id="23" name="Row rule 2"/>
          <p:cNvSpPr/>
          <p:nvPr/>
        </p:nvSpPr>
        <p:spPr>
          <a:xfrm>
            <a:off x="8412480" y="5449824"/>
            <a:ext cx="3017520" cy="0"/>
          </a:xfrm>
          <a:prstGeom prst="line">
            <a:avLst/>
          </a:prstGeom>
          <a:noFill/>
          <a:ln w="6350">
            <a:solidFill>
              <a:srgbClr val="E3E5EA"/>
            </a:solidFill>
            <a:prstDash val="solid"/>
          </a:ln>
        </p:spPr>
      </p:sp>
      <p:pic>
        <p:nvPicPr>
          <p:cNvPr id="24" name="Row icon 2" descr="/private/tmp/claude-503/-Users-davark-Downloads-Everything-Github-Alodi-Regional-Codex-Hackathon-2026/91e569a8-486f-4c0b-b683-a4991468f039/scratchpad/deck/assets/mark-check-orange.png">    </p:cNvPr>
          <p:cNvPicPr>
            <a:picLocks noChangeAspect="1"/>
          </p:cNvPicPr>
          <p:nvPr/>
        </p:nvPicPr>
        <p:blipFill>
          <a:blip r:embed="rId10"/>
          <a:stretch>
            <a:fillRect/>
          </a:stretch>
        </p:blipFill>
        <p:spPr>
          <a:xfrm>
            <a:off x="8412480" y="5550408"/>
            <a:ext cx="219456" cy="219456"/>
          </a:xfrm>
          <a:prstGeom prst="rect">
            <a:avLst/>
          </a:prstGeom>
        </p:spPr>
      </p:pic>
      <p:sp>
        <p:nvSpPr>
          <p:cNvPr id="25" name="Text 13"/>
          <p:cNvSpPr txBox="1"/>
          <p:nvPr/>
        </p:nvSpPr>
        <p:spPr>
          <a:xfrm>
            <a:off x="8732520" y="5532120"/>
            <a:ext cx="2240280" cy="274320"/>
          </a:xfrm>
          <a:prstGeom prst="rect">
            <a:avLst/>
          </a:prstGeom>
          <a:noFill/>
          <a:ln/>
        </p:spPr>
        <p:txBody>
          <a:bodyPr wrap="square" lIns="0" tIns="0" rIns="0" bIns="0" rtlCol="0" anchor="ctr"/>
          <a:lstStyle/>
          <a:p>
            <a:pPr indent="0" marL="0">
              <a:buNone/>
            </a:pPr>
            <a:r>
              <a:rPr lang="en-US" sz="1200" b="1" dirty="0">
                <a:solidFill>
                  <a:srgbClr val="F05A00"/>
                </a:solidFill>
                <a:latin typeface="Arial" pitchFamily="34" charset="0"/>
                <a:ea typeface="Arial" pitchFamily="34" charset="-122"/>
                <a:cs typeface="Arial" pitchFamily="34" charset="-120"/>
              </a:rPr>
              <a:t>Card ready · 1 Nov, 17–20h</a:t>
            </a:r>
            <a:endParaRPr lang="en-US" sz="1200" dirty="0"/>
          </a:p>
        </p:txBody>
      </p:sp>
      <p:sp>
        <p:nvSpPr>
          <p:cNvPr id="26" name="Text 14"/>
          <p:cNvSpPr txBox="1"/>
          <p:nvPr/>
        </p:nvSpPr>
        <p:spPr>
          <a:xfrm>
            <a:off x="10881360" y="5550408"/>
            <a:ext cx="548640" cy="237744"/>
          </a:xfrm>
          <a:prstGeom prst="rect">
            <a:avLst/>
          </a:prstGeom>
          <a:noFill/>
          <a:ln/>
        </p:spPr>
        <p:txBody>
          <a:bodyPr wrap="square" lIns="0" tIns="0" rIns="0" bIns="0" rtlCol="0" anchor="ctr"/>
          <a:lstStyle/>
          <a:p>
            <a:pPr algn="r" indent="0" marL="0">
              <a:buNone/>
            </a:pPr>
            <a:r>
              <a:rPr lang="en-US" sz="900" dirty="0">
                <a:solidFill>
                  <a:srgbClr val="6B7285"/>
                </a:solidFill>
                <a:latin typeface="Arial" pitchFamily="34" charset="0"/>
                <a:ea typeface="Arial" pitchFamily="34" charset="-122"/>
                <a:cs typeface="Arial" pitchFamily="34" charset="-120"/>
              </a:rPr>
              <a:t>11:15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Video frame"/>
          <p:cNvSpPr/>
          <p:nvPr/>
        </p:nvSpPr>
        <p:spPr>
          <a:xfrm>
            <a:off x="548640" y="502920"/>
            <a:ext cx="11094415" cy="5486400"/>
          </a:xfrm>
          <a:prstGeom prst="roundRect">
            <a:avLst>
              <a:gd name="adj" fmla="val 3333"/>
            </a:avLst>
          </a:prstGeom>
          <a:solidFill>
            <a:srgbClr val="0B1120"/>
          </a:solidFill>
          <a:ln w="9525">
            <a:solidFill>
              <a:srgbClr val="2A3550"/>
            </a:solidFill>
            <a:prstDash val="solid"/>
          </a:ln>
        </p:spPr>
      </p:sp>
      <p:sp>
        <p:nvSpPr>
          <p:cNvPr id="3" name="Text 1"/>
          <p:cNvSpPr txBox="1"/>
          <p:nvPr/>
        </p:nvSpPr>
        <p:spPr>
          <a:xfrm>
            <a:off x="548640" y="3108960"/>
            <a:ext cx="11094415" cy="274320"/>
          </a:xfrm>
          <a:prstGeom prst="rect">
            <a:avLst/>
          </a:prstGeom>
          <a:noFill/>
          <a:ln/>
        </p:spPr>
        <p:txBody>
          <a:bodyPr wrap="square" lIns="0" tIns="0" rIns="0" bIns="0" rtlCol="0" anchor="ctr"/>
          <a:lstStyle/>
          <a:p>
            <a:pPr algn="ctr" indent="0" marL="0">
              <a:buNone/>
            </a:pPr>
            <a:r>
              <a:rPr lang="en-US" sz="1100" b="1" spc="300" kern="0" dirty="0">
                <a:solidFill>
                  <a:srgbClr val="98A0B2"/>
                </a:solidFill>
                <a:latin typeface="Arial" pitchFamily="34" charset="0"/>
                <a:ea typeface="Arial" pitchFamily="34" charset="-122"/>
                <a:cs typeface="Arial" pitchFamily="34" charset="-120"/>
              </a:rPr>
              <a:t>SKIT</a:t>
            </a:r>
            <a:endParaRPr lang="en-US" sz="1100" dirty="0"/>
          </a:p>
        </p:txBody>
      </p:sp>
      <p:sp>
        <p:nvSpPr>
          <p:cNvPr id="4" name="Text 2"/>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98A0B2"/>
                </a:solidFill>
                <a:latin typeface="Arial" pitchFamily="34" charset="0"/>
                <a:ea typeface="Arial" pitchFamily="34" charset="-122"/>
                <a:cs typeface="Arial" pitchFamily="34" charset="-120"/>
              </a:rPr>
              <a:t>02 / 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01  </a:t>
            </a:r>
            <a:pPr indent="0" marL="0">
              <a:buNone/>
            </a:pPr>
            <a:r>
              <a:rPr lang="en-US" sz="1050" b="1" spc="200" kern="0" dirty="0">
                <a:solidFill>
                  <a:srgbClr val="1F2A44"/>
                </a:solidFill>
                <a:latin typeface="Arial" pitchFamily="34" charset="0"/>
                <a:ea typeface="Arial" pitchFamily="34" charset="-122"/>
                <a:cs typeface="Arial" pitchFamily="34" charset="-120"/>
              </a:rPr>
              <a:t>TL;DR</a:t>
            </a:r>
            <a:endParaRPr lang="en-US" sz="1050" dirty="0"/>
          </a:p>
        </p:txBody>
      </p:sp>
      <p:sp>
        <p:nvSpPr>
          <p:cNvPr id="4" name="Text 2"/>
          <p:cNvSpPr txBox="1"/>
          <p:nvPr/>
        </p:nvSpPr>
        <p:spPr>
          <a:xfrm>
            <a:off x="548640" y="841248"/>
            <a:ext cx="5349240" cy="1508760"/>
          </a:xfrm>
          <a:prstGeom prst="rect">
            <a:avLst/>
          </a:prstGeom>
          <a:noFill/>
          <a:ln/>
        </p:spPr>
        <p:txBody>
          <a:bodyPr wrap="square" lIns="0" tIns="0" rIns="0" bIns="0" rtlCol="0" anchor="t"/>
          <a:lstStyle/>
          <a:p>
            <a:pPr indent="0" marL="0">
              <a:lnSpc>
                <a:spcPct val="95000"/>
              </a:lnSpc>
              <a:buNone/>
            </a:pPr>
            <a:r>
              <a:rPr lang="en-US" sz="3000" b="1" dirty="0">
                <a:solidFill>
                  <a:srgbClr val="98A0B2"/>
                </a:solidFill>
                <a:latin typeface="Arial" pitchFamily="34" charset="0"/>
                <a:ea typeface="Arial" pitchFamily="34" charset="-122"/>
                <a:cs typeface="Arial" pitchFamily="34" charset="-120"/>
              </a:rPr>
              <a:t>Alodi is the AI agent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that rescues failed deliveries.</a:t>
            </a:r>
            <a:endParaRPr lang="en-US" sz="3000" dirty="0"/>
          </a:p>
        </p:txBody>
      </p:sp>
      <p:sp>
        <p:nvSpPr>
          <p:cNvPr id="5" name="Fact rule 0"/>
          <p:cNvSpPr/>
          <p:nvPr/>
        </p:nvSpPr>
        <p:spPr>
          <a:xfrm>
            <a:off x="548640" y="2286000"/>
            <a:ext cx="5303520" cy="0"/>
          </a:xfrm>
          <a:prstGeom prst="line">
            <a:avLst/>
          </a:prstGeom>
          <a:noFill/>
          <a:ln w="12700">
            <a:solidFill>
              <a:srgbClr val="121A2C"/>
            </a:solidFill>
            <a:prstDash val="solid"/>
          </a:ln>
        </p:spPr>
      </p:sp>
      <p:sp>
        <p:nvSpPr>
          <p:cNvPr id="6" name="Text 4"/>
          <p:cNvSpPr txBox="1"/>
          <p:nvPr/>
        </p:nvSpPr>
        <p:spPr>
          <a:xfrm>
            <a:off x="548640" y="2633472"/>
            <a:ext cx="118872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FOR</a:t>
            </a:r>
            <a:endParaRPr lang="en-US" sz="900" dirty="0"/>
          </a:p>
        </p:txBody>
      </p:sp>
      <p:sp>
        <p:nvSpPr>
          <p:cNvPr id="7" name="Text 5"/>
          <p:cNvSpPr txBox="1"/>
          <p:nvPr/>
        </p:nvSpPr>
        <p:spPr>
          <a:xfrm>
            <a:off x="1828800" y="2395728"/>
            <a:ext cx="4023360" cy="694944"/>
          </a:xfrm>
          <a:prstGeom prst="rect">
            <a:avLst/>
          </a:prstGeom>
          <a:noFill/>
          <a:ln/>
        </p:spPr>
        <p:txBody>
          <a:bodyPr wrap="square" lIns="0" tIns="0" rIns="0" bIns="0" rtlCol="0" anchor="ctr"/>
          <a:lstStyle/>
          <a:p>
            <a:pPr indent="0" marL="0">
              <a:buNone/>
            </a:pPr>
            <a:r>
              <a:rPr lang="en-US" sz="1600" dirty="0">
                <a:solidFill>
                  <a:srgbClr val="1F2A44"/>
                </a:solidFill>
                <a:latin typeface="Arial" pitchFamily="34" charset="0"/>
                <a:ea typeface="Arial" pitchFamily="34" charset="-122"/>
                <a:cs typeface="Arial" pitchFamily="34" charset="-120"/>
              </a:rPr>
              <a:t>Carriers like SPX, their couriers and buyers</a:t>
            </a:r>
            <a:endParaRPr lang="en-US" sz="1600" dirty="0"/>
          </a:p>
        </p:txBody>
      </p:sp>
      <p:sp>
        <p:nvSpPr>
          <p:cNvPr id="8" name="Fact rule 1"/>
          <p:cNvSpPr/>
          <p:nvPr/>
        </p:nvSpPr>
        <p:spPr>
          <a:xfrm>
            <a:off x="548640" y="3200400"/>
            <a:ext cx="5303520" cy="0"/>
          </a:xfrm>
          <a:prstGeom prst="line">
            <a:avLst/>
          </a:prstGeom>
          <a:noFill/>
          <a:ln w="9525">
            <a:solidFill>
              <a:srgbClr val="E3E5EA"/>
            </a:solidFill>
            <a:prstDash val="solid"/>
          </a:ln>
        </p:spPr>
      </p:sp>
      <p:sp>
        <p:nvSpPr>
          <p:cNvPr id="9" name="Text 7"/>
          <p:cNvSpPr txBox="1"/>
          <p:nvPr/>
        </p:nvSpPr>
        <p:spPr>
          <a:xfrm>
            <a:off x="548640" y="3547872"/>
            <a:ext cx="118872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STARTS WITH</a:t>
            </a:r>
            <a:endParaRPr lang="en-US" sz="900" dirty="0"/>
          </a:p>
        </p:txBody>
      </p:sp>
      <p:sp>
        <p:nvSpPr>
          <p:cNvPr id="10" name="Text 8"/>
          <p:cNvSpPr txBox="1"/>
          <p:nvPr/>
        </p:nvSpPr>
        <p:spPr>
          <a:xfrm>
            <a:off x="1828800" y="3310128"/>
            <a:ext cx="4023360" cy="694944"/>
          </a:xfrm>
          <a:prstGeom prst="rect">
            <a:avLst/>
          </a:prstGeom>
          <a:noFill/>
          <a:ln/>
        </p:spPr>
        <p:txBody>
          <a:bodyPr wrap="square" lIns="0" tIns="0" rIns="0" bIns="0" rtlCol="0" anchor="ctr"/>
          <a:lstStyle/>
          <a:p>
            <a:pPr indent="0" marL="0">
              <a:buNone/>
            </a:pPr>
            <a:r>
              <a:rPr lang="en-US" sz="1600" dirty="0">
                <a:solidFill>
                  <a:srgbClr val="1F2A44"/>
                </a:solidFill>
                <a:latin typeface="Arial" pitchFamily="34" charset="0"/>
                <a:ea typeface="Arial" pitchFamily="34" charset="-122"/>
                <a:cs typeface="Arial" pitchFamily="34" charset="-120"/>
              </a:rPr>
              <a:t>One tap: No answer · Rescheduled · Refused</a:t>
            </a:r>
            <a:endParaRPr lang="en-US" sz="1600" dirty="0"/>
          </a:p>
        </p:txBody>
      </p:sp>
      <p:sp>
        <p:nvSpPr>
          <p:cNvPr id="11" name="Fact rule 2"/>
          <p:cNvSpPr/>
          <p:nvPr/>
        </p:nvSpPr>
        <p:spPr>
          <a:xfrm>
            <a:off x="548640" y="4114800"/>
            <a:ext cx="5303520" cy="0"/>
          </a:xfrm>
          <a:prstGeom prst="line">
            <a:avLst/>
          </a:prstGeom>
          <a:noFill/>
          <a:ln w="9525">
            <a:solidFill>
              <a:srgbClr val="E3E5EA"/>
            </a:solidFill>
            <a:prstDash val="solid"/>
          </a:ln>
        </p:spPr>
      </p:sp>
      <p:sp>
        <p:nvSpPr>
          <p:cNvPr id="12" name="Text 10"/>
          <p:cNvSpPr txBox="1"/>
          <p:nvPr/>
        </p:nvSpPr>
        <p:spPr>
          <a:xfrm>
            <a:off x="548640" y="4462272"/>
            <a:ext cx="118872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DOES</a:t>
            </a:r>
            <a:endParaRPr lang="en-US" sz="900" dirty="0"/>
          </a:p>
        </p:txBody>
      </p:sp>
      <p:sp>
        <p:nvSpPr>
          <p:cNvPr id="13" name="Text 11"/>
          <p:cNvSpPr txBox="1"/>
          <p:nvPr/>
        </p:nvSpPr>
        <p:spPr>
          <a:xfrm>
            <a:off x="1828800" y="4224528"/>
            <a:ext cx="4023360" cy="694944"/>
          </a:xfrm>
          <a:prstGeom prst="rect">
            <a:avLst/>
          </a:prstGeom>
          <a:noFill/>
          <a:ln/>
        </p:spPr>
        <p:txBody>
          <a:bodyPr wrap="square" lIns="0" tIns="0" rIns="0" bIns="0" rtlCol="0" anchor="ctr"/>
          <a:lstStyle/>
          <a:p>
            <a:pPr indent="0" marL="0">
              <a:buNone/>
            </a:pPr>
            <a:r>
              <a:rPr lang="en-US" sz="1600" dirty="0">
                <a:solidFill>
                  <a:srgbClr val="1F2A44"/>
                </a:solidFill>
                <a:latin typeface="Arial" pitchFamily="34" charset="0"/>
                <a:ea typeface="Arial" pitchFamily="34" charset="-122"/>
                <a:cs typeface="Arial" pitchFamily="34" charset="-120"/>
              </a:rPr>
              <a:t>Chats now, calls if silent, writes a context card</a:t>
            </a:r>
            <a:endParaRPr lang="en-US" sz="1600" dirty="0"/>
          </a:p>
        </p:txBody>
      </p:sp>
      <p:sp>
        <p:nvSpPr>
          <p:cNvPr id="14" name="Fact rule 3"/>
          <p:cNvSpPr/>
          <p:nvPr/>
        </p:nvSpPr>
        <p:spPr>
          <a:xfrm>
            <a:off x="548640" y="5029200"/>
            <a:ext cx="5303520" cy="0"/>
          </a:xfrm>
          <a:prstGeom prst="line">
            <a:avLst/>
          </a:prstGeom>
          <a:noFill/>
          <a:ln w="9525">
            <a:solidFill>
              <a:srgbClr val="E3E5EA"/>
            </a:solidFill>
            <a:prstDash val="solid"/>
          </a:ln>
        </p:spPr>
      </p:sp>
      <p:sp>
        <p:nvSpPr>
          <p:cNvPr id="15" name="Text 13"/>
          <p:cNvSpPr txBox="1"/>
          <p:nvPr/>
        </p:nvSpPr>
        <p:spPr>
          <a:xfrm>
            <a:off x="548640" y="5376672"/>
            <a:ext cx="118872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NEVER</a:t>
            </a:r>
            <a:endParaRPr lang="en-US" sz="900" dirty="0"/>
          </a:p>
        </p:txBody>
      </p:sp>
      <p:sp>
        <p:nvSpPr>
          <p:cNvPr id="16" name="Text 14"/>
          <p:cNvSpPr txBox="1"/>
          <p:nvPr/>
        </p:nvSpPr>
        <p:spPr>
          <a:xfrm>
            <a:off x="1828800" y="5138928"/>
            <a:ext cx="4023360" cy="694944"/>
          </a:xfrm>
          <a:prstGeom prst="rect">
            <a:avLst/>
          </a:prstGeom>
          <a:noFill/>
          <a:ln/>
        </p:spPr>
        <p:txBody>
          <a:bodyPr wrap="square" lIns="0" tIns="0" rIns="0" bIns="0" rtlCol="0" anchor="ctr"/>
          <a:lstStyle/>
          <a:p>
            <a:pPr indent="0" marL="0">
              <a:buNone/>
            </a:pPr>
            <a:r>
              <a:rPr lang="en-US" sz="1600" dirty="0">
                <a:solidFill>
                  <a:srgbClr val="1F2A44"/>
                </a:solidFill>
                <a:latin typeface="Arial" pitchFamily="34" charset="0"/>
                <a:ea typeface="Arial" pitchFamily="34" charset="-122"/>
                <a:cs typeface="Arial" pitchFamily="34" charset="-120"/>
              </a:rPr>
              <a:t>Labels or returns an order without a person</a:t>
            </a:r>
            <a:endParaRPr lang="en-US" sz="1600" dirty="0"/>
          </a:p>
        </p:txBody>
      </p:sp>
      <p:pic>
        <p:nvPicPr>
          <p:cNvPr id="17" name="Photo" descr="A rider carrying goods on a motorbike, Ho Chi Minh City">    </p:cNvPr>
          <p:cNvPicPr>
            <a:picLocks noChangeAspect="1"/>
          </p:cNvPicPr>
          <p:nvPr/>
        </p:nvPicPr>
        <p:blipFill>
          <a:blip r:embed="rId1"/>
          <a:stretch>
            <a:fillRect/>
          </a:stretch>
        </p:blipFill>
        <p:spPr>
          <a:xfrm>
            <a:off x="6199632" y="502920"/>
            <a:ext cx="5440680" cy="5486400"/>
          </a:xfrm>
          <a:prstGeom prst="rect">
            <a:avLst/>
          </a:prstGeom>
        </p:spPr>
      </p:pic>
      <p:sp>
        <p:nvSpPr>
          <p:cNvPr id="18" name="Context card"/>
          <p:cNvSpPr/>
          <p:nvPr/>
        </p:nvSpPr>
        <p:spPr>
          <a:xfrm>
            <a:off x="6537960" y="3520440"/>
            <a:ext cx="3611880" cy="2148840"/>
          </a:xfrm>
          <a:prstGeom prst="roundRect">
            <a:avLst>
              <a:gd name="adj" fmla="val 5957"/>
            </a:avLst>
          </a:prstGeom>
          <a:solidFill>
            <a:srgbClr val="FFFFFF"/>
          </a:solidFill>
          <a:ln/>
          <a:effectLst>
            <a:outerShdw sx="100000" sy="100000" kx="0" ky="0" algn="bl" rotWithShape="0" blurRad="177800" dist="38100" dir="5400000">
              <a:srgbClr val="121A2C">
                <a:alpha val="16000"/>
              </a:srgbClr>
            </a:outerShdw>
          </a:effectLst>
        </p:spPr>
      </p:sp>
      <p:sp>
        <p:nvSpPr>
          <p:cNvPr id="19" name="Text 16"/>
          <p:cNvSpPr txBox="1"/>
          <p:nvPr/>
        </p:nvSpPr>
        <p:spPr>
          <a:xfrm>
            <a:off x="6766560" y="3694176"/>
            <a:ext cx="3108960" cy="201168"/>
          </a:xfrm>
          <a:prstGeom prst="rect">
            <a:avLst/>
          </a:prstGeom>
          <a:noFill/>
          <a:ln/>
        </p:spPr>
        <p:txBody>
          <a:bodyPr wrap="square" lIns="0" tIns="0" rIns="0" bIns="0" rtlCol="0" anchor="ctr"/>
          <a:lstStyle/>
          <a:p>
            <a:pPr indent="0" marL="0">
              <a:buNone/>
            </a:pPr>
            <a:r>
              <a:rPr lang="en-US" sz="800" spc="150" kern="0" dirty="0">
                <a:solidFill>
                  <a:srgbClr val="464E62"/>
                </a:solidFill>
                <a:latin typeface="Arial" pitchFamily="34" charset="0"/>
                <a:ea typeface="Arial" pitchFamily="34" charset="-122"/>
                <a:cs typeface="Arial" pitchFamily="34" charset="-120"/>
              </a:rPr>
              <a:t>WHAT THE NEXT COURIER SEES</a:t>
            </a:r>
            <a:endParaRPr lang="en-US" sz="800" dirty="0"/>
          </a:p>
        </p:txBody>
      </p:sp>
      <p:sp>
        <p:nvSpPr>
          <p:cNvPr id="20" name="Card rule 0"/>
          <p:cNvSpPr/>
          <p:nvPr/>
        </p:nvSpPr>
        <p:spPr>
          <a:xfrm>
            <a:off x="6766560" y="3986784"/>
            <a:ext cx="3154680" cy="0"/>
          </a:xfrm>
          <a:prstGeom prst="line">
            <a:avLst/>
          </a:prstGeom>
          <a:noFill/>
          <a:ln w="6350">
            <a:solidFill>
              <a:srgbClr val="E3E5EA"/>
            </a:solidFill>
            <a:prstDash val="solid"/>
          </a:ln>
        </p:spPr>
      </p:sp>
      <p:sp>
        <p:nvSpPr>
          <p:cNvPr id="21" name="Text 18"/>
          <p:cNvSpPr txBox="1"/>
          <p:nvPr/>
        </p:nvSpPr>
        <p:spPr>
          <a:xfrm>
            <a:off x="6766560" y="4059936"/>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When</a:t>
            </a:r>
            <a:endParaRPr lang="en-US" sz="1200" dirty="0"/>
          </a:p>
        </p:txBody>
      </p:sp>
      <p:sp>
        <p:nvSpPr>
          <p:cNvPr id="22" name="Text 19"/>
          <p:cNvSpPr txBox="1"/>
          <p:nvPr/>
        </p:nvSpPr>
        <p:spPr>
          <a:xfrm>
            <a:off x="7772400" y="4059936"/>
            <a:ext cx="2148840" cy="256032"/>
          </a:xfrm>
          <a:prstGeom prst="rect">
            <a:avLst/>
          </a:prstGeom>
          <a:noFill/>
          <a:ln/>
        </p:spPr>
        <p:txBody>
          <a:bodyPr wrap="square" lIns="0" tIns="0" rIns="0" bIns="0" rtlCol="0" anchor="ctr"/>
          <a:lstStyle/>
          <a:p>
            <a:pPr algn="r" indent="0" marL="0">
              <a:buNone/>
            </a:pPr>
            <a:r>
              <a:rPr lang="en-US" sz="1200" b="1" dirty="0">
                <a:solidFill>
                  <a:srgbClr val="F05A00"/>
                </a:solidFill>
                <a:latin typeface="Arial" pitchFamily="34" charset="0"/>
                <a:ea typeface="Arial" pitchFamily="34" charset="-122"/>
                <a:cs typeface="Arial" pitchFamily="34" charset="-120"/>
              </a:rPr>
              <a:t>1 Nov, 17:00–20:00</a:t>
            </a:r>
            <a:endParaRPr lang="en-US" sz="1200" dirty="0"/>
          </a:p>
        </p:txBody>
      </p:sp>
      <p:sp>
        <p:nvSpPr>
          <p:cNvPr id="23" name="Card rule 1"/>
          <p:cNvSpPr/>
          <p:nvPr/>
        </p:nvSpPr>
        <p:spPr>
          <a:xfrm>
            <a:off x="6766560" y="4370832"/>
            <a:ext cx="3154680" cy="0"/>
          </a:xfrm>
          <a:prstGeom prst="line">
            <a:avLst/>
          </a:prstGeom>
          <a:noFill/>
          <a:ln w="6350">
            <a:solidFill>
              <a:srgbClr val="E3E5EA"/>
            </a:solidFill>
            <a:prstDash val="solid"/>
          </a:ln>
        </p:spPr>
      </p:sp>
      <p:sp>
        <p:nvSpPr>
          <p:cNvPr id="24" name="Text 21"/>
          <p:cNvSpPr txBox="1"/>
          <p:nvPr/>
        </p:nvSpPr>
        <p:spPr>
          <a:xfrm>
            <a:off x="6766560" y="4443984"/>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Where</a:t>
            </a:r>
            <a:endParaRPr lang="en-US" sz="1200" dirty="0"/>
          </a:p>
        </p:txBody>
      </p:sp>
      <p:sp>
        <p:nvSpPr>
          <p:cNvPr id="25" name="Text 22"/>
          <p:cNvSpPr txBox="1"/>
          <p:nvPr/>
        </p:nvSpPr>
        <p:spPr>
          <a:xfrm>
            <a:off x="7772400" y="4443984"/>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Tower A reception</a:t>
            </a:r>
            <a:endParaRPr lang="en-US" sz="1200" dirty="0"/>
          </a:p>
        </p:txBody>
      </p:sp>
      <p:sp>
        <p:nvSpPr>
          <p:cNvPr id="26" name="Card rule 2"/>
          <p:cNvSpPr/>
          <p:nvPr/>
        </p:nvSpPr>
        <p:spPr>
          <a:xfrm>
            <a:off x="6766560" y="4754880"/>
            <a:ext cx="3154680" cy="0"/>
          </a:xfrm>
          <a:prstGeom prst="line">
            <a:avLst/>
          </a:prstGeom>
          <a:noFill/>
          <a:ln w="6350">
            <a:solidFill>
              <a:srgbClr val="E3E5EA"/>
            </a:solidFill>
            <a:prstDash val="solid"/>
          </a:ln>
        </p:spPr>
      </p:sp>
      <p:sp>
        <p:nvSpPr>
          <p:cNvPr id="27" name="Text 24"/>
          <p:cNvSpPr txBox="1"/>
          <p:nvPr/>
        </p:nvSpPr>
        <p:spPr>
          <a:xfrm>
            <a:off x="6766560" y="4828032"/>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Who</a:t>
            </a:r>
            <a:endParaRPr lang="en-US" sz="1200" dirty="0"/>
          </a:p>
        </p:txBody>
      </p:sp>
      <p:sp>
        <p:nvSpPr>
          <p:cNvPr id="28" name="Text 25"/>
          <p:cNvSpPr txBox="1"/>
          <p:nvPr/>
        </p:nvSpPr>
        <p:spPr>
          <a:xfrm>
            <a:off x="7772400" y="4828032"/>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Receptionist can sign</a:t>
            </a:r>
            <a:endParaRPr lang="en-US" sz="1200" dirty="0"/>
          </a:p>
        </p:txBody>
      </p:sp>
      <p:sp>
        <p:nvSpPr>
          <p:cNvPr id="29" name="Card rule 3"/>
          <p:cNvSpPr/>
          <p:nvPr/>
        </p:nvSpPr>
        <p:spPr>
          <a:xfrm>
            <a:off x="6766560" y="5138928"/>
            <a:ext cx="3154680" cy="0"/>
          </a:xfrm>
          <a:prstGeom prst="line">
            <a:avLst/>
          </a:prstGeom>
          <a:noFill/>
          <a:ln w="6350">
            <a:solidFill>
              <a:srgbClr val="E3E5EA"/>
            </a:solidFill>
            <a:prstDash val="solid"/>
          </a:ln>
        </p:spPr>
      </p:sp>
      <p:sp>
        <p:nvSpPr>
          <p:cNvPr id="30" name="Text 27"/>
          <p:cNvSpPr txBox="1"/>
          <p:nvPr/>
        </p:nvSpPr>
        <p:spPr>
          <a:xfrm>
            <a:off x="6766560" y="5212080"/>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Confidence</a:t>
            </a:r>
            <a:endParaRPr lang="en-US" sz="1200" dirty="0"/>
          </a:p>
        </p:txBody>
      </p:sp>
      <p:sp>
        <p:nvSpPr>
          <p:cNvPr id="31" name="Text 28"/>
          <p:cNvSpPr txBox="1"/>
          <p:nvPr/>
        </p:nvSpPr>
        <p:spPr>
          <a:xfrm>
            <a:off x="7772400" y="5212080"/>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0.92, applied</a:t>
            </a:r>
            <a:endParaRPr lang="en-US" sz="1200" dirty="0"/>
          </a:p>
        </p:txBody>
      </p:sp>
      <p:sp>
        <p:nvSpPr>
          <p:cNvPr id="32" name="Text 2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464E62"/>
                </a:solidFill>
                <a:latin typeface="Arial" pitchFamily="34" charset="0"/>
                <a:ea typeface="Arial" pitchFamily="34" charset="-122"/>
                <a:cs typeface="Arial" pitchFamily="34" charset="-120"/>
              </a:rPr>
              <a:t>03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hone photo" descr="A hand holding a smartphone">    </p:cNvPr>
          <p:cNvPicPr>
            <a:picLocks noChangeAspect="1"/>
          </p:cNvPicPr>
          <p:nvPr/>
        </p:nvPicPr>
        <p:blipFill>
          <a:blip r:embed="rId1">
            <a:alphaModFix amt="65000"/>
          </a:blip>
          <a:stretch>
            <a:fillRect/>
          </a:stretch>
        </p:blipFill>
        <p:spPr>
          <a:xfrm>
            <a:off x="548640" y="502920"/>
            <a:ext cx="4480560" cy="5486400"/>
          </a:xfrm>
          <a:prstGeom prst="rect">
            <a:avLst/>
          </a:prstGeom>
        </p:spPr>
      </p:pic>
      <p:pic>
        <p:nvPicPr>
          <p:cNvPr id="3" name="Photo fade" descr="/private/tmp/claude-503/-Users-davark-Downloads-Everything-Github-Alodi-Regional-Codex-Hackathon-2026/91e569a8-486f-4c0b-b683-a4991468f039/scratchpad/deck/assets/fade-bottom.png">    </p:cNvPr>
          <p:cNvPicPr>
            <a:picLocks noChangeAspect="1"/>
          </p:cNvPicPr>
          <p:nvPr/>
        </p:nvPicPr>
        <p:blipFill>
          <a:blip r:embed="rId2"/>
          <a:stretch>
            <a:fillRect/>
          </a:stretch>
        </p:blipFill>
        <p:spPr>
          <a:xfrm>
            <a:off x="548640" y="3291840"/>
            <a:ext cx="4480560" cy="2697480"/>
          </a:xfrm>
          <a:prstGeom prst="rect">
            <a:avLst/>
          </a:prstGeom>
        </p:spPr>
      </p:pic>
      <p:sp>
        <p:nvSpPr>
          <p:cNvPr id="4" name="Text 0"/>
          <p:cNvSpPr txBox="1"/>
          <p:nvPr/>
        </p:nvSpPr>
        <p:spPr>
          <a:xfrm>
            <a:off x="822960" y="5074920"/>
            <a:ext cx="4023360" cy="457200"/>
          </a:xfrm>
          <a:prstGeom prst="rect">
            <a:avLst/>
          </a:prstGeom>
          <a:noFill/>
          <a:ln/>
        </p:spPr>
        <p:txBody>
          <a:bodyPr wrap="square" lIns="0" tIns="0" rIns="0" bIns="0" rtlCol="0" anchor="ctr"/>
          <a:lstStyle/>
          <a:p>
            <a:pPr indent="0" marL="0">
              <a:buNone/>
            </a:pPr>
            <a:r>
              <a:rPr lang="en-US" sz="2200" i="1" dirty="0">
                <a:solidFill>
                  <a:srgbClr val="D2D7E1"/>
                </a:solidFill>
                <a:latin typeface="Cambria" pitchFamily="34" charset="0"/>
                <a:ea typeface="Cambria" pitchFamily="34" charset="-122"/>
                <a:cs typeface="Cambria" pitchFamily="34" charset="-120"/>
              </a:rPr>
              <a:t>“Called twice. No answer.”</a:t>
            </a:r>
            <a:endParaRPr lang="en-US" sz="2200" dirty="0"/>
          </a:p>
        </p:txBody>
      </p:sp>
      <p:sp>
        <p:nvSpPr>
          <p:cNvPr id="5" name="Eyebrow rule"/>
          <p:cNvSpPr/>
          <p:nvPr/>
        </p:nvSpPr>
        <p:spPr>
          <a:xfrm>
            <a:off x="5440680" y="612648"/>
            <a:ext cx="292608" cy="0"/>
          </a:xfrm>
          <a:prstGeom prst="line">
            <a:avLst/>
          </a:prstGeom>
          <a:noFill/>
          <a:ln w="15875">
            <a:solidFill>
              <a:srgbClr val="98A0B2"/>
            </a:solidFill>
            <a:prstDash val="solid"/>
          </a:ln>
        </p:spPr>
      </p:sp>
      <p:sp>
        <p:nvSpPr>
          <p:cNvPr id="6" name="Text 2"/>
          <p:cNvSpPr txBox="1"/>
          <p:nvPr/>
        </p:nvSpPr>
        <p:spPr>
          <a:xfrm>
            <a:off x="585216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02  </a:t>
            </a:r>
            <a:pPr indent="0" marL="0">
              <a:buNone/>
            </a:pPr>
            <a:r>
              <a:rPr lang="en-US" sz="1050" b="1" spc="200" kern="0" dirty="0">
                <a:solidFill>
                  <a:srgbClr val="D2D7E1"/>
                </a:solidFill>
                <a:latin typeface="Arial" pitchFamily="34" charset="0"/>
                <a:ea typeface="Arial" pitchFamily="34" charset="-122"/>
                <a:cs typeface="Arial" pitchFamily="34" charset="-120"/>
              </a:rPr>
              <a:t>OUR STORY</a:t>
            </a:r>
            <a:endParaRPr lang="en-US" sz="1050" dirty="0"/>
          </a:p>
        </p:txBody>
      </p:sp>
      <p:sp>
        <p:nvSpPr>
          <p:cNvPr id="7" name="Text 3"/>
          <p:cNvSpPr txBox="1"/>
          <p:nvPr/>
        </p:nvSpPr>
        <p:spPr>
          <a:xfrm>
            <a:off x="5440680" y="841248"/>
            <a:ext cx="6217920" cy="1005840"/>
          </a:xfrm>
          <a:prstGeom prst="rect">
            <a:avLst/>
          </a:prstGeom>
          <a:noFill/>
          <a:ln/>
        </p:spPr>
        <p:txBody>
          <a:bodyPr wrap="square" lIns="0" tIns="0" rIns="0" bIns="0" rtlCol="0" anchor="t"/>
          <a:lstStyle/>
          <a:p>
            <a:pPr indent="0" marL="0">
              <a:lnSpc>
                <a:spcPct val="95000"/>
              </a:lnSpc>
              <a:buNone/>
            </a:pPr>
            <a:r>
              <a:rPr lang="en-US" sz="3000" b="1" dirty="0">
                <a:solidFill>
                  <a:srgbClr val="9AA3B8"/>
                </a:solidFill>
                <a:latin typeface="Arial" pitchFamily="34" charset="0"/>
                <a:ea typeface="Arial" pitchFamily="34" charset="-122"/>
                <a:cs typeface="Arial" pitchFamily="34" charset="-120"/>
              </a:rPr>
              <a:t>This happened to us. </a:t>
            </a:r>
            <a:pPr indent="0" marL="0">
              <a:lnSpc>
                <a:spcPct val="95000"/>
              </a:lnSpc>
              <a:buNone/>
            </a:pPr>
            <a:r>
              <a:rPr lang="en-US" sz="3000" b="1" dirty="0">
                <a:solidFill>
                  <a:srgbClr val="FFFFFF"/>
                </a:solidFill>
                <a:latin typeface="Arial" pitchFamily="34" charset="0"/>
                <a:ea typeface="Arial" pitchFamily="34" charset="-122"/>
                <a:cs typeface="Arial" pitchFamily="34" charset="-120"/>
              </a:rPr>
              <a:t>Again and again.</a:t>
            </a:r>
            <a:endParaRPr lang="en-US" sz="3000" dirty="0"/>
          </a:p>
        </p:txBody>
      </p:sp>
      <p:sp>
        <p:nvSpPr>
          <p:cNvPr id="8" name="Notification 1"/>
          <p:cNvSpPr/>
          <p:nvPr/>
        </p:nvSpPr>
        <p:spPr>
          <a:xfrm>
            <a:off x="5440680" y="1920240"/>
            <a:ext cx="6199632" cy="713232"/>
          </a:xfrm>
          <a:prstGeom prst="roundRect">
            <a:avLst>
              <a:gd name="adj" fmla="val 15385"/>
            </a:avLst>
          </a:prstGeom>
          <a:solidFill>
            <a:srgbClr val="1B2438"/>
          </a:solidFill>
          <a:ln w="9525">
            <a:solidFill>
              <a:srgbClr val="2A3550"/>
            </a:solidFill>
            <a:prstDash val="solid"/>
          </a:ln>
        </p:spPr>
      </p:sp>
      <p:sp>
        <p:nvSpPr>
          <p:cNvPr id="9" name="Text 5"/>
          <p:cNvSpPr txBox="1"/>
          <p:nvPr/>
        </p:nvSpPr>
        <p:spPr>
          <a:xfrm>
            <a:off x="5669280" y="2029968"/>
            <a:ext cx="4754880" cy="246888"/>
          </a:xfrm>
          <a:prstGeom prst="rect">
            <a:avLst/>
          </a:prstGeom>
          <a:noFill/>
          <a:ln/>
        </p:spPr>
        <p:txBody>
          <a:bodyPr wrap="square" lIns="0" tIns="0" rIns="0" bIns="0" rtlCol="0" anchor="ctr"/>
          <a:lstStyle/>
          <a:p>
            <a:pPr indent="0" marL="0">
              <a:buNone/>
            </a:pPr>
            <a:r>
              <a:rPr lang="en-US" sz="1300" b="1" dirty="0">
                <a:solidFill>
                  <a:srgbClr val="D2D7E1"/>
                </a:solidFill>
                <a:latin typeface="Arial" pitchFamily="34" charset="0"/>
                <a:ea typeface="Arial" pitchFamily="34" charset="-122"/>
                <a:cs typeface="Arial" pitchFamily="34" charset="-120"/>
              </a:rPr>
              <a:t>Missed call · Courier</a:t>
            </a:r>
            <a:endParaRPr lang="en-US" sz="1300" dirty="0"/>
          </a:p>
        </p:txBody>
      </p:sp>
      <p:sp>
        <p:nvSpPr>
          <p:cNvPr id="10" name="Text 6"/>
          <p:cNvSpPr txBox="1"/>
          <p:nvPr/>
        </p:nvSpPr>
        <p:spPr>
          <a:xfrm>
            <a:off x="5669280" y="2295144"/>
            <a:ext cx="4937760" cy="237744"/>
          </a:xfrm>
          <a:prstGeom prst="rect">
            <a:avLst/>
          </a:prstGeom>
          <a:noFill/>
          <a:ln/>
        </p:spPr>
        <p:txBody>
          <a:bodyPr wrap="square" lIns="0" tIns="0" rIns="0" bIns="0" rtlCol="0" anchor="ctr"/>
          <a:lstStyle/>
          <a:p>
            <a:pPr indent="0" marL="0">
              <a:buNone/>
            </a:pPr>
            <a:r>
              <a:rPr lang="en-US" sz="1200" dirty="0">
                <a:solidFill>
                  <a:srgbClr val="9AA3B8"/>
                </a:solidFill>
                <a:latin typeface="Arial" pitchFamily="34" charset="0"/>
                <a:ea typeface="Arial" pitchFamily="34" charset="-122"/>
                <a:cs typeface="Arial" pitchFamily="34" charset="-120"/>
              </a:rPr>
              <a:t>In a meeting. The phone was on silent.</a:t>
            </a:r>
            <a:endParaRPr lang="en-US" sz="1200" dirty="0"/>
          </a:p>
        </p:txBody>
      </p:sp>
      <p:sp>
        <p:nvSpPr>
          <p:cNvPr id="11" name="Text 7"/>
          <p:cNvSpPr txBox="1"/>
          <p:nvPr/>
        </p:nvSpPr>
        <p:spPr>
          <a:xfrm>
            <a:off x="10515600" y="2029968"/>
            <a:ext cx="914400" cy="219456"/>
          </a:xfrm>
          <a:prstGeom prst="rect">
            <a:avLst/>
          </a:prstGeom>
          <a:noFill/>
          <a:ln/>
        </p:spPr>
        <p:txBody>
          <a:bodyPr wrap="square" lIns="0" tIns="0" rIns="0" bIns="0" rtlCol="0" anchor="ctr"/>
          <a:lstStyle/>
          <a:p>
            <a:pPr algn="r" indent="0" marL="0">
              <a:buNone/>
            </a:pPr>
            <a:r>
              <a:rPr lang="en-US" sz="1000" dirty="0">
                <a:solidFill>
                  <a:srgbClr val="9AA3B8"/>
                </a:solidFill>
                <a:latin typeface="Arial" pitchFamily="34" charset="0"/>
                <a:ea typeface="Arial" pitchFamily="34" charset="-122"/>
                <a:cs typeface="Arial" pitchFamily="34" charset="-120"/>
              </a:rPr>
              <a:t>10:02</a:t>
            </a:r>
            <a:endParaRPr lang="en-US" sz="1000" dirty="0"/>
          </a:p>
        </p:txBody>
      </p:sp>
      <p:sp>
        <p:nvSpPr>
          <p:cNvPr id="12" name="Notification 2"/>
          <p:cNvSpPr/>
          <p:nvPr/>
        </p:nvSpPr>
        <p:spPr>
          <a:xfrm>
            <a:off x="5440680" y="2734056"/>
            <a:ext cx="6199632" cy="713232"/>
          </a:xfrm>
          <a:prstGeom prst="roundRect">
            <a:avLst>
              <a:gd name="adj" fmla="val 15385"/>
            </a:avLst>
          </a:prstGeom>
          <a:solidFill>
            <a:srgbClr val="1B2438"/>
          </a:solidFill>
          <a:ln w="9525">
            <a:solidFill>
              <a:srgbClr val="2A3550"/>
            </a:solidFill>
            <a:prstDash val="solid"/>
          </a:ln>
        </p:spPr>
      </p:sp>
      <p:sp>
        <p:nvSpPr>
          <p:cNvPr id="13" name="Text 9"/>
          <p:cNvSpPr txBox="1"/>
          <p:nvPr/>
        </p:nvSpPr>
        <p:spPr>
          <a:xfrm>
            <a:off x="5669280" y="2843784"/>
            <a:ext cx="4754880" cy="246888"/>
          </a:xfrm>
          <a:prstGeom prst="rect">
            <a:avLst/>
          </a:prstGeom>
          <a:noFill/>
          <a:ln/>
        </p:spPr>
        <p:txBody>
          <a:bodyPr wrap="square" lIns="0" tIns="0" rIns="0" bIns="0" rtlCol="0" anchor="ctr"/>
          <a:lstStyle/>
          <a:p>
            <a:pPr indent="0" marL="0">
              <a:buNone/>
            </a:pPr>
            <a:r>
              <a:rPr lang="en-US" sz="1300" b="1" dirty="0">
                <a:solidFill>
                  <a:srgbClr val="D2D7E1"/>
                </a:solidFill>
                <a:latin typeface="Arial" pitchFamily="34" charset="0"/>
                <a:ea typeface="Arial" pitchFamily="34" charset="-122"/>
                <a:cs typeface="Arial" pitchFamily="34" charset="-120"/>
              </a:rPr>
              <a:t>Called back</a:t>
            </a:r>
            <a:endParaRPr lang="en-US" sz="1300" dirty="0"/>
          </a:p>
        </p:txBody>
      </p:sp>
      <p:sp>
        <p:nvSpPr>
          <p:cNvPr id="14" name="Text 10"/>
          <p:cNvSpPr txBox="1"/>
          <p:nvPr/>
        </p:nvSpPr>
        <p:spPr>
          <a:xfrm>
            <a:off x="5669280" y="3108960"/>
            <a:ext cx="4937760" cy="237744"/>
          </a:xfrm>
          <a:prstGeom prst="rect">
            <a:avLst/>
          </a:prstGeom>
          <a:noFill/>
          <a:ln/>
        </p:spPr>
        <p:txBody>
          <a:bodyPr wrap="square" lIns="0" tIns="0" rIns="0" bIns="0" rtlCol="0" anchor="ctr"/>
          <a:lstStyle/>
          <a:p>
            <a:pPr indent="0" marL="0">
              <a:buNone/>
            </a:pPr>
            <a:r>
              <a:rPr lang="en-US" sz="1200" dirty="0">
                <a:solidFill>
                  <a:srgbClr val="9AA3B8"/>
                </a:solidFill>
                <a:latin typeface="Arial" pitchFamily="34" charset="0"/>
                <a:ea typeface="Arial" pitchFamily="34" charset="-122"/>
                <a:cs typeface="Arial" pitchFamily="34" charset="-120"/>
              </a:rPr>
              <a:t>No answer. The courier was already riding.</a:t>
            </a:r>
            <a:endParaRPr lang="en-US" sz="1200" dirty="0"/>
          </a:p>
        </p:txBody>
      </p:sp>
      <p:sp>
        <p:nvSpPr>
          <p:cNvPr id="15" name="Text 11"/>
          <p:cNvSpPr txBox="1"/>
          <p:nvPr/>
        </p:nvSpPr>
        <p:spPr>
          <a:xfrm>
            <a:off x="10515600" y="2843784"/>
            <a:ext cx="914400" cy="219456"/>
          </a:xfrm>
          <a:prstGeom prst="rect">
            <a:avLst/>
          </a:prstGeom>
          <a:noFill/>
          <a:ln/>
        </p:spPr>
        <p:txBody>
          <a:bodyPr wrap="square" lIns="0" tIns="0" rIns="0" bIns="0" rtlCol="0" anchor="ctr"/>
          <a:lstStyle/>
          <a:p>
            <a:pPr algn="r" indent="0" marL="0">
              <a:buNone/>
            </a:pPr>
            <a:r>
              <a:rPr lang="en-US" sz="1000" dirty="0">
                <a:solidFill>
                  <a:srgbClr val="9AA3B8"/>
                </a:solidFill>
                <a:latin typeface="Arial" pitchFamily="34" charset="0"/>
                <a:ea typeface="Arial" pitchFamily="34" charset="-122"/>
                <a:cs typeface="Arial" pitchFamily="34" charset="-120"/>
              </a:rPr>
              <a:t>10:40</a:t>
            </a:r>
            <a:endParaRPr lang="en-US" sz="1000" dirty="0"/>
          </a:p>
        </p:txBody>
      </p:sp>
      <p:sp>
        <p:nvSpPr>
          <p:cNvPr id="16" name="Notification 3"/>
          <p:cNvSpPr/>
          <p:nvPr/>
        </p:nvSpPr>
        <p:spPr>
          <a:xfrm>
            <a:off x="5440680" y="3547872"/>
            <a:ext cx="6199632" cy="713232"/>
          </a:xfrm>
          <a:prstGeom prst="roundRect">
            <a:avLst>
              <a:gd name="adj" fmla="val 15385"/>
            </a:avLst>
          </a:prstGeom>
          <a:solidFill>
            <a:srgbClr val="1B2438"/>
          </a:solidFill>
          <a:ln w="9525">
            <a:solidFill>
              <a:srgbClr val="2A3550"/>
            </a:solidFill>
            <a:prstDash val="solid"/>
          </a:ln>
        </p:spPr>
      </p:sp>
      <p:sp>
        <p:nvSpPr>
          <p:cNvPr id="17" name="Text 13"/>
          <p:cNvSpPr txBox="1"/>
          <p:nvPr/>
        </p:nvSpPr>
        <p:spPr>
          <a:xfrm>
            <a:off x="5669280" y="3657600"/>
            <a:ext cx="4754880" cy="246888"/>
          </a:xfrm>
          <a:prstGeom prst="rect">
            <a:avLst/>
          </a:prstGeom>
          <a:noFill/>
          <a:ln/>
        </p:spPr>
        <p:txBody>
          <a:bodyPr wrap="square" lIns="0" tIns="0" rIns="0" bIns="0" rtlCol="0" anchor="ctr"/>
          <a:lstStyle/>
          <a:p>
            <a:pPr indent="0" marL="0">
              <a:buNone/>
            </a:pPr>
            <a:r>
              <a:rPr lang="en-US" sz="1300" b="1" dirty="0">
                <a:solidFill>
                  <a:srgbClr val="D2D7E1"/>
                </a:solidFill>
                <a:latin typeface="Arial" pitchFamily="34" charset="0"/>
                <a:ea typeface="Arial" pitchFamily="34" charset="-122"/>
                <a:cs typeface="Arial" pitchFamily="34" charset="-120"/>
              </a:rPr>
              <a:t>Note on the order</a:t>
            </a:r>
            <a:endParaRPr lang="en-US" sz="1300" dirty="0"/>
          </a:p>
        </p:txBody>
      </p:sp>
      <p:sp>
        <p:nvSpPr>
          <p:cNvPr id="18" name="Text 14"/>
          <p:cNvSpPr txBox="1"/>
          <p:nvPr/>
        </p:nvSpPr>
        <p:spPr>
          <a:xfrm>
            <a:off x="5669280" y="3922776"/>
            <a:ext cx="4937760" cy="237744"/>
          </a:xfrm>
          <a:prstGeom prst="rect">
            <a:avLst/>
          </a:prstGeom>
          <a:noFill/>
          <a:ln/>
        </p:spPr>
        <p:txBody>
          <a:bodyPr wrap="square" lIns="0" tIns="0" rIns="0" bIns="0" rtlCol="0" anchor="ctr"/>
          <a:lstStyle/>
          <a:p>
            <a:pPr indent="0" marL="0">
              <a:buNone/>
            </a:pPr>
            <a:r>
              <a:rPr lang="en-US" sz="1200" dirty="0">
                <a:solidFill>
                  <a:srgbClr val="9AA3B8"/>
                </a:solidFill>
                <a:latin typeface="Arial" pitchFamily="34" charset="0"/>
                <a:ea typeface="Arial" pitchFamily="34" charset="-122"/>
                <a:cs typeface="Arial" pitchFamily="34" charset="-120"/>
              </a:rPr>
              <a:t>“Please leave it at reception.” Nobody read it.</a:t>
            </a:r>
            <a:endParaRPr lang="en-US" sz="1200" dirty="0"/>
          </a:p>
        </p:txBody>
      </p:sp>
      <p:sp>
        <p:nvSpPr>
          <p:cNvPr id="19" name="Text 15"/>
          <p:cNvSpPr txBox="1"/>
          <p:nvPr/>
        </p:nvSpPr>
        <p:spPr>
          <a:xfrm>
            <a:off x="10515600" y="3657600"/>
            <a:ext cx="914400" cy="219456"/>
          </a:xfrm>
          <a:prstGeom prst="rect">
            <a:avLst/>
          </a:prstGeom>
          <a:noFill/>
          <a:ln/>
        </p:spPr>
        <p:txBody>
          <a:bodyPr wrap="square" lIns="0" tIns="0" rIns="0" bIns="0" rtlCol="0" anchor="ctr"/>
          <a:lstStyle/>
          <a:p>
            <a:pPr algn="r" indent="0" marL="0">
              <a:buNone/>
            </a:pPr>
            <a:r>
              <a:rPr lang="en-US" sz="1000" dirty="0">
                <a:solidFill>
                  <a:srgbClr val="9AA3B8"/>
                </a:solidFill>
                <a:latin typeface="Arial" pitchFamily="34" charset="0"/>
                <a:ea typeface="Arial" pitchFamily="34" charset="-122"/>
                <a:cs typeface="Arial" pitchFamily="34" charset="-120"/>
              </a:rPr>
              <a:t>11:15</a:t>
            </a:r>
            <a:endParaRPr lang="en-US" sz="1000" dirty="0"/>
          </a:p>
        </p:txBody>
      </p:sp>
      <p:sp>
        <p:nvSpPr>
          <p:cNvPr id="20" name="Notification 4"/>
          <p:cNvSpPr/>
          <p:nvPr/>
        </p:nvSpPr>
        <p:spPr>
          <a:xfrm>
            <a:off x="5440680" y="4361688"/>
            <a:ext cx="6199632" cy="713232"/>
          </a:xfrm>
          <a:prstGeom prst="roundRect">
            <a:avLst>
              <a:gd name="adj" fmla="val 15385"/>
            </a:avLst>
          </a:prstGeom>
          <a:solidFill>
            <a:srgbClr val="1B2438"/>
          </a:solidFill>
          <a:ln w="9525">
            <a:solidFill>
              <a:srgbClr val="2A3550"/>
            </a:solidFill>
            <a:prstDash val="solid"/>
          </a:ln>
        </p:spPr>
      </p:sp>
      <p:sp>
        <p:nvSpPr>
          <p:cNvPr id="21" name="Text 17"/>
          <p:cNvSpPr txBox="1"/>
          <p:nvPr/>
        </p:nvSpPr>
        <p:spPr>
          <a:xfrm>
            <a:off x="5669280" y="4471416"/>
            <a:ext cx="4754880" cy="246888"/>
          </a:xfrm>
          <a:prstGeom prst="rect">
            <a:avLst/>
          </a:prstGeom>
          <a:noFill/>
          <a:ln/>
        </p:spPr>
        <p:txBody>
          <a:bodyPr wrap="square" lIns="0" tIns="0" rIns="0" bIns="0" rtlCol="0" anchor="ctr"/>
          <a:lstStyle/>
          <a:p>
            <a:pPr indent="0" marL="0">
              <a:buNone/>
            </a:pPr>
            <a:r>
              <a:rPr lang="en-US" sz="1300" b="1" dirty="0">
                <a:solidFill>
                  <a:srgbClr val="D2D7E1"/>
                </a:solidFill>
                <a:latin typeface="Arial" pitchFamily="34" charset="0"/>
                <a:ea typeface="Arial" pitchFamily="34" charset="-122"/>
                <a:cs typeface="Arial" pitchFamily="34" charset="-120"/>
              </a:rPr>
              <a:t>Delivery failed</a:t>
            </a:r>
            <a:endParaRPr lang="en-US" sz="1300" dirty="0"/>
          </a:p>
        </p:txBody>
      </p:sp>
      <p:sp>
        <p:nvSpPr>
          <p:cNvPr id="22" name="Text 18"/>
          <p:cNvSpPr txBox="1"/>
          <p:nvPr/>
        </p:nvSpPr>
        <p:spPr>
          <a:xfrm>
            <a:off x="5669280" y="4736592"/>
            <a:ext cx="4937760" cy="237744"/>
          </a:xfrm>
          <a:prstGeom prst="rect">
            <a:avLst/>
          </a:prstGeom>
          <a:noFill/>
          <a:ln/>
        </p:spPr>
        <p:txBody>
          <a:bodyPr wrap="square" lIns="0" tIns="0" rIns="0" bIns="0" rtlCol="0" anchor="ctr"/>
          <a:lstStyle/>
          <a:p>
            <a:pPr indent="0" marL="0">
              <a:buNone/>
            </a:pPr>
            <a:r>
              <a:rPr lang="en-US" sz="1200" dirty="0">
                <a:solidFill>
                  <a:srgbClr val="9AA3B8"/>
                </a:solidFill>
                <a:latin typeface="Arial" pitchFamily="34" charset="0"/>
                <a:ea typeface="Arial" pitchFamily="34" charset="-122"/>
                <a:cs typeface="Arial" pitchFamily="34" charset="-120"/>
              </a:rPr>
              <a:t>Reason on the app: buyer unreachable.</a:t>
            </a:r>
            <a:endParaRPr lang="en-US" sz="1200" dirty="0"/>
          </a:p>
        </p:txBody>
      </p:sp>
      <p:sp>
        <p:nvSpPr>
          <p:cNvPr id="23" name="Text 19"/>
          <p:cNvSpPr txBox="1"/>
          <p:nvPr/>
        </p:nvSpPr>
        <p:spPr>
          <a:xfrm>
            <a:off x="10515600" y="4471416"/>
            <a:ext cx="914400" cy="219456"/>
          </a:xfrm>
          <a:prstGeom prst="rect">
            <a:avLst/>
          </a:prstGeom>
          <a:noFill/>
          <a:ln/>
        </p:spPr>
        <p:txBody>
          <a:bodyPr wrap="square" lIns="0" tIns="0" rIns="0" bIns="0" rtlCol="0" anchor="ctr"/>
          <a:lstStyle/>
          <a:p>
            <a:pPr algn="r" indent="0" marL="0">
              <a:buNone/>
            </a:pPr>
            <a:r>
              <a:rPr lang="en-US" sz="1000" dirty="0">
                <a:solidFill>
                  <a:srgbClr val="9AA3B8"/>
                </a:solidFill>
                <a:latin typeface="Arial" pitchFamily="34" charset="0"/>
                <a:ea typeface="Arial" pitchFamily="34" charset="-122"/>
                <a:cs typeface="Arial" pitchFamily="34" charset="-120"/>
              </a:rPr>
              <a:t>12:30</a:t>
            </a:r>
            <a:endParaRPr lang="en-US" sz="1000" dirty="0"/>
          </a:p>
        </p:txBody>
      </p:sp>
      <p:sp>
        <p:nvSpPr>
          <p:cNvPr id="24" name="Notification 5"/>
          <p:cNvSpPr/>
          <p:nvPr/>
        </p:nvSpPr>
        <p:spPr>
          <a:xfrm>
            <a:off x="5440680" y="5175504"/>
            <a:ext cx="6199632" cy="713232"/>
          </a:xfrm>
          <a:prstGeom prst="roundRect">
            <a:avLst>
              <a:gd name="adj" fmla="val 15385"/>
            </a:avLst>
          </a:prstGeom>
          <a:solidFill>
            <a:srgbClr val="2A1A14"/>
          </a:solidFill>
          <a:ln w="9525">
            <a:solidFill>
              <a:srgbClr val="6B3517"/>
            </a:solidFill>
            <a:prstDash val="solid"/>
          </a:ln>
        </p:spPr>
      </p:sp>
      <p:sp>
        <p:nvSpPr>
          <p:cNvPr id="25" name="Text 21"/>
          <p:cNvSpPr txBox="1"/>
          <p:nvPr/>
        </p:nvSpPr>
        <p:spPr>
          <a:xfrm>
            <a:off x="5669280" y="5285232"/>
            <a:ext cx="4754880" cy="246888"/>
          </a:xfrm>
          <a:prstGeom prst="rect">
            <a:avLst/>
          </a:prstGeom>
          <a:noFill/>
          <a:ln/>
        </p:spPr>
        <p:txBody>
          <a:bodyPr wrap="square" lIns="0" tIns="0" rIns="0" bIns="0" rtlCol="0" anchor="ctr"/>
          <a:lstStyle/>
          <a:p>
            <a:pPr indent="0" marL="0">
              <a:buNone/>
            </a:pPr>
            <a:r>
              <a:rPr lang="en-US" sz="1300" b="1" dirty="0">
                <a:solidFill>
                  <a:srgbClr val="F05A00"/>
                </a:solidFill>
                <a:latin typeface="Arial" pitchFamily="34" charset="0"/>
                <a:ea typeface="Arial" pitchFamily="34" charset="-122"/>
                <a:cs typeface="Arial" pitchFamily="34" charset="-120"/>
              </a:rPr>
              <a:t>Returned to seller</a:t>
            </a:r>
            <a:endParaRPr lang="en-US" sz="1300" dirty="0"/>
          </a:p>
        </p:txBody>
      </p:sp>
      <p:sp>
        <p:nvSpPr>
          <p:cNvPr id="26" name="Text 22"/>
          <p:cNvSpPr txBox="1"/>
          <p:nvPr/>
        </p:nvSpPr>
        <p:spPr>
          <a:xfrm>
            <a:off x="5669280" y="5550408"/>
            <a:ext cx="4937760" cy="237744"/>
          </a:xfrm>
          <a:prstGeom prst="rect">
            <a:avLst/>
          </a:prstGeom>
          <a:noFill/>
          <a:ln/>
        </p:spPr>
        <p:txBody>
          <a:bodyPr wrap="square" lIns="0" tIns="0" rIns="0" bIns="0" rtlCol="0" anchor="ctr"/>
          <a:lstStyle/>
          <a:p>
            <a:pPr indent="0" marL="0">
              <a:buNone/>
            </a:pPr>
            <a:r>
              <a:rPr lang="en-US" sz="1200" dirty="0">
                <a:solidFill>
                  <a:srgbClr val="9AA3B8"/>
                </a:solidFill>
                <a:latin typeface="Arial" pitchFamily="34" charset="0"/>
                <a:ea typeface="Arial" pitchFamily="34" charset="-122"/>
                <a:cs typeface="Arial" pitchFamily="34" charset="-120"/>
              </a:rPr>
              <a:t>We still wanted the parcel.</a:t>
            </a:r>
            <a:endParaRPr lang="en-US" sz="1200" dirty="0"/>
          </a:p>
        </p:txBody>
      </p:sp>
      <p:sp>
        <p:nvSpPr>
          <p:cNvPr id="27" name="Text 23"/>
          <p:cNvSpPr txBox="1"/>
          <p:nvPr/>
        </p:nvSpPr>
        <p:spPr>
          <a:xfrm>
            <a:off x="10515600" y="5285232"/>
            <a:ext cx="914400" cy="219456"/>
          </a:xfrm>
          <a:prstGeom prst="rect">
            <a:avLst/>
          </a:prstGeom>
          <a:noFill/>
          <a:ln/>
        </p:spPr>
        <p:txBody>
          <a:bodyPr wrap="square" lIns="0" tIns="0" rIns="0" bIns="0" rtlCol="0" anchor="ctr"/>
          <a:lstStyle/>
          <a:p>
            <a:pPr algn="r" indent="0" marL="0">
              <a:buNone/>
            </a:pPr>
            <a:r>
              <a:rPr lang="en-US" sz="1000" dirty="0">
                <a:solidFill>
                  <a:srgbClr val="9AA3B8"/>
                </a:solidFill>
                <a:latin typeface="Arial" pitchFamily="34" charset="0"/>
                <a:ea typeface="Arial" pitchFamily="34" charset="-122"/>
                <a:cs typeface="Arial" pitchFamily="34" charset="-120"/>
              </a:rPr>
              <a:t>Day 5</a:t>
            </a:r>
            <a:endParaRPr lang="en-US" sz="1000" dirty="0"/>
          </a:p>
        </p:txBody>
      </p:sp>
      <p:sp>
        <p:nvSpPr>
          <p:cNvPr id="28" name="Text 2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98A0B2"/>
                </a:solidFill>
                <a:latin typeface="Arial" pitchFamily="34" charset="0"/>
                <a:ea typeface="Arial" pitchFamily="34" charset="-122"/>
                <a:cs typeface="Arial" pitchFamily="34" charset="-120"/>
              </a:rPr>
              <a:t>04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rule"/>
          <p:cNvSpPr/>
          <p:nvPr/>
        </p:nvSpPr>
        <p:spPr>
          <a:xfrm>
            <a:off x="4800600" y="612648"/>
            <a:ext cx="292608" cy="0"/>
          </a:xfrm>
          <a:prstGeom prst="line">
            <a:avLst/>
          </a:prstGeom>
          <a:noFill/>
          <a:ln w="15875">
            <a:solidFill>
              <a:srgbClr val="F05A00"/>
            </a:solidFill>
            <a:prstDash val="solid"/>
          </a:ln>
        </p:spPr>
      </p:sp>
      <p:sp>
        <p:nvSpPr>
          <p:cNvPr id="3" name="Text 1"/>
          <p:cNvSpPr txBox="1"/>
          <p:nvPr/>
        </p:nvSpPr>
        <p:spPr>
          <a:xfrm>
            <a:off x="521208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1 · WHAT WE HEARD</a:t>
            </a:r>
            <a:endParaRPr lang="en-US" sz="1050" dirty="0"/>
          </a:p>
        </p:txBody>
      </p:sp>
      <p:sp>
        <p:nvSpPr>
          <p:cNvPr id="4" name="Text 2"/>
          <p:cNvSpPr txBox="1"/>
          <p:nvPr/>
        </p:nvSpPr>
        <p:spPr>
          <a:xfrm>
            <a:off x="4800600" y="841248"/>
            <a:ext cx="6858000" cy="1097280"/>
          </a:xfrm>
          <a:prstGeom prst="rect">
            <a:avLst/>
          </a:prstGeom>
          <a:noFill/>
          <a:ln/>
        </p:spPr>
        <p:txBody>
          <a:bodyPr wrap="square" lIns="0" tIns="0" rIns="0" bIns="0" rtlCol="0" anchor="t"/>
          <a:lstStyle/>
          <a:p>
            <a:pPr indent="0" marL="0">
              <a:lnSpc>
                <a:spcPct val="95000"/>
              </a:lnSpc>
              <a:buNone/>
            </a:pPr>
            <a:r>
              <a:rPr lang="en-US" sz="3000" b="1" dirty="0">
                <a:solidFill>
                  <a:srgbClr val="98A0B2"/>
                </a:solidFill>
                <a:latin typeface="Arial" pitchFamily="34" charset="0"/>
                <a:ea typeface="Arial" pitchFamily="34" charset="-122"/>
                <a:cs typeface="Arial" pitchFamily="34" charset="-120"/>
              </a:rPr>
              <a:t>We asked both sides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of the same missed call.</a:t>
            </a:r>
            <a:endParaRPr lang="en-US" sz="3000" dirty="0"/>
          </a:p>
        </p:txBody>
      </p:sp>
      <p:pic>
        <p:nvPicPr>
          <p:cNvPr id="5" name="Field photo" descr="SPX Express hub, Ho Chi Minh City">    </p:cNvPr>
          <p:cNvPicPr>
            <a:picLocks noChangeAspect="1"/>
          </p:cNvPicPr>
          <p:nvPr/>
        </p:nvPicPr>
        <p:blipFill>
          <a:blip r:embed="rId1"/>
          <a:stretch>
            <a:fillRect/>
          </a:stretch>
        </p:blipFill>
        <p:spPr>
          <a:xfrm>
            <a:off x="548640" y="502920"/>
            <a:ext cx="3886200" cy="5486400"/>
          </a:xfrm>
          <a:prstGeom prst="rect">
            <a:avLst/>
          </a:prstGeom>
        </p:spPr>
      </p:pic>
      <p:pic>
        <p:nvPicPr>
          <p:cNvPr id="6" name="Photo fade" descr="/private/tmp/claude-503/-Users-davark-Downloads-Everything-Github-Alodi-Regional-Codex-Hackathon-2026/91e569a8-486f-4c0b-b683-a4991468f039/scratchpad/deck/assets/fade-bottom.png">    </p:cNvPr>
          <p:cNvPicPr>
            <a:picLocks noChangeAspect="1"/>
          </p:cNvPicPr>
          <p:nvPr/>
        </p:nvPicPr>
        <p:blipFill>
          <a:blip r:embed="rId2"/>
          <a:stretch>
            <a:fillRect/>
          </a:stretch>
        </p:blipFill>
        <p:spPr>
          <a:xfrm>
            <a:off x="548640" y="4572000"/>
            <a:ext cx="3886200" cy="1417320"/>
          </a:xfrm>
          <a:prstGeom prst="rect">
            <a:avLst/>
          </a:prstGeom>
        </p:spPr>
      </p:pic>
      <p:sp>
        <p:nvSpPr>
          <p:cNvPr id="7" name="Text 3"/>
          <p:cNvSpPr txBox="1"/>
          <p:nvPr/>
        </p:nvSpPr>
        <p:spPr>
          <a:xfrm>
            <a:off x="777240" y="5623560"/>
            <a:ext cx="3474720" cy="219456"/>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FIELD VISIT · SPX EXPRESS HUB, HCMC</a:t>
            </a:r>
            <a:endParaRPr lang="en-US" sz="850" dirty="0"/>
          </a:p>
        </p:txBody>
      </p:sp>
      <p:sp>
        <p:nvSpPr>
          <p:cNvPr id="8" name="Group rule 0"/>
          <p:cNvSpPr/>
          <p:nvPr/>
        </p:nvSpPr>
        <p:spPr>
          <a:xfrm>
            <a:off x="4800600" y="1965960"/>
            <a:ext cx="6839712" cy="0"/>
          </a:xfrm>
          <a:prstGeom prst="line">
            <a:avLst/>
          </a:prstGeom>
          <a:noFill/>
          <a:ln w="12700">
            <a:solidFill>
              <a:srgbClr val="121A2C"/>
            </a:solidFill>
            <a:prstDash val="solid"/>
          </a:ln>
        </p:spPr>
      </p:sp>
      <p:sp>
        <p:nvSpPr>
          <p:cNvPr id="9" name="Text 5"/>
          <p:cNvSpPr txBox="1"/>
          <p:nvPr/>
        </p:nvSpPr>
        <p:spPr>
          <a:xfrm>
            <a:off x="4800600" y="2103120"/>
            <a:ext cx="365760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BUYERS · N = 100</a:t>
            </a:r>
            <a:endParaRPr lang="en-US" sz="900" dirty="0"/>
          </a:p>
        </p:txBody>
      </p:sp>
      <p:sp>
        <p:nvSpPr>
          <p:cNvPr id="10" name="Text 6"/>
          <p:cNvSpPr txBox="1"/>
          <p:nvPr/>
        </p:nvSpPr>
        <p:spPr>
          <a:xfrm>
            <a:off x="4800600" y="2377440"/>
            <a:ext cx="3108960" cy="777240"/>
          </a:xfrm>
          <a:prstGeom prst="rect">
            <a:avLst/>
          </a:prstGeom>
          <a:noFill/>
          <a:ln/>
        </p:spPr>
        <p:txBody>
          <a:bodyPr wrap="square" lIns="0" tIns="0" rIns="0" bIns="0" rtlCol="0" anchor="ctr"/>
          <a:lstStyle/>
          <a:p>
            <a:pPr indent="0" marL="0">
              <a:buNone/>
            </a:pPr>
            <a:r>
              <a:rPr lang="en-US" sz="4800" b="1" dirty="0">
                <a:solidFill>
                  <a:srgbClr val="121A2C"/>
                </a:solidFill>
                <a:latin typeface="Arial" pitchFamily="34" charset="0"/>
                <a:ea typeface="Arial" pitchFamily="34" charset="-122"/>
                <a:cs typeface="Arial" pitchFamily="34" charset="-120"/>
              </a:rPr>
              <a:t>86</a:t>
            </a:r>
            <a:pPr indent="0" marL="0">
              <a:buNone/>
            </a:pPr>
            <a:r>
              <a:rPr lang="en-US" sz="4800" b="1" dirty="0">
                <a:solidFill>
                  <a:srgbClr val="F05A00"/>
                </a:solidFill>
                <a:latin typeface="Arial" pitchFamily="34" charset="0"/>
                <a:ea typeface="Arial" pitchFamily="34" charset="-122"/>
                <a:cs typeface="Arial" pitchFamily="34" charset="-120"/>
              </a:rPr>
              <a:t>%</a:t>
            </a:r>
            <a:endParaRPr lang="en-US" sz="4800" dirty="0"/>
          </a:p>
        </p:txBody>
      </p:sp>
      <p:sp>
        <p:nvSpPr>
          <p:cNvPr id="11" name="Text 7"/>
          <p:cNvSpPr txBox="1"/>
          <p:nvPr/>
        </p:nvSpPr>
        <p:spPr>
          <a:xfrm>
            <a:off x="4800600" y="3136392"/>
            <a:ext cx="3246120" cy="548640"/>
          </a:xfrm>
          <a:prstGeom prst="rect">
            <a:avLst/>
          </a:prstGeom>
          <a:noFill/>
          <a:ln/>
        </p:spPr>
        <p:txBody>
          <a:bodyPr wrap="square" lIns="0" tIns="0" rIns="0" bIns="0" rtlCol="0" anchor="ctr"/>
          <a:lstStyle/>
          <a:p>
            <a:pPr indent="0" marL="0">
              <a:buNone/>
            </a:pPr>
            <a:r>
              <a:rPr lang="en-US" sz="1400" dirty="0">
                <a:solidFill>
                  <a:srgbClr val="2A3144"/>
                </a:solidFill>
                <a:latin typeface="Arial" pitchFamily="34" charset="0"/>
                <a:ea typeface="Arial" pitchFamily="34" charset="-122"/>
                <a:cs typeface="Arial" pitchFamily="34" charset="-120"/>
              </a:rPr>
              <a:t>want to choose a delivery window</a:t>
            </a:r>
            <a:pPr indent="0" marL="0">
              <a:buNone/>
            </a:pPr>
            <a:r>
              <a:rPr lang="en-US" sz="1000" dirty="0">
                <a:solidFill>
                  <a:srgbClr val="6B7285"/>
                </a:solidFill>
                <a:latin typeface="Arial" pitchFamily="34" charset="0"/>
                <a:ea typeface="Arial" pitchFamily="34" charset="-122"/>
                <a:cs typeface="Arial" pitchFamily="34" charset="-120"/>
              </a:rPr>
              <a:t> [1]</a:t>
            </a:r>
            <a:endParaRPr lang="en-US" sz="1400" dirty="0"/>
          </a:p>
        </p:txBody>
      </p:sp>
      <p:sp>
        <p:nvSpPr>
          <p:cNvPr id="12" name="Text 8"/>
          <p:cNvSpPr txBox="1"/>
          <p:nvPr/>
        </p:nvSpPr>
        <p:spPr>
          <a:xfrm>
            <a:off x="8275320" y="2377440"/>
            <a:ext cx="3108960" cy="777240"/>
          </a:xfrm>
          <a:prstGeom prst="rect">
            <a:avLst/>
          </a:prstGeom>
          <a:noFill/>
          <a:ln/>
        </p:spPr>
        <p:txBody>
          <a:bodyPr wrap="square" lIns="0" tIns="0" rIns="0" bIns="0" rtlCol="0" anchor="ctr"/>
          <a:lstStyle/>
          <a:p>
            <a:pPr indent="0" marL="0">
              <a:buNone/>
            </a:pPr>
            <a:r>
              <a:rPr lang="en-US" sz="4800" b="1" dirty="0">
                <a:solidFill>
                  <a:srgbClr val="121A2C"/>
                </a:solidFill>
                <a:latin typeface="Arial" pitchFamily="34" charset="0"/>
                <a:ea typeface="Arial" pitchFamily="34" charset="-122"/>
                <a:cs typeface="Arial" pitchFamily="34" charset="-120"/>
              </a:rPr>
              <a:t>66</a:t>
            </a:r>
            <a:pPr indent="0" marL="0">
              <a:buNone/>
            </a:pPr>
            <a:r>
              <a:rPr lang="en-US" sz="4800" b="1" dirty="0">
                <a:solidFill>
                  <a:srgbClr val="F05A00"/>
                </a:solidFill>
                <a:latin typeface="Arial" pitchFamily="34" charset="0"/>
                <a:ea typeface="Arial" pitchFamily="34" charset="-122"/>
                <a:cs typeface="Arial" pitchFamily="34" charset="-120"/>
              </a:rPr>
              <a:t>%</a:t>
            </a:r>
            <a:endParaRPr lang="en-US" sz="4800" dirty="0"/>
          </a:p>
        </p:txBody>
      </p:sp>
      <p:sp>
        <p:nvSpPr>
          <p:cNvPr id="13" name="Text 9"/>
          <p:cNvSpPr txBox="1"/>
          <p:nvPr/>
        </p:nvSpPr>
        <p:spPr>
          <a:xfrm>
            <a:off x="8275320" y="3136392"/>
            <a:ext cx="3246120" cy="548640"/>
          </a:xfrm>
          <a:prstGeom prst="rect">
            <a:avLst/>
          </a:prstGeom>
          <a:noFill/>
          <a:ln/>
        </p:spPr>
        <p:txBody>
          <a:bodyPr wrap="square" lIns="0" tIns="0" rIns="0" bIns="0" rtlCol="0" anchor="ctr"/>
          <a:lstStyle/>
          <a:p>
            <a:pPr indent="0" marL="0">
              <a:buNone/>
            </a:pPr>
            <a:r>
              <a:rPr lang="en-US" sz="1400" dirty="0">
                <a:solidFill>
                  <a:srgbClr val="2A3144"/>
                </a:solidFill>
                <a:latin typeface="Arial" pitchFamily="34" charset="0"/>
                <a:ea typeface="Arial" pitchFamily="34" charset="-122"/>
                <a:cs typeface="Arial" pitchFamily="34" charset="-120"/>
              </a:rPr>
              <a:t>called the courier back and couldn’t reach them</a:t>
            </a:r>
            <a:pPr indent="0" marL="0">
              <a:buNone/>
            </a:pPr>
            <a:r>
              <a:rPr lang="en-US" sz="1000" dirty="0">
                <a:solidFill>
                  <a:srgbClr val="6B7285"/>
                </a:solidFill>
                <a:latin typeface="Arial" pitchFamily="34" charset="0"/>
                <a:ea typeface="Arial" pitchFamily="34" charset="-122"/>
                <a:cs typeface="Arial" pitchFamily="34" charset="-120"/>
              </a:rPr>
              <a:t> [1]</a:t>
            </a:r>
            <a:endParaRPr lang="en-US" sz="1400" dirty="0"/>
          </a:p>
        </p:txBody>
      </p:sp>
      <p:sp>
        <p:nvSpPr>
          <p:cNvPr id="14" name="Group rule 1"/>
          <p:cNvSpPr/>
          <p:nvPr/>
        </p:nvSpPr>
        <p:spPr>
          <a:xfrm>
            <a:off x="4800600" y="3749040"/>
            <a:ext cx="6839712" cy="0"/>
          </a:xfrm>
          <a:prstGeom prst="line">
            <a:avLst/>
          </a:prstGeom>
          <a:noFill/>
          <a:ln w="12700">
            <a:solidFill>
              <a:srgbClr val="121A2C"/>
            </a:solidFill>
            <a:prstDash val="solid"/>
          </a:ln>
        </p:spPr>
      </p:sp>
      <p:sp>
        <p:nvSpPr>
          <p:cNvPr id="15" name="Text 11"/>
          <p:cNvSpPr txBox="1"/>
          <p:nvPr/>
        </p:nvSpPr>
        <p:spPr>
          <a:xfrm>
            <a:off x="4800600" y="3886200"/>
            <a:ext cx="365760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COURIERS · N = 12 · 6 CARRIERS</a:t>
            </a:r>
            <a:endParaRPr lang="en-US" sz="900" dirty="0"/>
          </a:p>
        </p:txBody>
      </p:sp>
      <p:sp>
        <p:nvSpPr>
          <p:cNvPr id="16" name="Text 12"/>
          <p:cNvSpPr txBox="1"/>
          <p:nvPr/>
        </p:nvSpPr>
        <p:spPr>
          <a:xfrm>
            <a:off x="4800600" y="4160520"/>
            <a:ext cx="3108960" cy="777240"/>
          </a:xfrm>
          <a:prstGeom prst="rect">
            <a:avLst/>
          </a:prstGeom>
          <a:noFill/>
          <a:ln/>
        </p:spPr>
        <p:txBody>
          <a:bodyPr wrap="square" lIns="0" tIns="0" rIns="0" bIns="0" rtlCol="0" anchor="ctr"/>
          <a:lstStyle/>
          <a:p>
            <a:pPr indent="0" marL="0">
              <a:buNone/>
            </a:pPr>
            <a:r>
              <a:rPr lang="en-US" sz="4800" b="1" dirty="0">
                <a:solidFill>
                  <a:srgbClr val="121A2C"/>
                </a:solidFill>
                <a:latin typeface="Arial" pitchFamily="34" charset="0"/>
                <a:ea typeface="Arial" pitchFamily="34" charset="-122"/>
                <a:cs typeface="Arial" pitchFamily="34" charset="-120"/>
              </a:rPr>
              <a:t>27</a:t>
            </a:r>
            <a:pPr indent="0" marL="0">
              <a:buNone/>
            </a:pPr>
            <a:r>
              <a:rPr lang="en-US" sz="4800" b="1" dirty="0">
                <a:solidFill>
                  <a:srgbClr val="F05A00"/>
                </a:solidFill>
                <a:latin typeface="Arial" pitchFamily="34" charset="0"/>
                <a:ea typeface="Arial" pitchFamily="34" charset="-122"/>
                <a:cs typeface="Arial" pitchFamily="34" charset="-120"/>
              </a:rPr>
              <a:t>%</a:t>
            </a:r>
            <a:endParaRPr lang="en-US" sz="4800" dirty="0"/>
          </a:p>
        </p:txBody>
      </p:sp>
      <p:sp>
        <p:nvSpPr>
          <p:cNvPr id="17" name="Text 13"/>
          <p:cNvSpPr txBox="1"/>
          <p:nvPr/>
        </p:nvSpPr>
        <p:spPr>
          <a:xfrm>
            <a:off x="4800600" y="4919472"/>
            <a:ext cx="3246120" cy="548640"/>
          </a:xfrm>
          <a:prstGeom prst="rect">
            <a:avLst/>
          </a:prstGeom>
          <a:noFill/>
          <a:ln/>
        </p:spPr>
        <p:txBody>
          <a:bodyPr wrap="square" lIns="0" tIns="0" rIns="0" bIns="0" rtlCol="0" anchor="ctr"/>
          <a:lstStyle/>
          <a:p>
            <a:pPr indent="0" marL="0">
              <a:buNone/>
            </a:pPr>
            <a:r>
              <a:rPr lang="en-US" sz="1400" dirty="0">
                <a:solidFill>
                  <a:srgbClr val="2A3144"/>
                </a:solidFill>
                <a:latin typeface="Arial" pitchFamily="34" charset="0"/>
                <a:ea typeface="Arial" pitchFamily="34" charset="-122"/>
                <a:cs typeface="Arial" pitchFamily="34" charset="-120"/>
              </a:rPr>
              <a:t>of their calls to buyers go unanswered</a:t>
            </a:r>
            <a:pPr indent="0" marL="0">
              <a:buNone/>
            </a:pPr>
            <a:r>
              <a:rPr lang="en-US" sz="1000" dirty="0">
                <a:solidFill>
                  <a:srgbClr val="6B7285"/>
                </a:solidFill>
                <a:latin typeface="Arial" pitchFamily="34" charset="0"/>
                <a:ea typeface="Arial" pitchFamily="34" charset="-122"/>
                <a:cs typeface="Arial" pitchFamily="34" charset="-120"/>
              </a:rPr>
              <a:t> [1]</a:t>
            </a:r>
            <a:endParaRPr lang="en-US" sz="1400" dirty="0"/>
          </a:p>
        </p:txBody>
      </p:sp>
      <p:sp>
        <p:nvSpPr>
          <p:cNvPr id="18" name="Text 14"/>
          <p:cNvSpPr txBox="1"/>
          <p:nvPr/>
        </p:nvSpPr>
        <p:spPr>
          <a:xfrm>
            <a:off x="8275320" y="4160520"/>
            <a:ext cx="3108960" cy="777240"/>
          </a:xfrm>
          <a:prstGeom prst="rect">
            <a:avLst/>
          </a:prstGeom>
          <a:noFill/>
          <a:ln/>
        </p:spPr>
        <p:txBody>
          <a:bodyPr wrap="square" lIns="0" tIns="0" rIns="0" bIns="0" rtlCol="0" anchor="ctr"/>
          <a:lstStyle/>
          <a:p>
            <a:pPr indent="0" marL="0">
              <a:buNone/>
            </a:pPr>
            <a:r>
              <a:rPr lang="en-US" sz="4800" b="1" dirty="0">
                <a:solidFill>
                  <a:srgbClr val="121A2C"/>
                </a:solidFill>
                <a:latin typeface="Arial" pitchFamily="34" charset="0"/>
                <a:ea typeface="Arial" pitchFamily="34" charset="-122"/>
                <a:cs typeface="Arial" pitchFamily="34" charset="-120"/>
              </a:rPr>
              <a:t>83</a:t>
            </a:r>
            <a:pPr indent="0" marL="0">
              <a:buNone/>
            </a:pPr>
            <a:r>
              <a:rPr lang="en-US" sz="4800" b="1" dirty="0">
                <a:solidFill>
                  <a:srgbClr val="F05A00"/>
                </a:solidFill>
                <a:latin typeface="Arial" pitchFamily="34" charset="0"/>
                <a:ea typeface="Arial" pitchFamily="34" charset="-122"/>
                <a:cs typeface="Arial" pitchFamily="34" charset="-120"/>
              </a:rPr>
              <a:t>%</a:t>
            </a:r>
            <a:endParaRPr lang="en-US" sz="4800" dirty="0"/>
          </a:p>
        </p:txBody>
      </p:sp>
      <p:sp>
        <p:nvSpPr>
          <p:cNvPr id="19" name="Text 15"/>
          <p:cNvSpPr txBox="1"/>
          <p:nvPr/>
        </p:nvSpPr>
        <p:spPr>
          <a:xfrm>
            <a:off x="8275320" y="4919472"/>
            <a:ext cx="3246120" cy="548640"/>
          </a:xfrm>
          <a:prstGeom prst="rect">
            <a:avLst/>
          </a:prstGeom>
          <a:noFill/>
          <a:ln/>
        </p:spPr>
        <p:txBody>
          <a:bodyPr wrap="square" lIns="0" tIns="0" rIns="0" bIns="0" rtlCol="0" anchor="ctr"/>
          <a:lstStyle/>
          <a:p>
            <a:pPr indent="0" marL="0">
              <a:buNone/>
            </a:pPr>
            <a:r>
              <a:rPr lang="en-US" sz="1400" dirty="0">
                <a:solidFill>
                  <a:srgbClr val="2A3144"/>
                </a:solidFill>
                <a:latin typeface="Arial" pitchFamily="34" charset="0"/>
                <a:ea typeface="Arial" pitchFamily="34" charset="-122"/>
                <a:cs typeface="Arial" pitchFamily="34" charset="-120"/>
              </a:rPr>
              <a:t>would use an Alodi-like system</a:t>
            </a:r>
            <a:pPr indent="0" marL="0">
              <a:buNone/>
            </a:pPr>
            <a:r>
              <a:rPr lang="en-US" sz="1000" dirty="0">
                <a:solidFill>
                  <a:srgbClr val="6B7285"/>
                </a:solidFill>
                <a:latin typeface="Arial" pitchFamily="34" charset="0"/>
                <a:ea typeface="Arial" pitchFamily="34" charset="-122"/>
                <a:cs typeface="Arial" pitchFamily="34" charset="-120"/>
              </a:rPr>
              <a:t> [1]</a:t>
            </a:r>
            <a:endParaRPr lang="en-US" sz="1400" dirty="0"/>
          </a:p>
        </p:txBody>
      </p:sp>
      <p:sp>
        <p:nvSpPr>
          <p:cNvPr id="20" name="Survey status"/>
          <p:cNvSpPr txBox="1"/>
          <p:nvPr/>
        </p:nvSpPr>
        <p:spPr>
          <a:xfrm>
            <a:off x="4800600" y="5669280"/>
            <a:ext cx="6839712" cy="237744"/>
          </a:xfrm>
          <a:prstGeom prst="rect">
            <a:avLst/>
          </a:prstGeom>
          <a:noFill/>
          <a:ln/>
        </p:spPr>
        <p:txBody>
          <a:bodyPr wrap="square" lIns="0" tIns="0" rIns="0" bIns="0" rtlCol="0" anchor="ctr"/>
          <a:lstStyle/>
          <a:p>
            <a:pPr indent="0" marL="0">
              <a:buNone/>
            </a:pPr>
            <a:r>
              <a:rPr lang="en-US" sz="1050" dirty="0">
                <a:solidFill>
                  <a:srgbClr val="464E62"/>
                </a:solidFill>
                <a:latin typeface="Arial" pitchFamily="34" charset="0"/>
                <a:ea typeface="Arial" pitchFamily="34" charset="-122"/>
                <a:cs typeface="Arial" pitchFamily="34" charset="-120"/>
              </a:rPr>
              <a:t>Placeholder values until the interview export lands.</a:t>
            </a:r>
            <a:endParaRPr lang="en-US" sz="1050" dirty="0"/>
          </a:p>
        </p:txBody>
      </p:sp>
      <p:sp>
        <p:nvSpPr>
          <p:cNvPr id="21" name="Text 17"/>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464E62"/>
                </a:solidFill>
                <a:latin typeface="Arial" pitchFamily="34" charset="0"/>
                <a:ea typeface="Arial" pitchFamily="34" charset="-122"/>
                <a:cs typeface="Arial" pitchFamily="34" charset="-120"/>
              </a:rPr>
              <a:t>05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2 · THE RESEARCH</a:t>
            </a:r>
            <a:endParaRPr lang="en-US" sz="1050" dirty="0"/>
          </a:p>
        </p:txBody>
      </p:sp>
      <p:sp>
        <p:nvSpPr>
          <p:cNvPr id="4" name="Text 2"/>
          <p:cNvSpPr txBox="1"/>
          <p:nvPr/>
        </p:nvSpPr>
        <p:spPr>
          <a:xfrm>
            <a:off x="548640" y="841248"/>
            <a:ext cx="10515600" cy="1097280"/>
          </a:xfrm>
          <a:prstGeom prst="rect">
            <a:avLst/>
          </a:prstGeom>
          <a:noFill/>
          <a:ln/>
        </p:spPr>
        <p:txBody>
          <a:bodyPr wrap="square" lIns="0" tIns="0" rIns="0" bIns="0" rtlCol="0" anchor="t"/>
          <a:lstStyle/>
          <a:p>
            <a:pPr indent="0" marL="0">
              <a:lnSpc>
                <a:spcPct val="95000"/>
              </a:lnSpc>
              <a:buNone/>
            </a:pPr>
            <a:r>
              <a:rPr lang="en-US" sz="3000" b="1" dirty="0">
                <a:solidFill>
                  <a:srgbClr val="98A0B2"/>
                </a:solidFill>
                <a:latin typeface="Arial" pitchFamily="34" charset="0"/>
                <a:ea typeface="Arial" pitchFamily="34" charset="-122"/>
                <a:cs typeface="Arial" pitchFamily="34" charset="-120"/>
              </a:rPr>
              <a:t>The public numbers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tell the same story.</a:t>
            </a:r>
            <a:endParaRPr lang="en-US" sz="3000" dirty="0"/>
          </a:p>
        </p:txBody>
      </p:sp>
      <p:sp>
        <p:nvSpPr>
          <p:cNvPr id="5" name="Card 1"/>
          <p:cNvSpPr/>
          <p:nvPr/>
        </p:nvSpPr>
        <p:spPr>
          <a:xfrm>
            <a:off x="548640" y="2011680"/>
            <a:ext cx="2670048" cy="3931920"/>
          </a:xfrm>
          <a:prstGeom prst="roundRect">
            <a:avLst>
              <a:gd name="adj" fmla="val 4795"/>
            </a:avLst>
          </a:prstGeom>
          <a:solidFill>
            <a:srgbClr val="FFFFFF"/>
          </a:solidFill>
          <a:ln w="9525">
            <a:solidFill>
              <a:srgbClr val="E3E5EA"/>
            </a:solidFill>
            <a:prstDash val="solid"/>
          </a:ln>
        </p:spPr>
      </p:sp>
      <p:sp>
        <p:nvSpPr>
          <p:cNvPr id="6" name="Text 4"/>
          <p:cNvSpPr txBox="1"/>
          <p:nvPr/>
        </p:nvSpPr>
        <p:spPr>
          <a:xfrm>
            <a:off x="777240" y="2267712"/>
            <a:ext cx="201168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RETURN FEE</a:t>
            </a:r>
            <a:endParaRPr lang="en-US" sz="900" dirty="0"/>
          </a:p>
        </p:txBody>
      </p:sp>
      <p:sp>
        <p:nvSpPr>
          <p:cNvPr id="7" name="Icon tile"/>
          <p:cNvSpPr/>
          <p:nvPr/>
        </p:nvSpPr>
        <p:spPr>
          <a:xfrm>
            <a:off x="2670048" y="2194560"/>
            <a:ext cx="329184" cy="329184"/>
          </a:xfrm>
          <a:prstGeom prst="roundRect">
            <a:avLst>
              <a:gd name="adj" fmla="val 22222"/>
            </a:avLst>
          </a:prstGeom>
          <a:solidFill>
            <a:srgbClr val="F1F2F5"/>
          </a:solidFill>
          <a:ln/>
        </p:spPr>
      </p:sp>
      <p:pic>
        <p:nvPicPr>
          <p:cNvPr id="8" name="Icon" descr="/private/tmp/claude-503/-Users-davark-Downloads-Everything-Github-Alodi-Regional-Codex-Hackathon-2026/91e569a8-486f-4c0b-b683-a4991468f039/scratchpad/deck/assets/mark-dot-navy.png">    </p:cNvPr>
          <p:cNvPicPr>
            <a:picLocks noChangeAspect="1"/>
          </p:cNvPicPr>
          <p:nvPr/>
        </p:nvPicPr>
        <p:blipFill>
          <a:blip r:embed="rId1"/>
          <a:stretch>
            <a:fillRect/>
          </a:stretch>
        </p:blipFill>
        <p:spPr>
          <a:xfrm>
            <a:off x="2734056" y="2258568"/>
            <a:ext cx="201168" cy="201168"/>
          </a:xfrm>
          <a:prstGeom prst="rect">
            <a:avLst/>
          </a:prstGeom>
        </p:spPr>
      </p:pic>
      <p:sp>
        <p:nvSpPr>
          <p:cNvPr id="9" name="Text 6"/>
          <p:cNvSpPr txBox="1"/>
          <p:nvPr/>
        </p:nvSpPr>
        <p:spPr>
          <a:xfrm>
            <a:off x="777240" y="2606040"/>
            <a:ext cx="2304288" cy="685800"/>
          </a:xfrm>
          <a:prstGeom prst="rect">
            <a:avLst/>
          </a:prstGeom>
          <a:noFill/>
          <a:ln/>
        </p:spPr>
        <p:txBody>
          <a:bodyPr wrap="square" lIns="0" tIns="0" rIns="0" bIns="0" rtlCol="0" anchor="ctr"/>
          <a:lstStyle/>
          <a:p>
            <a:pPr indent="0" marL="0">
              <a:buNone/>
            </a:pPr>
            <a:r>
              <a:rPr lang="en-US" sz="3800" b="1" dirty="0">
                <a:solidFill>
                  <a:srgbClr val="F05A00"/>
                </a:solidFill>
                <a:latin typeface="Arial" pitchFamily="34" charset="0"/>
                <a:ea typeface="Arial" pitchFamily="34" charset="-122"/>
                <a:cs typeface="Arial" pitchFamily="34" charset="-120"/>
              </a:rPr>
              <a:t>₫</a:t>
            </a:r>
            <a:pPr indent="0" marL="0">
              <a:buNone/>
            </a:pPr>
            <a:r>
              <a:rPr lang="en-US" sz="3800" b="1" dirty="0">
                <a:solidFill>
                  <a:srgbClr val="121A2C"/>
                </a:solidFill>
                <a:latin typeface="Arial" pitchFamily="34" charset="0"/>
                <a:ea typeface="Arial" pitchFamily="34" charset="-122"/>
                <a:cs typeface="Arial" pitchFamily="34" charset="-120"/>
              </a:rPr>
              <a:t>40,000</a:t>
            </a:r>
            <a:endParaRPr lang="en-US" sz="3800" dirty="0"/>
          </a:p>
        </p:txBody>
      </p:sp>
      <p:sp>
        <p:nvSpPr>
          <p:cNvPr id="10" name="Rescued bar"/>
          <p:cNvSpPr/>
          <p:nvPr/>
        </p:nvSpPr>
        <p:spPr>
          <a:xfrm>
            <a:off x="777240" y="3566160"/>
            <a:ext cx="553212" cy="310896"/>
          </a:xfrm>
          <a:prstGeom prst="rect">
            <a:avLst/>
          </a:prstGeom>
          <a:solidFill>
            <a:srgbClr val="8A91A6"/>
          </a:solidFill>
          <a:ln/>
        </p:spPr>
      </p:sp>
      <p:sp>
        <p:nvSpPr>
          <p:cNvPr id="11" name="Returned bar"/>
          <p:cNvSpPr/>
          <p:nvPr/>
        </p:nvSpPr>
        <p:spPr>
          <a:xfrm>
            <a:off x="1348740" y="3566160"/>
            <a:ext cx="1641348" cy="310896"/>
          </a:xfrm>
          <a:prstGeom prst="rect">
            <a:avLst/>
          </a:prstGeom>
          <a:solidFill>
            <a:srgbClr val="1F2A44"/>
          </a:solidFill>
          <a:ln/>
        </p:spPr>
      </p:sp>
      <p:sp>
        <p:nvSpPr>
          <p:cNvPr id="12" name="Text 9"/>
          <p:cNvSpPr txBox="1"/>
          <p:nvPr/>
        </p:nvSpPr>
        <p:spPr>
          <a:xfrm>
            <a:off x="777240" y="3931920"/>
            <a:ext cx="2194560" cy="219456"/>
          </a:xfrm>
          <a:prstGeom prst="rect">
            <a:avLst/>
          </a:prstGeom>
          <a:noFill/>
          <a:ln/>
        </p:spPr>
        <p:txBody>
          <a:bodyPr wrap="square" lIns="0" tIns="0" rIns="0" bIns="0" rtlCol="0" anchor="ctr"/>
          <a:lstStyle/>
          <a:p>
            <a:pPr indent="0" marL="0">
              <a:buNone/>
            </a:pPr>
            <a:r>
              <a:rPr lang="en-US" sz="1000" dirty="0">
                <a:solidFill>
                  <a:srgbClr val="464E62"/>
                </a:solidFill>
                <a:latin typeface="Arial" pitchFamily="34" charset="0"/>
                <a:ea typeface="Arial" pitchFamily="34" charset="-122"/>
                <a:cs typeface="Arial" pitchFamily="34" charset="-120"/>
              </a:rPr>
              <a:t>1 in 4 rescued today [8]</a:t>
            </a:r>
            <a:endParaRPr lang="en-US" sz="1000" dirty="0"/>
          </a:p>
        </p:txBody>
      </p:sp>
      <p:sp>
        <p:nvSpPr>
          <p:cNvPr id="13" name="Text 10"/>
          <p:cNvSpPr txBox="1"/>
          <p:nvPr/>
        </p:nvSpPr>
        <p:spPr>
          <a:xfrm>
            <a:off x="777240" y="4389120"/>
            <a:ext cx="2286000" cy="1417320"/>
          </a:xfrm>
          <a:prstGeom prst="rect">
            <a:avLst/>
          </a:prstGeom>
          <a:noFill/>
          <a:ln/>
        </p:spPr>
        <p:txBody>
          <a:bodyPr wrap="square" lIns="0" tIns="0" rIns="0" bIns="0" rtlCol="0" anchor="t"/>
          <a:lstStyle/>
          <a:p>
            <a:pPr indent="0" marL="0">
              <a:buNone/>
            </a:pPr>
            <a:r>
              <a:rPr lang="en-US" sz="1400" dirty="0">
                <a:solidFill>
                  <a:srgbClr val="2A3144"/>
                </a:solidFill>
                <a:latin typeface="Arial" pitchFamily="34" charset="0"/>
                <a:ea typeface="Arial" pitchFamily="34" charset="-122"/>
                <a:cs typeface="Arial" pitchFamily="34" charset="-120"/>
              </a:rPr>
              <a:t>the seller pays to ship back a failed Shopee order.</a:t>
            </a:r>
            <a:pPr indent="0" marL="0">
              <a:buNone/>
            </a:pPr>
            <a:r>
              <a:rPr lang="en-US" sz="1000" dirty="0">
                <a:solidFill>
                  <a:srgbClr val="6B7285"/>
                </a:solidFill>
                <a:latin typeface="Arial" pitchFamily="34" charset="0"/>
                <a:ea typeface="Arial" pitchFamily="34" charset="-122"/>
                <a:cs typeface="Arial" pitchFamily="34" charset="-120"/>
              </a:rPr>
              <a:t> [2][3]</a:t>
            </a:r>
            <a:endParaRPr lang="en-US" sz="1400" dirty="0"/>
          </a:p>
        </p:txBody>
      </p:sp>
      <p:sp>
        <p:nvSpPr>
          <p:cNvPr id="14" name="Card 2"/>
          <p:cNvSpPr/>
          <p:nvPr/>
        </p:nvSpPr>
        <p:spPr>
          <a:xfrm>
            <a:off x="3355848" y="2011680"/>
            <a:ext cx="2670048" cy="3931920"/>
          </a:xfrm>
          <a:prstGeom prst="roundRect">
            <a:avLst>
              <a:gd name="adj" fmla="val 4795"/>
            </a:avLst>
          </a:prstGeom>
          <a:solidFill>
            <a:srgbClr val="FFFFFF"/>
          </a:solidFill>
          <a:ln w="9525">
            <a:solidFill>
              <a:srgbClr val="E3E5EA"/>
            </a:solidFill>
            <a:prstDash val="solid"/>
          </a:ln>
        </p:spPr>
      </p:sp>
      <p:sp>
        <p:nvSpPr>
          <p:cNvPr id="15" name="Text 12"/>
          <p:cNvSpPr txBox="1"/>
          <p:nvPr/>
        </p:nvSpPr>
        <p:spPr>
          <a:xfrm>
            <a:off x="3584448" y="2267712"/>
            <a:ext cx="201168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REFUSED AT THE DOOR</a:t>
            </a:r>
            <a:endParaRPr lang="en-US" sz="900" dirty="0"/>
          </a:p>
        </p:txBody>
      </p:sp>
      <p:sp>
        <p:nvSpPr>
          <p:cNvPr id="16" name="Icon tile"/>
          <p:cNvSpPr/>
          <p:nvPr/>
        </p:nvSpPr>
        <p:spPr>
          <a:xfrm>
            <a:off x="5477256" y="2194560"/>
            <a:ext cx="329184" cy="329184"/>
          </a:xfrm>
          <a:prstGeom prst="roundRect">
            <a:avLst>
              <a:gd name="adj" fmla="val 22222"/>
            </a:avLst>
          </a:prstGeom>
          <a:solidFill>
            <a:srgbClr val="F1F2F5"/>
          </a:solidFill>
          <a:ln/>
        </p:spPr>
      </p:sp>
      <p:pic>
        <p:nvPicPr>
          <p:cNvPr id="17" name="Icon" descr="/private/tmp/claude-503/-Users-davark-Downloads-Everything-Github-Alodi-Regional-Codex-Hackathon-2026/91e569a8-486f-4c0b-b683-a4991468f039/scratchpad/deck/assets/mark-square-navy.png">    </p:cNvPr>
          <p:cNvPicPr>
            <a:picLocks noChangeAspect="1"/>
          </p:cNvPicPr>
          <p:nvPr/>
        </p:nvPicPr>
        <p:blipFill>
          <a:blip r:embed="rId2"/>
          <a:stretch>
            <a:fillRect/>
          </a:stretch>
        </p:blipFill>
        <p:spPr>
          <a:xfrm>
            <a:off x="5541264" y="2258568"/>
            <a:ext cx="201168" cy="201168"/>
          </a:xfrm>
          <a:prstGeom prst="rect">
            <a:avLst/>
          </a:prstGeom>
        </p:spPr>
      </p:pic>
      <p:sp>
        <p:nvSpPr>
          <p:cNvPr id="18" name="Text 14"/>
          <p:cNvSpPr txBox="1"/>
          <p:nvPr/>
        </p:nvSpPr>
        <p:spPr>
          <a:xfrm>
            <a:off x="3584448" y="2606040"/>
            <a:ext cx="2304288" cy="68580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8–12</a:t>
            </a:r>
            <a:pPr indent="0" marL="0">
              <a:buNone/>
            </a:pPr>
            <a:r>
              <a:rPr lang="en-US" sz="3800" b="1" dirty="0">
                <a:solidFill>
                  <a:srgbClr val="F05A00"/>
                </a:solidFill>
                <a:latin typeface="Arial" pitchFamily="34" charset="0"/>
                <a:ea typeface="Arial" pitchFamily="34" charset="-122"/>
                <a:cs typeface="Arial" pitchFamily="34" charset="-120"/>
              </a:rPr>
              <a:t>%</a:t>
            </a:r>
            <a:endParaRPr lang="en-US" sz="3800" dirty="0"/>
          </a:p>
        </p:txBody>
      </p:sp>
      <p:sp>
        <p:nvSpPr>
          <p:cNvPr id="19" name="Waffle 0"/>
          <p:cNvSpPr/>
          <p:nvPr/>
        </p:nvSpPr>
        <p:spPr>
          <a:xfrm>
            <a:off x="3584448" y="3474720"/>
            <a:ext cx="173736" cy="73152"/>
          </a:xfrm>
          <a:prstGeom prst="rect">
            <a:avLst/>
          </a:prstGeom>
          <a:solidFill>
            <a:srgbClr val="E1E3E8"/>
          </a:solidFill>
          <a:ln/>
        </p:spPr>
      </p:sp>
      <p:sp>
        <p:nvSpPr>
          <p:cNvPr id="20" name="Waffle 1"/>
          <p:cNvSpPr/>
          <p:nvPr/>
        </p:nvSpPr>
        <p:spPr>
          <a:xfrm>
            <a:off x="3799332" y="3474720"/>
            <a:ext cx="173736" cy="73152"/>
          </a:xfrm>
          <a:prstGeom prst="rect">
            <a:avLst/>
          </a:prstGeom>
          <a:solidFill>
            <a:srgbClr val="E1E3E8"/>
          </a:solidFill>
          <a:ln/>
        </p:spPr>
      </p:sp>
      <p:sp>
        <p:nvSpPr>
          <p:cNvPr id="21" name="Waffle 2"/>
          <p:cNvSpPr/>
          <p:nvPr/>
        </p:nvSpPr>
        <p:spPr>
          <a:xfrm>
            <a:off x="4014216" y="3474720"/>
            <a:ext cx="173736" cy="73152"/>
          </a:xfrm>
          <a:prstGeom prst="rect">
            <a:avLst/>
          </a:prstGeom>
          <a:solidFill>
            <a:srgbClr val="E1E3E8"/>
          </a:solidFill>
          <a:ln/>
        </p:spPr>
      </p:sp>
      <p:sp>
        <p:nvSpPr>
          <p:cNvPr id="22" name="Waffle 3"/>
          <p:cNvSpPr/>
          <p:nvPr/>
        </p:nvSpPr>
        <p:spPr>
          <a:xfrm>
            <a:off x="4229100" y="3474720"/>
            <a:ext cx="173736" cy="73152"/>
          </a:xfrm>
          <a:prstGeom prst="rect">
            <a:avLst/>
          </a:prstGeom>
          <a:solidFill>
            <a:srgbClr val="E1E3E8"/>
          </a:solidFill>
          <a:ln/>
        </p:spPr>
      </p:sp>
      <p:sp>
        <p:nvSpPr>
          <p:cNvPr id="23" name="Waffle 4"/>
          <p:cNvSpPr/>
          <p:nvPr/>
        </p:nvSpPr>
        <p:spPr>
          <a:xfrm>
            <a:off x="4443984" y="3474720"/>
            <a:ext cx="173736" cy="73152"/>
          </a:xfrm>
          <a:prstGeom prst="rect">
            <a:avLst/>
          </a:prstGeom>
          <a:solidFill>
            <a:srgbClr val="E1E3E8"/>
          </a:solidFill>
          <a:ln/>
        </p:spPr>
      </p:sp>
      <p:sp>
        <p:nvSpPr>
          <p:cNvPr id="24" name="Waffle 5"/>
          <p:cNvSpPr/>
          <p:nvPr/>
        </p:nvSpPr>
        <p:spPr>
          <a:xfrm>
            <a:off x="4658868" y="3474720"/>
            <a:ext cx="173736" cy="73152"/>
          </a:xfrm>
          <a:prstGeom prst="rect">
            <a:avLst/>
          </a:prstGeom>
          <a:solidFill>
            <a:srgbClr val="E1E3E8"/>
          </a:solidFill>
          <a:ln/>
        </p:spPr>
      </p:sp>
      <p:sp>
        <p:nvSpPr>
          <p:cNvPr id="25" name="Waffle 6"/>
          <p:cNvSpPr/>
          <p:nvPr/>
        </p:nvSpPr>
        <p:spPr>
          <a:xfrm>
            <a:off x="4873752" y="3474720"/>
            <a:ext cx="173736" cy="73152"/>
          </a:xfrm>
          <a:prstGeom prst="rect">
            <a:avLst/>
          </a:prstGeom>
          <a:solidFill>
            <a:srgbClr val="E1E3E8"/>
          </a:solidFill>
          <a:ln/>
        </p:spPr>
      </p:sp>
      <p:sp>
        <p:nvSpPr>
          <p:cNvPr id="26" name="Waffle 7"/>
          <p:cNvSpPr/>
          <p:nvPr/>
        </p:nvSpPr>
        <p:spPr>
          <a:xfrm>
            <a:off x="5088636" y="3474720"/>
            <a:ext cx="173736" cy="73152"/>
          </a:xfrm>
          <a:prstGeom prst="rect">
            <a:avLst/>
          </a:prstGeom>
          <a:solidFill>
            <a:srgbClr val="E1E3E8"/>
          </a:solidFill>
          <a:ln/>
        </p:spPr>
      </p:sp>
      <p:sp>
        <p:nvSpPr>
          <p:cNvPr id="27" name="Waffle 8"/>
          <p:cNvSpPr/>
          <p:nvPr/>
        </p:nvSpPr>
        <p:spPr>
          <a:xfrm>
            <a:off x="5303520" y="3474720"/>
            <a:ext cx="173736" cy="73152"/>
          </a:xfrm>
          <a:prstGeom prst="rect">
            <a:avLst/>
          </a:prstGeom>
          <a:solidFill>
            <a:srgbClr val="E1E3E8"/>
          </a:solidFill>
          <a:ln/>
        </p:spPr>
      </p:sp>
      <p:sp>
        <p:nvSpPr>
          <p:cNvPr id="28" name="Waffle 9"/>
          <p:cNvSpPr/>
          <p:nvPr/>
        </p:nvSpPr>
        <p:spPr>
          <a:xfrm>
            <a:off x="5518404" y="3474720"/>
            <a:ext cx="173736" cy="73152"/>
          </a:xfrm>
          <a:prstGeom prst="rect">
            <a:avLst/>
          </a:prstGeom>
          <a:solidFill>
            <a:srgbClr val="E1E3E8"/>
          </a:solidFill>
          <a:ln/>
        </p:spPr>
      </p:sp>
      <p:sp>
        <p:nvSpPr>
          <p:cNvPr id="29" name="Waffle 10"/>
          <p:cNvSpPr/>
          <p:nvPr/>
        </p:nvSpPr>
        <p:spPr>
          <a:xfrm>
            <a:off x="3584448" y="3575304"/>
            <a:ext cx="173736" cy="73152"/>
          </a:xfrm>
          <a:prstGeom prst="rect">
            <a:avLst/>
          </a:prstGeom>
          <a:solidFill>
            <a:srgbClr val="E1E3E8"/>
          </a:solidFill>
          <a:ln/>
        </p:spPr>
      </p:sp>
      <p:sp>
        <p:nvSpPr>
          <p:cNvPr id="30" name="Waffle 11"/>
          <p:cNvSpPr/>
          <p:nvPr/>
        </p:nvSpPr>
        <p:spPr>
          <a:xfrm>
            <a:off x="3799332" y="3575304"/>
            <a:ext cx="173736" cy="73152"/>
          </a:xfrm>
          <a:prstGeom prst="rect">
            <a:avLst/>
          </a:prstGeom>
          <a:solidFill>
            <a:srgbClr val="E1E3E8"/>
          </a:solidFill>
          <a:ln/>
        </p:spPr>
      </p:sp>
      <p:sp>
        <p:nvSpPr>
          <p:cNvPr id="31" name="Waffle 12"/>
          <p:cNvSpPr/>
          <p:nvPr/>
        </p:nvSpPr>
        <p:spPr>
          <a:xfrm>
            <a:off x="4014216" y="3575304"/>
            <a:ext cx="173736" cy="73152"/>
          </a:xfrm>
          <a:prstGeom prst="rect">
            <a:avLst/>
          </a:prstGeom>
          <a:solidFill>
            <a:srgbClr val="E1E3E8"/>
          </a:solidFill>
          <a:ln/>
        </p:spPr>
      </p:sp>
      <p:sp>
        <p:nvSpPr>
          <p:cNvPr id="32" name="Waffle 13"/>
          <p:cNvSpPr/>
          <p:nvPr/>
        </p:nvSpPr>
        <p:spPr>
          <a:xfrm>
            <a:off x="4229100" y="3575304"/>
            <a:ext cx="173736" cy="73152"/>
          </a:xfrm>
          <a:prstGeom prst="rect">
            <a:avLst/>
          </a:prstGeom>
          <a:solidFill>
            <a:srgbClr val="E1E3E8"/>
          </a:solidFill>
          <a:ln/>
        </p:spPr>
      </p:sp>
      <p:sp>
        <p:nvSpPr>
          <p:cNvPr id="33" name="Waffle 14"/>
          <p:cNvSpPr/>
          <p:nvPr/>
        </p:nvSpPr>
        <p:spPr>
          <a:xfrm>
            <a:off x="4443984" y="3575304"/>
            <a:ext cx="173736" cy="73152"/>
          </a:xfrm>
          <a:prstGeom prst="rect">
            <a:avLst/>
          </a:prstGeom>
          <a:solidFill>
            <a:srgbClr val="E1E3E8"/>
          </a:solidFill>
          <a:ln/>
        </p:spPr>
      </p:sp>
      <p:sp>
        <p:nvSpPr>
          <p:cNvPr id="34" name="Waffle 15"/>
          <p:cNvSpPr/>
          <p:nvPr/>
        </p:nvSpPr>
        <p:spPr>
          <a:xfrm>
            <a:off x="4658868" y="3575304"/>
            <a:ext cx="173736" cy="73152"/>
          </a:xfrm>
          <a:prstGeom prst="rect">
            <a:avLst/>
          </a:prstGeom>
          <a:solidFill>
            <a:srgbClr val="E1E3E8"/>
          </a:solidFill>
          <a:ln/>
        </p:spPr>
      </p:sp>
      <p:sp>
        <p:nvSpPr>
          <p:cNvPr id="35" name="Waffle 16"/>
          <p:cNvSpPr/>
          <p:nvPr/>
        </p:nvSpPr>
        <p:spPr>
          <a:xfrm>
            <a:off x="4873752" y="3575304"/>
            <a:ext cx="173736" cy="73152"/>
          </a:xfrm>
          <a:prstGeom prst="rect">
            <a:avLst/>
          </a:prstGeom>
          <a:solidFill>
            <a:srgbClr val="E1E3E8"/>
          </a:solidFill>
          <a:ln/>
        </p:spPr>
      </p:sp>
      <p:sp>
        <p:nvSpPr>
          <p:cNvPr id="36" name="Waffle 17"/>
          <p:cNvSpPr/>
          <p:nvPr/>
        </p:nvSpPr>
        <p:spPr>
          <a:xfrm>
            <a:off x="5088636" y="3575304"/>
            <a:ext cx="173736" cy="73152"/>
          </a:xfrm>
          <a:prstGeom prst="rect">
            <a:avLst/>
          </a:prstGeom>
          <a:solidFill>
            <a:srgbClr val="E1E3E8"/>
          </a:solidFill>
          <a:ln/>
        </p:spPr>
      </p:sp>
      <p:sp>
        <p:nvSpPr>
          <p:cNvPr id="37" name="Waffle 18"/>
          <p:cNvSpPr/>
          <p:nvPr/>
        </p:nvSpPr>
        <p:spPr>
          <a:xfrm>
            <a:off x="5303520" y="3575304"/>
            <a:ext cx="173736" cy="73152"/>
          </a:xfrm>
          <a:prstGeom prst="rect">
            <a:avLst/>
          </a:prstGeom>
          <a:solidFill>
            <a:srgbClr val="E1E3E8"/>
          </a:solidFill>
          <a:ln/>
        </p:spPr>
      </p:sp>
      <p:sp>
        <p:nvSpPr>
          <p:cNvPr id="38" name="Waffle 19"/>
          <p:cNvSpPr/>
          <p:nvPr/>
        </p:nvSpPr>
        <p:spPr>
          <a:xfrm>
            <a:off x="5518404" y="3575304"/>
            <a:ext cx="173736" cy="73152"/>
          </a:xfrm>
          <a:prstGeom prst="rect">
            <a:avLst/>
          </a:prstGeom>
          <a:solidFill>
            <a:srgbClr val="E1E3E8"/>
          </a:solidFill>
          <a:ln/>
        </p:spPr>
      </p:sp>
      <p:sp>
        <p:nvSpPr>
          <p:cNvPr id="39" name="Waffle 20"/>
          <p:cNvSpPr/>
          <p:nvPr/>
        </p:nvSpPr>
        <p:spPr>
          <a:xfrm>
            <a:off x="3584448" y="3675888"/>
            <a:ext cx="173736" cy="73152"/>
          </a:xfrm>
          <a:prstGeom prst="rect">
            <a:avLst/>
          </a:prstGeom>
          <a:solidFill>
            <a:srgbClr val="E1E3E8"/>
          </a:solidFill>
          <a:ln/>
        </p:spPr>
      </p:sp>
      <p:sp>
        <p:nvSpPr>
          <p:cNvPr id="40" name="Waffle 21"/>
          <p:cNvSpPr/>
          <p:nvPr/>
        </p:nvSpPr>
        <p:spPr>
          <a:xfrm>
            <a:off x="3799332" y="3675888"/>
            <a:ext cx="173736" cy="73152"/>
          </a:xfrm>
          <a:prstGeom prst="rect">
            <a:avLst/>
          </a:prstGeom>
          <a:solidFill>
            <a:srgbClr val="E1E3E8"/>
          </a:solidFill>
          <a:ln/>
        </p:spPr>
      </p:sp>
      <p:sp>
        <p:nvSpPr>
          <p:cNvPr id="41" name="Waffle 22"/>
          <p:cNvSpPr/>
          <p:nvPr/>
        </p:nvSpPr>
        <p:spPr>
          <a:xfrm>
            <a:off x="4014216" y="3675888"/>
            <a:ext cx="173736" cy="73152"/>
          </a:xfrm>
          <a:prstGeom prst="rect">
            <a:avLst/>
          </a:prstGeom>
          <a:solidFill>
            <a:srgbClr val="E1E3E8"/>
          </a:solidFill>
          <a:ln/>
        </p:spPr>
      </p:sp>
      <p:sp>
        <p:nvSpPr>
          <p:cNvPr id="42" name="Waffle 23"/>
          <p:cNvSpPr/>
          <p:nvPr/>
        </p:nvSpPr>
        <p:spPr>
          <a:xfrm>
            <a:off x="4229100" y="3675888"/>
            <a:ext cx="173736" cy="73152"/>
          </a:xfrm>
          <a:prstGeom prst="rect">
            <a:avLst/>
          </a:prstGeom>
          <a:solidFill>
            <a:srgbClr val="E1E3E8"/>
          </a:solidFill>
          <a:ln/>
        </p:spPr>
      </p:sp>
      <p:sp>
        <p:nvSpPr>
          <p:cNvPr id="43" name="Waffle 24"/>
          <p:cNvSpPr/>
          <p:nvPr/>
        </p:nvSpPr>
        <p:spPr>
          <a:xfrm>
            <a:off x="4443984" y="3675888"/>
            <a:ext cx="173736" cy="73152"/>
          </a:xfrm>
          <a:prstGeom prst="rect">
            <a:avLst/>
          </a:prstGeom>
          <a:solidFill>
            <a:srgbClr val="E1E3E8"/>
          </a:solidFill>
          <a:ln/>
        </p:spPr>
      </p:sp>
      <p:sp>
        <p:nvSpPr>
          <p:cNvPr id="44" name="Waffle 25"/>
          <p:cNvSpPr/>
          <p:nvPr/>
        </p:nvSpPr>
        <p:spPr>
          <a:xfrm>
            <a:off x="4658868" y="3675888"/>
            <a:ext cx="173736" cy="73152"/>
          </a:xfrm>
          <a:prstGeom prst="rect">
            <a:avLst/>
          </a:prstGeom>
          <a:solidFill>
            <a:srgbClr val="E1E3E8"/>
          </a:solidFill>
          <a:ln/>
        </p:spPr>
      </p:sp>
      <p:sp>
        <p:nvSpPr>
          <p:cNvPr id="45" name="Waffle 26"/>
          <p:cNvSpPr/>
          <p:nvPr/>
        </p:nvSpPr>
        <p:spPr>
          <a:xfrm>
            <a:off x="4873752" y="3675888"/>
            <a:ext cx="173736" cy="73152"/>
          </a:xfrm>
          <a:prstGeom prst="rect">
            <a:avLst/>
          </a:prstGeom>
          <a:solidFill>
            <a:srgbClr val="E1E3E8"/>
          </a:solidFill>
          <a:ln/>
        </p:spPr>
      </p:sp>
      <p:sp>
        <p:nvSpPr>
          <p:cNvPr id="46" name="Waffle 27"/>
          <p:cNvSpPr/>
          <p:nvPr/>
        </p:nvSpPr>
        <p:spPr>
          <a:xfrm>
            <a:off x="5088636" y="3675888"/>
            <a:ext cx="173736" cy="73152"/>
          </a:xfrm>
          <a:prstGeom prst="rect">
            <a:avLst/>
          </a:prstGeom>
          <a:solidFill>
            <a:srgbClr val="E1E3E8"/>
          </a:solidFill>
          <a:ln/>
        </p:spPr>
      </p:sp>
      <p:sp>
        <p:nvSpPr>
          <p:cNvPr id="47" name="Waffle 28"/>
          <p:cNvSpPr/>
          <p:nvPr/>
        </p:nvSpPr>
        <p:spPr>
          <a:xfrm>
            <a:off x="5303520" y="3675888"/>
            <a:ext cx="173736" cy="73152"/>
          </a:xfrm>
          <a:prstGeom prst="rect">
            <a:avLst/>
          </a:prstGeom>
          <a:solidFill>
            <a:srgbClr val="E1E3E8"/>
          </a:solidFill>
          <a:ln/>
        </p:spPr>
      </p:sp>
      <p:sp>
        <p:nvSpPr>
          <p:cNvPr id="48" name="Waffle 29"/>
          <p:cNvSpPr/>
          <p:nvPr/>
        </p:nvSpPr>
        <p:spPr>
          <a:xfrm>
            <a:off x="5518404" y="3675888"/>
            <a:ext cx="173736" cy="73152"/>
          </a:xfrm>
          <a:prstGeom prst="rect">
            <a:avLst/>
          </a:prstGeom>
          <a:solidFill>
            <a:srgbClr val="E1E3E8"/>
          </a:solidFill>
          <a:ln/>
        </p:spPr>
      </p:sp>
      <p:sp>
        <p:nvSpPr>
          <p:cNvPr id="49" name="Waffle 30"/>
          <p:cNvSpPr/>
          <p:nvPr/>
        </p:nvSpPr>
        <p:spPr>
          <a:xfrm>
            <a:off x="3584448" y="3776472"/>
            <a:ext cx="173736" cy="73152"/>
          </a:xfrm>
          <a:prstGeom prst="rect">
            <a:avLst/>
          </a:prstGeom>
          <a:solidFill>
            <a:srgbClr val="E1E3E8"/>
          </a:solidFill>
          <a:ln/>
        </p:spPr>
      </p:sp>
      <p:sp>
        <p:nvSpPr>
          <p:cNvPr id="50" name="Waffle 31"/>
          <p:cNvSpPr/>
          <p:nvPr/>
        </p:nvSpPr>
        <p:spPr>
          <a:xfrm>
            <a:off x="3799332" y="3776472"/>
            <a:ext cx="173736" cy="73152"/>
          </a:xfrm>
          <a:prstGeom prst="rect">
            <a:avLst/>
          </a:prstGeom>
          <a:solidFill>
            <a:srgbClr val="E1E3E8"/>
          </a:solidFill>
          <a:ln/>
        </p:spPr>
      </p:sp>
      <p:sp>
        <p:nvSpPr>
          <p:cNvPr id="51" name="Waffle 32"/>
          <p:cNvSpPr/>
          <p:nvPr/>
        </p:nvSpPr>
        <p:spPr>
          <a:xfrm>
            <a:off x="4014216" y="3776472"/>
            <a:ext cx="173736" cy="73152"/>
          </a:xfrm>
          <a:prstGeom prst="rect">
            <a:avLst/>
          </a:prstGeom>
          <a:solidFill>
            <a:srgbClr val="E1E3E8"/>
          </a:solidFill>
          <a:ln/>
        </p:spPr>
      </p:sp>
      <p:sp>
        <p:nvSpPr>
          <p:cNvPr id="52" name="Waffle 33"/>
          <p:cNvSpPr/>
          <p:nvPr/>
        </p:nvSpPr>
        <p:spPr>
          <a:xfrm>
            <a:off x="4229100" y="3776472"/>
            <a:ext cx="173736" cy="73152"/>
          </a:xfrm>
          <a:prstGeom prst="rect">
            <a:avLst/>
          </a:prstGeom>
          <a:solidFill>
            <a:srgbClr val="E1E3E8"/>
          </a:solidFill>
          <a:ln/>
        </p:spPr>
      </p:sp>
      <p:sp>
        <p:nvSpPr>
          <p:cNvPr id="53" name="Waffle 34"/>
          <p:cNvSpPr/>
          <p:nvPr/>
        </p:nvSpPr>
        <p:spPr>
          <a:xfrm>
            <a:off x="4443984" y="3776472"/>
            <a:ext cx="173736" cy="73152"/>
          </a:xfrm>
          <a:prstGeom prst="rect">
            <a:avLst/>
          </a:prstGeom>
          <a:solidFill>
            <a:srgbClr val="E1E3E8"/>
          </a:solidFill>
          <a:ln/>
        </p:spPr>
      </p:sp>
      <p:sp>
        <p:nvSpPr>
          <p:cNvPr id="54" name="Waffle 35"/>
          <p:cNvSpPr/>
          <p:nvPr/>
        </p:nvSpPr>
        <p:spPr>
          <a:xfrm>
            <a:off x="4658868" y="3776472"/>
            <a:ext cx="173736" cy="73152"/>
          </a:xfrm>
          <a:prstGeom prst="rect">
            <a:avLst/>
          </a:prstGeom>
          <a:solidFill>
            <a:srgbClr val="E1E3E8"/>
          </a:solidFill>
          <a:ln/>
        </p:spPr>
      </p:sp>
      <p:sp>
        <p:nvSpPr>
          <p:cNvPr id="55" name="Waffle 36"/>
          <p:cNvSpPr/>
          <p:nvPr/>
        </p:nvSpPr>
        <p:spPr>
          <a:xfrm>
            <a:off x="4873752" y="3776472"/>
            <a:ext cx="173736" cy="73152"/>
          </a:xfrm>
          <a:prstGeom prst="rect">
            <a:avLst/>
          </a:prstGeom>
          <a:solidFill>
            <a:srgbClr val="E1E3E8"/>
          </a:solidFill>
          <a:ln/>
        </p:spPr>
      </p:sp>
      <p:sp>
        <p:nvSpPr>
          <p:cNvPr id="56" name="Waffle 37"/>
          <p:cNvSpPr/>
          <p:nvPr/>
        </p:nvSpPr>
        <p:spPr>
          <a:xfrm>
            <a:off x="5088636" y="3776472"/>
            <a:ext cx="173736" cy="73152"/>
          </a:xfrm>
          <a:prstGeom prst="rect">
            <a:avLst/>
          </a:prstGeom>
          <a:solidFill>
            <a:srgbClr val="E1E3E8"/>
          </a:solidFill>
          <a:ln/>
        </p:spPr>
      </p:sp>
      <p:sp>
        <p:nvSpPr>
          <p:cNvPr id="57" name="Waffle 38"/>
          <p:cNvSpPr/>
          <p:nvPr/>
        </p:nvSpPr>
        <p:spPr>
          <a:xfrm>
            <a:off x="5303520" y="3776472"/>
            <a:ext cx="173736" cy="73152"/>
          </a:xfrm>
          <a:prstGeom prst="rect">
            <a:avLst/>
          </a:prstGeom>
          <a:solidFill>
            <a:srgbClr val="E1E3E8"/>
          </a:solidFill>
          <a:ln/>
        </p:spPr>
      </p:sp>
      <p:sp>
        <p:nvSpPr>
          <p:cNvPr id="58" name="Waffle 39"/>
          <p:cNvSpPr/>
          <p:nvPr/>
        </p:nvSpPr>
        <p:spPr>
          <a:xfrm>
            <a:off x="5518404" y="3776472"/>
            <a:ext cx="173736" cy="73152"/>
          </a:xfrm>
          <a:prstGeom prst="rect">
            <a:avLst/>
          </a:prstGeom>
          <a:solidFill>
            <a:srgbClr val="E1E3E8"/>
          </a:solidFill>
          <a:ln/>
        </p:spPr>
      </p:sp>
      <p:sp>
        <p:nvSpPr>
          <p:cNvPr id="59" name="Waffle 40"/>
          <p:cNvSpPr/>
          <p:nvPr/>
        </p:nvSpPr>
        <p:spPr>
          <a:xfrm>
            <a:off x="3584448" y="3877056"/>
            <a:ext cx="173736" cy="73152"/>
          </a:xfrm>
          <a:prstGeom prst="rect">
            <a:avLst/>
          </a:prstGeom>
          <a:solidFill>
            <a:srgbClr val="E1E3E8"/>
          </a:solidFill>
          <a:ln/>
        </p:spPr>
      </p:sp>
      <p:sp>
        <p:nvSpPr>
          <p:cNvPr id="60" name="Waffle 41"/>
          <p:cNvSpPr/>
          <p:nvPr/>
        </p:nvSpPr>
        <p:spPr>
          <a:xfrm>
            <a:off x="3799332" y="3877056"/>
            <a:ext cx="173736" cy="73152"/>
          </a:xfrm>
          <a:prstGeom prst="rect">
            <a:avLst/>
          </a:prstGeom>
          <a:solidFill>
            <a:srgbClr val="E1E3E8"/>
          </a:solidFill>
          <a:ln/>
        </p:spPr>
      </p:sp>
      <p:sp>
        <p:nvSpPr>
          <p:cNvPr id="61" name="Waffle 42"/>
          <p:cNvSpPr/>
          <p:nvPr/>
        </p:nvSpPr>
        <p:spPr>
          <a:xfrm>
            <a:off x="4014216" y="3877056"/>
            <a:ext cx="173736" cy="73152"/>
          </a:xfrm>
          <a:prstGeom prst="rect">
            <a:avLst/>
          </a:prstGeom>
          <a:solidFill>
            <a:srgbClr val="E1E3E8"/>
          </a:solidFill>
          <a:ln/>
        </p:spPr>
      </p:sp>
      <p:sp>
        <p:nvSpPr>
          <p:cNvPr id="62" name="Waffle 43"/>
          <p:cNvSpPr/>
          <p:nvPr/>
        </p:nvSpPr>
        <p:spPr>
          <a:xfrm>
            <a:off x="4229100" y="3877056"/>
            <a:ext cx="173736" cy="73152"/>
          </a:xfrm>
          <a:prstGeom prst="rect">
            <a:avLst/>
          </a:prstGeom>
          <a:solidFill>
            <a:srgbClr val="E1E3E8"/>
          </a:solidFill>
          <a:ln/>
        </p:spPr>
      </p:sp>
      <p:sp>
        <p:nvSpPr>
          <p:cNvPr id="63" name="Waffle 44"/>
          <p:cNvSpPr/>
          <p:nvPr/>
        </p:nvSpPr>
        <p:spPr>
          <a:xfrm>
            <a:off x="4443984" y="3877056"/>
            <a:ext cx="173736" cy="73152"/>
          </a:xfrm>
          <a:prstGeom prst="rect">
            <a:avLst/>
          </a:prstGeom>
          <a:solidFill>
            <a:srgbClr val="E1E3E8"/>
          </a:solidFill>
          <a:ln/>
        </p:spPr>
      </p:sp>
      <p:sp>
        <p:nvSpPr>
          <p:cNvPr id="64" name="Waffle 45"/>
          <p:cNvSpPr/>
          <p:nvPr/>
        </p:nvSpPr>
        <p:spPr>
          <a:xfrm>
            <a:off x="4658868" y="3877056"/>
            <a:ext cx="173736" cy="73152"/>
          </a:xfrm>
          <a:prstGeom prst="rect">
            <a:avLst/>
          </a:prstGeom>
          <a:solidFill>
            <a:srgbClr val="E1E3E8"/>
          </a:solidFill>
          <a:ln/>
        </p:spPr>
      </p:sp>
      <p:sp>
        <p:nvSpPr>
          <p:cNvPr id="65" name="Waffle 46"/>
          <p:cNvSpPr/>
          <p:nvPr/>
        </p:nvSpPr>
        <p:spPr>
          <a:xfrm>
            <a:off x="4873752" y="3877056"/>
            <a:ext cx="173736" cy="73152"/>
          </a:xfrm>
          <a:prstGeom prst="rect">
            <a:avLst/>
          </a:prstGeom>
          <a:solidFill>
            <a:srgbClr val="E1E3E8"/>
          </a:solidFill>
          <a:ln/>
        </p:spPr>
      </p:sp>
      <p:sp>
        <p:nvSpPr>
          <p:cNvPr id="66" name="Waffle 47"/>
          <p:cNvSpPr/>
          <p:nvPr/>
        </p:nvSpPr>
        <p:spPr>
          <a:xfrm>
            <a:off x="5088636" y="3877056"/>
            <a:ext cx="173736" cy="73152"/>
          </a:xfrm>
          <a:prstGeom prst="rect">
            <a:avLst/>
          </a:prstGeom>
          <a:solidFill>
            <a:srgbClr val="E1E3E8"/>
          </a:solidFill>
          <a:ln/>
        </p:spPr>
      </p:sp>
      <p:sp>
        <p:nvSpPr>
          <p:cNvPr id="67" name="Waffle 48"/>
          <p:cNvSpPr/>
          <p:nvPr/>
        </p:nvSpPr>
        <p:spPr>
          <a:xfrm>
            <a:off x="5303520" y="3877056"/>
            <a:ext cx="173736" cy="73152"/>
          </a:xfrm>
          <a:prstGeom prst="rect">
            <a:avLst/>
          </a:prstGeom>
          <a:solidFill>
            <a:srgbClr val="E1E3E8"/>
          </a:solidFill>
          <a:ln/>
        </p:spPr>
      </p:sp>
      <p:sp>
        <p:nvSpPr>
          <p:cNvPr id="68" name="Waffle 49"/>
          <p:cNvSpPr/>
          <p:nvPr/>
        </p:nvSpPr>
        <p:spPr>
          <a:xfrm>
            <a:off x="5518404" y="3877056"/>
            <a:ext cx="173736" cy="73152"/>
          </a:xfrm>
          <a:prstGeom prst="rect">
            <a:avLst/>
          </a:prstGeom>
          <a:solidFill>
            <a:srgbClr val="E1E3E8"/>
          </a:solidFill>
          <a:ln/>
        </p:spPr>
      </p:sp>
      <p:sp>
        <p:nvSpPr>
          <p:cNvPr id="69" name="Waffle 50"/>
          <p:cNvSpPr/>
          <p:nvPr/>
        </p:nvSpPr>
        <p:spPr>
          <a:xfrm>
            <a:off x="3584448" y="3977640"/>
            <a:ext cx="173736" cy="73152"/>
          </a:xfrm>
          <a:prstGeom prst="rect">
            <a:avLst/>
          </a:prstGeom>
          <a:solidFill>
            <a:srgbClr val="E1E3E8"/>
          </a:solidFill>
          <a:ln/>
        </p:spPr>
      </p:sp>
      <p:sp>
        <p:nvSpPr>
          <p:cNvPr id="70" name="Waffle 51"/>
          <p:cNvSpPr/>
          <p:nvPr/>
        </p:nvSpPr>
        <p:spPr>
          <a:xfrm>
            <a:off x="3799332" y="3977640"/>
            <a:ext cx="173736" cy="73152"/>
          </a:xfrm>
          <a:prstGeom prst="rect">
            <a:avLst/>
          </a:prstGeom>
          <a:solidFill>
            <a:srgbClr val="E1E3E8"/>
          </a:solidFill>
          <a:ln/>
        </p:spPr>
      </p:sp>
      <p:sp>
        <p:nvSpPr>
          <p:cNvPr id="71" name="Waffle 52"/>
          <p:cNvSpPr/>
          <p:nvPr/>
        </p:nvSpPr>
        <p:spPr>
          <a:xfrm>
            <a:off x="4014216" y="3977640"/>
            <a:ext cx="173736" cy="73152"/>
          </a:xfrm>
          <a:prstGeom prst="rect">
            <a:avLst/>
          </a:prstGeom>
          <a:solidFill>
            <a:srgbClr val="E1E3E8"/>
          </a:solidFill>
          <a:ln/>
        </p:spPr>
      </p:sp>
      <p:sp>
        <p:nvSpPr>
          <p:cNvPr id="72" name="Waffle 53"/>
          <p:cNvSpPr/>
          <p:nvPr/>
        </p:nvSpPr>
        <p:spPr>
          <a:xfrm>
            <a:off x="4229100" y="3977640"/>
            <a:ext cx="173736" cy="73152"/>
          </a:xfrm>
          <a:prstGeom prst="rect">
            <a:avLst/>
          </a:prstGeom>
          <a:solidFill>
            <a:srgbClr val="E1E3E8"/>
          </a:solidFill>
          <a:ln/>
        </p:spPr>
      </p:sp>
      <p:sp>
        <p:nvSpPr>
          <p:cNvPr id="73" name="Waffle 54"/>
          <p:cNvSpPr/>
          <p:nvPr/>
        </p:nvSpPr>
        <p:spPr>
          <a:xfrm>
            <a:off x="4443984" y="3977640"/>
            <a:ext cx="173736" cy="73152"/>
          </a:xfrm>
          <a:prstGeom prst="rect">
            <a:avLst/>
          </a:prstGeom>
          <a:solidFill>
            <a:srgbClr val="E1E3E8"/>
          </a:solidFill>
          <a:ln/>
        </p:spPr>
      </p:sp>
      <p:sp>
        <p:nvSpPr>
          <p:cNvPr id="74" name="Waffle 55"/>
          <p:cNvSpPr/>
          <p:nvPr/>
        </p:nvSpPr>
        <p:spPr>
          <a:xfrm>
            <a:off x="4658868" y="3977640"/>
            <a:ext cx="173736" cy="73152"/>
          </a:xfrm>
          <a:prstGeom prst="rect">
            <a:avLst/>
          </a:prstGeom>
          <a:solidFill>
            <a:srgbClr val="E1E3E8"/>
          </a:solidFill>
          <a:ln/>
        </p:spPr>
      </p:sp>
      <p:sp>
        <p:nvSpPr>
          <p:cNvPr id="75" name="Waffle 56"/>
          <p:cNvSpPr/>
          <p:nvPr/>
        </p:nvSpPr>
        <p:spPr>
          <a:xfrm>
            <a:off x="4873752" y="3977640"/>
            <a:ext cx="173736" cy="73152"/>
          </a:xfrm>
          <a:prstGeom prst="rect">
            <a:avLst/>
          </a:prstGeom>
          <a:solidFill>
            <a:srgbClr val="E1E3E8"/>
          </a:solidFill>
          <a:ln/>
        </p:spPr>
      </p:sp>
      <p:sp>
        <p:nvSpPr>
          <p:cNvPr id="76" name="Waffle 57"/>
          <p:cNvSpPr/>
          <p:nvPr/>
        </p:nvSpPr>
        <p:spPr>
          <a:xfrm>
            <a:off x="5088636" y="3977640"/>
            <a:ext cx="173736" cy="73152"/>
          </a:xfrm>
          <a:prstGeom prst="rect">
            <a:avLst/>
          </a:prstGeom>
          <a:solidFill>
            <a:srgbClr val="E1E3E8"/>
          </a:solidFill>
          <a:ln/>
        </p:spPr>
      </p:sp>
      <p:sp>
        <p:nvSpPr>
          <p:cNvPr id="77" name="Waffle 58"/>
          <p:cNvSpPr/>
          <p:nvPr/>
        </p:nvSpPr>
        <p:spPr>
          <a:xfrm>
            <a:off x="5303520" y="3977640"/>
            <a:ext cx="173736" cy="73152"/>
          </a:xfrm>
          <a:prstGeom prst="rect">
            <a:avLst/>
          </a:prstGeom>
          <a:solidFill>
            <a:srgbClr val="E1E3E8"/>
          </a:solidFill>
          <a:ln/>
        </p:spPr>
      </p:sp>
      <p:sp>
        <p:nvSpPr>
          <p:cNvPr id="78" name="Waffle 59"/>
          <p:cNvSpPr/>
          <p:nvPr/>
        </p:nvSpPr>
        <p:spPr>
          <a:xfrm>
            <a:off x="5518404" y="3977640"/>
            <a:ext cx="173736" cy="73152"/>
          </a:xfrm>
          <a:prstGeom prst="rect">
            <a:avLst/>
          </a:prstGeom>
          <a:solidFill>
            <a:srgbClr val="E1E3E8"/>
          </a:solidFill>
          <a:ln/>
        </p:spPr>
      </p:sp>
      <p:sp>
        <p:nvSpPr>
          <p:cNvPr id="79" name="Waffle 60"/>
          <p:cNvSpPr/>
          <p:nvPr/>
        </p:nvSpPr>
        <p:spPr>
          <a:xfrm>
            <a:off x="3584448" y="4078224"/>
            <a:ext cx="173736" cy="73152"/>
          </a:xfrm>
          <a:prstGeom prst="rect">
            <a:avLst/>
          </a:prstGeom>
          <a:solidFill>
            <a:srgbClr val="E1E3E8"/>
          </a:solidFill>
          <a:ln/>
        </p:spPr>
      </p:sp>
      <p:sp>
        <p:nvSpPr>
          <p:cNvPr id="80" name="Waffle 61"/>
          <p:cNvSpPr/>
          <p:nvPr/>
        </p:nvSpPr>
        <p:spPr>
          <a:xfrm>
            <a:off x="3799332" y="4078224"/>
            <a:ext cx="173736" cy="73152"/>
          </a:xfrm>
          <a:prstGeom prst="rect">
            <a:avLst/>
          </a:prstGeom>
          <a:solidFill>
            <a:srgbClr val="E1E3E8"/>
          </a:solidFill>
          <a:ln/>
        </p:spPr>
      </p:sp>
      <p:sp>
        <p:nvSpPr>
          <p:cNvPr id="81" name="Waffle 62"/>
          <p:cNvSpPr/>
          <p:nvPr/>
        </p:nvSpPr>
        <p:spPr>
          <a:xfrm>
            <a:off x="4014216" y="4078224"/>
            <a:ext cx="173736" cy="73152"/>
          </a:xfrm>
          <a:prstGeom prst="rect">
            <a:avLst/>
          </a:prstGeom>
          <a:solidFill>
            <a:srgbClr val="E1E3E8"/>
          </a:solidFill>
          <a:ln/>
        </p:spPr>
      </p:sp>
      <p:sp>
        <p:nvSpPr>
          <p:cNvPr id="82" name="Waffle 63"/>
          <p:cNvSpPr/>
          <p:nvPr/>
        </p:nvSpPr>
        <p:spPr>
          <a:xfrm>
            <a:off x="4229100" y="4078224"/>
            <a:ext cx="173736" cy="73152"/>
          </a:xfrm>
          <a:prstGeom prst="rect">
            <a:avLst/>
          </a:prstGeom>
          <a:solidFill>
            <a:srgbClr val="E1E3E8"/>
          </a:solidFill>
          <a:ln/>
        </p:spPr>
      </p:sp>
      <p:sp>
        <p:nvSpPr>
          <p:cNvPr id="83" name="Waffle 64"/>
          <p:cNvSpPr/>
          <p:nvPr/>
        </p:nvSpPr>
        <p:spPr>
          <a:xfrm>
            <a:off x="4443984" y="4078224"/>
            <a:ext cx="173736" cy="73152"/>
          </a:xfrm>
          <a:prstGeom prst="rect">
            <a:avLst/>
          </a:prstGeom>
          <a:solidFill>
            <a:srgbClr val="E1E3E8"/>
          </a:solidFill>
          <a:ln/>
        </p:spPr>
      </p:sp>
      <p:sp>
        <p:nvSpPr>
          <p:cNvPr id="84" name="Waffle 65"/>
          <p:cNvSpPr/>
          <p:nvPr/>
        </p:nvSpPr>
        <p:spPr>
          <a:xfrm>
            <a:off x="4658868" y="4078224"/>
            <a:ext cx="173736" cy="73152"/>
          </a:xfrm>
          <a:prstGeom prst="rect">
            <a:avLst/>
          </a:prstGeom>
          <a:solidFill>
            <a:srgbClr val="E1E3E8"/>
          </a:solidFill>
          <a:ln/>
        </p:spPr>
      </p:sp>
      <p:sp>
        <p:nvSpPr>
          <p:cNvPr id="85" name="Waffle 66"/>
          <p:cNvSpPr/>
          <p:nvPr/>
        </p:nvSpPr>
        <p:spPr>
          <a:xfrm>
            <a:off x="4873752" y="4078224"/>
            <a:ext cx="173736" cy="73152"/>
          </a:xfrm>
          <a:prstGeom prst="rect">
            <a:avLst/>
          </a:prstGeom>
          <a:solidFill>
            <a:srgbClr val="E1E3E8"/>
          </a:solidFill>
          <a:ln/>
        </p:spPr>
      </p:sp>
      <p:sp>
        <p:nvSpPr>
          <p:cNvPr id="86" name="Waffle 67"/>
          <p:cNvSpPr/>
          <p:nvPr/>
        </p:nvSpPr>
        <p:spPr>
          <a:xfrm>
            <a:off x="5088636" y="4078224"/>
            <a:ext cx="173736" cy="73152"/>
          </a:xfrm>
          <a:prstGeom prst="rect">
            <a:avLst/>
          </a:prstGeom>
          <a:solidFill>
            <a:srgbClr val="E1E3E8"/>
          </a:solidFill>
          <a:ln/>
        </p:spPr>
      </p:sp>
      <p:sp>
        <p:nvSpPr>
          <p:cNvPr id="87" name="Waffle 68"/>
          <p:cNvSpPr/>
          <p:nvPr/>
        </p:nvSpPr>
        <p:spPr>
          <a:xfrm>
            <a:off x="5303520" y="4078224"/>
            <a:ext cx="173736" cy="73152"/>
          </a:xfrm>
          <a:prstGeom prst="rect">
            <a:avLst/>
          </a:prstGeom>
          <a:solidFill>
            <a:srgbClr val="E1E3E8"/>
          </a:solidFill>
          <a:ln/>
        </p:spPr>
      </p:sp>
      <p:sp>
        <p:nvSpPr>
          <p:cNvPr id="88" name="Waffle 69"/>
          <p:cNvSpPr/>
          <p:nvPr/>
        </p:nvSpPr>
        <p:spPr>
          <a:xfrm>
            <a:off x="5518404" y="4078224"/>
            <a:ext cx="173736" cy="73152"/>
          </a:xfrm>
          <a:prstGeom prst="rect">
            <a:avLst/>
          </a:prstGeom>
          <a:solidFill>
            <a:srgbClr val="E1E3E8"/>
          </a:solidFill>
          <a:ln/>
        </p:spPr>
      </p:sp>
      <p:sp>
        <p:nvSpPr>
          <p:cNvPr id="89" name="Waffle 70"/>
          <p:cNvSpPr/>
          <p:nvPr/>
        </p:nvSpPr>
        <p:spPr>
          <a:xfrm>
            <a:off x="3584448" y="4178808"/>
            <a:ext cx="173736" cy="73152"/>
          </a:xfrm>
          <a:prstGeom prst="rect">
            <a:avLst/>
          </a:prstGeom>
          <a:solidFill>
            <a:srgbClr val="E1E3E8"/>
          </a:solidFill>
          <a:ln/>
        </p:spPr>
      </p:sp>
      <p:sp>
        <p:nvSpPr>
          <p:cNvPr id="90" name="Waffle 71"/>
          <p:cNvSpPr/>
          <p:nvPr/>
        </p:nvSpPr>
        <p:spPr>
          <a:xfrm>
            <a:off x="3799332" y="4178808"/>
            <a:ext cx="173736" cy="73152"/>
          </a:xfrm>
          <a:prstGeom prst="rect">
            <a:avLst/>
          </a:prstGeom>
          <a:solidFill>
            <a:srgbClr val="E1E3E8"/>
          </a:solidFill>
          <a:ln/>
        </p:spPr>
      </p:sp>
      <p:sp>
        <p:nvSpPr>
          <p:cNvPr id="91" name="Waffle 72"/>
          <p:cNvSpPr/>
          <p:nvPr/>
        </p:nvSpPr>
        <p:spPr>
          <a:xfrm>
            <a:off x="4014216" y="4178808"/>
            <a:ext cx="173736" cy="73152"/>
          </a:xfrm>
          <a:prstGeom prst="rect">
            <a:avLst/>
          </a:prstGeom>
          <a:solidFill>
            <a:srgbClr val="E1E3E8"/>
          </a:solidFill>
          <a:ln/>
        </p:spPr>
      </p:sp>
      <p:sp>
        <p:nvSpPr>
          <p:cNvPr id="92" name="Waffle 73"/>
          <p:cNvSpPr/>
          <p:nvPr/>
        </p:nvSpPr>
        <p:spPr>
          <a:xfrm>
            <a:off x="4229100" y="4178808"/>
            <a:ext cx="173736" cy="73152"/>
          </a:xfrm>
          <a:prstGeom prst="rect">
            <a:avLst/>
          </a:prstGeom>
          <a:solidFill>
            <a:srgbClr val="E1E3E8"/>
          </a:solidFill>
          <a:ln/>
        </p:spPr>
      </p:sp>
      <p:sp>
        <p:nvSpPr>
          <p:cNvPr id="93" name="Waffle 74"/>
          <p:cNvSpPr/>
          <p:nvPr/>
        </p:nvSpPr>
        <p:spPr>
          <a:xfrm>
            <a:off x="4443984" y="4178808"/>
            <a:ext cx="173736" cy="73152"/>
          </a:xfrm>
          <a:prstGeom prst="rect">
            <a:avLst/>
          </a:prstGeom>
          <a:solidFill>
            <a:srgbClr val="F05A00"/>
          </a:solidFill>
          <a:ln/>
        </p:spPr>
      </p:sp>
      <p:sp>
        <p:nvSpPr>
          <p:cNvPr id="94" name="Waffle 75"/>
          <p:cNvSpPr/>
          <p:nvPr/>
        </p:nvSpPr>
        <p:spPr>
          <a:xfrm>
            <a:off x="4658868" y="4178808"/>
            <a:ext cx="173736" cy="73152"/>
          </a:xfrm>
          <a:prstGeom prst="rect">
            <a:avLst/>
          </a:prstGeom>
          <a:solidFill>
            <a:srgbClr val="F05A00"/>
          </a:solidFill>
          <a:ln/>
        </p:spPr>
      </p:sp>
      <p:sp>
        <p:nvSpPr>
          <p:cNvPr id="95" name="Waffle 76"/>
          <p:cNvSpPr/>
          <p:nvPr/>
        </p:nvSpPr>
        <p:spPr>
          <a:xfrm>
            <a:off x="4873752" y="4178808"/>
            <a:ext cx="173736" cy="73152"/>
          </a:xfrm>
          <a:prstGeom prst="rect">
            <a:avLst/>
          </a:prstGeom>
          <a:solidFill>
            <a:srgbClr val="F05A00"/>
          </a:solidFill>
          <a:ln/>
        </p:spPr>
      </p:sp>
      <p:sp>
        <p:nvSpPr>
          <p:cNvPr id="96" name="Waffle 77"/>
          <p:cNvSpPr/>
          <p:nvPr/>
        </p:nvSpPr>
        <p:spPr>
          <a:xfrm>
            <a:off x="5088636" y="4178808"/>
            <a:ext cx="173736" cy="73152"/>
          </a:xfrm>
          <a:prstGeom prst="rect">
            <a:avLst/>
          </a:prstGeom>
          <a:solidFill>
            <a:srgbClr val="F05A00"/>
          </a:solidFill>
          <a:ln/>
        </p:spPr>
      </p:sp>
      <p:sp>
        <p:nvSpPr>
          <p:cNvPr id="97" name="Waffle 78"/>
          <p:cNvSpPr/>
          <p:nvPr/>
        </p:nvSpPr>
        <p:spPr>
          <a:xfrm>
            <a:off x="5303520" y="4178808"/>
            <a:ext cx="173736" cy="73152"/>
          </a:xfrm>
          <a:prstGeom prst="rect">
            <a:avLst/>
          </a:prstGeom>
          <a:solidFill>
            <a:srgbClr val="F05A00"/>
          </a:solidFill>
          <a:ln/>
        </p:spPr>
      </p:sp>
      <p:sp>
        <p:nvSpPr>
          <p:cNvPr id="98" name="Waffle 79"/>
          <p:cNvSpPr/>
          <p:nvPr/>
        </p:nvSpPr>
        <p:spPr>
          <a:xfrm>
            <a:off x="5518404" y="4178808"/>
            <a:ext cx="173736" cy="73152"/>
          </a:xfrm>
          <a:prstGeom prst="rect">
            <a:avLst/>
          </a:prstGeom>
          <a:solidFill>
            <a:srgbClr val="F05A00"/>
          </a:solidFill>
          <a:ln/>
        </p:spPr>
      </p:sp>
      <p:sp>
        <p:nvSpPr>
          <p:cNvPr id="99" name="Text 95"/>
          <p:cNvSpPr txBox="1"/>
          <p:nvPr/>
        </p:nvSpPr>
        <p:spPr>
          <a:xfrm>
            <a:off x="3584448" y="4389120"/>
            <a:ext cx="2286000" cy="1417320"/>
          </a:xfrm>
          <a:prstGeom prst="rect">
            <a:avLst/>
          </a:prstGeom>
          <a:noFill/>
          <a:ln/>
        </p:spPr>
        <p:txBody>
          <a:bodyPr wrap="square" lIns="0" tIns="0" rIns="0" bIns="0" rtlCol="0" anchor="t"/>
          <a:lstStyle/>
          <a:p>
            <a:pPr indent="0" marL="0">
              <a:buNone/>
            </a:pPr>
            <a:r>
              <a:rPr lang="en-US" sz="1400" dirty="0">
                <a:solidFill>
                  <a:srgbClr val="2A3144"/>
                </a:solidFill>
                <a:latin typeface="Arial" pitchFamily="34" charset="0"/>
                <a:ea typeface="Arial" pitchFamily="34" charset="-122"/>
                <a:cs typeface="Arial" pitchFamily="34" charset="-120"/>
              </a:rPr>
              <a:t>of orders nationwide; up to 20% in remote areas, 25–30% in sale season.</a:t>
            </a:r>
            <a:pPr indent="0" marL="0">
              <a:buNone/>
            </a:pPr>
            <a:r>
              <a:rPr lang="en-US" sz="1000" dirty="0">
                <a:solidFill>
                  <a:srgbClr val="6B7285"/>
                </a:solidFill>
                <a:latin typeface="Arial" pitchFamily="34" charset="0"/>
                <a:ea typeface="Arial" pitchFamily="34" charset="-122"/>
                <a:cs typeface="Arial" pitchFamily="34" charset="-120"/>
              </a:rPr>
              <a:t> [4]</a:t>
            </a:r>
            <a:endParaRPr lang="en-US" sz="1400" dirty="0"/>
          </a:p>
        </p:txBody>
      </p:sp>
      <p:sp>
        <p:nvSpPr>
          <p:cNvPr id="100" name="Card 3"/>
          <p:cNvSpPr/>
          <p:nvPr/>
        </p:nvSpPr>
        <p:spPr>
          <a:xfrm>
            <a:off x="6163056" y="2011680"/>
            <a:ext cx="2670048" cy="3931920"/>
          </a:xfrm>
          <a:prstGeom prst="roundRect">
            <a:avLst>
              <a:gd name="adj" fmla="val 4795"/>
            </a:avLst>
          </a:prstGeom>
          <a:solidFill>
            <a:srgbClr val="FFFFFF"/>
          </a:solidFill>
          <a:ln w="9525">
            <a:solidFill>
              <a:srgbClr val="E3E5EA"/>
            </a:solidFill>
            <a:prstDash val="solid"/>
          </a:ln>
        </p:spPr>
      </p:sp>
      <p:sp>
        <p:nvSpPr>
          <p:cNvPr id="101" name="Text 97"/>
          <p:cNvSpPr txBox="1"/>
          <p:nvPr/>
        </p:nvSpPr>
        <p:spPr>
          <a:xfrm>
            <a:off x="6391656" y="2267712"/>
            <a:ext cx="201168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DELIVERY WINDOWS</a:t>
            </a:r>
            <a:endParaRPr lang="en-US" sz="900" dirty="0"/>
          </a:p>
        </p:txBody>
      </p:sp>
      <p:sp>
        <p:nvSpPr>
          <p:cNvPr id="102" name="Icon tile"/>
          <p:cNvSpPr/>
          <p:nvPr/>
        </p:nvSpPr>
        <p:spPr>
          <a:xfrm>
            <a:off x="8284464" y="2194560"/>
            <a:ext cx="329184" cy="329184"/>
          </a:xfrm>
          <a:prstGeom prst="roundRect">
            <a:avLst>
              <a:gd name="adj" fmla="val 22222"/>
            </a:avLst>
          </a:prstGeom>
          <a:solidFill>
            <a:srgbClr val="F1F2F5"/>
          </a:solidFill>
          <a:ln/>
        </p:spPr>
      </p:sp>
      <p:pic>
        <p:nvPicPr>
          <p:cNvPr id="103" name="Icon" descr="/private/tmp/claude-503/-Users-davark-Downloads-Everything-Github-Alodi-Regional-Codex-Hackathon-2026/91e569a8-486f-4c0b-b683-a4991468f039/scratchpad/deck/assets/mark-bars-navy.png">    </p:cNvPr>
          <p:cNvPicPr>
            <a:picLocks noChangeAspect="1"/>
          </p:cNvPicPr>
          <p:nvPr/>
        </p:nvPicPr>
        <p:blipFill>
          <a:blip r:embed="rId3"/>
          <a:stretch>
            <a:fillRect/>
          </a:stretch>
        </p:blipFill>
        <p:spPr>
          <a:xfrm>
            <a:off x="8348472" y="2258568"/>
            <a:ext cx="201168" cy="201168"/>
          </a:xfrm>
          <a:prstGeom prst="rect">
            <a:avLst/>
          </a:prstGeom>
        </p:spPr>
      </p:pic>
      <p:sp>
        <p:nvSpPr>
          <p:cNvPr id="104" name="Text 99"/>
          <p:cNvSpPr txBox="1"/>
          <p:nvPr/>
        </p:nvSpPr>
        <p:spPr>
          <a:xfrm>
            <a:off x="6391656" y="2606040"/>
            <a:ext cx="2304288" cy="68580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0</a:t>
            </a:r>
            <a:endParaRPr lang="en-US" sz="3800" dirty="0"/>
          </a:p>
        </p:txBody>
      </p:sp>
      <p:sp>
        <p:nvSpPr>
          <p:cNvPr id="105" name="Slot 0"/>
          <p:cNvSpPr/>
          <p:nvPr/>
        </p:nvSpPr>
        <p:spPr>
          <a:xfrm>
            <a:off x="6391656" y="3566160"/>
            <a:ext cx="512064" cy="310896"/>
          </a:xfrm>
          <a:prstGeom prst="roundRect">
            <a:avLst>
              <a:gd name="adj" fmla="val 17647"/>
            </a:avLst>
          </a:prstGeom>
          <a:solidFill>
            <a:srgbClr val="FFFFFF"/>
          </a:solidFill>
          <a:ln w="9525">
            <a:solidFill>
              <a:srgbClr val="98A0B2"/>
            </a:solidFill>
            <a:prstDash val="dash"/>
          </a:ln>
        </p:spPr>
      </p:sp>
      <p:sp>
        <p:nvSpPr>
          <p:cNvPr id="106" name="Text 101"/>
          <p:cNvSpPr txBox="1"/>
          <p:nvPr/>
        </p:nvSpPr>
        <p:spPr>
          <a:xfrm>
            <a:off x="6391656" y="3566160"/>
            <a:ext cx="512064" cy="310896"/>
          </a:xfrm>
          <a:prstGeom prst="rect">
            <a:avLst/>
          </a:prstGeom>
          <a:noFill/>
          <a:ln/>
        </p:spPr>
        <p:txBody>
          <a:bodyPr wrap="square" lIns="0" tIns="0" rIns="0" bIns="0" rtlCol="0" anchor="ctr"/>
          <a:lstStyle/>
          <a:p>
            <a:pPr algn="ctr" indent="0" marL="0">
              <a:buNone/>
            </a:pPr>
            <a:r>
              <a:rPr lang="en-US" sz="850" dirty="0">
                <a:solidFill>
                  <a:srgbClr val="98A0B2"/>
                </a:solidFill>
                <a:latin typeface="Arial" pitchFamily="34" charset="0"/>
                <a:ea typeface="Arial" pitchFamily="34" charset="-122"/>
                <a:cs typeface="Arial" pitchFamily="34" charset="-120"/>
              </a:rPr>
              <a:t>08–10</a:t>
            </a:r>
            <a:endParaRPr lang="en-US" sz="850" dirty="0"/>
          </a:p>
        </p:txBody>
      </p:sp>
      <p:sp>
        <p:nvSpPr>
          <p:cNvPr id="107" name="Slot 1"/>
          <p:cNvSpPr/>
          <p:nvPr/>
        </p:nvSpPr>
        <p:spPr>
          <a:xfrm>
            <a:off x="6958584" y="3566160"/>
            <a:ext cx="512064" cy="310896"/>
          </a:xfrm>
          <a:prstGeom prst="roundRect">
            <a:avLst>
              <a:gd name="adj" fmla="val 17647"/>
            </a:avLst>
          </a:prstGeom>
          <a:solidFill>
            <a:srgbClr val="FFFFFF"/>
          </a:solidFill>
          <a:ln w="9525">
            <a:solidFill>
              <a:srgbClr val="98A0B2"/>
            </a:solidFill>
            <a:prstDash val="dash"/>
          </a:ln>
        </p:spPr>
      </p:sp>
      <p:sp>
        <p:nvSpPr>
          <p:cNvPr id="108" name="Text 103"/>
          <p:cNvSpPr txBox="1"/>
          <p:nvPr/>
        </p:nvSpPr>
        <p:spPr>
          <a:xfrm>
            <a:off x="6958584" y="3566160"/>
            <a:ext cx="512064" cy="310896"/>
          </a:xfrm>
          <a:prstGeom prst="rect">
            <a:avLst/>
          </a:prstGeom>
          <a:noFill/>
          <a:ln/>
        </p:spPr>
        <p:txBody>
          <a:bodyPr wrap="square" lIns="0" tIns="0" rIns="0" bIns="0" rtlCol="0" anchor="ctr"/>
          <a:lstStyle/>
          <a:p>
            <a:pPr algn="ctr" indent="0" marL="0">
              <a:buNone/>
            </a:pPr>
            <a:r>
              <a:rPr lang="en-US" sz="850" dirty="0">
                <a:solidFill>
                  <a:srgbClr val="98A0B2"/>
                </a:solidFill>
                <a:latin typeface="Arial" pitchFamily="34" charset="0"/>
                <a:ea typeface="Arial" pitchFamily="34" charset="-122"/>
                <a:cs typeface="Arial" pitchFamily="34" charset="-120"/>
              </a:rPr>
              <a:t>10–12</a:t>
            </a:r>
            <a:endParaRPr lang="en-US" sz="850" dirty="0"/>
          </a:p>
        </p:txBody>
      </p:sp>
      <p:sp>
        <p:nvSpPr>
          <p:cNvPr id="109" name="Slot 2"/>
          <p:cNvSpPr/>
          <p:nvPr/>
        </p:nvSpPr>
        <p:spPr>
          <a:xfrm>
            <a:off x="7525512" y="3566160"/>
            <a:ext cx="512064" cy="310896"/>
          </a:xfrm>
          <a:prstGeom prst="roundRect">
            <a:avLst>
              <a:gd name="adj" fmla="val 17647"/>
            </a:avLst>
          </a:prstGeom>
          <a:solidFill>
            <a:srgbClr val="FFFFFF"/>
          </a:solidFill>
          <a:ln w="9525">
            <a:solidFill>
              <a:srgbClr val="98A0B2"/>
            </a:solidFill>
            <a:prstDash val="dash"/>
          </a:ln>
        </p:spPr>
      </p:sp>
      <p:sp>
        <p:nvSpPr>
          <p:cNvPr id="110" name="Text 105"/>
          <p:cNvSpPr txBox="1"/>
          <p:nvPr/>
        </p:nvSpPr>
        <p:spPr>
          <a:xfrm>
            <a:off x="7525512" y="3566160"/>
            <a:ext cx="512064" cy="310896"/>
          </a:xfrm>
          <a:prstGeom prst="rect">
            <a:avLst/>
          </a:prstGeom>
          <a:noFill/>
          <a:ln/>
        </p:spPr>
        <p:txBody>
          <a:bodyPr wrap="square" lIns="0" tIns="0" rIns="0" bIns="0" rtlCol="0" anchor="ctr"/>
          <a:lstStyle/>
          <a:p>
            <a:pPr algn="ctr" indent="0" marL="0">
              <a:buNone/>
            </a:pPr>
            <a:r>
              <a:rPr lang="en-US" sz="850" dirty="0">
                <a:solidFill>
                  <a:srgbClr val="98A0B2"/>
                </a:solidFill>
                <a:latin typeface="Arial" pitchFamily="34" charset="0"/>
                <a:ea typeface="Arial" pitchFamily="34" charset="-122"/>
                <a:cs typeface="Arial" pitchFamily="34" charset="-120"/>
              </a:rPr>
              <a:t>14–17</a:t>
            </a:r>
            <a:endParaRPr lang="en-US" sz="850" dirty="0"/>
          </a:p>
        </p:txBody>
      </p:sp>
      <p:sp>
        <p:nvSpPr>
          <p:cNvPr id="111" name="Slot 3"/>
          <p:cNvSpPr/>
          <p:nvPr/>
        </p:nvSpPr>
        <p:spPr>
          <a:xfrm>
            <a:off x="8092440" y="3566160"/>
            <a:ext cx="512064" cy="310896"/>
          </a:xfrm>
          <a:prstGeom prst="roundRect">
            <a:avLst>
              <a:gd name="adj" fmla="val 17647"/>
            </a:avLst>
          </a:prstGeom>
          <a:solidFill>
            <a:srgbClr val="FFFFFF"/>
          </a:solidFill>
          <a:ln w="9525">
            <a:solidFill>
              <a:srgbClr val="98A0B2"/>
            </a:solidFill>
            <a:prstDash val="dash"/>
          </a:ln>
        </p:spPr>
      </p:sp>
      <p:sp>
        <p:nvSpPr>
          <p:cNvPr id="112" name="Text 107"/>
          <p:cNvSpPr txBox="1"/>
          <p:nvPr/>
        </p:nvSpPr>
        <p:spPr>
          <a:xfrm>
            <a:off x="8092440" y="3566160"/>
            <a:ext cx="512064" cy="310896"/>
          </a:xfrm>
          <a:prstGeom prst="rect">
            <a:avLst/>
          </a:prstGeom>
          <a:noFill/>
          <a:ln/>
        </p:spPr>
        <p:txBody>
          <a:bodyPr wrap="square" lIns="0" tIns="0" rIns="0" bIns="0" rtlCol="0" anchor="ctr"/>
          <a:lstStyle/>
          <a:p>
            <a:pPr algn="ctr" indent="0" marL="0">
              <a:buNone/>
            </a:pPr>
            <a:r>
              <a:rPr lang="en-US" sz="850" dirty="0">
                <a:solidFill>
                  <a:srgbClr val="98A0B2"/>
                </a:solidFill>
                <a:latin typeface="Arial" pitchFamily="34" charset="0"/>
                <a:ea typeface="Arial" pitchFamily="34" charset="-122"/>
                <a:cs typeface="Arial" pitchFamily="34" charset="-120"/>
              </a:rPr>
              <a:t>17–20</a:t>
            </a:r>
            <a:endParaRPr lang="en-US" sz="850" dirty="0"/>
          </a:p>
        </p:txBody>
      </p:sp>
      <p:sp>
        <p:nvSpPr>
          <p:cNvPr id="113" name="Text 108"/>
          <p:cNvSpPr txBox="1"/>
          <p:nvPr/>
        </p:nvSpPr>
        <p:spPr>
          <a:xfrm>
            <a:off x="6391656" y="4389120"/>
            <a:ext cx="2286000" cy="1417320"/>
          </a:xfrm>
          <a:prstGeom prst="rect">
            <a:avLst/>
          </a:prstGeom>
          <a:noFill/>
          <a:ln/>
        </p:spPr>
        <p:txBody>
          <a:bodyPr wrap="square" lIns="0" tIns="0" rIns="0" bIns="0" rtlCol="0" anchor="t"/>
          <a:lstStyle/>
          <a:p>
            <a:pPr indent="0" marL="0">
              <a:buNone/>
            </a:pPr>
            <a:r>
              <a:rPr lang="en-US" sz="1400" dirty="0">
                <a:solidFill>
                  <a:srgbClr val="2A3144"/>
                </a:solidFill>
                <a:latin typeface="Arial" pitchFamily="34" charset="0"/>
                <a:ea typeface="Arial" pitchFamily="34" charset="-122"/>
                <a:cs typeface="Arial" pitchFamily="34" charset="-120"/>
              </a:rPr>
              <a:t>The time is agreed by phone, off the system, within 2–3 contacts and 5 days.</a:t>
            </a:r>
            <a:pPr indent="0" marL="0">
              <a:buNone/>
            </a:pPr>
            <a:r>
              <a:rPr lang="en-US" sz="1000" dirty="0">
                <a:solidFill>
                  <a:srgbClr val="6B7285"/>
                </a:solidFill>
                <a:latin typeface="Arial" pitchFamily="34" charset="0"/>
                <a:ea typeface="Arial" pitchFamily="34" charset="-122"/>
                <a:cs typeface="Arial" pitchFamily="34" charset="-120"/>
              </a:rPr>
              <a:t> [5][6]</a:t>
            </a:r>
            <a:endParaRPr lang="en-US" sz="1400" dirty="0"/>
          </a:p>
        </p:txBody>
      </p:sp>
      <p:sp>
        <p:nvSpPr>
          <p:cNvPr id="114" name="Card 4"/>
          <p:cNvSpPr/>
          <p:nvPr/>
        </p:nvSpPr>
        <p:spPr>
          <a:xfrm>
            <a:off x="8970264" y="2011680"/>
            <a:ext cx="2670048" cy="3931920"/>
          </a:xfrm>
          <a:prstGeom prst="roundRect">
            <a:avLst>
              <a:gd name="adj" fmla="val 4795"/>
            </a:avLst>
          </a:prstGeom>
          <a:solidFill>
            <a:srgbClr val="FFF4EC"/>
          </a:solidFill>
          <a:ln w="9525">
            <a:solidFill>
              <a:srgbClr val="FFD7BF"/>
            </a:solidFill>
            <a:prstDash val="solid"/>
          </a:ln>
        </p:spPr>
      </p:sp>
      <p:sp>
        <p:nvSpPr>
          <p:cNvPr id="115" name="Text 110"/>
          <p:cNvSpPr txBox="1"/>
          <p:nvPr/>
        </p:nvSpPr>
        <p:spPr>
          <a:xfrm>
            <a:off x="9198864" y="2267712"/>
            <a:ext cx="201168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LOSS A MONTH</a:t>
            </a:r>
            <a:endParaRPr lang="en-US" sz="900" dirty="0"/>
          </a:p>
        </p:txBody>
      </p:sp>
      <p:sp>
        <p:nvSpPr>
          <p:cNvPr id="116" name="Icon tile"/>
          <p:cNvSpPr/>
          <p:nvPr/>
        </p:nvSpPr>
        <p:spPr>
          <a:xfrm>
            <a:off x="11091672" y="2194560"/>
            <a:ext cx="329184" cy="329184"/>
          </a:xfrm>
          <a:prstGeom prst="roundRect">
            <a:avLst>
              <a:gd name="adj" fmla="val 22222"/>
            </a:avLst>
          </a:prstGeom>
          <a:solidFill>
            <a:srgbClr val="FFFFFF"/>
          </a:solidFill>
          <a:ln/>
        </p:spPr>
      </p:sp>
      <p:pic>
        <p:nvPicPr>
          <p:cNvPr id="117" name="Icon" descr="/private/tmp/claude-503/-Users-davark-Downloads-Everything-Github-Alodi-Regional-Codex-Hackathon-2026/91e569a8-486f-4c0b-b683-a4991468f039/scratchpad/deck/assets/mark-check-orange.png">    </p:cNvPr>
          <p:cNvPicPr>
            <a:picLocks noChangeAspect="1"/>
          </p:cNvPicPr>
          <p:nvPr/>
        </p:nvPicPr>
        <p:blipFill>
          <a:blip r:embed="rId4"/>
          <a:stretch>
            <a:fillRect/>
          </a:stretch>
        </p:blipFill>
        <p:spPr>
          <a:xfrm>
            <a:off x="11155680" y="2258568"/>
            <a:ext cx="201168" cy="201168"/>
          </a:xfrm>
          <a:prstGeom prst="rect">
            <a:avLst/>
          </a:prstGeom>
        </p:spPr>
      </p:pic>
      <p:sp>
        <p:nvSpPr>
          <p:cNvPr id="118" name="Text 112"/>
          <p:cNvSpPr txBox="1"/>
          <p:nvPr/>
        </p:nvSpPr>
        <p:spPr>
          <a:xfrm>
            <a:off x="9198864" y="2606040"/>
            <a:ext cx="2304288" cy="685800"/>
          </a:xfrm>
          <a:prstGeom prst="rect">
            <a:avLst/>
          </a:prstGeom>
          <a:noFill/>
          <a:ln/>
        </p:spPr>
        <p:txBody>
          <a:bodyPr wrap="square" lIns="0" tIns="0" rIns="0" bIns="0" rtlCol="0" anchor="ctr"/>
          <a:lstStyle/>
          <a:p>
            <a:pPr indent="0" marL="0">
              <a:buNone/>
            </a:pPr>
            <a:r>
              <a:rPr lang="en-US" sz="3800" b="1" dirty="0">
                <a:solidFill>
                  <a:srgbClr val="F05A00"/>
                </a:solidFill>
                <a:latin typeface="Arial" pitchFamily="34" charset="0"/>
                <a:ea typeface="Arial" pitchFamily="34" charset="-122"/>
                <a:cs typeface="Arial" pitchFamily="34" charset="-120"/>
              </a:rPr>
              <a:t>₫</a:t>
            </a:r>
            <a:pPr indent="0" marL="0">
              <a:buNone/>
            </a:pPr>
            <a:r>
              <a:rPr lang="en-US" sz="3800" b="1" dirty="0">
                <a:solidFill>
                  <a:srgbClr val="121A2C"/>
                </a:solidFill>
                <a:latin typeface="Arial" pitchFamily="34" charset="0"/>
                <a:ea typeface="Arial" pitchFamily="34" charset="-122"/>
                <a:cs typeface="Arial" pitchFamily="34" charset="-120"/>
              </a:rPr>
              <a:t>473M</a:t>
            </a:r>
            <a:endParaRPr lang="en-US" sz="3800" dirty="0"/>
          </a:p>
        </p:txBody>
      </p:sp>
      <p:sp>
        <p:nvSpPr>
          <p:cNvPr id="119" name="Loss seg 0"/>
          <p:cNvSpPr/>
          <p:nvPr/>
        </p:nvSpPr>
        <p:spPr>
          <a:xfrm>
            <a:off x="9198864" y="3566160"/>
            <a:ext cx="1329070" cy="310896"/>
          </a:xfrm>
          <a:prstGeom prst="rect">
            <a:avLst/>
          </a:prstGeom>
          <a:solidFill>
            <a:srgbClr val="F05A00"/>
          </a:solidFill>
          <a:ln/>
        </p:spPr>
      </p:sp>
      <p:sp>
        <p:nvSpPr>
          <p:cNvPr id="120" name="Loss seg 1"/>
          <p:cNvSpPr/>
          <p:nvPr/>
        </p:nvSpPr>
        <p:spPr>
          <a:xfrm>
            <a:off x="10546222" y="3566160"/>
            <a:ext cx="454223" cy="310896"/>
          </a:xfrm>
          <a:prstGeom prst="rect">
            <a:avLst/>
          </a:prstGeom>
          <a:solidFill>
            <a:srgbClr val="1F2A44"/>
          </a:solidFill>
          <a:ln/>
        </p:spPr>
      </p:sp>
      <p:sp>
        <p:nvSpPr>
          <p:cNvPr id="121" name="Loss seg 2"/>
          <p:cNvSpPr/>
          <p:nvPr/>
        </p:nvSpPr>
        <p:spPr>
          <a:xfrm>
            <a:off x="11018733" y="3566160"/>
            <a:ext cx="192237" cy="310896"/>
          </a:xfrm>
          <a:prstGeom prst="rect">
            <a:avLst/>
          </a:prstGeom>
          <a:solidFill>
            <a:srgbClr val="8A91A6"/>
          </a:solidFill>
          <a:ln/>
        </p:spPr>
      </p:sp>
      <p:sp>
        <p:nvSpPr>
          <p:cNvPr id="122" name="Loss seg 3"/>
          <p:cNvSpPr/>
          <p:nvPr/>
        </p:nvSpPr>
        <p:spPr>
          <a:xfrm>
            <a:off x="11229257" y="3566160"/>
            <a:ext cx="164167" cy="310896"/>
          </a:xfrm>
          <a:prstGeom prst="rect">
            <a:avLst/>
          </a:prstGeom>
          <a:solidFill>
            <a:srgbClr val="98A0B2"/>
          </a:solidFill>
          <a:ln/>
        </p:spPr>
      </p:sp>
      <p:sp>
        <p:nvSpPr>
          <p:cNvPr id="123" name="Text 117"/>
          <p:cNvSpPr txBox="1"/>
          <p:nvPr/>
        </p:nvSpPr>
        <p:spPr>
          <a:xfrm>
            <a:off x="9198864" y="3931920"/>
            <a:ext cx="2194560" cy="219456"/>
          </a:xfrm>
          <a:prstGeom prst="rect">
            <a:avLst/>
          </a:prstGeom>
          <a:noFill/>
          <a:ln/>
        </p:spPr>
        <p:txBody>
          <a:bodyPr wrap="square" lIns="0" tIns="0" rIns="0" bIns="0" rtlCol="0" anchor="ctr"/>
          <a:lstStyle/>
          <a:p>
            <a:pPr indent="0" marL="0">
              <a:buNone/>
            </a:pPr>
            <a:r>
              <a:rPr lang="en-US" sz="1000" dirty="0">
                <a:solidFill>
                  <a:srgbClr val="F05A00"/>
                </a:solidFill>
                <a:latin typeface="Arial" pitchFamily="34" charset="0"/>
                <a:ea typeface="Arial" pitchFamily="34" charset="-122"/>
                <a:cs typeface="Arial" pitchFamily="34" charset="-120"/>
              </a:rPr>
              <a:t>₫288M return fees</a:t>
            </a:r>
            <a:endParaRPr lang="en-US" sz="1000" dirty="0"/>
          </a:p>
        </p:txBody>
      </p:sp>
      <p:sp>
        <p:nvSpPr>
          <p:cNvPr id="124" name="Text 118"/>
          <p:cNvSpPr txBox="1"/>
          <p:nvPr/>
        </p:nvSpPr>
        <p:spPr>
          <a:xfrm>
            <a:off x="9198864" y="4389120"/>
            <a:ext cx="2286000" cy="1417320"/>
          </a:xfrm>
          <a:prstGeom prst="rect">
            <a:avLst/>
          </a:prstGeom>
          <a:noFill/>
          <a:ln/>
        </p:spPr>
        <p:txBody>
          <a:bodyPr wrap="square" lIns="0" tIns="0" rIns="0" bIns="0" rtlCol="0" anchor="t"/>
          <a:lstStyle/>
          <a:p>
            <a:pPr indent="0" marL="0">
              <a:buNone/>
            </a:pPr>
            <a:r>
              <a:rPr lang="en-US" sz="1400" dirty="0">
                <a:solidFill>
                  <a:srgbClr val="2A3144"/>
                </a:solidFill>
                <a:latin typeface="Arial" pitchFamily="34" charset="0"/>
                <a:ea typeface="Arial" pitchFamily="34" charset="-122"/>
                <a:cs typeface="Arial" pitchFamily="34" charset="-120"/>
              </a:rPr>
              <a:t>for 20 couriers and 4,000 orders a day: return fees, redelivery, door time, call-backs.</a:t>
            </a:r>
            <a:pPr indent="0" marL="0">
              <a:buNone/>
            </a:pPr>
            <a:r>
              <a:rPr lang="en-US" sz="1000" dirty="0">
                <a:solidFill>
                  <a:srgbClr val="6B7285"/>
                </a:solidFill>
                <a:latin typeface="Arial" pitchFamily="34" charset="0"/>
                <a:ea typeface="Arial" pitchFamily="34" charset="-122"/>
                <a:cs typeface="Arial" pitchFamily="34" charset="-120"/>
              </a:rPr>
              <a:t> [7][9]</a:t>
            </a:r>
            <a:endParaRPr lang="en-US" sz="1400" dirty="0"/>
          </a:p>
        </p:txBody>
      </p:sp>
      <p:sp>
        <p:nvSpPr>
          <p:cNvPr id="125" name="Text 11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464E62"/>
                </a:solidFill>
                <a:latin typeface="Arial" pitchFamily="34" charset="0"/>
                <a:ea typeface="Arial" pitchFamily="34" charset="-122"/>
                <a:cs typeface="Arial" pitchFamily="34" charset="-120"/>
              </a:rPr>
              <a:t>06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04  </a:t>
            </a:r>
            <a:pPr indent="0" marL="0">
              <a:buNone/>
            </a:pPr>
            <a:r>
              <a:rPr lang="en-US" sz="1050" b="1" spc="200" kern="0" dirty="0">
                <a:solidFill>
                  <a:srgbClr val="1F2A44"/>
                </a:solidFill>
                <a:latin typeface="Arial" pitchFamily="34" charset="0"/>
                <a:ea typeface="Arial" pitchFamily="34" charset="-122"/>
                <a:cs typeface="Arial" pitchFamily="34" charset="-120"/>
              </a:rPr>
              <a:t>WHY WE BUILT ALODI</a:t>
            </a:r>
            <a:endParaRPr lang="en-US" sz="1050" dirty="0"/>
          </a:p>
        </p:txBody>
      </p:sp>
      <p:sp>
        <p:nvSpPr>
          <p:cNvPr id="4" name="Text 2"/>
          <p:cNvSpPr txBox="1"/>
          <p:nvPr/>
        </p:nvSpPr>
        <p:spPr>
          <a:xfrm>
            <a:off x="548640" y="841248"/>
            <a:ext cx="11064240" cy="685800"/>
          </a:xfrm>
          <a:prstGeom prst="rect">
            <a:avLst/>
          </a:prstGeom>
          <a:noFill/>
          <a:ln/>
        </p:spPr>
        <p:txBody>
          <a:bodyPr wrap="square" lIns="0" tIns="0" rIns="0" bIns="0" rtlCol="0" anchor="t"/>
          <a:lstStyle/>
          <a:p>
            <a:pPr indent="0" marL="0">
              <a:lnSpc>
                <a:spcPct val="95000"/>
              </a:lnSpc>
              <a:buNone/>
            </a:pPr>
            <a:r>
              <a:rPr lang="en-US" sz="2800" b="1" dirty="0">
                <a:solidFill>
                  <a:srgbClr val="98A0B2"/>
                </a:solidFill>
                <a:latin typeface="Arial" pitchFamily="34" charset="0"/>
                <a:ea typeface="Arial" pitchFamily="34" charset="-122"/>
                <a:cs typeface="Arial" pitchFamily="34" charset="-120"/>
              </a:rPr>
              <a:t>The route isn’t broken.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The context dies in a phone call.</a:t>
            </a:r>
            <a:endParaRPr lang="en-US" sz="2800" dirty="0"/>
          </a:p>
        </p:txBody>
      </p:sp>
      <p:sp>
        <p:nvSpPr>
          <p:cNvPr id="5" name="Reason 1"/>
          <p:cNvSpPr/>
          <p:nvPr/>
        </p:nvSpPr>
        <p:spPr>
          <a:xfrm>
            <a:off x="548640" y="1600200"/>
            <a:ext cx="3593592" cy="1417320"/>
          </a:xfrm>
          <a:prstGeom prst="roundRect">
            <a:avLst>
              <a:gd name="adj" fmla="val 9032"/>
            </a:avLst>
          </a:prstGeom>
          <a:solidFill>
            <a:srgbClr val="F7F7F8"/>
          </a:solidFill>
          <a:ln w="9525">
            <a:solidFill>
              <a:srgbClr val="E3E5EA"/>
            </a:solidFill>
            <a:prstDash val="solid"/>
          </a:ln>
        </p:spPr>
      </p:sp>
      <p:sp>
        <p:nvSpPr>
          <p:cNvPr id="6" name="Text 4"/>
          <p:cNvSpPr txBox="1"/>
          <p:nvPr/>
        </p:nvSpPr>
        <p:spPr>
          <a:xfrm>
            <a:off x="777240" y="1892808"/>
            <a:ext cx="960120" cy="731520"/>
          </a:xfrm>
          <a:prstGeom prst="rect">
            <a:avLst/>
          </a:prstGeom>
          <a:noFill/>
          <a:ln/>
        </p:spPr>
        <p:txBody>
          <a:bodyPr wrap="square" lIns="0" tIns="0" rIns="0" bIns="0" rtlCol="0" anchor="ctr"/>
          <a:lstStyle/>
          <a:p>
            <a:pPr indent="0" marL="0">
              <a:buNone/>
            </a:pPr>
            <a:r>
              <a:rPr lang="en-US" sz="3400" b="1" dirty="0">
                <a:solidFill>
                  <a:srgbClr val="F05A00"/>
                </a:solidFill>
                <a:latin typeface="Arial" pitchFamily="34" charset="0"/>
                <a:ea typeface="Arial" pitchFamily="34" charset="-122"/>
                <a:cs typeface="Arial" pitchFamily="34" charset="-120"/>
              </a:rPr>
              <a:t>0</a:t>
            </a:r>
            <a:endParaRPr lang="en-US" sz="3400" dirty="0"/>
          </a:p>
        </p:txBody>
      </p:sp>
      <p:sp>
        <p:nvSpPr>
          <p:cNvPr id="7" name="Text 5"/>
          <p:cNvSpPr txBox="1"/>
          <p:nvPr/>
        </p:nvSpPr>
        <p:spPr>
          <a:xfrm>
            <a:off x="1737360" y="1783080"/>
            <a:ext cx="2267712"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windows to choose</a:t>
            </a:r>
            <a:endParaRPr lang="en-US" sz="1350" dirty="0"/>
          </a:p>
        </p:txBody>
      </p:sp>
      <p:sp>
        <p:nvSpPr>
          <p:cNvPr id="8" name="Text 6"/>
          <p:cNvSpPr txBox="1"/>
          <p:nvPr/>
        </p:nvSpPr>
        <p:spPr>
          <a:xfrm>
            <a:off x="1737360" y="2075688"/>
            <a:ext cx="2267712" cy="822960"/>
          </a:xfrm>
          <a:prstGeom prst="rect">
            <a:avLst/>
          </a:prstGeom>
          <a:noFill/>
          <a:ln/>
        </p:spPr>
        <p:txBody>
          <a:bodyPr wrap="square" lIns="0" tIns="0" rIns="0" bIns="0" rtlCol="0" anchor="t"/>
          <a:lstStyle/>
          <a:p>
            <a:pPr indent="0" marL="0">
              <a:buNone/>
            </a:pPr>
            <a:r>
              <a:rPr lang="en-US" sz="1200" dirty="0">
                <a:solidFill>
                  <a:srgbClr val="2A3144"/>
                </a:solidFill>
                <a:latin typeface="Arial" pitchFamily="34" charset="0"/>
                <a:ea typeface="Arial" pitchFamily="34" charset="-122"/>
                <a:cs typeface="Arial" pitchFamily="34" charset="-120"/>
              </a:rPr>
              <a:t>So the time is agreed by phone, off the system.</a:t>
            </a:r>
            <a:pPr indent="0" marL="0">
              <a:buNone/>
            </a:pPr>
            <a:r>
              <a:rPr lang="en-US" sz="1000" dirty="0">
                <a:solidFill>
                  <a:srgbClr val="6B7285"/>
                </a:solidFill>
                <a:latin typeface="Arial" pitchFamily="34" charset="0"/>
                <a:ea typeface="Arial" pitchFamily="34" charset="-122"/>
                <a:cs typeface="Arial" pitchFamily="34" charset="-120"/>
              </a:rPr>
              <a:t> [5]</a:t>
            </a:r>
            <a:endParaRPr lang="en-US" sz="1200" dirty="0"/>
          </a:p>
        </p:txBody>
      </p:sp>
      <p:sp>
        <p:nvSpPr>
          <p:cNvPr id="9" name="Reason 2"/>
          <p:cNvSpPr/>
          <p:nvPr/>
        </p:nvSpPr>
        <p:spPr>
          <a:xfrm>
            <a:off x="4297680" y="1600200"/>
            <a:ext cx="3593592" cy="1417320"/>
          </a:xfrm>
          <a:prstGeom prst="roundRect">
            <a:avLst>
              <a:gd name="adj" fmla="val 9032"/>
            </a:avLst>
          </a:prstGeom>
          <a:solidFill>
            <a:srgbClr val="F7F7F8"/>
          </a:solidFill>
          <a:ln w="9525">
            <a:solidFill>
              <a:srgbClr val="E3E5EA"/>
            </a:solidFill>
            <a:prstDash val="solid"/>
          </a:ln>
        </p:spPr>
      </p:sp>
      <p:sp>
        <p:nvSpPr>
          <p:cNvPr id="10" name="Text 8"/>
          <p:cNvSpPr txBox="1"/>
          <p:nvPr/>
        </p:nvSpPr>
        <p:spPr>
          <a:xfrm>
            <a:off x="4526280" y="1892808"/>
            <a:ext cx="960120" cy="731520"/>
          </a:xfrm>
          <a:prstGeom prst="rect">
            <a:avLst/>
          </a:prstGeom>
          <a:noFill/>
          <a:ln/>
        </p:spPr>
        <p:txBody>
          <a:bodyPr wrap="square" lIns="0" tIns="0" rIns="0" bIns="0" rtlCol="0" anchor="ctr"/>
          <a:lstStyle/>
          <a:p>
            <a:pPr indent="0" marL="0">
              <a:buNone/>
            </a:pPr>
            <a:r>
              <a:rPr lang="en-US" sz="3400" b="1" dirty="0">
                <a:solidFill>
                  <a:srgbClr val="F05A00"/>
                </a:solidFill>
                <a:latin typeface="Arial" pitchFamily="34" charset="0"/>
                <a:ea typeface="Arial" pitchFamily="34" charset="-122"/>
                <a:cs typeface="Arial" pitchFamily="34" charset="-120"/>
              </a:rPr>
              <a:t>1</a:t>
            </a:r>
            <a:endParaRPr lang="en-US" sz="3400" dirty="0"/>
          </a:p>
        </p:txBody>
      </p:sp>
      <p:sp>
        <p:nvSpPr>
          <p:cNvPr id="11" name="Text 9"/>
          <p:cNvSpPr txBox="1"/>
          <p:nvPr/>
        </p:nvSpPr>
        <p:spPr>
          <a:xfrm>
            <a:off x="5486400" y="1783080"/>
            <a:ext cx="2267712"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error code</a:t>
            </a:r>
            <a:endParaRPr lang="en-US" sz="1350" dirty="0"/>
          </a:p>
        </p:txBody>
      </p:sp>
      <p:sp>
        <p:nvSpPr>
          <p:cNvPr id="12" name="Text 10"/>
          <p:cNvSpPr txBox="1"/>
          <p:nvPr/>
        </p:nvSpPr>
        <p:spPr>
          <a:xfrm>
            <a:off x="5486400" y="2075688"/>
            <a:ext cx="2267712" cy="822960"/>
          </a:xfrm>
          <a:prstGeom prst="rect">
            <a:avLst/>
          </a:prstGeom>
          <a:noFill/>
          <a:ln/>
        </p:spPr>
        <p:txBody>
          <a:bodyPr wrap="square" lIns="0" tIns="0" rIns="0" bIns="0" rtlCol="0" anchor="t"/>
          <a:lstStyle/>
          <a:p>
            <a:pPr indent="0" marL="0">
              <a:buNone/>
            </a:pPr>
            <a:r>
              <a:rPr lang="en-US" sz="1200" dirty="0">
                <a:solidFill>
                  <a:srgbClr val="2A3144"/>
                </a:solidFill>
                <a:latin typeface="Arial" pitchFamily="34" charset="0"/>
                <a:ea typeface="Arial" pitchFamily="34" charset="-122"/>
                <a:cs typeface="Arial" pitchFamily="34" charset="-120"/>
              </a:rPr>
              <a:t>“No answer” replaces when, where and who.</a:t>
            </a:r>
            <a:endParaRPr lang="en-US" sz="1200" dirty="0"/>
          </a:p>
        </p:txBody>
      </p:sp>
      <p:sp>
        <p:nvSpPr>
          <p:cNvPr id="13" name="Reason 3"/>
          <p:cNvSpPr/>
          <p:nvPr/>
        </p:nvSpPr>
        <p:spPr>
          <a:xfrm>
            <a:off x="8046720" y="1600200"/>
            <a:ext cx="3593592" cy="1417320"/>
          </a:xfrm>
          <a:prstGeom prst="roundRect">
            <a:avLst>
              <a:gd name="adj" fmla="val 9032"/>
            </a:avLst>
          </a:prstGeom>
          <a:solidFill>
            <a:srgbClr val="F7F7F8"/>
          </a:solidFill>
          <a:ln w="9525">
            <a:solidFill>
              <a:srgbClr val="E3E5EA"/>
            </a:solidFill>
            <a:prstDash val="solid"/>
          </a:ln>
        </p:spPr>
      </p:sp>
      <p:sp>
        <p:nvSpPr>
          <p:cNvPr id="14" name="Text 12"/>
          <p:cNvSpPr txBox="1"/>
          <p:nvPr/>
        </p:nvSpPr>
        <p:spPr>
          <a:xfrm>
            <a:off x="8275320" y="1892808"/>
            <a:ext cx="960120" cy="731520"/>
          </a:xfrm>
          <a:prstGeom prst="rect">
            <a:avLst/>
          </a:prstGeom>
          <a:noFill/>
          <a:ln/>
        </p:spPr>
        <p:txBody>
          <a:bodyPr wrap="square" lIns="0" tIns="0" rIns="0" bIns="0" rtlCol="0" anchor="ctr"/>
          <a:lstStyle/>
          <a:p>
            <a:pPr indent="0" marL="0">
              <a:buNone/>
            </a:pPr>
            <a:r>
              <a:rPr lang="en-US" sz="3400" b="1" dirty="0">
                <a:solidFill>
                  <a:srgbClr val="F05A00"/>
                </a:solidFill>
                <a:latin typeface="Arial" pitchFamily="34" charset="0"/>
                <a:ea typeface="Arial" pitchFamily="34" charset="-122"/>
                <a:cs typeface="Arial" pitchFamily="34" charset="-120"/>
              </a:rPr>
              <a:t>≈ 5</a:t>
            </a:r>
            <a:endParaRPr lang="en-US" sz="3400" dirty="0"/>
          </a:p>
        </p:txBody>
      </p:sp>
      <p:sp>
        <p:nvSpPr>
          <p:cNvPr id="15" name="Text 13"/>
          <p:cNvSpPr txBox="1"/>
          <p:nvPr/>
        </p:nvSpPr>
        <p:spPr>
          <a:xfrm>
            <a:off x="9235440" y="1783080"/>
            <a:ext cx="2267712"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callers per area</a:t>
            </a:r>
            <a:endParaRPr lang="en-US" sz="1350" dirty="0"/>
          </a:p>
        </p:txBody>
      </p:sp>
      <p:sp>
        <p:nvSpPr>
          <p:cNvPr id="16" name="Text 14"/>
          <p:cNvSpPr txBox="1"/>
          <p:nvPr/>
        </p:nvSpPr>
        <p:spPr>
          <a:xfrm>
            <a:off x="9235440" y="2075688"/>
            <a:ext cx="2267712" cy="822960"/>
          </a:xfrm>
          <a:prstGeom prst="rect">
            <a:avLst/>
          </a:prstGeom>
          <a:noFill/>
          <a:ln/>
        </p:spPr>
        <p:txBody>
          <a:bodyPr wrap="square" lIns="0" tIns="0" rIns="0" bIns="0" rtlCol="0" anchor="t"/>
          <a:lstStyle/>
          <a:p>
            <a:pPr indent="0" marL="0">
              <a:buNone/>
            </a:pPr>
            <a:r>
              <a:rPr lang="en-US" sz="1200" dirty="0">
                <a:solidFill>
                  <a:srgbClr val="2A3144"/>
                </a:solidFill>
                <a:latin typeface="Arial" pitchFamily="34" charset="0"/>
                <a:ea typeface="Arial" pitchFamily="34" charset="-122"/>
                <a:cs typeface="Arial" pitchFamily="34" charset="-120"/>
              </a:rPr>
              <a:t>Just to phone 320 buyers twice a day. People don’t scale.</a:t>
            </a:r>
            <a:pPr indent="0" marL="0">
              <a:buNone/>
            </a:pPr>
            <a:r>
              <a:rPr lang="en-US" sz="1000" dirty="0">
                <a:solidFill>
                  <a:srgbClr val="6B7285"/>
                </a:solidFill>
                <a:latin typeface="Arial" pitchFamily="34" charset="0"/>
                <a:ea typeface="Arial" pitchFamily="34" charset="-122"/>
                <a:cs typeface="Arial" pitchFamily="34" charset="-120"/>
              </a:rPr>
              <a:t> [9]</a:t>
            </a:r>
            <a:endParaRPr lang="en-US" sz="1200" dirty="0"/>
          </a:p>
        </p:txBody>
      </p:sp>
      <p:sp>
        <p:nvSpPr>
          <p:cNvPr id="17" name="Text 15"/>
          <p:cNvSpPr txBox="1"/>
          <p:nvPr/>
        </p:nvSpPr>
        <p:spPr>
          <a:xfrm>
            <a:off x="548640" y="3246120"/>
            <a:ext cx="822960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SO ALODI BRINGS IT BACK INTO THE SYSTEM · ONE TAP IN, ONE CARD OUT</a:t>
            </a:r>
            <a:endParaRPr lang="en-US" sz="900" dirty="0"/>
          </a:p>
        </p:txBody>
      </p:sp>
      <p:sp>
        <p:nvSpPr>
          <p:cNvPr id="18" name="Step 1"/>
          <p:cNvSpPr/>
          <p:nvPr/>
        </p:nvSpPr>
        <p:spPr>
          <a:xfrm>
            <a:off x="548640" y="3547872"/>
            <a:ext cx="2057400" cy="2487168"/>
          </a:xfrm>
          <a:prstGeom prst="roundRect">
            <a:avLst>
              <a:gd name="adj" fmla="val 6222"/>
            </a:avLst>
          </a:prstGeom>
          <a:solidFill>
            <a:srgbClr val="FFFFFF"/>
          </a:solidFill>
          <a:ln w="9525">
            <a:solidFill>
              <a:srgbClr val="E3E5EA"/>
            </a:solidFill>
            <a:prstDash val="solid"/>
          </a:ln>
        </p:spPr>
      </p:sp>
      <p:sp>
        <p:nvSpPr>
          <p:cNvPr id="19" name="Icon tile"/>
          <p:cNvSpPr/>
          <p:nvPr/>
        </p:nvSpPr>
        <p:spPr>
          <a:xfrm>
            <a:off x="749808" y="3749040"/>
            <a:ext cx="329184" cy="329184"/>
          </a:xfrm>
          <a:prstGeom prst="roundRect">
            <a:avLst>
              <a:gd name="adj" fmla="val 22222"/>
            </a:avLst>
          </a:prstGeom>
          <a:solidFill>
            <a:srgbClr val="F1F2F5"/>
          </a:solidFill>
          <a:ln/>
        </p:spPr>
      </p:sp>
      <p:pic>
        <p:nvPicPr>
          <p:cNvPr id="20" name="Icon" descr="/private/tmp/claude-503/-Users-davark-Downloads-Everything-Github-Alodi-Regional-Codex-Hackathon-2026/91e569a8-486f-4c0b-b683-a4991468f039/scratchpad/deck/assets/mark-dot-orange.png">    </p:cNvPr>
          <p:cNvPicPr>
            <a:picLocks noChangeAspect="1"/>
          </p:cNvPicPr>
          <p:nvPr/>
        </p:nvPicPr>
        <p:blipFill>
          <a:blip r:embed="rId1"/>
          <a:stretch>
            <a:fillRect/>
          </a:stretch>
        </p:blipFill>
        <p:spPr>
          <a:xfrm>
            <a:off x="813816" y="3813048"/>
            <a:ext cx="201168" cy="201168"/>
          </a:xfrm>
          <a:prstGeom prst="rect">
            <a:avLst/>
          </a:prstGeom>
        </p:spPr>
      </p:pic>
      <p:sp>
        <p:nvSpPr>
          <p:cNvPr id="21" name="Text 18"/>
          <p:cNvSpPr txBox="1"/>
          <p:nvPr/>
        </p:nvSpPr>
        <p:spPr>
          <a:xfrm>
            <a:off x="749808" y="4242816"/>
            <a:ext cx="914400" cy="228600"/>
          </a:xfrm>
          <a:prstGeom prst="rect">
            <a:avLst/>
          </a:prstGeom>
          <a:noFill/>
          <a:ln/>
        </p:spPr>
        <p:txBody>
          <a:bodyPr wrap="square" lIns="0" tIns="0" rIns="0" bIns="0" rtlCol="0" anchor="ctr"/>
          <a:lstStyle/>
          <a:p>
            <a:pPr indent="0" marL="0">
              <a:buNone/>
            </a:pPr>
            <a:r>
              <a:rPr lang="en-US" sz="900" b="1" spc="100" kern="0" dirty="0">
                <a:solidFill>
                  <a:srgbClr val="F05A00"/>
                </a:solidFill>
                <a:latin typeface="Arial" pitchFamily="34" charset="0"/>
                <a:ea typeface="Arial" pitchFamily="34" charset="-122"/>
                <a:cs typeface="Arial" pitchFamily="34" charset="-120"/>
              </a:rPr>
              <a:t>01</a:t>
            </a:r>
            <a:endParaRPr lang="en-US" sz="900" dirty="0"/>
          </a:p>
        </p:txBody>
      </p:sp>
      <p:sp>
        <p:nvSpPr>
          <p:cNvPr id="22" name="Text 19"/>
          <p:cNvSpPr txBox="1"/>
          <p:nvPr/>
        </p:nvSpPr>
        <p:spPr>
          <a:xfrm>
            <a:off x="749808" y="4480560"/>
            <a:ext cx="1746504" cy="329184"/>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Courier taps</a:t>
            </a:r>
            <a:endParaRPr lang="en-US" sz="1500" dirty="0"/>
          </a:p>
        </p:txBody>
      </p:sp>
      <p:sp>
        <p:nvSpPr>
          <p:cNvPr id="23" name="Text 20"/>
          <p:cNvSpPr txBox="1"/>
          <p:nvPr/>
        </p:nvSpPr>
        <p:spPr>
          <a:xfrm>
            <a:off x="749808" y="4846320"/>
            <a:ext cx="1728216" cy="1097280"/>
          </a:xfrm>
          <a:prstGeom prst="rect">
            <a:avLst/>
          </a:prstGeom>
          <a:noFill/>
          <a:ln/>
        </p:spPr>
        <p:txBody>
          <a:bodyPr wrap="square" lIns="0" tIns="0" rIns="0" bIns="0" rtlCol="0" anchor="t"/>
          <a:lstStyle/>
          <a:p>
            <a:pPr indent="0" marL="0">
              <a:buNone/>
            </a:pPr>
            <a:r>
              <a:rPr lang="en-US" sz="1250" dirty="0">
                <a:solidFill>
                  <a:srgbClr val="2A3144"/>
                </a:solidFill>
                <a:latin typeface="Arial" pitchFamily="34" charset="0"/>
                <a:ea typeface="Arial" pitchFamily="34" charset="-122"/>
                <a:cs typeface="Arial" pitchFamily="34" charset="-120"/>
              </a:rPr>
              <a:t>No answer · Rescheduled · Refused, with a 2-minute undo</a:t>
            </a:r>
            <a:endParaRPr lang="en-US" sz="1250" dirty="0"/>
          </a:p>
        </p:txBody>
      </p:sp>
      <p:sp>
        <p:nvSpPr>
          <p:cNvPr id="24" name="Arrow 0"/>
          <p:cNvSpPr/>
          <p:nvPr/>
        </p:nvSpPr>
        <p:spPr>
          <a:xfrm>
            <a:off x="2633472" y="4800600"/>
            <a:ext cx="128016" cy="0"/>
          </a:xfrm>
          <a:prstGeom prst="line">
            <a:avLst/>
          </a:prstGeom>
          <a:noFill/>
          <a:ln w="12700">
            <a:solidFill>
              <a:srgbClr val="98A0B2"/>
            </a:solidFill>
            <a:prstDash val="solid"/>
            <a:tailEnd type="triangle"/>
          </a:ln>
        </p:spPr>
      </p:sp>
      <p:sp>
        <p:nvSpPr>
          <p:cNvPr id="25" name="Step 2"/>
          <p:cNvSpPr/>
          <p:nvPr/>
        </p:nvSpPr>
        <p:spPr>
          <a:xfrm>
            <a:off x="2788920" y="3547872"/>
            <a:ext cx="2057400" cy="2487168"/>
          </a:xfrm>
          <a:prstGeom prst="roundRect">
            <a:avLst>
              <a:gd name="adj" fmla="val 6222"/>
            </a:avLst>
          </a:prstGeom>
          <a:solidFill>
            <a:srgbClr val="FFFFFF"/>
          </a:solidFill>
          <a:ln w="9525">
            <a:solidFill>
              <a:srgbClr val="E3E5EA"/>
            </a:solidFill>
            <a:prstDash val="solid"/>
          </a:ln>
        </p:spPr>
      </p:sp>
      <p:sp>
        <p:nvSpPr>
          <p:cNvPr id="26" name="Icon tile"/>
          <p:cNvSpPr/>
          <p:nvPr/>
        </p:nvSpPr>
        <p:spPr>
          <a:xfrm>
            <a:off x="2990088" y="3749040"/>
            <a:ext cx="329184" cy="329184"/>
          </a:xfrm>
          <a:prstGeom prst="roundRect">
            <a:avLst>
              <a:gd name="adj" fmla="val 22222"/>
            </a:avLst>
          </a:prstGeom>
          <a:solidFill>
            <a:srgbClr val="F1F2F5"/>
          </a:solidFill>
          <a:ln/>
        </p:spPr>
      </p:sp>
      <p:pic>
        <p:nvPicPr>
          <p:cNvPr id="27" name="Icon" descr="/private/tmp/claude-503/-Users-davark-Downloads-Everything-Github-Alodi-Regional-Codex-Hackathon-2026/91e569a8-486f-4c0b-b683-a4991468f039/scratchpad/deck/assets/mark-square-navy.png">    </p:cNvPr>
          <p:cNvPicPr>
            <a:picLocks noChangeAspect="1"/>
          </p:cNvPicPr>
          <p:nvPr/>
        </p:nvPicPr>
        <p:blipFill>
          <a:blip r:embed="rId2"/>
          <a:stretch>
            <a:fillRect/>
          </a:stretch>
        </p:blipFill>
        <p:spPr>
          <a:xfrm>
            <a:off x="3054096" y="3813048"/>
            <a:ext cx="201168" cy="201168"/>
          </a:xfrm>
          <a:prstGeom prst="rect">
            <a:avLst/>
          </a:prstGeom>
        </p:spPr>
      </p:pic>
      <p:pic>
        <p:nvPicPr>
          <p:cNvPr id="28" name="OpenAI 1" descr="/private/tmp/claude-503/-Users-davark-Downloads-Everything-Github-Alodi-Regional-Codex-Hackathon-2026/91e569a8-486f-4c0b-b683-a4991468f039/scratchpad/deck/assets/openai-ink.png">    </p:cNvPr>
          <p:cNvPicPr>
            <a:picLocks noChangeAspect="1"/>
          </p:cNvPicPr>
          <p:nvPr/>
        </p:nvPicPr>
        <p:blipFill>
          <a:blip r:embed="rId3"/>
          <a:stretch>
            <a:fillRect/>
          </a:stretch>
        </p:blipFill>
        <p:spPr>
          <a:xfrm>
            <a:off x="4407408" y="3803904"/>
            <a:ext cx="219456" cy="219456"/>
          </a:xfrm>
          <a:prstGeom prst="rect">
            <a:avLst/>
          </a:prstGeom>
        </p:spPr>
      </p:pic>
      <p:sp>
        <p:nvSpPr>
          <p:cNvPr id="29" name="Text 24"/>
          <p:cNvSpPr txBox="1"/>
          <p:nvPr/>
        </p:nvSpPr>
        <p:spPr>
          <a:xfrm>
            <a:off x="2990088" y="4242816"/>
            <a:ext cx="914400" cy="228600"/>
          </a:xfrm>
          <a:prstGeom prst="rect">
            <a:avLst/>
          </a:prstGeom>
          <a:noFill/>
          <a:ln/>
        </p:spPr>
        <p:txBody>
          <a:bodyPr wrap="square" lIns="0" tIns="0" rIns="0" bIns="0" rtlCol="0" anchor="ctr"/>
          <a:lstStyle/>
          <a:p>
            <a:pPr indent="0" marL="0">
              <a:buNone/>
            </a:pPr>
            <a:r>
              <a:rPr lang="en-US" sz="900" b="1" spc="100" kern="0" dirty="0">
                <a:solidFill>
                  <a:srgbClr val="F05A00"/>
                </a:solidFill>
                <a:latin typeface="Arial" pitchFamily="34" charset="0"/>
                <a:ea typeface="Arial" pitchFamily="34" charset="-122"/>
                <a:cs typeface="Arial" pitchFamily="34" charset="-120"/>
              </a:rPr>
              <a:t>02</a:t>
            </a:r>
            <a:endParaRPr lang="en-US" sz="900" dirty="0"/>
          </a:p>
        </p:txBody>
      </p:sp>
      <p:sp>
        <p:nvSpPr>
          <p:cNvPr id="30" name="Text 25"/>
          <p:cNvSpPr txBox="1"/>
          <p:nvPr/>
        </p:nvSpPr>
        <p:spPr>
          <a:xfrm>
            <a:off x="2990088" y="4480560"/>
            <a:ext cx="1746504" cy="329184"/>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Triage</a:t>
            </a:r>
            <a:endParaRPr lang="en-US" sz="1500" dirty="0"/>
          </a:p>
        </p:txBody>
      </p:sp>
      <p:sp>
        <p:nvSpPr>
          <p:cNvPr id="31" name="Text 26"/>
          <p:cNvSpPr txBox="1"/>
          <p:nvPr/>
        </p:nvSpPr>
        <p:spPr>
          <a:xfrm>
            <a:off x="2990088" y="4846320"/>
            <a:ext cx="1728216" cy="1097280"/>
          </a:xfrm>
          <a:prstGeom prst="rect">
            <a:avLst/>
          </a:prstGeom>
          <a:noFill/>
          <a:ln/>
        </p:spPr>
        <p:txBody>
          <a:bodyPr wrap="square" lIns="0" tIns="0" rIns="0" bIns="0" rtlCol="0" anchor="t"/>
          <a:lstStyle/>
          <a:p>
            <a:pPr indent="0" marL="0">
              <a:buNone/>
            </a:pPr>
            <a:r>
              <a:rPr lang="en-US" sz="1250" dirty="0">
                <a:solidFill>
                  <a:srgbClr val="2A3144"/>
                </a:solidFill>
                <a:latin typeface="Arial" pitchFamily="34" charset="0"/>
                <a:ea typeface="Arial" pitchFamily="34" charset="-122"/>
                <a:cs typeface="Arial" pitchFamily="34" charset="-120"/>
              </a:rPr>
              <a:t>Decisions API on GPT-6 Luna sorts the case and scores it</a:t>
            </a:r>
            <a:pPr indent="0" marL="0">
              <a:buNone/>
            </a:pPr>
            <a:r>
              <a:rPr lang="en-US" sz="1000" dirty="0">
                <a:solidFill>
                  <a:srgbClr val="6B7285"/>
                </a:solidFill>
                <a:latin typeface="Arial" pitchFamily="34" charset="0"/>
                <a:ea typeface="Arial" pitchFamily="34" charset="-122"/>
                <a:cs typeface="Arial" pitchFamily="34" charset="-120"/>
              </a:rPr>
              <a:t> [10]</a:t>
            </a:r>
            <a:endParaRPr lang="en-US" sz="1250" dirty="0"/>
          </a:p>
        </p:txBody>
      </p:sp>
      <p:sp>
        <p:nvSpPr>
          <p:cNvPr id="32" name="Arrow 1"/>
          <p:cNvSpPr/>
          <p:nvPr/>
        </p:nvSpPr>
        <p:spPr>
          <a:xfrm>
            <a:off x="4873752" y="4800600"/>
            <a:ext cx="128016" cy="0"/>
          </a:xfrm>
          <a:prstGeom prst="line">
            <a:avLst/>
          </a:prstGeom>
          <a:noFill/>
          <a:ln w="12700">
            <a:solidFill>
              <a:srgbClr val="98A0B2"/>
            </a:solidFill>
            <a:prstDash val="solid"/>
            <a:tailEnd type="triangle"/>
          </a:ln>
        </p:spPr>
      </p:sp>
      <p:sp>
        <p:nvSpPr>
          <p:cNvPr id="33" name="Step 3"/>
          <p:cNvSpPr/>
          <p:nvPr/>
        </p:nvSpPr>
        <p:spPr>
          <a:xfrm>
            <a:off x="5029200" y="3547872"/>
            <a:ext cx="2057400" cy="2487168"/>
          </a:xfrm>
          <a:prstGeom prst="roundRect">
            <a:avLst>
              <a:gd name="adj" fmla="val 6222"/>
            </a:avLst>
          </a:prstGeom>
          <a:solidFill>
            <a:srgbClr val="FFFFFF"/>
          </a:solidFill>
          <a:ln w="9525">
            <a:solidFill>
              <a:srgbClr val="E3E5EA"/>
            </a:solidFill>
            <a:prstDash val="solid"/>
          </a:ln>
        </p:spPr>
      </p:sp>
      <p:sp>
        <p:nvSpPr>
          <p:cNvPr id="34" name="Icon tile"/>
          <p:cNvSpPr/>
          <p:nvPr/>
        </p:nvSpPr>
        <p:spPr>
          <a:xfrm>
            <a:off x="5230368" y="3749040"/>
            <a:ext cx="329184" cy="329184"/>
          </a:xfrm>
          <a:prstGeom prst="roundRect">
            <a:avLst>
              <a:gd name="adj" fmla="val 22222"/>
            </a:avLst>
          </a:prstGeom>
          <a:solidFill>
            <a:srgbClr val="F1F2F5"/>
          </a:solidFill>
          <a:ln/>
        </p:spPr>
      </p:sp>
      <p:pic>
        <p:nvPicPr>
          <p:cNvPr id="35" name="Icon" descr="/private/tmp/claude-503/-Users-davark-Downloads-Everything-Github-Alodi-Regional-Codex-Hackathon-2026/91e569a8-486f-4c0b-b683-a4991468f039/scratchpad/deck/assets/mark-bars-navy.png">    </p:cNvPr>
          <p:cNvPicPr>
            <a:picLocks noChangeAspect="1"/>
          </p:cNvPicPr>
          <p:nvPr/>
        </p:nvPicPr>
        <p:blipFill>
          <a:blip r:embed="rId4"/>
          <a:stretch>
            <a:fillRect/>
          </a:stretch>
        </p:blipFill>
        <p:spPr>
          <a:xfrm>
            <a:off x="5294376" y="3813048"/>
            <a:ext cx="201168" cy="201168"/>
          </a:xfrm>
          <a:prstGeom prst="rect">
            <a:avLst/>
          </a:prstGeom>
        </p:spPr>
      </p:pic>
      <p:pic>
        <p:nvPicPr>
          <p:cNvPr id="36" name="OpenAI 2" descr="/private/tmp/claude-503/-Users-davark-Downloads-Everything-Github-Alodi-Regional-Codex-Hackathon-2026/91e569a8-486f-4c0b-b683-a4991468f039/scratchpad/deck/assets/openai-ink.png">    </p:cNvPr>
          <p:cNvPicPr>
            <a:picLocks noChangeAspect="1"/>
          </p:cNvPicPr>
          <p:nvPr/>
        </p:nvPicPr>
        <p:blipFill>
          <a:blip r:embed="rId5"/>
          <a:stretch>
            <a:fillRect/>
          </a:stretch>
        </p:blipFill>
        <p:spPr>
          <a:xfrm>
            <a:off x="6647688" y="3803904"/>
            <a:ext cx="219456" cy="219456"/>
          </a:xfrm>
          <a:prstGeom prst="rect">
            <a:avLst/>
          </a:prstGeom>
        </p:spPr>
      </p:pic>
      <p:sp>
        <p:nvSpPr>
          <p:cNvPr id="37" name="Text 30"/>
          <p:cNvSpPr txBox="1"/>
          <p:nvPr/>
        </p:nvSpPr>
        <p:spPr>
          <a:xfrm>
            <a:off x="5230368" y="4242816"/>
            <a:ext cx="914400" cy="228600"/>
          </a:xfrm>
          <a:prstGeom prst="rect">
            <a:avLst/>
          </a:prstGeom>
          <a:noFill/>
          <a:ln/>
        </p:spPr>
        <p:txBody>
          <a:bodyPr wrap="square" lIns="0" tIns="0" rIns="0" bIns="0" rtlCol="0" anchor="ctr"/>
          <a:lstStyle/>
          <a:p>
            <a:pPr indent="0" marL="0">
              <a:buNone/>
            </a:pPr>
            <a:r>
              <a:rPr lang="en-US" sz="900" b="1" spc="100" kern="0" dirty="0">
                <a:solidFill>
                  <a:srgbClr val="F05A00"/>
                </a:solidFill>
                <a:latin typeface="Arial" pitchFamily="34" charset="0"/>
                <a:ea typeface="Arial" pitchFamily="34" charset="-122"/>
                <a:cs typeface="Arial" pitchFamily="34" charset="-120"/>
              </a:rPr>
              <a:t>03</a:t>
            </a:r>
            <a:endParaRPr lang="en-US" sz="900" dirty="0"/>
          </a:p>
        </p:txBody>
      </p:sp>
      <p:sp>
        <p:nvSpPr>
          <p:cNvPr id="38" name="Text 31"/>
          <p:cNvSpPr txBox="1"/>
          <p:nvPr/>
        </p:nvSpPr>
        <p:spPr>
          <a:xfrm>
            <a:off x="5230368" y="4480560"/>
            <a:ext cx="1746504" cy="329184"/>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Reach the buyer</a:t>
            </a:r>
            <a:endParaRPr lang="en-US" sz="1500" dirty="0"/>
          </a:p>
        </p:txBody>
      </p:sp>
      <p:sp>
        <p:nvSpPr>
          <p:cNvPr id="39" name="Text 32"/>
          <p:cNvSpPr txBox="1"/>
          <p:nvPr/>
        </p:nvSpPr>
        <p:spPr>
          <a:xfrm>
            <a:off x="5230368" y="4846320"/>
            <a:ext cx="1728216" cy="1097280"/>
          </a:xfrm>
          <a:prstGeom prst="rect">
            <a:avLst/>
          </a:prstGeom>
          <a:noFill/>
          <a:ln/>
        </p:spPr>
        <p:txBody>
          <a:bodyPr wrap="square" lIns="0" tIns="0" rIns="0" bIns="0" rtlCol="0" anchor="t"/>
          <a:lstStyle/>
          <a:p>
            <a:pPr indent="0" marL="0">
              <a:buNone/>
            </a:pPr>
            <a:r>
              <a:rPr lang="en-US" sz="1250" dirty="0">
                <a:solidFill>
                  <a:srgbClr val="2A3144"/>
                </a:solidFill>
                <a:latin typeface="Arial" pitchFamily="34" charset="0"/>
                <a:ea typeface="Arial" pitchFamily="34" charset="-122"/>
                <a:cs typeface="Arial" pitchFamily="34" charset="-120"/>
              </a:rPr>
              <a:t>Chat now; GPT-Live-1 calls after 60′, again after 2 h</a:t>
            </a:r>
            <a:pPr indent="0" marL="0">
              <a:buNone/>
            </a:pPr>
            <a:r>
              <a:rPr lang="en-US" sz="1000" dirty="0">
                <a:solidFill>
                  <a:srgbClr val="6B7285"/>
                </a:solidFill>
                <a:latin typeface="Arial" pitchFamily="34" charset="0"/>
                <a:ea typeface="Arial" pitchFamily="34" charset="-122"/>
                <a:cs typeface="Arial" pitchFamily="34" charset="-120"/>
              </a:rPr>
              <a:t> [10]</a:t>
            </a:r>
            <a:endParaRPr lang="en-US" sz="1250" dirty="0"/>
          </a:p>
        </p:txBody>
      </p:sp>
      <p:sp>
        <p:nvSpPr>
          <p:cNvPr id="40" name="Arrow 2"/>
          <p:cNvSpPr/>
          <p:nvPr/>
        </p:nvSpPr>
        <p:spPr>
          <a:xfrm>
            <a:off x="7114032" y="4800600"/>
            <a:ext cx="128016" cy="0"/>
          </a:xfrm>
          <a:prstGeom prst="line">
            <a:avLst/>
          </a:prstGeom>
          <a:noFill/>
          <a:ln w="12700">
            <a:solidFill>
              <a:srgbClr val="98A0B2"/>
            </a:solidFill>
            <a:prstDash val="solid"/>
            <a:tailEnd type="triangle"/>
          </a:ln>
        </p:spPr>
      </p:sp>
      <p:sp>
        <p:nvSpPr>
          <p:cNvPr id="41" name="Step 4"/>
          <p:cNvSpPr/>
          <p:nvPr/>
        </p:nvSpPr>
        <p:spPr>
          <a:xfrm>
            <a:off x="7269480" y="3547872"/>
            <a:ext cx="2057400" cy="2487168"/>
          </a:xfrm>
          <a:prstGeom prst="roundRect">
            <a:avLst>
              <a:gd name="adj" fmla="val 6222"/>
            </a:avLst>
          </a:prstGeom>
          <a:solidFill>
            <a:srgbClr val="FFFFFF"/>
          </a:solidFill>
          <a:ln w="9525">
            <a:solidFill>
              <a:srgbClr val="E3E5EA"/>
            </a:solidFill>
            <a:prstDash val="solid"/>
          </a:ln>
        </p:spPr>
      </p:sp>
      <p:sp>
        <p:nvSpPr>
          <p:cNvPr id="42" name="Icon tile"/>
          <p:cNvSpPr/>
          <p:nvPr/>
        </p:nvSpPr>
        <p:spPr>
          <a:xfrm>
            <a:off x="7470648" y="3749040"/>
            <a:ext cx="329184" cy="329184"/>
          </a:xfrm>
          <a:prstGeom prst="roundRect">
            <a:avLst>
              <a:gd name="adj" fmla="val 22222"/>
            </a:avLst>
          </a:prstGeom>
          <a:solidFill>
            <a:srgbClr val="F1F2F5"/>
          </a:solidFill>
          <a:ln/>
        </p:spPr>
      </p:sp>
      <p:pic>
        <p:nvPicPr>
          <p:cNvPr id="43" name="Icon" descr="/private/tmp/claude-503/-Users-davark-Downloads-Everything-Github-Alodi-Regional-Codex-Hackathon-2026/91e569a8-486f-4c0b-b683-a4991468f039/scratchpad/deck/assets/mark-check-navy.png">    </p:cNvPr>
          <p:cNvPicPr>
            <a:picLocks noChangeAspect="1"/>
          </p:cNvPicPr>
          <p:nvPr/>
        </p:nvPicPr>
        <p:blipFill>
          <a:blip r:embed="rId6"/>
          <a:stretch>
            <a:fillRect/>
          </a:stretch>
        </p:blipFill>
        <p:spPr>
          <a:xfrm>
            <a:off x="7534656" y="3813048"/>
            <a:ext cx="201168" cy="201168"/>
          </a:xfrm>
          <a:prstGeom prst="rect">
            <a:avLst/>
          </a:prstGeom>
        </p:spPr>
      </p:pic>
      <p:pic>
        <p:nvPicPr>
          <p:cNvPr id="44" name="OpenAI 3" descr="/private/tmp/claude-503/-Users-davark-Downloads-Everything-Github-Alodi-Regional-Codex-Hackathon-2026/91e569a8-486f-4c0b-b683-a4991468f039/scratchpad/deck/assets/openai-ink.png">    </p:cNvPr>
          <p:cNvPicPr>
            <a:picLocks noChangeAspect="1"/>
          </p:cNvPicPr>
          <p:nvPr/>
        </p:nvPicPr>
        <p:blipFill>
          <a:blip r:embed="rId7"/>
          <a:stretch>
            <a:fillRect/>
          </a:stretch>
        </p:blipFill>
        <p:spPr>
          <a:xfrm>
            <a:off x="8887968" y="3803904"/>
            <a:ext cx="219456" cy="219456"/>
          </a:xfrm>
          <a:prstGeom prst="rect">
            <a:avLst/>
          </a:prstGeom>
        </p:spPr>
      </p:pic>
      <p:sp>
        <p:nvSpPr>
          <p:cNvPr id="45" name="Text 36"/>
          <p:cNvSpPr txBox="1"/>
          <p:nvPr/>
        </p:nvSpPr>
        <p:spPr>
          <a:xfrm>
            <a:off x="7470648" y="4242816"/>
            <a:ext cx="914400" cy="228600"/>
          </a:xfrm>
          <a:prstGeom prst="rect">
            <a:avLst/>
          </a:prstGeom>
          <a:noFill/>
          <a:ln/>
        </p:spPr>
        <p:txBody>
          <a:bodyPr wrap="square" lIns="0" tIns="0" rIns="0" bIns="0" rtlCol="0" anchor="ctr"/>
          <a:lstStyle/>
          <a:p>
            <a:pPr indent="0" marL="0">
              <a:buNone/>
            </a:pPr>
            <a:r>
              <a:rPr lang="en-US" sz="900" b="1" spc="100" kern="0" dirty="0">
                <a:solidFill>
                  <a:srgbClr val="F05A00"/>
                </a:solidFill>
                <a:latin typeface="Arial" pitchFamily="34" charset="0"/>
                <a:ea typeface="Arial" pitchFamily="34" charset="-122"/>
                <a:cs typeface="Arial" pitchFamily="34" charset="-120"/>
              </a:rPr>
              <a:t>04</a:t>
            </a:r>
            <a:endParaRPr lang="en-US" sz="900" dirty="0"/>
          </a:p>
        </p:txBody>
      </p:sp>
      <p:sp>
        <p:nvSpPr>
          <p:cNvPr id="46" name="Text 37"/>
          <p:cNvSpPr txBox="1"/>
          <p:nvPr/>
        </p:nvSpPr>
        <p:spPr>
          <a:xfrm>
            <a:off x="7470648" y="4480560"/>
            <a:ext cx="1746504" cy="329184"/>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Orchestrate</a:t>
            </a:r>
            <a:endParaRPr lang="en-US" sz="1500" dirty="0"/>
          </a:p>
        </p:txBody>
      </p:sp>
      <p:sp>
        <p:nvSpPr>
          <p:cNvPr id="47" name="Text 38"/>
          <p:cNvSpPr txBox="1"/>
          <p:nvPr/>
        </p:nvSpPr>
        <p:spPr>
          <a:xfrm>
            <a:off x="7470648" y="4846320"/>
            <a:ext cx="1728216" cy="1097280"/>
          </a:xfrm>
          <a:prstGeom prst="rect">
            <a:avLst/>
          </a:prstGeom>
          <a:noFill/>
          <a:ln/>
        </p:spPr>
        <p:txBody>
          <a:bodyPr wrap="square" lIns="0" tIns="0" rIns="0" bIns="0" rtlCol="0" anchor="t"/>
          <a:lstStyle/>
          <a:p>
            <a:pPr indent="0" marL="0">
              <a:buNone/>
            </a:pPr>
            <a:r>
              <a:rPr lang="en-US" sz="1250" dirty="0">
                <a:solidFill>
                  <a:srgbClr val="2A3144"/>
                </a:solidFill>
                <a:latin typeface="Arial" pitchFamily="34" charset="0"/>
                <a:ea typeface="Arial" pitchFamily="34" charset="-122"/>
                <a:cs typeface="Arial" pitchFamily="34" charset="-120"/>
              </a:rPr>
              <a:t>GPT-6.1 Terra applies policy, writes when, where, who</a:t>
            </a:r>
            <a:pPr indent="0" marL="0">
              <a:buNone/>
            </a:pPr>
            <a:r>
              <a:rPr lang="en-US" sz="1000" dirty="0">
                <a:solidFill>
                  <a:srgbClr val="6B7285"/>
                </a:solidFill>
                <a:latin typeface="Arial" pitchFamily="34" charset="0"/>
                <a:ea typeface="Arial" pitchFamily="34" charset="-122"/>
                <a:cs typeface="Arial" pitchFamily="34" charset="-120"/>
              </a:rPr>
              <a:t> [10]</a:t>
            </a:r>
            <a:endParaRPr lang="en-US" sz="1250" dirty="0"/>
          </a:p>
        </p:txBody>
      </p:sp>
      <p:sp>
        <p:nvSpPr>
          <p:cNvPr id="48" name="Arrow 3"/>
          <p:cNvSpPr/>
          <p:nvPr/>
        </p:nvSpPr>
        <p:spPr>
          <a:xfrm>
            <a:off x="9354312" y="4800600"/>
            <a:ext cx="128016" cy="0"/>
          </a:xfrm>
          <a:prstGeom prst="line">
            <a:avLst/>
          </a:prstGeom>
          <a:noFill/>
          <a:ln w="12700">
            <a:solidFill>
              <a:srgbClr val="98A0B2"/>
            </a:solidFill>
            <a:prstDash val="solid"/>
            <a:tailEnd type="triangle"/>
          </a:ln>
        </p:spPr>
      </p:sp>
      <p:sp>
        <p:nvSpPr>
          <p:cNvPr id="49" name="Step 5"/>
          <p:cNvSpPr/>
          <p:nvPr/>
        </p:nvSpPr>
        <p:spPr>
          <a:xfrm>
            <a:off x="9509760" y="3547872"/>
            <a:ext cx="2057400" cy="2487168"/>
          </a:xfrm>
          <a:prstGeom prst="roundRect">
            <a:avLst>
              <a:gd name="adj" fmla="val 6222"/>
            </a:avLst>
          </a:prstGeom>
          <a:solidFill>
            <a:srgbClr val="FFF4EC"/>
          </a:solidFill>
          <a:ln w="9525">
            <a:solidFill>
              <a:srgbClr val="FFD7BF"/>
            </a:solidFill>
            <a:prstDash val="solid"/>
          </a:ln>
        </p:spPr>
      </p:sp>
      <p:sp>
        <p:nvSpPr>
          <p:cNvPr id="50" name="Icon tile"/>
          <p:cNvSpPr/>
          <p:nvPr/>
        </p:nvSpPr>
        <p:spPr>
          <a:xfrm>
            <a:off x="9710928" y="3749040"/>
            <a:ext cx="329184" cy="329184"/>
          </a:xfrm>
          <a:prstGeom prst="roundRect">
            <a:avLst>
              <a:gd name="adj" fmla="val 22222"/>
            </a:avLst>
          </a:prstGeom>
          <a:solidFill>
            <a:srgbClr val="FFFFFF"/>
          </a:solidFill>
          <a:ln/>
        </p:spPr>
      </p:sp>
      <p:pic>
        <p:nvPicPr>
          <p:cNvPr id="51" name="Icon" descr="/private/tmp/claude-503/-Users-davark-Downloads-Everything-Github-Alodi-Regional-Codex-Hackathon-2026/91e569a8-486f-4c0b-b683-a4991468f039/scratchpad/deck/assets/mark-check-orange.png">    </p:cNvPr>
          <p:cNvPicPr>
            <a:picLocks noChangeAspect="1"/>
          </p:cNvPicPr>
          <p:nvPr/>
        </p:nvPicPr>
        <p:blipFill>
          <a:blip r:embed="rId8"/>
          <a:stretch>
            <a:fillRect/>
          </a:stretch>
        </p:blipFill>
        <p:spPr>
          <a:xfrm>
            <a:off x="9774936" y="3813048"/>
            <a:ext cx="201168" cy="201168"/>
          </a:xfrm>
          <a:prstGeom prst="rect">
            <a:avLst/>
          </a:prstGeom>
        </p:spPr>
      </p:pic>
      <p:sp>
        <p:nvSpPr>
          <p:cNvPr id="52" name="Text 42"/>
          <p:cNvSpPr txBox="1"/>
          <p:nvPr/>
        </p:nvSpPr>
        <p:spPr>
          <a:xfrm>
            <a:off x="9710928" y="4242816"/>
            <a:ext cx="914400" cy="228600"/>
          </a:xfrm>
          <a:prstGeom prst="rect">
            <a:avLst/>
          </a:prstGeom>
          <a:noFill/>
          <a:ln/>
        </p:spPr>
        <p:txBody>
          <a:bodyPr wrap="square" lIns="0" tIns="0" rIns="0" bIns="0" rtlCol="0" anchor="ctr"/>
          <a:lstStyle/>
          <a:p>
            <a:pPr indent="0" marL="0">
              <a:buNone/>
            </a:pPr>
            <a:r>
              <a:rPr lang="en-US" sz="900" b="1" spc="100" kern="0" dirty="0">
                <a:solidFill>
                  <a:srgbClr val="F05A00"/>
                </a:solidFill>
                <a:latin typeface="Arial" pitchFamily="34" charset="0"/>
                <a:ea typeface="Arial" pitchFamily="34" charset="-122"/>
                <a:cs typeface="Arial" pitchFamily="34" charset="-120"/>
              </a:rPr>
              <a:t>05</a:t>
            </a:r>
            <a:endParaRPr lang="en-US" sz="900" dirty="0"/>
          </a:p>
        </p:txBody>
      </p:sp>
      <p:sp>
        <p:nvSpPr>
          <p:cNvPr id="53" name="Text 43"/>
          <p:cNvSpPr txBox="1"/>
          <p:nvPr/>
        </p:nvSpPr>
        <p:spPr>
          <a:xfrm>
            <a:off x="9710928" y="4480560"/>
            <a:ext cx="1746504" cy="329184"/>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Next attempt</a:t>
            </a:r>
            <a:endParaRPr lang="en-US" sz="1500" dirty="0"/>
          </a:p>
        </p:txBody>
      </p:sp>
      <p:sp>
        <p:nvSpPr>
          <p:cNvPr id="54" name="Text 44"/>
          <p:cNvSpPr txBox="1"/>
          <p:nvPr/>
        </p:nvSpPr>
        <p:spPr>
          <a:xfrm>
            <a:off x="9710928" y="4846320"/>
            <a:ext cx="1728216" cy="1097280"/>
          </a:xfrm>
          <a:prstGeom prst="rect">
            <a:avLst/>
          </a:prstGeom>
          <a:noFill/>
          <a:ln/>
        </p:spPr>
        <p:txBody>
          <a:bodyPr wrap="square" lIns="0" tIns="0" rIns="0" bIns="0" rtlCol="0" anchor="t"/>
          <a:lstStyle/>
          <a:p>
            <a:pPr indent="0" marL="0">
              <a:buNone/>
            </a:pPr>
            <a:r>
              <a:rPr lang="en-US" sz="1250" dirty="0">
                <a:solidFill>
                  <a:srgbClr val="2A3144"/>
                </a:solidFill>
                <a:latin typeface="Arial" pitchFamily="34" charset="0"/>
                <a:ea typeface="Arial" pitchFamily="34" charset="-122"/>
                <a:cs typeface="Arial" pitchFamily="34" charset="-120"/>
              </a:rPr>
              <a:t>Card to the courier; refusals and labels go to a person</a:t>
            </a:r>
            <a:endParaRPr lang="en-US" sz="1250" dirty="0"/>
          </a:p>
        </p:txBody>
      </p:sp>
      <p:sp>
        <p:nvSpPr>
          <p:cNvPr id="55" name="Text 4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464E62"/>
                </a:solidFill>
                <a:latin typeface="Arial" pitchFamily="34" charset="0"/>
                <a:ea typeface="Arial" pitchFamily="34" charset="-122"/>
                <a:cs typeface="Arial" pitchFamily="34" charset="-120"/>
              </a:rPr>
              <a:t>07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Video frame"/>
          <p:cNvSpPr/>
          <p:nvPr/>
        </p:nvSpPr>
        <p:spPr>
          <a:xfrm>
            <a:off x="548640" y="502920"/>
            <a:ext cx="11094415" cy="5486400"/>
          </a:xfrm>
          <a:prstGeom prst="roundRect">
            <a:avLst>
              <a:gd name="adj" fmla="val 3333"/>
            </a:avLst>
          </a:prstGeom>
          <a:solidFill>
            <a:srgbClr val="0B1120"/>
          </a:solidFill>
          <a:ln w="9525">
            <a:solidFill>
              <a:srgbClr val="2A3550"/>
            </a:solidFill>
            <a:prstDash val="solid"/>
          </a:ln>
        </p:spPr>
      </p:sp>
      <p:sp>
        <p:nvSpPr>
          <p:cNvPr id="3" name="Text 1"/>
          <p:cNvSpPr txBox="1"/>
          <p:nvPr/>
        </p:nvSpPr>
        <p:spPr>
          <a:xfrm>
            <a:off x="548640" y="3108960"/>
            <a:ext cx="11094415" cy="274320"/>
          </a:xfrm>
          <a:prstGeom prst="rect">
            <a:avLst/>
          </a:prstGeom>
          <a:noFill/>
          <a:ln/>
        </p:spPr>
        <p:txBody>
          <a:bodyPr wrap="square" lIns="0" tIns="0" rIns="0" bIns="0" rtlCol="0" anchor="ctr"/>
          <a:lstStyle/>
          <a:p>
            <a:pPr algn="ctr" indent="0" marL="0">
              <a:buNone/>
            </a:pPr>
            <a:r>
              <a:rPr lang="en-US" sz="1100" b="1" spc="300" kern="0" dirty="0">
                <a:solidFill>
                  <a:srgbClr val="98A0B2"/>
                </a:solidFill>
                <a:latin typeface="Arial" pitchFamily="34" charset="0"/>
                <a:ea typeface="Arial" pitchFamily="34" charset="-122"/>
                <a:cs typeface="Arial" pitchFamily="34" charset="-120"/>
              </a:rPr>
              <a:t>DEMO FILM</a:t>
            </a:r>
            <a:endParaRPr lang="en-US" sz="1100" dirty="0"/>
          </a:p>
        </p:txBody>
      </p:sp>
      <p:sp>
        <p:nvSpPr>
          <p:cNvPr id="4" name="Text 2"/>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98A0B2"/>
                </a:solidFill>
                <a:latin typeface="Arial" pitchFamily="34" charset="0"/>
                <a:ea typeface="Arial" pitchFamily="34" charset="-122"/>
                <a:cs typeface="Arial" pitchFamily="34" charset="-120"/>
              </a:rPr>
              <a:t>08 / 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Video frame"/>
          <p:cNvSpPr/>
          <p:nvPr/>
        </p:nvSpPr>
        <p:spPr>
          <a:xfrm>
            <a:off x="548640" y="502920"/>
            <a:ext cx="11094415" cy="5486400"/>
          </a:xfrm>
          <a:prstGeom prst="roundRect">
            <a:avLst>
              <a:gd name="adj" fmla="val 3333"/>
            </a:avLst>
          </a:prstGeom>
          <a:solidFill>
            <a:srgbClr val="0B1120"/>
          </a:solidFill>
          <a:ln w="9525">
            <a:solidFill>
              <a:srgbClr val="2A3550"/>
            </a:solidFill>
            <a:prstDash val="solid"/>
          </a:ln>
        </p:spPr>
      </p:sp>
      <p:sp>
        <p:nvSpPr>
          <p:cNvPr id="3" name="Text 1"/>
          <p:cNvSpPr txBox="1"/>
          <p:nvPr/>
        </p:nvSpPr>
        <p:spPr>
          <a:xfrm>
            <a:off x="548640" y="3108960"/>
            <a:ext cx="11094415" cy="274320"/>
          </a:xfrm>
          <a:prstGeom prst="rect">
            <a:avLst/>
          </a:prstGeom>
          <a:noFill/>
          <a:ln/>
        </p:spPr>
        <p:txBody>
          <a:bodyPr wrap="square" lIns="0" tIns="0" rIns="0" bIns="0" rtlCol="0" anchor="ctr"/>
          <a:lstStyle/>
          <a:p>
            <a:pPr algn="ctr" indent="0" marL="0">
              <a:buNone/>
            </a:pPr>
            <a:r>
              <a:rPr lang="en-US" sz="1100" b="1" spc="300" kern="0" dirty="0">
                <a:solidFill>
                  <a:srgbClr val="98A0B2"/>
                </a:solidFill>
                <a:latin typeface="Arial" pitchFamily="34" charset="0"/>
                <a:ea typeface="Arial" pitchFamily="34" charset="-122"/>
                <a:cs typeface="Arial" pitchFamily="34" charset="-120"/>
              </a:rPr>
              <a:t>LIVE DEMO</a:t>
            </a:r>
            <a:endParaRPr lang="en-US" sz="1100" dirty="0"/>
          </a:p>
        </p:txBody>
      </p:sp>
      <p:sp>
        <p:nvSpPr>
          <p:cNvPr id="4" name="Text 2"/>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98A0B2"/>
                </a:solidFill>
                <a:latin typeface="Arial" pitchFamily="34" charset="0"/>
                <a:ea typeface="Arial" pitchFamily="34" charset="-122"/>
                <a:cs typeface="Arial" pitchFamily="34" charset="-120"/>
              </a:rPr>
              <a:t>09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05  </a:t>
            </a:r>
            <a:pPr indent="0" marL="0">
              <a:buNone/>
            </a:pPr>
            <a:r>
              <a:rPr lang="en-US" sz="1050" b="1" spc="200" kern="0" dirty="0">
                <a:solidFill>
                  <a:srgbClr val="FFFFFF"/>
                </a:solidFill>
                <a:latin typeface="Arial" pitchFamily="34" charset="0"/>
                <a:ea typeface="Arial" pitchFamily="34" charset="-122"/>
                <a:cs typeface="Arial" pitchFamily="34" charset="-120"/>
              </a:rPr>
              <a:t>TECH STACK · OPENAI ECOSYSTEM</a:t>
            </a:r>
            <a:endParaRPr lang="en-US" sz="1050" dirty="0"/>
          </a:p>
        </p:txBody>
      </p:sp>
      <p:sp>
        <p:nvSpPr>
          <p:cNvPr id="4" name="Text 2"/>
          <p:cNvSpPr txBox="1"/>
          <p:nvPr/>
        </p:nvSpPr>
        <p:spPr>
          <a:xfrm>
            <a:off x="548640" y="841248"/>
            <a:ext cx="7498080" cy="1143000"/>
          </a:xfrm>
          <a:prstGeom prst="rect">
            <a:avLst/>
          </a:prstGeom>
          <a:noFill/>
          <a:ln/>
        </p:spPr>
        <p:txBody>
          <a:bodyPr wrap="square" lIns="0" tIns="0" rIns="0" bIns="0" rtlCol="0" anchor="t"/>
          <a:lstStyle/>
          <a:p>
            <a:pPr indent="0" marL="0">
              <a:lnSpc>
                <a:spcPct val="95000"/>
              </a:lnSpc>
              <a:buNone/>
            </a:pPr>
            <a:r>
              <a:rPr lang="en-US" sz="3000" b="1" dirty="0">
                <a:solidFill>
                  <a:srgbClr val="9AA3B8"/>
                </a:solidFill>
                <a:latin typeface="Arial" pitchFamily="34" charset="0"/>
                <a:ea typeface="Arial" pitchFamily="34" charset="-122"/>
                <a:cs typeface="Arial" pitchFamily="34" charset="-120"/>
              </a:rPr>
              <a:t>Every step of the rescue </a:t>
            </a:r>
            <a:pPr indent="0" marL="0">
              <a:lnSpc>
                <a:spcPct val="95000"/>
              </a:lnSpc>
              <a:buNone/>
            </a:pPr>
            <a:r>
              <a:rPr lang="en-US" sz="3000" b="1" dirty="0">
                <a:solidFill>
                  <a:srgbClr val="FFFFFF"/>
                </a:solidFill>
                <a:latin typeface="Arial" pitchFamily="34" charset="0"/>
                <a:ea typeface="Arial" pitchFamily="34" charset="-122"/>
                <a:cs typeface="Arial" pitchFamily="34" charset="-120"/>
              </a:rPr>
              <a:t>is an OpenAI API call.</a:t>
            </a:r>
            <a:endParaRPr lang="en-US" sz="3000" dirty="0"/>
          </a:p>
        </p:txBody>
      </p:sp>
      <p:sp>
        <p:nvSpPr>
          <p:cNvPr id="5" name="Text 3"/>
          <p:cNvSpPr txBox="1"/>
          <p:nvPr/>
        </p:nvSpPr>
        <p:spPr>
          <a:xfrm>
            <a:off x="8412480" y="749808"/>
            <a:ext cx="3227832" cy="1051560"/>
          </a:xfrm>
          <a:prstGeom prst="rect">
            <a:avLst/>
          </a:prstGeom>
          <a:noFill/>
          <a:ln/>
        </p:spPr>
        <p:txBody>
          <a:bodyPr wrap="square" lIns="0" tIns="0" rIns="0" bIns="0" rtlCol="0" anchor="ctr"/>
          <a:lstStyle/>
          <a:p>
            <a:pPr algn="r" indent="0" marL="0">
              <a:buNone/>
            </a:pPr>
            <a:r>
              <a:rPr lang="en-US" sz="3400" b="1" dirty="0">
                <a:solidFill>
                  <a:srgbClr val="F05A00"/>
                </a:solidFill>
                <a:latin typeface="Arial" pitchFamily="34" charset="0"/>
                <a:ea typeface="Arial" pitchFamily="34" charset="-122"/>
                <a:cs typeface="Arial" pitchFamily="34" charset="-120"/>
              </a:rPr>
              <a:t>≈ ₫7.2M</a:t>
            </a:r>
            <a:endParaRPr lang="en-US" sz="3400" dirty="0"/>
          </a:p>
          <a:p>
            <a:pPr algn="r" indent="0" marL="0">
              <a:buNone/>
            </a:pPr>
            <a:r>
              <a:rPr lang="en-US" sz="1200" dirty="0">
                <a:solidFill>
                  <a:srgbClr val="D2D7E1"/>
                </a:solidFill>
                <a:latin typeface="Arial" pitchFamily="34" charset="0"/>
                <a:ea typeface="Arial" pitchFamily="34" charset="-122"/>
                <a:cs typeface="Arial" pitchFamily="34" charset="-120"/>
              </a:rPr>
              <a:t>OpenAI API a month, one area [9]</a:t>
            </a:r>
            <a:endParaRPr lang="en-US" sz="3400" dirty="0"/>
          </a:p>
        </p:txBody>
      </p:sp>
      <p:sp>
        <p:nvSpPr>
          <p:cNvPr id="6" name="API 1"/>
          <p:cNvSpPr/>
          <p:nvPr/>
        </p:nvSpPr>
        <p:spPr>
          <a:xfrm>
            <a:off x="548640" y="2103120"/>
            <a:ext cx="2670048" cy="2788920"/>
          </a:xfrm>
          <a:prstGeom prst="roundRect">
            <a:avLst>
              <a:gd name="adj" fmla="val 4795"/>
            </a:avLst>
          </a:prstGeom>
          <a:solidFill>
            <a:srgbClr val="1B2438"/>
          </a:solidFill>
          <a:ln w="9525">
            <a:solidFill>
              <a:srgbClr val="2A3550"/>
            </a:solidFill>
            <a:prstDash val="solid"/>
          </a:ln>
        </p:spPr>
      </p:sp>
      <p:pic>
        <p:nvPicPr>
          <p:cNvPr id="7" name="OpenAI logo 0" descr="/private/tmp/claude-503/-Users-davark-Downloads-Everything-Github-Alodi-Regional-Codex-Hackathon-2026/91e569a8-486f-4c0b-b683-a4991468f039/scratchpad/deck/assets/openai-white.png">    </p:cNvPr>
          <p:cNvPicPr>
            <a:picLocks noChangeAspect="1"/>
          </p:cNvPicPr>
          <p:nvPr/>
        </p:nvPicPr>
        <p:blipFill>
          <a:blip r:embed="rId1"/>
          <a:stretch>
            <a:fillRect/>
          </a:stretch>
        </p:blipFill>
        <p:spPr>
          <a:xfrm>
            <a:off x="749808" y="2304288"/>
            <a:ext cx="274320" cy="274320"/>
          </a:xfrm>
          <a:prstGeom prst="rect">
            <a:avLst/>
          </a:prstGeom>
        </p:spPr>
      </p:pic>
      <p:sp>
        <p:nvSpPr>
          <p:cNvPr id="8" name="Text 5"/>
          <p:cNvSpPr txBox="1"/>
          <p:nvPr/>
        </p:nvSpPr>
        <p:spPr>
          <a:xfrm>
            <a:off x="1115568" y="2340864"/>
            <a:ext cx="1828800" cy="201168"/>
          </a:xfrm>
          <a:prstGeom prst="rect">
            <a:avLst/>
          </a:prstGeom>
          <a:noFill/>
          <a:ln/>
        </p:spPr>
        <p:txBody>
          <a:bodyPr wrap="square" lIns="0" tIns="0" rIns="0" bIns="0" rtlCol="0" anchor="ctr"/>
          <a:lstStyle/>
          <a:p>
            <a:pPr indent="0" marL="0">
              <a:buNone/>
            </a:pPr>
            <a:r>
              <a:rPr lang="en-US" sz="850" b="1" spc="150" kern="0" dirty="0">
                <a:solidFill>
                  <a:srgbClr val="F05A00"/>
                </a:solidFill>
                <a:latin typeface="Arial" pitchFamily="34" charset="0"/>
                <a:ea typeface="Arial" pitchFamily="34" charset="-122"/>
                <a:cs typeface="Arial" pitchFamily="34" charset="-120"/>
              </a:rPr>
              <a:t>TRIAGE</a:t>
            </a:r>
            <a:endParaRPr lang="en-US" sz="850" dirty="0"/>
          </a:p>
        </p:txBody>
      </p:sp>
      <p:sp>
        <p:nvSpPr>
          <p:cNvPr id="9" name="Text 6"/>
          <p:cNvSpPr txBox="1"/>
          <p:nvPr/>
        </p:nvSpPr>
        <p:spPr>
          <a:xfrm>
            <a:off x="749808" y="2697480"/>
            <a:ext cx="2359152" cy="329184"/>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Decisions API</a:t>
            </a:r>
            <a:endParaRPr lang="en-US" sz="1800" dirty="0"/>
          </a:p>
        </p:txBody>
      </p:sp>
      <p:sp>
        <p:nvSpPr>
          <p:cNvPr id="10" name="Text 7"/>
          <p:cNvSpPr txBox="1"/>
          <p:nvPr/>
        </p:nvSpPr>
        <p:spPr>
          <a:xfrm>
            <a:off x="749808" y="3017520"/>
            <a:ext cx="2359152" cy="237744"/>
          </a:xfrm>
          <a:prstGeom prst="rect">
            <a:avLst/>
          </a:prstGeom>
          <a:noFill/>
          <a:ln/>
        </p:spPr>
        <p:txBody>
          <a:bodyPr wrap="square" lIns="0" tIns="0" rIns="0" bIns="0" rtlCol="0" anchor="ctr"/>
          <a:lstStyle/>
          <a:p>
            <a:pPr indent="0" marL="0">
              <a:buNone/>
            </a:pPr>
            <a:r>
              <a:rPr lang="en-US" sz="1100" dirty="0">
                <a:solidFill>
                  <a:srgbClr val="9AA3B8"/>
                </a:solidFill>
                <a:latin typeface="Arial" pitchFamily="34" charset="0"/>
                <a:ea typeface="Arial" pitchFamily="34" charset="-122"/>
                <a:cs typeface="Arial" pitchFamily="34" charset="-120"/>
              </a:rPr>
              <a:t>GPT-6 Luna</a:t>
            </a:r>
            <a:endParaRPr lang="en-US" sz="1100" dirty="0"/>
          </a:p>
        </p:txBody>
      </p:sp>
      <p:sp>
        <p:nvSpPr>
          <p:cNvPr id="11" name="Text 8"/>
          <p:cNvSpPr txBox="1"/>
          <p:nvPr/>
        </p:nvSpPr>
        <p:spPr>
          <a:xfrm>
            <a:off x="749808" y="3291840"/>
            <a:ext cx="2322576" cy="841248"/>
          </a:xfrm>
          <a:prstGeom prst="rect">
            <a:avLst/>
          </a:prstGeom>
          <a:noFill/>
          <a:ln/>
        </p:spPr>
        <p:txBody>
          <a:bodyPr wrap="square" lIns="0" tIns="0" rIns="0" bIns="0" rtlCol="0" anchor="t"/>
          <a:lstStyle/>
          <a:p>
            <a:pPr indent="0" marL="0">
              <a:buNone/>
            </a:pPr>
            <a:r>
              <a:rPr lang="en-US" sz="1200" dirty="0">
                <a:solidFill>
                  <a:srgbClr val="DEE2EA"/>
                </a:solidFill>
                <a:latin typeface="Arial" pitchFamily="34" charset="0"/>
                <a:ea typeface="Arial" pitchFamily="34" charset="-122"/>
                <a:cs typeface="Arial" pitchFamily="34" charset="-120"/>
              </a:rPr>
              <a:t>Sorts every signal: which case, which window, how sure. Probabilities drive the 0.85 rule.</a:t>
            </a:r>
            <a:endParaRPr lang="en-US" sz="1200" dirty="0"/>
          </a:p>
        </p:txBody>
      </p:sp>
      <p:sp>
        <p:nvSpPr>
          <p:cNvPr id="12" name="API rule 0"/>
          <p:cNvSpPr/>
          <p:nvPr/>
        </p:nvSpPr>
        <p:spPr>
          <a:xfrm>
            <a:off x="749808" y="4187952"/>
            <a:ext cx="2267712" cy="0"/>
          </a:xfrm>
          <a:prstGeom prst="line">
            <a:avLst/>
          </a:prstGeom>
          <a:noFill/>
          <a:ln w="9525">
            <a:solidFill>
              <a:srgbClr val="2A3550"/>
            </a:solidFill>
            <a:prstDash val="solid"/>
          </a:ln>
        </p:spPr>
      </p:sp>
      <p:sp>
        <p:nvSpPr>
          <p:cNvPr id="13" name="Text 10"/>
          <p:cNvSpPr txBox="1"/>
          <p:nvPr/>
        </p:nvSpPr>
        <p:spPr>
          <a:xfrm>
            <a:off x="749808" y="4261104"/>
            <a:ext cx="2359152"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/v1/decisions</a:t>
            </a:r>
            <a:endParaRPr lang="en-US" sz="1100" dirty="0"/>
          </a:p>
        </p:txBody>
      </p:sp>
      <p:sp>
        <p:nvSpPr>
          <p:cNvPr id="14" name="Text 11"/>
          <p:cNvSpPr txBox="1"/>
          <p:nvPr/>
        </p:nvSpPr>
        <p:spPr>
          <a:xfrm>
            <a:off x="749808" y="4498848"/>
            <a:ext cx="2359152" cy="237744"/>
          </a:xfrm>
          <a:prstGeom prst="rect">
            <a:avLst/>
          </a:prstGeom>
          <a:noFill/>
          <a:ln/>
        </p:spPr>
        <p:txBody>
          <a:bodyPr wrap="square" lIns="0" tIns="0" rIns="0" bIns="0" rtlCol="0" anchor="ctr"/>
          <a:lstStyle/>
          <a:p>
            <a:pPr indent="0" marL="0">
              <a:buNone/>
            </a:pPr>
            <a:r>
              <a:rPr lang="en-US" sz="1050" dirty="0">
                <a:solidFill>
                  <a:srgbClr val="9AA3B8"/>
                </a:solidFill>
                <a:latin typeface="Arial" pitchFamily="34" charset="0"/>
                <a:ea typeface="Arial" pitchFamily="34" charset="-122"/>
                <a:cs typeface="Arial" pitchFamily="34" charset="-120"/>
              </a:rPr>
              <a:t>Every message · 6.0M tokens a day</a:t>
            </a:r>
            <a:endParaRPr lang="en-US" sz="1050" dirty="0"/>
          </a:p>
        </p:txBody>
      </p:sp>
      <p:sp>
        <p:nvSpPr>
          <p:cNvPr id="15" name="Arrow 0"/>
          <p:cNvSpPr/>
          <p:nvPr/>
        </p:nvSpPr>
        <p:spPr>
          <a:xfrm>
            <a:off x="3218688" y="3474720"/>
            <a:ext cx="137160" cy="0"/>
          </a:xfrm>
          <a:prstGeom prst="line">
            <a:avLst/>
          </a:prstGeom>
          <a:noFill/>
          <a:ln w="12700">
            <a:solidFill>
              <a:srgbClr val="98A0B2"/>
            </a:solidFill>
            <a:prstDash val="solid"/>
            <a:tailEnd type="triangle"/>
          </a:ln>
        </p:spPr>
      </p:sp>
      <p:sp>
        <p:nvSpPr>
          <p:cNvPr id="16" name="API 2"/>
          <p:cNvSpPr/>
          <p:nvPr/>
        </p:nvSpPr>
        <p:spPr>
          <a:xfrm>
            <a:off x="3355848" y="2103120"/>
            <a:ext cx="2670048" cy="2788920"/>
          </a:xfrm>
          <a:prstGeom prst="roundRect">
            <a:avLst>
              <a:gd name="adj" fmla="val 4795"/>
            </a:avLst>
          </a:prstGeom>
          <a:solidFill>
            <a:srgbClr val="1B2438"/>
          </a:solidFill>
          <a:ln w="9525">
            <a:solidFill>
              <a:srgbClr val="2A3550"/>
            </a:solidFill>
            <a:prstDash val="solid"/>
          </a:ln>
        </p:spPr>
      </p:sp>
      <p:pic>
        <p:nvPicPr>
          <p:cNvPr id="17" name="OpenAI logo 1" descr="/private/tmp/claude-503/-Users-davark-Downloads-Everything-Github-Alodi-Regional-Codex-Hackathon-2026/91e569a8-486f-4c0b-b683-a4991468f039/scratchpad/deck/assets/openai-white.png">    </p:cNvPr>
          <p:cNvPicPr>
            <a:picLocks noChangeAspect="1"/>
          </p:cNvPicPr>
          <p:nvPr/>
        </p:nvPicPr>
        <p:blipFill>
          <a:blip r:embed="rId2"/>
          <a:stretch>
            <a:fillRect/>
          </a:stretch>
        </p:blipFill>
        <p:spPr>
          <a:xfrm>
            <a:off x="3557016" y="2304288"/>
            <a:ext cx="274320" cy="274320"/>
          </a:xfrm>
          <a:prstGeom prst="rect">
            <a:avLst/>
          </a:prstGeom>
        </p:spPr>
      </p:pic>
      <p:sp>
        <p:nvSpPr>
          <p:cNvPr id="18" name="Text 14"/>
          <p:cNvSpPr txBox="1"/>
          <p:nvPr/>
        </p:nvSpPr>
        <p:spPr>
          <a:xfrm>
            <a:off x="3922776" y="2340864"/>
            <a:ext cx="1828800" cy="201168"/>
          </a:xfrm>
          <a:prstGeom prst="rect">
            <a:avLst/>
          </a:prstGeom>
          <a:noFill/>
          <a:ln/>
        </p:spPr>
        <p:txBody>
          <a:bodyPr wrap="square" lIns="0" tIns="0" rIns="0" bIns="0" rtlCol="0" anchor="ctr"/>
          <a:lstStyle/>
          <a:p>
            <a:pPr indent="0" marL="0">
              <a:buNone/>
            </a:pPr>
            <a:r>
              <a:rPr lang="en-US" sz="850" b="1" spc="150" kern="0" dirty="0">
                <a:solidFill>
                  <a:srgbClr val="F05A00"/>
                </a:solidFill>
                <a:latin typeface="Arial" pitchFamily="34" charset="0"/>
                <a:ea typeface="Arial" pitchFamily="34" charset="-122"/>
                <a:cs typeface="Arial" pitchFamily="34" charset="-120"/>
              </a:rPr>
              <a:t>VOICE</a:t>
            </a:r>
            <a:endParaRPr lang="en-US" sz="850" dirty="0"/>
          </a:p>
        </p:txBody>
      </p:sp>
      <p:sp>
        <p:nvSpPr>
          <p:cNvPr id="19" name="Text 15"/>
          <p:cNvSpPr txBox="1"/>
          <p:nvPr/>
        </p:nvSpPr>
        <p:spPr>
          <a:xfrm>
            <a:off x="3557016" y="2697480"/>
            <a:ext cx="2359152" cy="329184"/>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GPT-Live-1</a:t>
            </a:r>
            <a:endParaRPr lang="en-US" sz="1800" dirty="0"/>
          </a:p>
        </p:txBody>
      </p:sp>
      <p:sp>
        <p:nvSpPr>
          <p:cNvPr id="20" name="Text 16"/>
          <p:cNvSpPr txBox="1"/>
          <p:nvPr/>
        </p:nvSpPr>
        <p:spPr>
          <a:xfrm>
            <a:off x="3557016" y="3017520"/>
            <a:ext cx="2359152" cy="237744"/>
          </a:xfrm>
          <a:prstGeom prst="rect">
            <a:avLst/>
          </a:prstGeom>
          <a:noFill/>
          <a:ln/>
        </p:spPr>
        <p:txBody>
          <a:bodyPr wrap="square" lIns="0" tIns="0" rIns="0" bIns="0" rtlCol="0" anchor="ctr"/>
          <a:lstStyle/>
          <a:p>
            <a:pPr indent="0" marL="0">
              <a:buNone/>
            </a:pPr>
            <a:r>
              <a:rPr lang="en-US" sz="1100" dirty="0">
                <a:solidFill>
                  <a:srgbClr val="9AA3B8"/>
                </a:solidFill>
                <a:latin typeface="Arial" pitchFamily="34" charset="0"/>
                <a:ea typeface="Arial" pitchFamily="34" charset="-122"/>
                <a:cs typeface="Arial" pitchFamily="34" charset="-120"/>
              </a:rPr>
              <a:t>Live sessions, WebRTC</a:t>
            </a:r>
            <a:endParaRPr lang="en-US" sz="1100" dirty="0"/>
          </a:p>
        </p:txBody>
      </p:sp>
      <p:sp>
        <p:nvSpPr>
          <p:cNvPr id="21" name="Text 17"/>
          <p:cNvSpPr txBox="1"/>
          <p:nvPr/>
        </p:nvSpPr>
        <p:spPr>
          <a:xfrm>
            <a:off x="3557016" y="3291840"/>
            <a:ext cx="2322576" cy="841248"/>
          </a:xfrm>
          <a:prstGeom prst="rect">
            <a:avLst/>
          </a:prstGeom>
          <a:noFill/>
          <a:ln/>
        </p:spPr>
        <p:txBody>
          <a:bodyPr wrap="square" lIns="0" tIns="0" rIns="0" bIns="0" rtlCol="0" anchor="t"/>
          <a:lstStyle/>
          <a:p>
            <a:pPr indent="0" marL="0">
              <a:buNone/>
            </a:pPr>
            <a:r>
              <a:rPr lang="en-US" sz="1200" dirty="0">
                <a:solidFill>
                  <a:srgbClr val="DEE2EA"/>
                </a:solidFill>
                <a:latin typeface="Arial" pitchFamily="34" charset="0"/>
                <a:ea typeface="Arial" pitchFamily="34" charset="-122"/>
                <a:cs typeface="Arial" pitchFamily="34" charset="-120"/>
              </a:rPr>
              <a:t>Calls the buyer. Listens while it speaks and hands reasoning to the agent.</a:t>
            </a:r>
            <a:endParaRPr lang="en-US" sz="1200" dirty="0"/>
          </a:p>
        </p:txBody>
      </p:sp>
      <p:sp>
        <p:nvSpPr>
          <p:cNvPr id="22" name="API rule 1"/>
          <p:cNvSpPr/>
          <p:nvPr/>
        </p:nvSpPr>
        <p:spPr>
          <a:xfrm>
            <a:off x="3557016" y="4187952"/>
            <a:ext cx="2267712" cy="0"/>
          </a:xfrm>
          <a:prstGeom prst="line">
            <a:avLst/>
          </a:prstGeom>
          <a:noFill/>
          <a:ln w="9525">
            <a:solidFill>
              <a:srgbClr val="2A3550"/>
            </a:solidFill>
            <a:prstDash val="solid"/>
          </a:ln>
        </p:spPr>
      </p:sp>
      <p:sp>
        <p:nvSpPr>
          <p:cNvPr id="23" name="Text 19"/>
          <p:cNvSpPr txBox="1"/>
          <p:nvPr/>
        </p:nvSpPr>
        <p:spPr>
          <a:xfrm>
            <a:off x="3557016" y="4261104"/>
            <a:ext cx="2359152"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/v1/live/sessions</a:t>
            </a:r>
            <a:endParaRPr lang="en-US" sz="1100" dirty="0"/>
          </a:p>
        </p:txBody>
      </p:sp>
      <p:sp>
        <p:nvSpPr>
          <p:cNvPr id="24" name="Text 20"/>
          <p:cNvSpPr txBox="1"/>
          <p:nvPr/>
        </p:nvSpPr>
        <p:spPr>
          <a:xfrm>
            <a:off x="3557016" y="4498848"/>
            <a:ext cx="2359152" cy="237744"/>
          </a:xfrm>
          <a:prstGeom prst="rect">
            <a:avLst/>
          </a:prstGeom>
          <a:noFill/>
          <a:ln/>
        </p:spPr>
        <p:txBody>
          <a:bodyPr wrap="square" lIns="0" tIns="0" rIns="0" bIns="0" rtlCol="0" anchor="ctr"/>
          <a:lstStyle/>
          <a:p>
            <a:pPr indent="0" marL="0">
              <a:buNone/>
            </a:pPr>
            <a:r>
              <a:rPr lang="en-US" sz="1050" dirty="0">
                <a:solidFill>
                  <a:srgbClr val="9AA3B8"/>
                </a:solidFill>
                <a:latin typeface="Arial" pitchFamily="34" charset="0"/>
                <a:ea typeface="Arial" pitchFamily="34" charset="-122"/>
                <a:cs typeface="Arial" pitchFamily="34" charset="-120"/>
              </a:rPr>
              <a:t>≤ 134 billed minutes a day</a:t>
            </a:r>
            <a:endParaRPr lang="en-US" sz="1050" dirty="0"/>
          </a:p>
        </p:txBody>
      </p:sp>
      <p:sp>
        <p:nvSpPr>
          <p:cNvPr id="25" name="Arrow 1"/>
          <p:cNvSpPr/>
          <p:nvPr/>
        </p:nvSpPr>
        <p:spPr>
          <a:xfrm>
            <a:off x="6025896" y="3474720"/>
            <a:ext cx="137160" cy="0"/>
          </a:xfrm>
          <a:prstGeom prst="line">
            <a:avLst/>
          </a:prstGeom>
          <a:noFill/>
          <a:ln w="12700">
            <a:solidFill>
              <a:srgbClr val="98A0B2"/>
            </a:solidFill>
            <a:prstDash val="solid"/>
            <a:tailEnd type="triangle"/>
          </a:ln>
        </p:spPr>
      </p:sp>
      <p:sp>
        <p:nvSpPr>
          <p:cNvPr id="26" name="API 3"/>
          <p:cNvSpPr/>
          <p:nvPr/>
        </p:nvSpPr>
        <p:spPr>
          <a:xfrm>
            <a:off x="6163056" y="2103120"/>
            <a:ext cx="2670048" cy="2788920"/>
          </a:xfrm>
          <a:prstGeom prst="roundRect">
            <a:avLst>
              <a:gd name="adj" fmla="val 4795"/>
            </a:avLst>
          </a:prstGeom>
          <a:solidFill>
            <a:srgbClr val="1B2438"/>
          </a:solidFill>
          <a:ln w="9525">
            <a:solidFill>
              <a:srgbClr val="2A3550"/>
            </a:solidFill>
            <a:prstDash val="solid"/>
          </a:ln>
        </p:spPr>
      </p:sp>
      <p:pic>
        <p:nvPicPr>
          <p:cNvPr id="27" name="OpenAI logo 2" descr="/private/tmp/claude-503/-Users-davark-Downloads-Everything-Github-Alodi-Regional-Codex-Hackathon-2026/91e569a8-486f-4c0b-b683-a4991468f039/scratchpad/deck/assets/openai-white.png">    </p:cNvPr>
          <p:cNvPicPr>
            <a:picLocks noChangeAspect="1"/>
          </p:cNvPicPr>
          <p:nvPr/>
        </p:nvPicPr>
        <p:blipFill>
          <a:blip r:embed="rId3"/>
          <a:stretch>
            <a:fillRect/>
          </a:stretch>
        </p:blipFill>
        <p:spPr>
          <a:xfrm>
            <a:off x="6364224" y="2304288"/>
            <a:ext cx="274320" cy="274320"/>
          </a:xfrm>
          <a:prstGeom prst="rect">
            <a:avLst/>
          </a:prstGeom>
        </p:spPr>
      </p:pic>
      <p:sp>
        <p:nvSpPr>
          <p:cNvPr id="28" name="Text 23"/>
          <p:cNvSpPr txBox="1"/>
          <p:nvPr/>
        </p:nvSpPr>
        <p:spPr>
          <a:xfrm>
            <a:off x="6729984" y="2340864"/>
            <a:ext cx="1828800" cy="201168"/>
          </a:xfrm>
          <a:prstGeom prst="rect">
            <a:avLst/>
          </a:prstGeom>
          <a:noFill/>
          <a:ln/>
        </p:spPr>
        <p:txBody>
          <a:bodyPr wrap="square" lIns="0" tIns="0" rIns="0" bIns="0" rtlCol="0" anchor="ctr"/>
          <a:lstStyle/>
          <a:p>
            <a:pPr indent="0" marL="0">
              <a:buNone/>
            </a:pPr>
            <a:r>
              <a:rPr lang="en-US" sz="850" b="1" spc="150" kern="0" dirty="0">
                <a:solidFill>
                  <a:srgbClr val="F05A00"/>
                </a:solidFill>
                <a:latin typeface="Arial" pitchFamily="34" charset="0"/>
                <a:ea typeface="Arial" pitchFamily="34" charset="-122"/>
                <a:cs typeface="Arial" pitchFamily="34" charset="-120"/>
              </a:rPr>
              <a:t>MEMO</a:t>
            </a:r>
            <a:endParaRPr lang="en-US" sz="850" dirty="0"/>
          </a:p>
        </p:txBody>
      </p:sp>
      <p:sp>
        <p:nvSpPr>
          <p:cNvPr id="29" name="Text 24"/>
          <p:cNvSpPr txBox="1"/>
          <p:nvPr/>
        </p:nvSpPr>
        <p:spPr>
          <a:xfrm>
            <a:off x="6364224" y="2697480"/>
            <a:ext cx="2359152" cy="329184"/>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GPT Transcribe</a:t>
            </a:r>
            <a:endParaRPr lang="en-US" sz="1800" dirty="0"/>
          </a:p>
        </p:txBody>
      </p:sp>
      <p:sp>
        <p:nvSpPr>
          <p:cNvPr id="30" name="Text 25"/>
          <p:cNvSpPr txBox="1"/>
          <p:nvPr/>
        </p:nvSpPr>
        <p:spPr>
          <a:xfrm>
            <a:off x="6364224" y="3017520"/>
            <a:ext cx="2359152" cy="237744"/>
          </a:xfrm>
          <a:prstGeom prst="rect">
            <a:avLst/>
          </a:prstGeom>
          <a:noFill/>
          <a:ln/>
        </p:spPr>
        <p:txBody>
          <a:bodyPr wrap="square" lIns="0" tIns="0" rIns="0" bIns="0" rtlCol="0" anchor="ctr"/>
          <a:lstStyle/>
          <a:p>
            <a:pPr indent="0" marL="0">
              <a:buNone/>
            </a:pPr>
            <a:r>
              <a:rPr lang="en-US" sz="1100" dirty="0">
                <a:solidFill>
                  <a:srgbClr val="9AA3B8"/>
                </a:solidFill>
                <a:latin typeface="Arial" pitchFamily="34" charset="0"/>
                <a:ea typeface="Arial" pitchFamily="34" charset="-122"/>
                <a:cs typeface="Arial" pitchFamily="34" charset="-120"/>
              </a:rPr>
              <a:t>Audio transcriptions</a:t>
            </a:r>
            <a:endParaRPr lang="en-US" sz="1100" dirty="0"/>
          </a:p>
        </p:txBody>
      </p:sp>
      <p:sp>
        <p:nvSpPr>
          <p:cNvPr id="31" name="Text 26"/>
          <p:cNvSpPr txBox="1"/>
          <p:nvPr/>
        </p:nvSpPr>
        <p:spPr>
          <a:xfrm>
            <a:off x="6364224" y="3291840"/>
            <a:ext cx="2322576" cy="841248"/>
          </a:xfrm>
          <a:prstGeom prst="rect">
            <a:avLst/>
          </a:prstGeom>
          <a:noFill/>
          <a:ln/>
        </p:spPr>
        <p:txBody>
          <a:bodyPr wrap="square" lIns="0" tIns="0" rIns="0" bIns="0" rtlCol="0" anchor="t"/>
          <a:lstStyle/>
          <a:p>
            <a:pPr indent="0" marL="0">
              <a:buNone/>
            </a:pPr>
            <a:r>
              <a:rPr lang="en-US" sz="1200" dirty="0">
                <a:solidFill>
                  <a:srgbClr val="DEE2EA"/>
                </a:solidFill>
                <a:latin typeface="Arial" pitchFamily="34" charset="0"/>
                <a:ea typeface="Arial" pitchFamily="34" charset="-122"/>
                <a:cs typeface="Arial" pitchFamily="34" charset="-120"/>
              </a:rPr>
              <a:t>Turns the courier’s 10-second voice memo into text the agent can read.</a:t>
            </a:r>
            <a:endParaRPr lang="en-US" sz="1200" dirty="0"/>
          </a:p>
        </p:txBody>
      </p:sp>
      <p:sp>
        <p:nvSpPr>
          <p:cNvPr id="32" name="API rule 2"/>
          <p:cNvSpPr/>
          <p:nvPr/>
        </p:nvSpPr>
        <p:spPr>
          <a:xfrm>
            <a:off x="6364224" y="4187952"/>
            <a:ext cx="2267712" cy="0"/>
          </a:xfrm>
          <a:prstGeom prst="line">
            <a:avLst/>
          </a:prstGeom>
          <a:noFill/>
          <a:ln w="9525">
            <a:solidFill>
              <a:srgbClr val="2A3550"/>
            </a:solidFill>
            <a:prstDash val="solid"/>
          </a:ln>
        </p:spPr>
      </p:sp>
      <p:sp>
        <p:nvSpPr>
          <p:cNvPr id="33" name="Text 28"/>
          <p:cNvSpPr txBox="1"/>
          <p:nvPr/>
        </p:nvSpPr>
        <p:spPr>
          <a:xfrm>
            <a:off x="6364224" y="4261104"/>
            <a:ext cx="2359152"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/v1/audio/transcriptions</a:t>
            </a:r>
            <a:endParaRPr lang="en-US" sz="1100" dirty="0"/>
          </a:p>
        </p:txBody>
      </p:sp>
      <p:sp>
        <p:nvSpPr>
          <p:cNvPr id="34" name="Text 29"/>
          <p:cNvSpPr txBox="1"/>
          <p:nvPr/>
        </p:nvSpPr>
        <p:spPr>
          <a:xfrm>
            <a:off x="6364224" y="4498848"/>
            <a:ext cx="2359152" cy="237744"/>
          </a:xfrm>
          <a:prstGeom prst="rect">
            <a:avLst/>
          </a:prstGeom>
          <a:noFill/>
          <a:ln/>
        </p:spPr>
        <p:txBody>
          <a:bodyPr wrap="square" lIns="0" tIns="0" rIns="0" bIns="0" rtlCol="0" anchor="ctr"/>
          <a:lstStyle/>
          <a:p>
            <a:pPr indent="0" marL="0">
              <a:buNone/>
            </a:pPr>
            <a:r>
              <a:rPr lang="en-US" sz="1050" dirty="0">
                <a:solidFill>
                  <a:srgbClr val="9AA3B8"/>
                </a:solidFill>
                <a:latin typeface="Arial" pitchFamily="34" charset="0"/>
                <a:ea typeface="Arial" pitchFamily="34" charset="-122"/>
                <a:cs typeface="Arial" pitchFamily="34" charset="-120"/>
              </a:rPr>
              <a:t>Reschedules with a memo</a:t>
            </a:r>
            <a:endParaRPr lang="en-US" sz="1050" dirty="0"/>
          </a:p>
        </p:txBody>
      </p:sp>
      <p:sp>
        <p:nvSpPr>
          <p:cNvPr id="35" name="Arrow 2"/>
          <p:cNvSpPr/>
          <p:nvPr/>
        </p:nvSpPr>
        <p:spPr>
          <a:xfrm>
            <a:off x="8833104" y="3474720"/>
            <a:ext cx="137160" cy="0"/>
          </a:xfrm>
          <a:prstGeom prst="line">
            <a:avLst/>
          </a:prstGeom>
          <a:noFill/>
          <a:ln w="12700">
            <a:solidFill>
              <a:srgbClr val="98A0B2"/>
            </a:solidFill>
            <a:prstDash val="solid"/>
            <a:tailEnd type="triangle"/>
          </a:ln>
        </p:spPr>
      </p:sp>
      <p:sp>
        <p:nvSpPr>
          <p:cNvPr id="36" name="API 4"/>
          <p:cNvSpPr/>
          <p:nvPr/>
        </p:nvSpPr>
        <p:spPr>
          <a:xfrm>
            <a:off x="8970264" y="2103120"/>
            <a:ext cx="2670048" cy="2788920"/>
          </a:xfrm>
          <a:prstGeom prst="roundRect">
            <a:avLst>
              <a:gd name="adj" fmla="val 4795"/>
            </a:avLst>
          </a:prstGeom>
          <a:solidFill>
            <a:srgbClr val="FFFFFF"/>
          </a:solidFill>
          <a:ln/>
        </p:spPr>
      </p:sp>
      <p:pic>
        <p:nvPicPr>
          <p:cNvPr id="37" name="OpenAI logo 3" descr="/private/tmp/claude-503/-Users-davark-Downloads-Everything-Github-Alodi-Regional-Codex-Hackathon-2026/91e569a8-486f-4c0b-b683-a4991468f039/scratchpad/deck/assets/openai-ink.png">    </p:cNvPr>
          <p:cNvPicPr>
            <a:picLocks noChangeAspect="1"/>
          </p:cNvPicPr>
          <p:nvPr/>
        </p:nvPicPr>
        <p:blipFill>
          <a:blip r:embed="rId4"/>
          <a:stretch>
            <a:fillRect/>
          </a:stretch>
        </p:blipFill>
        <p:spPr>
          <a:xfrm>
            <a:off x="9171432" y="2304288"/>
            <a:ext cx="274320" cy="274320"/>
          </a:xfrm>
          <a:prstGeom prst="rect">
            <a:avLst/>
          </a:prstGeom>
        </p:spPr>
      </p:pic>
      <p:sp>
        <p:nvSpPr>
          <p:cNvPr id="38" name="Text 32"/>
          <p:cNvSpPr txBox="1"/>
          <p:nvPr/>
        </p:nvSpPr>
        <p:spPr>
          <a:xfrm>
            <a:off x="9537192" y="2340864"/>
            <a:ext cx="1828800" cy="201168"/>
          </a:xfrm>
          <a:prstGeom prst="rect">
            <a:avLst/>
          </a:prstGeom>
          <a:noFill/>
          <a:ln/>
        </p:spPr>
        <p:txBody>
          <a:bodyPr wrap="square" lIns="0" tIns="0" rIns="0" bIns="0" rtlCol="0" anchor="ctr"/>
          <a:lstStyle/>
          <a:p>
            <a:pPr indent="0" marL="0">
              <a:buNone/>
            </a:pPr>
            <a:r>
              <a:rPr lang="en-US" sz="850" b="1" spc="150" kern="0" dirty="0">
                <a:solidFill>
                  <a:srgbClr val="F05A00"/>
                </a:solidFill>
                <a:latin typeface="Arial" pitchFamily="34" charset="0"/>
                <a:ea typeface="Arial" pitchFamily="34" charset="-122"/>
                <a:cs typeface="Arial" pitchFamily="34" charset="-120"/>
              </a:rPr>
              <a:t>AGENT</a:t>
            </a:r>
            <a:endParaRPr lang="en-US" sz="850" dirty="0"/>
          </a:p>
        </p:txBody>
      </p:sp>
      <p:sp>
        <p:nvSpPr>
          <p:cNvPr id="39" name="Text 33"/>
          <p:cNvSpPr txBox="1"/>
          <p:nvPr/>
        </p:nvSpPr>
        <p:spPr>
          <a:xfrm>
            <a:off x="9171432"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GPT-6.1 Terra</a:t>
            </a:r>
            <a:endParaRPr lang="en-US" sz="1800" dirty="0"/>
          </a:p>
        </p:txBody>
      </p:sp>
      <p:sp>
        <p:nvSpPr>
          <p:cNvPr id="40" name="Text 34"/>
          <p:cNvSpPr txBox="1"/>
          <p:nvPr/>
        </p:nvSpPr>
        <p:spPr>
          <a:xfrm>
            <a:off x="9171432" y="3017520"/>
            <a:ext cx="2359152" cy="237744"/>
          </a:xfrm>
          <a:prstGeom prst="rect">
            <a:avLst/>
          </a:prstGeom>
          <a:noFill/>
          <a:ln/>
        </p:spPr>
        <p:txBody>
          <a:bodyPr wrap="square" lIns="0" tIns="0" rIns="0" bIns="0" rtlCol="0" anchor="ctr"/>
          <a:lstStyle/>
          <a:p>
            <a:pPr indent="0" marL="0">
              <a:buNone/>
            </a:pPr>
            <a:r>
              <a:rPr lang="en-US" sz="1100" dirty="0">
                <a:solidFill>
                  <a:srgbClr val="464E62"/>
                </a:solidFill>
                <a:latin typeface="Arial" pitchFamily="34" charset="0"/>
                <a:ea typeface="Arial" pitchFamily="34" charset="-122"/>
                <a:cs typeface="Arial" pitchFamily="34" charset="-120"/>
              </a:rPr>
              <a:t>Responses API, Agents SDK</a:t>
            </a:r>
            <a:endParaRPr lang="en-US" sz="1100" dirty="0"/>
          </a:p>
        </p:txBody>
      </p:sp>
      <p:sp>
        <p:nvSpPr>
          <p:cNvPr id="41" name="Text 35"/>
          <p:cNvSpPr txBox="1"/>
          <p:nvPr/>
        </p:nvSpPr>
        <p:spPr>
          <a:xfrm>
            <a:off x="9171432" y="3291840"/>
            <a:ext cx="2322576" cy="841248"/>
          </a:xfrm>
          <a:prstGeom prst="rect">
            <a:avLst/>
          </a:prstGeom>
          <a:noFill/>
          <a:ln/>
        </p:spPr>
        <p:txBody>
          <a:bodyPr wrap="square" lIns="0" tIns="0" rIns="0" bIns="0" rtlCol="0" anchor="t"/>
          <a:lstStyle/>
          <a:p>
            <a:pPr indent="0" marL="0">
              <a:buNone/>
            </a:pPr>
            <a:r>
              <a:rPr lang="en-US" sz="1200" dirty="0">
                <a:solidFill>
                  <a:srgbClr val="2A3144"/>
                </a:solidFill>
                <a:latin typeface="Arial" pitchFamily="34" charset="0"/>
                <a:ea typeface="Arial" pitchFamily="34" charset="-122"/>
                <a:cs typeface="Arial" pitchFamily="34" charset="-120"/>
              </a:rPr>
              <a:t>Runs the case under policy and writes the card with Structured Outputs.</a:t>
            </a:r>
            <a:endParaRPr lang="en-US" sz="1200" dirty="0"/>
          </a:p>
        </p:txBody>
      </p:sp>
      <p:sp>
        <p:nvSpPr>
          <p:cNvPr id="42" name="API rule 3"/>
          <p:cNvSpPr/>
          <p:nvPr/>
        </p:nvSpPr>
        <p:spPr>
          <a:xfrm>
            <a:off x="9171432" y="4187952"/>
            <a:ext cx="2267712" cy="0"/>
          </a:xfrm>
          <a:prstGeom prst="line">
            <a:avLst/>
          </a:prstGeom>
          <a:noFill/>
          <a:ln w="9525">
            <a:solidFill>
              <a:srgbClr val="E3E5EA"/>
            </a:solidFill>
            <a:prstDash val="solid"/>
          </a:ln>
        </p:spPr>
      </p:sp>
      <p:sp>
        <p:nvSpPr>
          <p:cNvPr id="43" name="Text 37"/>
          <p:cNvSpPr txBox="1"/>
          <p:nvPr/>
        </p:nvSpPr>
        <p:spPr>
          <a:xfrm>
            <a:off x="9171432" y="4261104"/>
            <a:ext cx="2359152"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/v1/responses</a:t>
            </a:r>
            <a:endParaRPr lang="en-US" sz="1100" dirty="0"/>
          </a:p>
        </p:txBody>
      </p:sp>
      <p:sp>
        <p:nvSpPr>
          <p:cNvPr id="44" name="Text 38"/>
          <p:cNvSpPr txBox="1"/>
          <p:nvPr/>
        </p:nvSpPr>
        <p:spPr>
          <a:xfrm>
            <a:off x="9171432" y="4498848"/>
            <a:ext cx="2359152" cy="237744"/>
          </a:xfrm>
          <a:prstGeom prst="rect">
            <a:avLst/>
          </a:prstGeom>
          <a:noFill/>
          <a:ln/>
        </p:spPr>
        <p:txBody>
          <a:bodyPr wrap="square" lIns="0" tIns="0" rIns="0" bIns="0" rtlCol="0" anchor="ctr"/>
          <a:lstStyle/>
          <a:p>
            <a:pPr indent="0" marL="0">
              <a:buNone/>
            </a:pPr>
            <a:r>
              <a:rPr lang="en-US" sz="1050" dirty="0">
                <a:solidFill>
                  <a:srgbClr val="464E62"/>
                </a:solidFill>
                <a:latin typeface="Arial" pitchFamily="34" charset="0"/>
                <a:ea typeface="Arial" pitchFamily="34" charset="-122"/>
                <a:cs typeface="Arial" pitchFamily="34" charset="-120"/>
              </a:rPr>
              <a:t>≈ 20% of traffic, after triage</a:t>
            </a:r>
            <a:endParaRPr lang="en-US" sz="1050" dirty="0"/>
          </a:p>
        </p:txBody>
      </p:sp>
      <p:pic>
        <p:nvPicPr>
          <p:cNvPr id="45" name="Also logo 0" descr="/private/tmp/claude-503/-Users-davark-Downloads-Everything-Github-Alodi-Regional-Codex-Hackathon-2026/91e569a8-486f-4c0b-b683-a4991468f039/scratchpad/deck/assets/openai-white.png">    </p:cNvPr>
          <p:cNvPicPr>
            <a:picLocks noChangeAspect="1"/>
          </p:cNvPicPr>
          <p:nvPr/>
        </p:nvPicPr>
        <p:blipFill>
          <a:blip r:embed="rId5"/>
          <a:stretch>
            <a:fillRect/>
          </a:stretch>
        </p:blipFill>
        <p:spPr>
          <a:xfrm>
            <a:off x="548640" y="5175504"/>
            <a:ext cx="201168" cy="201168"/>
          </a:xfrm>
          <a:prstGeom prst="rect">
            <a:avLst/>
          </a:prstGeom>
        </p:spPr>
      </p:pic>
      <p:sp>
        <p:nvSpPr>
          <p:cNvPr id="46" name="Text 39"/>
          <p:cNvSpPr txBox="1"/>
          <p:nvPr/>
        </p:nvSpPr>
        <p:spPr>
          <a:xfrm>
            <a:off x="841248" y="5120640"/>
            <a:ext cx="2331720" cy="256032"/>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Structured Outputs</a:t>
            </a:r>
            <a:endParaRPr lang="en-US" sz="1250" dirty="0"/>
          </a:p>
        </p:txBody>
      </p:sp>
      <p:sp>
        <p:nvSpPr>
          <p:cNvPr id="47" name="Text 40"/>
          <p:cNvSpPr txBox="1"/>
          <p:nvPr/>
        </p:nvSpPr>
        <p:spPr>
          <a:xfrm>
            <a:off x="841248" y="5376672"/>
            <a:ext cx="2377440" cy="237744"/>
          </a:xfrm>
          <a:prstGeom prst="rect">
            <a:avLst/>
          </a:prstGeom>
          <a:noFill/>
          <a:ln/>
        </p:spPr>
        <p:txBody>
          <a:bodyPr wrap="square" lIns="0" tIns="0" rIns="0" bIns="0" rtlCol="0" anchor="ctr"/>
          <a:lstStyle/>
          <a:p>
            <a:pPr indent="0" marL="0">
              <a:buNone/>
            </a:pPr>
            <a:r>
              <a:rPr lang="en-US" sz="1100" dirty="0">
                <a:solidFill>
                  <a:srgbClr val="D2D7E1"/>
                </a:solidFill>
                <a:latin typeface="Arial" pitchFamily="34" charset="0"/>
                <a:ea typeface="Arial" pitchFamily="34" charset="-122"/>
                <a:cs typeface="Arial" pitchFamily="34" charset="-120"/>
              </a:rPr>
              <a:t>the context card schema</a:t>
            </a:r>
            <a:endParaRPr lang="en-US" sz="1100" dirty="0"/>
          </a:p>
        </p:txBody>
      </p:sp>
      <p:pic>
        <p:nvPicPr>
          <p:cNvPr id="48" name="Also logo 1" descr="/private/tmp/claude-503/-Users-davark-Downloads-Everything-Github-Alodi-Regional-Codex-Hackathon-2026/91e569a8-486f-4c0b-b683-a4991468f039/scratchpad/deck/assets/openai-white.png">    </p:cNvPr>
          <p:cNvPicPr>
            <a:picLocks noChangeAspect="1"/>
          </p:cNvPicPr>
          <p:nvPr/>
        </p:nvPicPr>
        <p:blipFill>
          <a:blip r:embed="rId6"/>
          <a:stretch>
            <a:fillRect/>
          </a:stretch>
        </p:blipFill>
        <p:spPr>
          <a:xfrm>
            <a:off x="3355848" y="5175504"/>
            <a:ext cx="201168" cy="201168"/>
          </a:xfrm>
          <a:prstGeom prst="rect">
            <a:avLst/>
          </a:prstGeom>
        </p:spPr>
      </p:pic>
      <p:sp>
        <p:nvSpPr>
          <p:cNvPr id="49" name="Text 41"/>
          <p:cNvSpPr txBox="1"/>
          <p:nvPr/>
        </p:nvSpPr>
        <p:spPr>
          <a:xfrm>
            <a:off x="3648456" y="5120640"/>
            <a:ext cx="2331720" cy="256032"/>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Evals</a:t>
            </a:r>
            <a:endParaRPr lang="en-US" sz="1250" dirty="0"/>
          </a:p>
        </p:txBody>
      </p:sp>
      <p:sp>
        <p:nvSpPr>
          <p:cNvPr id="50" name="Text 42"/>
          <p:cNvSpPr txBox="1"/>
          <p:nvPr/>
        </p:nvSpPr>
        <p:spPr>
          <a:xfrm>
            <a:off x="3648456" y="5376672"/>
            <a:ext cx="2377440" cy="237744"/>
          </a:xfrm>
          <a:prstGeom prst="rect">
            <a:avLst/>
          </a:prstGeom>
          <a:noFill/>
          <a:ln/>
        </p:spPr>
        <p:txBody>
          <a:bodyPr wrap="square" lIns="0" tIns="0" rIns="0" bIns="0" rtlCol="0" anchor="ctr"/>
          <a:lstStyle/>
          <a:p>
            <a:pPr indent="0" marL="0">
              <a:buNone/>
            </a:pPr>
            <a:r>
              <a:rPr lang="en-US" sz="1100" dirty="0">
                <a:solidFill>
                  <a:srgbClr val="D2D7E1"/>
                </a:solidFill>
                <a:latin typeface="Arial" pitchFamily="34" charset="0"/>
                <a:ea typeface="Arial" pitchFamily="34" charset="-122"/>
                <a:cs typeface="Arial" pitchFamily="34" charset="-120"/>
              </a:rPr>
              <a:t>gate every prompt change</a:t>
            </a:r>
            <a:endParaRPr lang="en-US" sz="1100" dirty="0"/>
          </a:p>
        </p:txBody>
      </p:sp>
      <p:pic>
        <p:nvPicPr>
          <p:cNvPr id="51" name="Also logo 2" descr="/private/tmp/claude-503/-Users-davark-Downloads-Everything-Github-Alodi-Regional-Codex-Hackathon-2026/91e569a8-486f-4c0b-b683-a4991468f039/scratchpad/deck/assets/openai-white.png">    </p:cNvPr>
          <p:cNvPicPr>
            <a:picLocks noChangeAspect="1"/>
          </p:cNvPicPr>
          <p:nvPr/>
        </p:nvPicPr>
        <p:blipFill>
          <a:blip r:embed="rId7"/>
          <a:stretch>
            <a:fillRect/>
          </a:stretch>
        </p:blipFill>
        <p:spPr>
          <a:xfrm>
            <a:off x="6163056" y="5175504"/>
            <a:ext cx="201168" cy="201168"/>
          </a:xfrm>
          <a:prstGeom prst="rect">
            <a:avLst/>
          </a:prstGeom>
        </p:spPr>
      </p:pic>
      <p:sp>
        <p:nvSpPr>
          <p:cNvPr id="52" name="Text 43"/>
          <p:cNvSpPr txBox="1"/>
          <p:nvPr/>
        </p:nvSpPr>
        <p:spPr>
          <a:xfrm>
            <a:off x="6455664" y="5120640"/>
            <a:ext cx="2331720" cy="256032"/>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gpt-oss-20b</a:t>
            </a:r>
            <a:endParaRPr lang="en-US" sz="1250" dirty="0"/>
          </a:p>
        </p:txBody>
      </p:sp>
      <p:sp>
        <p:nvSpPr>
          <p:cNvPr id="53" name="Text 44"/>
          <p:cNvSpPr txBox="1"/>
          <p:nvPr/>
        </p:nvSpPr>
        <p:spPr>
          <a:xfrm>
            <a:off x="6455664" y="5376672"/>
            <a:ext cx="2377440" cy="237744"/>
          </a:xfrm>
          <a:prstGeom prst="rect">
            <a:avLst/>
          </a:prstGeom>
          <a:noFill/>
          <a:ln/>
        </p:spPr>
        <p:txBody>
          <a:bodyPr wrap="square" lIns="0" tIns="0" rIns="0" bIns="0" rtlCol="0" anchor="ctr"/>
          <a:lstStyle/>
          <a:p>
            <a:pPr indent="0" marL="0">
              <a:buNone/>
            </a:pPr>
            <a:r>
              <a:rPr lang="en-US" sz="1100" dirty="0">
                <a:solidFill>
                  <a:srgbClr val="D2D7E1"/>
                </a:solidFill>
                <a:latin typeface="Arial" pitchFamily="34" charset="0"/>
                <a:ea typeface="Arial" pitchFamily="34" charset="-122"/>
                <a:cs typeface="Arial" pitchFamily="34" charset="-120"/>
              </a:rPr>
              <a:t>offline fallback</a:t>
            </a:r>
            <a:endParaRPr lang="en-US" sz="1100" dirty="0"/>
          </a:p>
        </p:txBody>
      </p:sp>
      <p:pic>
        <p:nvPicPr>
          <p:cNvPr id="54" name="Also logo 3" descr="/private/tmp/claude-503/-Users-davark-Downloads-Everything-Github-Alodi-Regional-Codex-Hackathon-2026/91e569a8-486f-4c0b-b683-a4991468f039/scratchpad/deck/assets/openai-white.png">    </p:cNvPr>
          <p:cNvPicPr>
            <a:picLocks noChangeAspect="1"/>
          </p:cNvPicPr>
          <p:nvPr/>
        </p:nvPicPr>
        <p:blipFill>
          <a:blip r:embed="rId8"/>
          <a:stretch>
            <a:fillRect/>
          </a:stretch>
        </p:blipFill>
        <p:spPr>
          <a:xfrm>
            <a:off x="8970264" y="5175504"/>
            <a:ext cx="201168" cy="201168"/>
          </a:xfrm>
          <a:prstGeom prst="rect">
            <a:avLst/>
          </a:prstGeom>
        </p:spPr>
      </p:pic>
      <p:sp>
        <p:nvSpPr>
          <p:cNvPr id="55" name="Text 45"/>
          <p:cNvSpPr txBox="1"/>
          <p:nvPr/>
        </p:nvSpPr>
        <p:spPr>
          <a:xfrm>
            <a:off x="9262872" y="5120640"/>
            <a:ext cx="2331720" cy="256032"/>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Codex</a:t>
            </a:r>
            <a:endParaRPr lang="en-US" sz="1250" dirty="0"/>
          </a:p>
        </p:txBody>
      </p:sp>
      <p:sp>
        <p:nvSpPr>
          <p:cNvPr id="56" name="Text 46"/>
          <p:cNvSpPr txBox="1"/>
          <p:nvPr/>
        </p:nvSpPr>
        <p:spPr>
          <a:xfrm>
            <a:off x="9262872" y="5376672"/>
            <a:ext cx="2377440" cy="237744"/>
          </a:xfrm>
          <a:prstGeom prst="rect">
            <a:avLst/>
          </a:prstGeom>
          <a:noFill/>
          <a:ln/>
        </p:spPr>
        <p:txBody>
          <a:bodyPr wrap="square" lIns="0" tIns="0" rIns="0" bIns="0" rtlCol="0" anchor="ctr"/>
          <a:lstStyle/>
          <a:p>
            <a:pPr indent="0" marL="0">
              <a:buNone/>
            </a:pPr>
            <a:r>
              <a:rPr lang="en-US" sz="1100" dirty="0">
                <a:solidFill>
                  <a:srgbClr val="D2D7E1"/>
                </a:solidFill>
                <a:latin typeface="Arial" pitchFamily="34" charset="0"/>
                <a:ea typeface="Arial" pitchFamily="34" charset="-122"/>
                <a:cs typeface="Arial" pitchFamily="34" charset="-120"/>
              </a:rPr>
              <a:t>spec → build → review</a:t>
            </a:r>
            <a:endParaRPr lang="en-US" sz="1100" dirty="0"/>
          </a:p>
        </p:txBody>
      </p:sp>
      <p:sp>
        <p:nvSpPr>
          <p:cNvPr id="57" name="Text 47"/>
          <p:cNvSpPr txBox="1"/>
          <p:nvPr/>
        </p:nvSpPr>
        <p:spPr>
          <a:xfrm>
            <a:off x="548640" y="5788152"/>
            <a:ext cx="11064240" cy="237744"/>
          </a:xfrm>
          <a:prstGeom prst="rect">
            <a:avLst/>
          </a:prstGeom>
          <a:noFill/>
          <a:ln/>
        </p:spPr>
        <p:txBody>
          <a:bodyPr wrap="square" lIns="0" tIns="0" rIns="0" bIns="0" rtlCol="0" anchor="ctr"/>
          <a:lstStyle/>
          <a:p>
            <a:pPr indent="0" marL="0">
              <a:buNone/>
            </a:pPr>
            <a:r>
              <a:rPr lang="en-US" sz="1000" dirty="0">
                <a:solidFill>
                  <a:srgbClr val="9AA3B8"/>
                </a:solidFill>
                <a:latin typeface="Arial" pitchFamily="34" charset="0"/>
                <a:ea typeface="Arial" pitchFamily="34" charset="-122"/>
                <a:cs typeface="Arial" pitchFamily="34" charset="-120"/>
              </a:rPr>
              <a:t>Demo build: GPT-Live-1, GPT Transcribe, GPT-6.1 Terra. Decisions API, Agents SDK, Evals and gpt-oss-20b are the production design. [10][11]</a:t>
            </a:r>
            <a:endParaRPr lang="en-US" sz="1000" dirty="0"/>
          </a:p>
        </p:txBody>
      </p:sp>
      <p:sp>
        <p:nvSpPr>
          <p:cNvPr id="58" name="Text 48"/>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98A0B2"/>
                </a:solidFill>
                <a:latin typeface="Arial" pitchFamily="34" charset="0"/>
                <a:ea typeface="Arial" pitchFamily="34" charset="-122"/>
                <a:cs typeface="Arial"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06  </a:t>
            </a:r>
            <a:pPr indent="0" marL="0">
              <a:buNone/>
            </a:pPr>
            <a:r>
              <a:rPr lang="en-US" sz="1050" b="1" spc="200" kern="0" dirty="0">
                <a:solidFill>
                  <a:srgbClr val="1F2A44"/>
                </a:solidFill>
                <a:latin typeface="Arial" pitchFamily="34" charset="0"/>
                <a:ea typeface="Arial" pitchFamily="34" charset="-122"/>
                <a:cs typeface="Arial" pitchFamily="34" charset="-120"/>
              </a:rPr>
              <a:t>METRICS &amp; OUTPUT</a:t>
            </a:r>
            <a:endParaRPr lang="en-US" sz="1050" dirty="0"/>
          </a:p>
        </p:txBody>
      </p:sp>
      <p:sp>
        <p:nvSpPr>
          <p:cNvPr id="4" name="Text 2"/>
          <p:cNvSpPr txBox="1"/>
          <p:nvPr/>
        </p:nvSpPr>
        <p:spPr>
          <a:xfrm>
            <a:off x="548640" y="841248"/>
            <a:ext cx="7315200" cy="731520"/>
          </a:xfrm>
          <a:prstGeom prst="rect">
            <a:avLst/>
          </a:prstGeom>
          <a:noFill/>
          <a:ln/>
        </p:spPr>
        <p:txBody>
          <a:bodyPr wrap="square" lIns="0" tIns="0" rIns="0" bIns="0" rtlCol="0" anchor="t"/>
          <a:lstStyle/>
          <a:p>
            <a:pPr indent="0" marL="0">
              <a:lnSpc>
                <a:spcPct val="95000"/>
              </a:lnSpc>
              <a:buNone/>
            </a:pPr>
            <a:r>
              <a:rPr lang="en-US" sz="2800" b="1" dirty="0">
                <a:solidFill>
                  <a:srgbClr val="98A0B2"/>
                </a:solidFill>
                <a:latin typeface="Arial" pitchFamily="34" charset="0"/>
                <a:ea typeface="Arial" pitchFamily="34" charset="-122"/>
                <a:cs typeface="Arial" pitchFamily="34" charset="-120"/>
              </a:rPr>
              <a:t>Measured on stage.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Projected for one area.</a:t>
            </a:r>
            <a:endParaRPr lang="en-US" sz="2800" dirty="0"/>
          </a:p>
        </p:txBody>
      </p:sp>
      <p:sp>
        <p:nvSpPr>
          <p:cNvPr id="5" name="Money card"/>
          <p:cNvSpPr/>
          <p:nvPr/>
        </p:nvSpPr>
        <p:spPr>
          <a:xfrm>
            <a:off x="548640" y="1645920"/>
            <a:ext cx="3246120" cy="4389120"/>
          </a:xfrm>
          <a:prstGeom prst="roundRect">
            <a:avLst>
              <a:gd name="adj" fmla="val 3944"/>
            </a:avLst>
          </a:prstGeom>
          <a:solidFill>
            <a:srgbClr val="121A2C"/>
          </a:solidFill>
          <a:ln/>
        </p:spPr>
      </p:sp>
      <p:sp>
        <p:nvSpPr>
          <p:cNvPr id="6" name="Text 4"/>
          <p:cNvSpPr txBox="1"/>
          <p:nvPr/>
        </p:nvSpPr>
        <p:spPr>
          <a:xfrm>
            <a:off x="804672" y="1874520"/>
            <a:ext cx="2834640" cy="219456"/>
          </a:xfrm>
          <a:prstGeom prst="rect">
            <a:avLst/>
          </a:prstGeom>
          <a:noFill/>
          <a:ln/>
        </p:spPr>
        <p:txBody>
          <a:bodyPr wrap="square" lIns="0" tIns="0" rIns="0" bIns="0" rtlCol="0" anchor="ctr"/>
          <a:lstStyle/>
          <a:p>
            <a:pPr indent="0" marL="0">
              <a:buNone/>
            </a:pPr>
            <a:r>
              <a:rPr lang="en-US" sz="900" spc="150" kern="0" dirty="0">
                <a:solidFill>
                  <a:srgbClr val="6B7285"/>
                </a:solidFill>
                <a:latin typeface="Arial" pitchFamily="34" charset="0"/>
                <a:ea typeface="Arial" pitchFamily="34" charset="-122"/>
                <a:cs typeface="Arial" pitchFamily="34" charset="-120"/>
              </a:rPr>
              <a:t>NET SAVING · ONE AREA, A MONTH</a:t>
            </a:r>
            <a:endParaRPr lang="en-US" sz="900" dirty="0"/>
          </a:p>
        </p:txBody>
      </p:sp>
      <p:sp>
        <p:nvSpPr>
          <p:cNvPr id="7" name="Text 5"/>
          <p:cNvSpPr txBox="1"/>
          <p:nvPr/>
        </p:nvSpPr>
        <p:spPr>
          <a:xfrm>
            <a:off x="804672" y="2121408"/>
            <a:ext cx="2834640" cy="868680"/>
          </a:xfrm>
          <a:prstGeom prst="rect">
            <a:avLst/>
          </a:prstGeom>
          <a:noFill/>
          <a:ln/>
        </p:spPr>
        <p:txBody>
          <a:bodyPr wrap="square" lIns="0" tIns="0" rIns="0" bIns="0" rtlCol="0" anchor="ctr"/>
          <a:lstStyle/>
          <a:p>
            <a:pPr indent="0" marL="0">
              <a:buNone/>
            </a:pPr>
            <a:r>
              <a:rPr lang="en-US" sz="5200" b="1" dirty="0">
                <a:solidFill>
                  <a:srgbClr val="F05A00"/>
                </a:solidFill>
                <a:latin typeface="Arial" pitchFamily="34" charset="0"/>
                <a:ea typeface="Arial" pitchFamily="34" charset="-122"/>
                <a:cs typeface="Arial" pitchFamily="34" charset="-120"/>
              </a:rPr>
              <a:t>₫</a:t>
            </a:r>
            <a:pPr indent="0" marL="0">
              <a:buNone/>
            </a:pPr>
            <a:r>
              <a:rPr lang="en-US" sz="5200" b="1" dirty="0">
                <a:solidFill>
                  <a:srgbClr val="FFFFFF"/>
                </a:solidFill>
                <a:latin typeface="Arial" pitchFamily="34" charset="0"/>
                <a:ea typeface="Arial" pitchFamily="34" charset="-122"/>
                <a:cs typeface="Arial" pitchFamily="34" charset="-120"/>
              </a:rPr>
              <a:t>187M</a:t>
            </a:r>
            <a:endParaRPr lang="en-US" sz="5200" dirty="0"/>
          </a:p>
        </p:txBody>
      </p:sp>
      <p:sp>
        <p:nvSpPr>
          <p:cNvPr id="8" name="Text 6"/>
          <p:cNvSpPr txBox="1"/>
          <p:nvPr/>
        </p:nvSpPr>
        <p:spPr>
          <a:xfrm>
            <a:off x="804672" y="2990088"/>
            <a:ext cx="2788920" cy="274320"/>
          </a:xfrm>
          <a:prstGeom prst="rect">
            <a:avLst/>
          </a:prstGeom>
          <a:noFill/>
          <a:ln/>
        </p:spPr>
        <p:txBody>
          <a:bodyPr wrap="square" lIns="0" tIns="0" rIns="0" bIns="0" rtlCol="0" anchor="ctr"/>
          <a:lstStyle/>
          <a:p>
            <a:pPr indent="0" marL="0">
              <a:buNone/>
            </a:pPr>
            <a:r>
              <a:rPr lang="en-US" sz="1200" dirty="0">
                <a:solidFill>
                  <a:srgbClr val="DEE2EA"/>
                </a:solidFill>
                <a:latin typeface="Arial" pitchFamily="34" charset="0"/>
                <a:ea typeface="Arial" pitchFamily="34" charset="-122"/>
                <a:cs typeface="Arial" pitchFamily="34" charset="-120"/>
              </a:rPr>
              <a:t>40% of the loss · ≈ ₫2.25B a year [9]</a:t>
            </a:r>
            <a:endParaRPr lang="en-US" sz="1200" dirty="0"/>
          </a:p>
        </p:txBody>
      </p:sp>
      <p:sp>
        <p:nvSpPr>
          <p:cNvPr id="9" name="Text 7"/>
          <p:cNvSpPr txBox="1"/>
          <p:nvPr/>
        </p:nvSpPr>
        <p:spPr>
          <a:xfrm>
            <a:off x="804672" y="3520440"/>
            <a:ext cx="1554480" cy="237744"/>
          </a:xfrm>
          <a:prstGeom prst="rect">
            <a:avLst/>
          </a:prstGeom>
          <a:noFill/>
          <a:ln/>
        </p:spPr>
        <p:txBody>
          <a:bodyPr wrap="square" lIns="0" tIns="0" rIns="0" bIns="0" rtlCol="0" anchor="ctr"/>
          <a:lstStyle/>
          <a:p>
            <a:pPr indent="0" marL="0">
              <a:buNone/>
            </a:pPr>
            <a:r>
              <a:rPr lang="en-US" sz="1150" dirty="0">
                <a:solidFill>
                  <a:srgbClr val="D2D7E1"/>
                </a:solidFill>
                <a:latin typeface="Arial" pitchFamily="34" charset="0"/>
                <a:ea typeface="Arial" pitchFamily="34" charset="-122"/>
                <a:cs typeface="Arial" pitchFamily="34" charset="-120"/>
              </a:rPr>
              <a:t>Lost today</a:t>
            </a:r>
            <a:endParaRPr lang="en-US" sz="1150" dirty="0"/>
          </a:p>
        </p:txBody>
      </p:sp>
      <p:sp>
        <p:nvSpPr>
          <p:cNvPr id="10" name="Text 8"/>
          <p:cNvSpPr txBox="1"/>
          <p:nvPr/>
        </p:nvSpPr>
        <p:spPr>
          <a:xfrm>
            <a:off x="2286000" y="3520440"/>
            <a:ext cx="1252728" cy="237744"/>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₫473M</a:t>
            </a:r>
            <a:endParaRPr lang="en-US" sz="1200" dirty="0"/>
          </a:p>
        </p:txBody>
      </p:sp>
      <p:sp>
        <p:nvSpPr>
          <p:cNvPr id="11" name="Money bar 0"/>
          <p:cNvSpPr/>
          <p:nvPr/>
        </p:nvSpPr>
        <p:spPr>
          <a:xfrm>
            <a:off x="804672" y="3813048"/>
            <a:ext cx="2734056" cy="182880"/>
          </a:xfrm>
          <a:prstGeom prst="rect">
            <a:avLst/>
          </a:prstGeom>
          <a:solidFill>
            <a:srgbClr val="8A91A6"/>
          </a:solidFill>
          <a:ln/>
        </p:spPr>
      </p:sp>
      <p:sp>
        <p:nvSpPr>
          <p:cNvPr id="12" name="Text 10"/>
          <p:cNvSpPr txBox="1"/>
          <p:nvPr/>
        </p:nvSpPr>
        <p:spPr>
          <a:xfrm>
            <a:off x="804672" y="4306824"/>
            <a:ext cx="1554480" cy="237744"/>
          </a:xfrm>
          <a:prstGeom prst="rect">
            <a:avLst/>
          </a:prstGeom>
          <a:noFill/>
          <a:ln/>
        </p:spPr>
        <p:txBody>
          <a:bodyPr wrap="square" lIns="0" tIns="0" rIns="0" bIns="0" rtlCol="0" anchor="ctr"/>
          <a:lstStyle/>
          <a:p>
            <a:pPr indent="0" marL="0">
              <a:buNone/>
            </a:pPr>
            <a:r>
              <a:rPr lang="en-US" sz="1150" dirty="0">
                <a:solidFill>
                  <a:srgbClr val="D2D7E1"/>
                </a:solidFill>
                <a:latin typeface="Arial" pitchFamily="34" charset="0"/>
                <a:ea typeface="Arial" pitchFamily="34" charset="-122"/>
                <a:cs typeface="Arial" pitchFamily="34" charset="-120"/>
              </a:rPr>
              <a:t>Recovered</a:t>
            </a:r>
            <a:endParaRPr lang="en-US" sz="1150" dirty="0"/>
          </a:p>
        </p:txBody>
      </p:sp>
      <p:sp>
        <p:nvSpPr>
          <p:cNvPr id="13" name="Text 11"/>
          <p:cNvSpPr txBox="1"/>
          <p:nvPr/>
        </p:nvSpPr>
        <p:spPr>
          <a:xfrm>
            <a:off x="2286000" y="4306824"/>
            <a:ext cx="1252728" cy="237744"/>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₫215M</a:t>
            </a:r>
            <a:endParaRPr lang="en-US" sz="1200" dirty="0"/>
          </a:p>
        </p:txBody>
      </p:sp>
      <p:sp>
        <p:nvSpPr>
          <p:cNvPr id="14" name="Money bar 1"/>
          <p:cNvSpPr/>
          <p:nvPr/>
        </p:nvSpPr>
        <p:spPr>
          <a:xfrm>
            <a:off x="804672" y="4599432"/>
            <a:ext cx="1242753" cy="182880"/>
          </a:xfrm>
          <a:prstGeom prst="rect">
            <a:avLst/>
          </a:prstGeom>
          <a:solidFill>
            <a:srgbClr val="FFFFFF"/>
          </a:solidFill>
          <a:ln/>
        </p:spPr>
      </p:sp>
      <p:sp>
        <p:nvSpPr>
          <p:cNvPr id="15" name="Text 13"/>
          <p:cNvSpPr txBox="1"/>
          <p:nvPr/>
        </p:nvSpPr>
        <p:spPr>
          <a:xfrm>
            <a:off x="804672" y="5093208"/>
            <a:ext cx="1554480" cy="237744"/>
          </a:xfrm>
          <a:prstGeom prst="rect">
            <a:avLst/>
          </a:prstGeom>
          <a:noFill/>
          <a:ln/>
        </p:spPr>
        <p:txBody>
          <a:bodyPr wrap="square" lIns="0" tIns="0" rIns="0" bIns="0" rtlCol="0" anchor="ctr"/>
          <a:lstStyle/>
          <a:p>
            <a:pPr indent="0" marL="0">
              <a:buNone/>
            </a:pPr>
            <a:r>
              <a:rPr lang="en-US" sz="1150" dirty="0">
                <a:solidFill>
                  <a:srgbClr val="D2D7E1"/>
                </a:solidFill>
                <a:latin typeface="Arial" pitchFamily="34" charset="0"/>
                <a:ea typeface="Arial" pitchFamily="34" charset="-122"/>
                <a:cs typeface="Arial" pitchFamily="34" charset="-120"/>
              </a:rPr>
              <a:t>Running cost</a:t>
            </a:r>
            <a:endParaRPr lang="en-US" sz="1150" dirty="0"/>
          </a:p>
        </p:txBody>
      </p:sp>
      <p:sp>
        <p:nvSpPr>
          <p:cNvPr id="16" name="Text 14"/>
          <p:cNvSpPr txBox="1"/>
          <p:nvPr/>
        </p:nvSpPr>
        <p:spPr>
          <a:xfrm>
            <a:off x="2286000" y="5093208"/>
            <a:ext cx="1252728" cy="237744"/>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₫27M</a:t>
            </a:r>
            <a:endParaRPr lang="en-US" sz="1200" dirty="0"/>
          </a:p>
        </p:txBody>
      </p:sp>
      <p:sp>
        <p:nvSpPr>
          <p:cNvPr id="17" name="Money bar 2"/>
          <p:cNvSpPr/>
          <p:nvPr/>
        </p:nvSpPr>
        <p:spPr>
          <a:xfrm>
            <a:off x="804672" y="5385816"/>
            <a:ext cx="156067" cy="182880"/>
          </a:xfrm>
          <a:prstGeom prst="rect">
            <a:avLst/>
          </a:prstGeom>
          <a:solidFill>
            <a:srgbClr val="F05A00"/>
          </a:solidFill>
          <a:ln/>
        </p:spPr>
      </p:sp>
      <p:sp>
        <p:nvSpPr>
          <p:cNvPr id="18" name="Text 16"/>
          <p:cNvSpPr txBox="1"/>
          <p:nvPr/>
        </p:nvSpPr>
        <p:spPr>
          <a:xfrm>
            <a:off x="3931920" y="1645920"/>
            <a:ext cx="457200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TARGETS · MEASURED ON STAGE</a:t>
            </a:r>
            <a:endParaRPr lang="en-US" sz="900" dirty="0"/>
          </a:p>
        </p:txBody>
      </p:sp>
      <p:sp>
        <p:nvSpPr>
          <p:cNvPr id="19" name="Text 17"/>
          <p:cNvSpPr txBox="1"/>
          <p:nvPr/>
        </p:nvSpPr>
        <p:spPr>
          <a:xfrm>
            <a:off x="3931920" y="3913632"/>
            <a:ext cx="457200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ONE AREA · PROJECTED</a:t>
            </a:r>
            <a:endParaRPr lang="en-US" sz="900" dirty="0"/>
          </a:p>
        </p:txBody>
      </p:sp>
      <p:sp>
        <p:nvSpPr>
          <p:cNvPr id="20" name="Outcome 00"/>
          <p:cNvSpPr/>
          <p:nvPr/>
        </p:nvSpPr>
        <p:spPr>
          <a:xfrm>
            <a:off x="3931920" y="1901952"/>
            <a:ext cx="1856232" cy="1865376"/>
          </a:xfrm>
          <a:prstGeom prst="roundRect">
            <a:avLst>
              <a:gd name="adj" fmla="val 6897"/>
            </a:avLst>
          </a:prstGeom>
          <a:solidFill>
            <a:srgbClr val="FFFFFF"/>
          </a:solidFill>
          <a:ln w="9525">
            <a:solidFill>
              <a:srgbClr val="E3E5EA"/>
            </a:solidFill>
            <a:prstDash val="solid"/>
          </a:ln>
        </p:spPr>
      </p:sp>
      <p:sp>
        <p:nvSpPr>
          <p:cNvPr id="21" name="Text 19"/>
          <p:cNvSpPr txBox="1"/>
          <p:nvPr/>
        </p:nvSpPr>
        <p:spPr>
          <a:xfrm>
            <a:off x="4069080" y="2048256"/>
            <a:ext cx="1655064" cy="201168"/>
          </a:xfrm>
          <a:prstGeom prst="rect">
            <a:avLst/>
          </a:prstGeom>
          <a:noFill/>
          <a:ln/>
        </p:spPr>
        <p:txBody>
          <a:bodyPr wrap="square" lIns="0" tIns="0" rIns="0" bIns="0" rtlCol="0" anchor="ctr"/>
          <a:lstStyle/>
          <a:p>
            <a:pPr indent="0" marL="0">
              <a:buNone/>
            </a:pPr>
            <a:r>
              <a:rPr lang="en-US" sz="750" spc="100" kern="0" dirty="0">
                <a:solidFill>
                  <a:srgbClr val="464E62"/>
                </a:solidFill>
                <a:latin typeface="Arial" pitchFamily="34" charset="0"/>
                <a:ea typeface="Arial" pitchFamily="34" charset="-122"/>
                <a:cs typeface="Arial" pitchFamily="34" charset="-120"/>
              </a:rPr>
              <a:t>TIME-TO-CONTEXT</a:t>
            </a:r>
            <a:endParaRPr lang="en-US" sz="750" dirty="0"/>
          </a:p>
        </p:txBody>
      </p:sp>
      <p:sp>
        <p:nvSpPr>
          <p:cNvPr id="22" name="Text 20"/>
          <p:cNvSpPr txBox="1"/>
          <p:nvPr/>
        </p:nvSpPr>
        <p:spPr>
          <a:xfrm>
            <a:off x="4069080" y="2313432"/>
            <a:ext cx="1673352" cy="594360"/>
          </a:xfrm>
          <a:prstGeom prst="rect">
            <a:avLst/>
          </a:prstGeom>
          <a:noFill/>
          <a:ln/>
        </p:spPr>
        <p:txBody>
          <a:bodyPr wrap="square" lIns="0" tIns="0" rIns="0" bIns="0" rtlCol="0" anchor="ctr"/>
          <a:lstStyle/>
          <a:p>
            <a:pPr indent="0" marL="0">
              <a:buNone/>
            </a:pPr>
            <a:r>
              <a:rPr lang="en-US" sz="2600" b="1" dirty="0">
                <a:solidFill>
                  <a:srgbClr val="121A2C"/>
                </a:solidFill>
                <a:latin typeface="Arial" pitchFamily="34" charset="0"/>
                <a:ea typeface="Arial" pitchFamily="34" charset="-122"/>
                <a:cs typeface="Arial" pitchFamily="34" charset="-120"/>
              </a:rPr>
              <a:t>&lt; 10</a:t>
            </a:r>
            <a:pPr indent="0" marL="0">
              <a:buNone/>
            </a:pPr>
            <a:r>
              <a:rPr lang="en-US" sz="2600" b="1" dirty="0">
                <a:solidFill>
                  <a:srgbClr val="F05A00"/>
                </a:solidFill>
                <a:latin typeface="Arial" pitchFamily="34" charset="0"/>
                <a:ea typeface="Arial" pitchFamily="34" charset="-122"/>
                <a:cs typeface="Arial" pitchFamily="34" charset="-120"/>
              </a:rPr>
              <a:t> s</a:t>
            </a:r>
            <a:endParaRPr lang="en-US" sz="2600" dirty="0"/>
          </a:p>
        </p:txBody>
      </p:sp>
      <p:sp>
        <p:nvSpPr>
          <p:cNvPr id="23" name="Text 21"/>
          <p:cNvSpPr txBox="1"/>
          <p:nvPr/>
        </p:nvSpPr>
        <p:spPr>
          <a:xfrm>
            <a:off x="4069080" y="2944368"/>
            <a:ext cx="1618488" cy="731520"/>
          </a:xfrm>
          <a:prstGeom prst="rect">
            <a:avLst/>
          </a:prstGeom>
          <a:noFill/>
          <a:ln/>
        </p:spPr>
        <p:txBody>
          <a:bodyPr wrap="square" lIns="0" tIns="0" rIns="0" bIns="0" rtlCol="0" anchor="t"/>
          <a:lstStyle/>
          <a:p>
            <a:pPr indent="0" marL="0">
              <a:buNone/>
            </a:pPr>
            <a:r>
              <a:rPr lang="en-US" sz="1100" dirty="0">
                <a:solidFill>
                  <a:srgbClr val="2A3144"/>
                </a:solidFill>
                <a:latin typeface="Arial" pitchFamily="34" charset="0"/>
                <a:ea typeface="Arial" pitchFamily="34" charset="-122"/>
                <a:cs typeface="Arial" pitchFamily="34" charset="-120"/>
              </a:rPr>
              <a:t>buyer’s answer → courier’s card</a:t>
            </a:r>
            <a:pPr indent="0" marL="0">
              <a:buNone/>
            </a:pPr>
            <a:r>
              <a:rPr lang="en-US" sz="1000" dirty="0">
                <a:solidFill>
                  <a:srgbClr val="6B7285"/>
                </a:solidFill>
                <a:latin typeface="Arial" pitchFamily="34" charset="0"/>
                <a:ea typeface="Arial" pitchFamily="34" charset="-122"/>
                <a:cs typeface="Arial" pitchFamily="34" charset="-120"/>
              </a:rPr>
              <a:t> [11]</a:t>
            </a:r>
            <a:endParaRPr lang="en-US" sz="1100" dirty="0"/>
          </a:p>
        </p:txBody>
      </p:sp>
      <p:sp>
        <p:nvSpPr>
          <p:cNvPr id="24" name="Outcome 01"/>
          <p:cNvSpPr/>
          <p:nvPr/>
        </p:nvSpPr>
        <p:spPr>
          <a:xfrm>
            <a:off x="5879592" y="1901952"/>
            <a:ext cx="1856232" cy="1865376"/>
          </a:xfrm>
          <a:prstGeom prst="roundRect">
            <a:avLst>
              <a:gd name="adj" fmla="val 6897"/>
            </a:avLst>
          </a:prstGeom>
          <a:solidFill>
            <a:srgbClr val="FFFFFF"/>
          </a:solidFill>
          <a:ln w="9525">
            <a:solidFill>
              <a:srgbClr val="E3E5EA"/>
            </a:solidFill>
            <a:prstDash val="solid"/>
          </a:ln>
        </p:spPr>
      </p:sp>
      <p:sp>
        <p:nvSpPr>
          <p:cNvPr id="25" name="Text 23"/>
          <p:cNvSpPr txBox="1"/>
          <p:nvPr/>
        </p:nvSpPr>
        <p:spPr>
          <a:xfrm>
            <a:off x="6016752" y="2048256"/>
            <a:ext cx="1655064" cy="201168"/>
          </a:xfrm>
          <a:prstGeom prst="rect">
            <a:avLst/>
          </a:prstGeom>
          <a:noFill/>
          <a:ln/>
        </p:spPr>
        <p:txBody>
          <a:bodyPr wrap="square" lIns="0" tIns="0" rIns="0" bIns="0" rtlCol="0" anchor="ctr"/>
          <a:lstStyle/>
          <a:p>
            <a:pPr indent="0" marL="0">
              <a:buNone/>
            </a:pPr>
            <a:r>
              <a:rPr lang="en-US" sz="750" spc="100" kern="0" dirty="0">
                <a:solidFill>
                  <a:srgbClr val="464E62"/>
                </a:solidFill>
                <a:latin typeface="Arial" pitchFamily="34" charset="0"/>
                <a:ea typeface="Arial" pitchFamily="34" charset="-122"/>
                <a:cs typeface="Arial" pitchFamily="34" charset="-120"/>
              </a:rPr>
              <a:t>EXTRACTION F1</a:t>
            </a:r>
            <a:endParaRPr lang="en-US" sz="750" dirty="0"/>
          </a:p>
        </p:txBody>
      </p:sp>
      <p:sp>
        <p:nvSpPr>
          <p:cNvPr id="26" name="Text 24"/>
          <p:cNvSpPr txBox="1"/>
          <p:nvPr/>
        </p:nvSpPr>
        <p:spPr>
          <a:xfrm>
            <a:off x="6016752" y="2313432"/>
            <a:ext cx="1673352" cy="594360"/>
          </a:xfrm>
          <a:prstGeom prst="rect">
            <a:avLst/>
          </a:prstGeom>
          <a:noFill/>
          <a:ln/>
        </p:spPr>
        <p:txBody>
          <a:bodyPr wrap="square" lIns="0" tIns="0" rIns="0" bIns="0" rtlCol="0" anchor="ctr"/>
          <a:lstStyle/>
          <a:p>
            <a:pPr indent="0" marL="0">
              <a:buNone/>
            </a:pPr>
            <a:r>
              <a:rPr lang="en-US" sz="2600" b="1" dirty="0">
                <a:solidFill>
                  <a:srgbClr val="121A2C"/>
                </a:solidFill>
                <a:latin typeface="Arial" pitchFamily="34" charset="0"/>
                <a:ea typeface="Arial" pitchFamily="34" charset="-122"/>
                <a:cs typeface="Arial" pitchFamily="34" charset="-120"/>
              </a:rPr>
              <a:t>≥ 0.90</a:t>
            </a:r>
            <a:endParaRPr lang="en-US" sz="2600" dirty="0"/>
          </a:p>
        </p:txBody>
      </p:sp>
      <p:sp>
        <p:nvSpPr>
          <p:cNvPr id="27" name="Text 25"/>
          <p:cNvSpPr txBox="1"/>
          <p:nvPr/>
        </p:nvSpPr>
        <p:spPr>
          <a:xfrm>
            <a:off x="6016752" y="2944368"/>
            <a:ext cx="1618488" cy="731520"/>
          </a:xfrm>
          <a:prstGeom prst="rect">
            <a:avLst/>
          </a:prstGeom>
          <a:noFill/>
          <a:ln/>
        </p:spPr>
        <p:txBody>
          <a:bodyPr wrap="square" lIns="0" tIns="0" rIns="0" bIns="0" rtlCol="0" anchor="t"/>
          <a:lstStyle/>
          <a:p>
            <a:pPr indent="0" marL="0">
              <a:buNone/>
            </a:pPr>
            <a:r>
              <a:rPr lang="en-US" sz="1100" dirty="0">
                <a:solidFill>
                  <a:srgbClr val="2A3144"/>
                </a:solidFill>
                <a:latin typeface="Arial" pitchFamily="34" charset="0"/>
                <a:ea typeface="Arial" pitchFamily="34" charset="-122"/>
                <a:cs typeface="Arial" pitchFamily="34" charset="-120"/>
              </a:rPr>
              <a:t>per field, held-out set</a:t>
            </a:r>
            <a:pPr indent="0" marL="0">
              <a:buNone/>
            </a:pPr>
            <a:r>
              <a:rPr lang="en-US" sz="1000" dirty="0">
                <a:solidFill>
                  <a:srgbClr val="6B7285"/>
                </a:solidFill>
                <a:latin typeface="Arial" pitchFamily="34" charset="0"/>
                <a:ea typeface="Arial" pitchFamily="34" charset="-122"/>
                <a:cs typeface="Arial" pitchFamily="34" charset="-120"/>
              </a:rPr>
              <a:t> [11]</a:t>
            </a:r>
            <a:endParaRPr lang="en-US" sz="1100" dirty="0"/>
          </a:p>
        </p:txBody>
      </p:sp>
      <p:sp>
        <p:nvSpPr>
          <p:cNvPr id="28" name="Outcome 02"/>
          <p:cNvSpPr/>
          <p:nvPr/>
        </p:nvSpPr>
        <p:spPr>
          <a:xfrm>
            <a:off x="7827264" y="1901952"/>
            <a:ext cx="1856232" cy="1865376"/>
          </a:xfrm>
          <a:prstGeom prst="roundRect">
            <a:avLst>
              <a:gd name="adj" fmla="val 6897"/>
            </a:avLst>
          </a:prstGeom>
          <a:solidFill>
            <a:srgbClr val="FFFFFF"/>
          </a:solidFill>
          <a:ln w="9525">
            <a:solidFill>
              <a:srgbClr val="E3E5EA"/>
            </a:solidFill>
            <a:prstDash val="solid"/>
          </a:ln>
        </p:spPr>
      </p:sp>
      <p:sp>
        <p:nvSpPr>
          <p:cNvPr id="29" name="Text 27"/>
          <p:cNvSpPr txBox="1"/>
          <p:nvPr/>
        </p:nvSpPr>
        <p:spPr>
          <a:xfrm>
            <a:off x="7964424" y="2048256"/>
            <a:ext cx="1655064" cy="201168"/>
          </a:xfrm>
          <a:prstGeom prst="rect">
            <a:avLst/>
          </a:prstGeom>
          <a:noFill/>
          <a:ln/>
        </p:spPr>
        <p:txBody>
          <a:bodyPr wrap="square" lIns="0" tIns="0" rIns="0" bIns="0" rtlCol="0" anchor="ctr"/>
          <a:lstStyle/>
          <a:p>
            <a:pPr indent="0" marL="0">
              <a:buNone/>
            </a:pPr>
            <a:r>
              <a:rPr lang="en-US" sz="750" spc="100" kern="0" dirty="0">
                <a:solidFill>
                  <a:srgbClr val="464E62"/>
                </a:solidFill>
                <a:latin typeface="Arial" pitchFamily="34" charset="0"/>
                <a:ea typeface="Arial" pitchFamily="34" charset="-122"/>
                <a:cs typeface="Arial" pitchFamily="34" charset="-120"/>
              </a:rPr>
              <a:t>WRONG AUTO-APPLIES</a:t>
            </a:r>
            <a:endParaRPr lang="en-US" sz="750" dirty="0"/>
          </a:p>
        </p:txBody>
      </p:sp>
      <p:sp>
        <p:nvSpPr>
          <p:cNvPr id="30" name="Text 28"/>
          <p:cNvSpPr txBox="1"/>
          <p:nvPr/>
        </p:nvSpPr>
        <p:spPr>
          <a:xfrm>
            <a:off x="7964424" y="2313432"/>
            <a:ext cx="1673352" cy="594360"/>
          </a:xfrm>
          <a:prstGeom prst="rect">
            <a:avLst/>
          </a:prstGeom>
          <a:noFill/>
          <a:ln/>
        </p:spPr>
        <p:txBody>
          <a:bodyPr wrap="square" lIns="0" tIns="0" rIns="0" bIns="0" rtlCol="0" anchor="ctr"/>
          <a:lstStyle/>
          <a:p>
            <a:pPr indent="0" marL="0">
              <a:buNone/>
            </a:pPr>
            <a:r>
              <a:rPr lang="en-US" sz="2600" b="1" dirty="0">
                <a:solidFill>
                  <a:srgbClr val="121A2C"/>
                </a:solidFill>
                <a:latin typeface="Arial" pitchFamily="34" charset="0"/>
                <a:ea typeface="Arial" pitchFamily="34" charset="-122"/>
                <a:cs typeface="Arial" pitchFamily="34" charset="-120"/>
              </a:rPr>
              <a:t>&lt; 2</a:t>
            </a:r>
            <a:pPr indent="0" marL="0">
              <a:buNone/>
            </a:pPr>
            <a:r>
              <a:rPr lang="en-US" sz="2600" b="1" dirty="0">
                <a:solidFill>
                  <a:srgbClr val="F05A00"/>
                </a:solidFill>
                <a:latin typeface="Arial" pitchFamily="34" charset="0"/>
                <a:ea typeface="Arial" pitchFamily="34" charset="-122"/>
                <a:cs typeface="Arial" pitchFamily="34" charset="-120"/>
              </a:rPr>
              <a:t>%</a:t>
            </a:r>
            <a:endParaRPr lang="en-US" sz="2600" dirty="0"/>
          </a:p>
        </p:txBody>
      </p:sp>
      <p:sp>
        <p:nvSpPr>
          <p:cNvPr id="31" name="Text 29"/>
          <p:cNvSpPr txBox="1"/>
          <p:nvPr/>
        </p:nvSpPr>
        <p:spPr>
          <a:xfrm>
            <a:off x="7964424" y="2944368"/>
            <a:ext cx="1618488" cy="731520"/>
          </a:xfrm>
          <a:prstGeom prst="rect">
            <a:avLst/>
          </a:prstGeom>
          <a:noFill/>
          <a:ln/>
        </p:spPr>
        <p:txBody>
          <a:bodyPr wrap="square" lIns="0" tIns="0" rIns="0" bIns="0" rtlCol="0" anchor="t"/>
          <a:lstStyle/>
          <a:p>
            <a:pPr indent="0" marL="0">
              <a:buNone/>
            </a:pPr>
            <a:r>
              <a:rPr lang="en-US" sz="1100" dirty="0">
                <a:solidFill>
                  <a:srgbClr val="2A3144"/>
                </a:solidFill>
                <a:latin typeface="Arial" pitchFamily="34" charset="0"/>
                <a:ea typeface="Arial" pitchFamily="34" charset="-122"/>
                <a:cs typeface="Arial" pitchFamily="34" charset="-120"/>
              </a:rPr>
              <a:t>of cases closed alone</a:t>
            </a:r>
            <a:pPr indent="0" marL="0">
              <a:buNone/>
            </a:pPr>
            <a:r>
              <a:rPr lang="en-US" sz="1000" dirty="0">
                <a:solidFill>
                  <a:srgbClr val="6B7285"/>
                </a:solidFill>
                <a:latin typeface="Arial" pitchFamily="34" charset="0"/>
                <a:ea typeface="Arial" pitchFamily="34" charset="-122"/>
                <a:cs typeface="Arial" pitchFamily="34" charset="-120"/>
              </a:rPr>
              <a:t> [11]</a:t>
            </a:r>
            <a:endParaRPr lang="en-US" sz="1100" dirty="0"/>
          </a:p>
        </p:txBody>
      </p:sp>
      <p:sp>
        <p:nvSpPr>
          <p:cNvPr id="32" name="Outcome 03"/>
          <p:cNvSpPr/>
          <p:nvPr/>
        </p:nvSpPr>
        <p:spPr>
          <a:xfrm>
            <a:off x="9774936" y="1901952"/>
            <a:ext cx="1856232" cy="1865376"/>
          </a:xfrm>
          <a:prstGeom prst="roundRect">
            <a:avLst>
              <a:gd name="adj" fmla="val 6897"/>
            </a:avLst>
          </a:prstGeom>
          <a:solidFill>
            <a:srgbClr val="FFFFFF"/>
          </a:solidFill>
          <a:ln w="9525">
            <a:solidFill>
              <a:srgbClr val="E3E5EA"/>
            </a:solidFill>
            <a:prstDash val="solid"/>
          </a:ln>
        </p:spPr>
      </p:sp>
      <p:sp>
        <p:nvSpPr>
          <p:cNvPr id="33" name="Text 31"/>
          <p:cNvSpPr txBox="1"/>
          <p:nvPr/>
        </p:nvSpPr>
        <p:spPr>
          <a:xfrm>
            <a:off x="9912096" y="2048256"/>
            <a:ext cx="1655064" cy="201168"/>
          </a:xfrm>
          <a:prstGeom prst="rect">
            <a:avLst/>
          </a:prstGeom>
          <a:noFill/>
          <a:ln/>
        </p:spPr>
        <p:txBody>
          <a:bodyPr wrap="square" lIns="0" tIns="0" rIns="0" bIns="0" rtlCol="0" anchor="ctr"/>
          <a:lstStyle/>
          <a:p>
            <a:pPr indent="0" marL="0">
              <a:buNone/>
            </a:pPr>
            <a:r>
              <a:rPr lang="en-US" sz="750" spc="100" kern="0" dirty="0">
                <a:solidFill>
                  <a:srgbClr val="464E62"/>
                </a:solidFill>
                <a:latin typeface="Arial" pitchFamily="34" charset="0"/>
                <a:ea typeface="Arial" pitchFamily="34" charset="-122"/>
                <a:cs typeface="Arial" pitchFamily="34" charset="-120"/>
              </a:rPr>
              <a:t>WITHOUT A PERSON</a:t>
            </a:r>
            <a:endParaRPr lang="en-US" sz="750" dirty="0"/>
          </a:p>
        </p:txBody>
      </p:sp>
      <p:sp>
        <p:nvSpPr>
          <p:cNvPr id="34" name="Text 32"/>
          <p:cNvSpPr txBox="1"/>
          <p:nvPr/>
        </p:nvSpPr>
        <p:spPr>
          <a:xfrm>
            <a:off x="9912096" y="2313432"/>
            <a:ext cx="1673352" cy="594360"/>
          </a:xfrm>
          <a:prstGeom prst="rect">
            <a:avLst/>
          </a:prstGeom>
          <a:noFill/>
          <a:ln/>
        </p:spPr>
        <p:txBody>
          <a:bodyPr wrap="square" lIns="0" tIns="0" rIns="0" bIns="0" rtlCol="0" anchor="ctr"/>
          <a:lstStyle/>
          <a:p>
            <a:pPr indent="0" marL="0">
              <a:buNone/>
            </a:pPr>
            <a:r>
              <a:rPr lang="en-US" sz="2600" b="1" dirty="0">
                <a:solidFill>
                  <a:srgbClr val="121A2C"/>
                </a:solidFill>
                <a:latin typeface="Arial" pitchFamily="34" charset="0"/>
                <a:ea typeface="Arial" pitchFamily="34" charset="-122"/>
                <a:cs typeface="Arial" pitchFamily="34" charset="-120"/>
              </a:rPr>
              <a:t>0</a:t>
            </a:r>
            <a:endParaRPr lang="en-US" sz="2600" dirty="0"/>
          </a:p>
        </p:txBody>
      </p:sp>
      <p:sp>
        <p:nvSpPr>
          <p:cNvPr id="35" name="Text 33"/>
          <p:cNvSpPr txBox="1"/>
          <p:nvPr/>
        </p:nvSpPr>
        <p:spPr>
          <a:xfrm>
            <a:off x="9912096" y="2944368"/>
            <a:ext cx="1618488" cy="731520"/>
          </a:xfrm>
          <a:prstGeom prst="rect">
            <a:avLst/>
          </a:prstGeom>
          <a:noFill/>
          <a:ln/>
        </p:spPr>
        <p:txBody>
          <a:bodyPr wrap="square" lIns="0" tIns="0" rIns="0" bIns="0" rtlCol="0" anchor="t"/>
          <a:lstStyle/>
          <a:p>
            <a:pPr indent="0" marL="0">
              <a:buNone/>
            </a:pPr>
            <a:r>
              <a:rPr lang="en-US" sz="1100" dirty="0">
                <a:solidFill>
                  <a:srgbClr val="2A3144"/>
                </a:solidFill>
                <a:latin typeface="Arial" pitchFamily="34" charset="0"/>
                <a:ea typeface="Arial" pitchFamily="34" charset="-122"/>
                <a:cs typeface="Arial" pitchFamily="34" charset="-120"/>
              </a:rPr>
              <a:t>labels, returns, calls out of hours</a:t>
            </a:r>
            <a:pPr indent="0" marL="0">
              <a:buNone/>
            </a:pPr>
            <a:r>
              <a:rPr lang="en-US" sz="1000" dirty="0">
                <a:solidFill>
                  <a:srgbClr val="6B7285"/>
                </a:solidFill>
                <a:latin typeface="Arial" pitchFamily="34" charset="0"/>
                <a:ea typeface="Arial" pitchFamily="34" charset="-122"/>
                <a:cs typeface="Arial" pitchFamily="34" charset="-120"/>
              </a:rPr>
              <a:t> [11]</a:t>
            </a:r>
            <a:endParaRPr lang="en-US" sz="1100" dirty="0"/>
          </a:p>
        </p:txBody>
      </p:sp>
      <p:sp>
        <p:nvSpPr>
          <p:cNvPr id="36" name="Outcome 10"/>
          <p:cNvSpPr/>
          <p:nvPr/>
        </p:nvSpPr>
        <p:spPr>
          <a:xfrm>
            <a:off x="3931920" y="4169664"/>
            <a:ext cx="1856232" cy="1865376"/>
          </a:xfrm>
          <a:prstGeom prst="roundRect">
            <a:avLst>
              <a:gd name="adj" fmla="val 6897"/>
            </a:avLst>
          </a:prstGeom>
          <a:solidFill>
            <a:srgbClr val="FFFFFF"/>
          </a:solidFill>
          <a:ln w="9525">
            <a:solidFill>
              <a:srgbClr val="E3E5EA"/>
            </a:solidFill>
            <a:prstDash val="solid"/>
          </a:ln>
        </p:spPr>
      </p:sp>
      <p:sp>
        <p:nvSpPr>
          <p:cNvPr id="37" name="Text 35"/>
          <p:cNvSpPr txBox="1"/>
          <p:nvPr/>
        </p:nvSpPr>
        <p:spPr>
          <a:xfrm>
            <a:off x="4069080" y="4315968"/>
            <a:ext cx="1655064" cy="201168"/>
          </a:xfrm>
          <a:prstGeom prst="rect">
            <a:avLst/>
          </a:prstGeom>
          <a:noFill/>
          <a:ln/>
        </p:spPr>
        <p:txBody>
          <a:bodyPr wrap="square" lIns="0" tIns="0" rIns="0" bIns="0" rtlCol="0" anchor="ctr"/>
          <a:lstStyle/>
          <a:p>
            <a:pPr indent="0" marL="0">
              <a:buNone/>
            </a:pPr>
            <a:r>
              <a:rPr lang="en-US" sz="750" spc="100" kern="0" dirty="0">
                <a:solidFill>
                  <a:srgbClr val="464E62"/>
                </a:solidFill>
                <a:latin typeface="Arial" pitchFamily="34" charset="0"/>
                <a:ea typeface="Arial" pitchFamily="34" charset="-122"/>
                <a:cs typeface="Arial" pitchFamily="34" charset="-120"/>
              </a:rPr>
              <a:t>CS CALLS A DAY</a:t>
            </a:r>
            <a:endParaRPr lang="en-US" sz="750" dirty="0"/>
          </a:p>
        </p:txBody>
      </p:sp>
      <p:sp>
        <p:nvSpPr>
          <p:cNvPr id="38" name="Text 36"/>
          <p:cNvSpPr txBox="1"/>
          <p:nvPr/>
        </p:nvSpPr>
        <p:spPr>
          <a:xfrm>
            <a:off x="4069080" y="4581144"/>
            <a:ext cx="1673352" cy="594360"/>
          </a:xfrm>
          <a:prstGeom prst="rect">
            <a:avLst/>
          </a:prstGeom>
          <a:noFill/>
          <a:ln/>
        </p:spPr>
        <p:txBody>
          <a:bodyPr wrap="square" lIns="0" tIns="0" rIns="0" bIns="0" rtlCol="0" anchor="ctr"/>
          <a:lstStyle/>
          <a:p>
            <a:pPr indent="0" marL="0">
              <a:buNone/>
            </a:pPr>
            <a:r>
              <a:rPr lang="en-US" sz="2600" b="1" dirty="0">
                <a:solidFill>
                  <a:srgbClr val="121A2C"/>
                </a:solidFill>
                <a:latin typeface="Arial" pitchFamily="34" charset="0"/>
                <a:ea typeface="Arial" pitchFamily="34" charset="-122"/>
                <a:cs typeface="Arial" pitchFamily="34" charset="-120"/>
              </a:rPr>
              <a:t>416</a:t>
            </a:r>
            <a:endParaRPr lang="en-US" sz="2600" dirty="0"/>
          </a:p>
        </p:txBody>
      </p:sp>
      <p:sp>
        <p:nvSpPr>
          <p:cNvPr id="39" name="Text 37"/>
          <p:cNvSpPr txBox="1"/>
          <p:nvPr/>
        </p:nvSpPr>
        <p:spPr>
          <a:xfrm>
            <a:off x="4069080" y="5212080"/>
            <a:ext cx="1618488" cy="731520"/>
          </a:xfrm>
          <a:prstGeom prst="rect">
            <a:avLst/>
          </a:prstGeom>
          <a:noFill/>
          <a:ln/>
        </p:spPr>
        <p:txBody>
          <a:bodyPr wrap="square" lIns="0" tIns="0" rIns="0" bIns="0" rtlCol="0" anchor="t"/>
          <a:lstStyle/>
          <a:p>
            <a:pPr indent="0" marL="0">
              <a:buNone/>
            </a:pPr>
            <a:r>
              <a:rPr lang="en-US" sz="1100" dirty="0">
                <a:solidFill>
                  <a:srgbClr val="2A3144"/>
                </a:solidFill>
                <a:latin typeface="Arial" pitchFamily="34" charset="0"/>
                <a:ea typeface="Arial" pitchFamily="34" charset="-122"/>
                <a:cs typeface="Arial" pitchFamily="34" charset="-120"/>
              </a:rPr>
              <a:t>handled by the agent, ≈ 28 staff-hours</a:t>
            </a:r>
            <a:pPr indent="0" marL="0">
              <a:buNone/>
            </a:pPr>
            <a:r>
              <a:rPr lang="en-US" sz="1000" dirty="0">
                <a:solidFill>
                  <a:srgbClr val="6B7285"/>
                </a:solidFill>
                <a:latin typeface="Arial" pitchFamily="34" charset="0"/>
                <a:ea typeface="Arial" pitchFamily="34" charset="-122"/>
                <a:cs typeface="Arial" pitchFamily="34" charset="-120"/>
              </a:rPr>
              <a:t> [9]</a:t>
            </a:r>
            <a:endParaRPr lang="en-US" sz="1100" dirty="0"/>
          </a:p>
        </p:txBody>
      </p:sp>
      <p:sp>
        <p:nvSpPr>
          <p:cNvPr id="40" name="Outcome 11"/>
          <p:cNvSpPr/>
          <p:nvPr/>
        </p:nvSpPr>
        <p:spPr>
          <a:xfrm>
            <a:off x="5879592" y="4169664"/>
            <a:ext cx="1856232" cy="1865376"/>
          </a:xfrm>
          <a:prstGeom prst="roundRect">
            <a:avLst>
              <a:gd name="adj" fmla="val 6897"/>
            </a:avLst>
          </a:prstGeom>
          <a:solidFill>
            <a:srgbClr val="FFFFFF"/>
          </a:solidFill>
          <a:ln w="9525">
            <a:solidFill>
              <a:srgbClr val="E3E5EA"/>
            </a:solidFill>
            <a:prstDash val="solid"/>
          </a:ln>
        </p:spPr>
      </p:sp>
      <p:sp>
        <p:nvSpPr>
          <p:cNvPr id="41" name="Text 39"/>
          <p:cNvSpPr txBox="1"/>
          <p:nvPr/>
        </p:nvSpPr>
        <p:spPr>
          <a:xfrm>
            <a:off x="6016752" y="4315968"/>
            <a:ext cx="1655064" cy="201168"/>
          </a:xfrm>
          <a:prstGeom prst="rect">
            <a:avLst/>
          </a:prstGeom>
          <a:noFill/>
          <a:ln/>
        </p:spPr>
        <p:txBody>
          <a:bodyPr wrap="square" lIns="0" tIns="0" rIns="0" bIns="0" rtlCol="0" anchor="ctr"/>
          <a:lstStyle/>
          <a:p>
            <a:pPr indent="0" marL="0">
              <a:buNone/>
            </a:pPr>
            <a:r>
              <a:rPr lang="en-US" sz="750" spc="100" kern="0" dirty="0">
                <a:solidFill>
                  <a:srgbClr val="464E62"/>
                </a:solidFill>
                <a:latin typeface="Arial" pitchFamily="34" charset="0"/>
                <a:ea typeface="Arial" pitchFamily="34" charset="-122"/>
                <a:cs typeface="Arial" pitchFamily="34" charset="-120"/>
              </a:rPr>
              <a:t>WASTED TRIPS A DAY</a:t>
            </a:r>
            <a:endParaRPr lang="en-US" sz="750" dirty="0"/>
          </a:p>
        </p:txBody>
      </p:sp>
      <p:sp>
        <p:nvSpPr>
          <p:cNvPr id="42" name="Text 40"/>
          <p:cNvSpPr txBox="1"/>
          <p:nvPr/>
        </p:nvSpPr>
        <p:spPr>
          <a:xfrm>
            <a:off x="6016752" y="4581144"/>
            <a:ext cx="1673352" cy="594360"/>
          </a:xfrm>
          <a:prstGeom prst="rect">
            <a:avLst/>
          </a:prstGeom>
          <a:noFill/>
          <a:ln/>
        </p:spPr>
        <p:txBody>
          <a:bodyPr wrap="square" lIns="0" tIns="0" rIns="0" bIns="0" rtlCol="0" anchor="ctr"/>
          <a:lstStyle/>
          <a:p>
            <a:pPr indent="0" marL="0">
              <a:buNone/>
            </a:pPr>
            <a:r>
              <a:rPr lang="en-US" sz="2600" b="1" dirty="0">
                <a:solidFill>
                  <a:srgbClr val="121A2C"/>
                </a:solidFill>
                <a:latin typeface="Arial" pitchFamily="34" charset="0"/>
                <a:ea typeface="Arial" pitchFamily="34" charset="-122"/>
                <a:cs typeface="Arial" pitchFamily="34" charset="-120"/>
              </a:rPr>
              <a:t>−96</a:t>
            </a:r>
            <a:endParaRPr lang="en-US" sz="2600" dirty="0"/>
          </a:p>
        </p:txBody>
      </p:sp>
      <p:sp>
        <p:nvSpPr>
          <p:cNvPr id="43" name="Text 41"/>
          <p:cNvSpPr txBox="1"/>
          <p:nvPr/>
        </p:nvSpPr>
        <p:spPr>
          <a:xfrm>
            <a:off x="6016752" y="5212080"/>
            <a:ext cx="1618488" cy="731520"/>
          </a:xfrm>
          <a:prstGeom prst="rect">
            <a:avLst/>
          </a:prstGeom>
          <a:noFill/>
          <a:ln/>
        </p:spPr>
        <p:txBody>
          <a:bodyPr wrap="square" lIns="0" tIns="0" rIns="0" bIns="0" rtlCol="0" anchor="t"/>
          <a:lstStyle/>
          <a:p>
            <a:pPr indent="0" marL="0">
              <a:buNone/>
            </a:pPr>
            <a:r>
              <a:rPr lang="en-US" sz="1100" dirty="0">
                <a:solidFill>
                  <a:srgbClr val="2A3144"/>
                </a:solidFill>
                <a:latin typeface="Arial" pitchFamily="34" charset="0"/>
                <a:ea typeface="Arial" pitchFamily="34" charset="-122"/>
                <a:cs typeface="Arial" pitchFamily="34" charset="-120"/>
              </a:rPr>
              <a:t>320 failed × 0.3 fewer attempts</a:t>
            </a:r>
            <a:pPr indent="0" marL="0">
              <a:buNone/>
            </a:pPr>
            <a:r>
              <a:rPr lang="en-US" sz="1000" dirty="0">
                <a:solidFill>
                  <a:srgbClr val="6B7285"/>
                </a:solidFill>
                <a:latin typeface="Arial" pitchFamily="34" charset="0"/>
                <a:ea typeface="Arial" pitchFamily="34" charset="-122"/>
                <a:cs typeface="Arial" pitchFamily="34" charset="-120"/>
              </a:rPr>
              <a:t> [9]</a:t>
            </a:r>
            <a:endParaRPr lang="en-US" sz="1100" dirty="0"/>
          </a:p>
        </p:txBody>
      </p:sp>
      <p:sp>
        <p:nvSpPr>
          <p:cNvPr id="44" name="Outcome 12"/>
          <p:cNvSpPr/>
          <p:nvPr/>
        </p:nvSpPr>
        <p:spPr>
          <a:xfrm>
            <a:off x="7827264" y="4169664"/>
            <a:ext cx="1856232" cy="1865376"/>
          </a:xfrm>
          <a:prstGeom prst="roundRect">
            <a:avLst>
              <a:gd name="adj" fmla="val 6897"/>
            </a:avLst>
          </a:prstGeom>
          <a:solidFill>
            <a:srgbClr val="FFFFFF"/>
          </a:solidFill>
          <a:ln w="9525">
            <a:solidFill>
              <a:srgbClr val="E3E5EA"/>
            </a:solidFill>
            <a:prstDash val="solid"/>
          </a:ln>
        </p:spPr>
      </p:sp>
      <p:sp>
        <p:nvSpPr>
          <p:cNvPr id="45" name="Text 43"/>
          <p:cNvSpPr txBox="1"/>
          <p:nvPr/>
        </p:nvSpPr>
        <p:spPr>
          <a:xfrm>
            <a:off x="7964424" y="4315968"/>
            <a:ext cx="1655064" cy="201168"/>
          </a:xfrm>
          <a:prstGeom prst="rect">
            <a:avLst/>
          </a:prstGeom>
          <a:noFill/>
          <a:ln/>
        </p:spPr>
        <p:txBody>
          <a:bodyPr wrap="square" lIns="0" tIns="0" rIns="0" bIns="0" rtlCol="0" anchor="ctr"/>
          <a:lstStyle/>
          <a:p>
            <a:pPr indent="0" marL="0">
              <a:buNone/>
            </a:pPr>
            <a:r>
              <a:rPr lang="en-US" sz="750" spc="100" kern="0" dirty="0">
                <a:solidFill>
                  <a:srgbClr val="464E62"/>
                </a:solidFill>
                <a:latin typeface="Arial" pitchFamily="34" charset="0"/>
                <a:ea typeface="Arial" pitchFamily="34" charset="-122"/>
                <a:cs typeface="Arial" pitchFamily="34" charset="-120"/>
              </a:rPr>
              <a:t>PER COURIER A DAY</a:t>
            </a:r>
            <a:endParaRPr lang="en-US" sz="750" dirty="0"/>
          </a:p>
        </p:txBody>
      </p:sp>
      <p:sp>
        <p:nvSpPr>
          <p:cNvPr id="46" name="Text 44"/>
          <p:cNvSpPr txBox="1"/>
          <p:nvPr/>
        </p:nvSpPr>
        <p:spPr>
          <a:xfrm>
            <a:off x="7964424" y="4581144"/>
            <a:ext cx="1673352" cy="594360"/>
          </a:xfrm>
          <a:prstGeom prst="rect">
            <a:avLst/>
          </a:prstGeom>
          <a:noFill/>
          <a:ln/>
        </p:spPr>
        <p:txBody>
          <a:bodyPr wrap="square" lIns="0" tIns="0" rIns="0" bIns="0" rtlCol="0" anchor="ctr"/>
          <a:lstStyle/>
          <a:p>
            <a:pPr indent="0" marL="0">
              <a:buNone/>
            </a:pPr>
            <a:r>
              <a:rPr lang="en-US" sz="2600" b="1" dirty="0">
                <a:solidFill>
                  <a:srgbClr val="121A2C"/>
                </a:solidFill>
                <a:latin typeface="Arial" pitchFamily="34" charset="0"/>
                <a:ea typeface="Arial" pitchFamily="34" charset="-122"/>
                <a:cs typeface="Arial" pitchFamily="34" charset="-120"/>
              </a:rPr>
              <a:t>24</a:t>
            </a:r>
            <a:pPr indent="0" marL="0">
              <a:buNone/>
            </a:pPr>
            <a:r>
              <a:rPr lang="en-US" sz="2600" b="1" dirty="0">
                <a:solidFill>
                  <a:srgbClr val="F05A00"/>
                </a:solidFill>
                <a:latin typeface="Arial" pitchFamily="34" charset="0"/>
                <a:ea typeface="Arial" pitchFamily="34" charset="-122"/>
                <a:cs typeface="Arial" pitchFamily="34" charset="-120"/>
              </a:rPr>
              <a:t> min</a:t>
            </a:r>
            <a:endParaRPr lang="en-US" sz="2600" dirty="0"/>
          </a:p>
        </p:txBody>
      </p:sp>
      <p:sp>
        <p:nvSpPr>
          <p:cNvPr id="47" name="Text 45"/>
          <p:cNvSpPr txBox="1"/>
          <p:nvPr/>
        </p:nvSpPr>
        <p:spPr>
          <a:xfrm>
            <a:off x="7964424" y="5212080"/>
            <a:ext cx="1618488" cy="731520"/>
          </a:xfrm>
          <a:prstGeom prst="rect">
            <a:avLst/>
          </a:prstGeom>
          <a:noFill/>
          <a:ln/>
        </p:spPr>
        <p:txBody>
          <a:bodyPr wrap="square" lIns="0" tIns="0" rIns="0" bIns="0" rtlCol="0" anchor="t"/>
          <a:lstStyle/>
          <a:p>
            <a:pPr indent="0" marL="0">
              <a:buNone/>
            </a:pPr>
            <a:r>
              <a:rPr lang="en-US" sz="1100" dirty="0">
                <a:solidFill>
                  <a:srgbClr val="2A3144"/>
                </a:solidFill>
                <a:latin typeface="Arial" pitchFamily="34" charset="0"/>
                <a:ea typeface="Arial" pitchFamily="34" charset="-122"/>
                <a:cs typeface="Arial" pitchFamily="34" charset="-120"/>
              </a:rPr>
              <a:t>back on the road</a:t>
            </a:r>
            <a:pPr indent="0" marL="0">
              <a:buNone/>
            </a:pPr>
            <a:r>
              <a:rPr lang="en-US" sz="1000" dirty="0">
                <a:solidFill>
                  <a:srgbClr val="6B7285"/>
                </a:solidFill>
                <a:latin typeface="Arial" pitchFamily="34" charset="0"/>
                <a:ea typeface="Arial" pitchFamily="34" charset="-122"/>
                <a:cs typeface="Arial" pitchFamily="34" charset="-120"/>
              </a:rPr>
              <a:t> [9]</a:t>
            </a:r>
            <a:endParaRPr lang="en-US" sz="1100" dirty="0"/>
          </a:p>
        </p:txBody>
      </p:sp>
      <p:sp>
        <p:nvSpPr>
          <p:cNvPr id="48" name="Outcome 13"/>
          <p:cNvSpPr/>
          <p:nvPr/>
        </p:nvSpPr>
        <p:spPr>
          <a:xfrm>
            <a:off x="9774936" y="4169664"/>
            <a:ext cx="1856232" cy="1865376"/>
          </a:xfrm>
          <a:prstGeom prst="roundRect">
            <a:avLst>
              <a:gd name="adj" fmla="val 6897"/>
            </a:avLst>
          </a:prstGeom>
          <a:solidFill>
            <a:srgbClr val="FFFFFF"/>
          </a:solidFill>
          <a:ln w="9525">
            <a:solidFill>
              <a:srgbClr val="E3E5EA"/>
            </a:solidFill>
            <a:prstDash val="solid"/>
          </a:ln>
        </p:spPr>
      </p:sp>
      <p:sp>
        <p:nvSpPr>
          <p:cNvPr id="49" name="Text 47"/>
          <p:cNvSpPr txBox="1"/>
          <p:nvPr/>
        </p:nvSpPr>
        <p:spPr>
          <a:xfrm>
            <a:off x="9912096" y="4315968"/>
            <a:ext cx="1655064" cy="201168"/>
          </a:xfrm>
          <a:prstGeom prst="rect">
            <a:avLst/>
          </a:prstGeom>
          <a:noFill/>
          <a:ln/>
        </p:spPr>
        <p:txBody>
          <a:bodyPr wrap="square" lIns="0" tIns="0" rIns="0" bIns="0" rtlCol="0" anchor="ctr"/>
          <a:lstStyle/>
          <a:p>
            <a:pPr indent="0" marL="0">
              <a:buNone/>
            </a:pPr>
            <a:r>
              <a:rPr lang="en-US" sz="750" spc="100" kern="0" dirty="0">
                <a:solidFill>
                  <a:srgbClr val="464E62"/>
                </a:solidFill>
                <a:latin typeface="Arial" pitchFamily="34" charset="0"/>
                <a:ea typeface="Arial" pitchFamily="34" charset="-122"/>
                <a:cs typeface="Arial" pitchFamily="34" charset="-120"/>
              </a:rPr>
              <a:t>RESCUED</a:t>
            </a:r>
            <a:endParaRPr lang="en-US" sz="750" dirty="0"/>
          </a:p>
        </p:txBody>
      </p:sp>
      <p:sp>
        <p:nvSpPr>
          <p:cNvPr id="50" name="Text 48"/>
          <p:cNvSpPr txBox="1"/>
          <p:nvPr/>
        </p:nvSpPr>
        <p:spPr>
          <a:xfrm>
            <a:off x="9912096" y="4581144"/>
            <a:ext cx="1673352" cy="594360"/>
          </a:xfrm>
          <a:prstGeom prst="rect">
            <a:avLst/>
          </a:prstGeom>
          <a:noFill/>
          <a:ln/>
        </p:spPr>
        <p:txBody>
          <a:bodyPr wrap="square" lIns="0" tIns="0" rIns="0" bIns="0" rtlCol="0" anchor="ctr"/>
          <a:lstStyle/>
          <a:p>
            <a:pPr indent="0" marL="0">
              <a:buNone/>
            </a:pPr>
            <a:r>
              <a:rPr lang="en-US" sz="2600" b="1" dirty="0">
                <a:solidFill>
                  <a:srgbClr val="121A2C"/>
                </a:solidFill>
                <a:latin typeface="Arial" pitchFamily="34" charset="0"/>
                <a:ea typeface="Arial" pitchFamily="34" charset="-122"/>
                <a:cs typeface="Arial" pitchFamily="34" charset="-120"/>
              </a:rPr>
              <a:t>25</a:t>
            </a:r>
            <a:pPr indent="0" marL="0">
              <a:buNone/>
            </a:pPr>
            <a:r>
              <a:rPr lang="en-US" sz="2600" b="1" dirty="0">
                <a:solidFill>
                  <a:srgbClr val="121A2C"/>
                </a:solidFill>
                <a:latin typeface="Arial" pitchFamily="34" charset="0"/>
                <a:ea typeface="Arial" pitchFamily="34" charset="-122"/>
                <a:cs typeface="Arial" pitchFamily="34" charset="-120"/>
              </a:rPr>
              <a:t>→65</a:t>
            </a:r>
            <a:pPr indent="0" marL="0">
              <a:buNone/>
            </a:pPr>
            <a:r>
              <a:rPr lang="en-US" sz="2600" b="1" dirty="0">
                <a:solidFill>
                  <a:srgbClr val="F05A00"/>
                </a:solidFill>
                <a:latin typeface="Arial" pitchFamily="34" charset="0"/>
                <a:ea typeface="Arial" pitchFamily="34" charset="-122"/>
                <a:cs typeface="Arial" pitchFamily="34" charset="-120"/>
              </a:rPr>
              <a:t>%</a:t>
            </a:r>
            <a:endParaRPr lang="en-US" sz="2600" dirty="0"/>
          </a:p>
        </p:txBody>
      </p:sp>
      <p:sp>
        <p:nvSpPr>
          <p:cNvPr id="51" name="Text 49"/>
          <p:cNvSpPr txBox="1"/>
          <p:nvPr/>
        </p:nvSpPr>
        <p:spPr>
          <a:xfrm>
            <a:off x="9912096" y="5212080"/>
            <a:ext cx="1618488" cy="731520"/>
          </a:xfrm>
          <a:prstGeom prst="rect">
            <a:avLst/>
          </a:prstGeom>
          <a:noFill/>
          <a:ln/>
        </p:spPr>
        <p:txBody>
          <a:bodyPr wrap="square" lIns="0" tIns="0" rIns="0" bIns="0" rtlCol="0" anchor="t"/>
          <a:lstStyle/>
          <a:p>
            <a:pPr indent="0" marL="0">
              <a:buNone/>
            </a:pPr>
            <a:r>
              <a:rPr lang="en-US" sz="1100" dirty="0">
                <a:solidFill>
                  <a:srgbClr val="2A3144"/>
                </a:solidFill>
                <a:latin typeface="Arial" pitchFamily="34" charset="0"/>
                <a:ea typeface="Arial" pitchFamily="34" charset="-122"/>
                <a:cs typeface="Arial" pitchFamily="34" charset="-120"/>
              </a:rPr>
              <a:t>best-in-class rate, vendor range</a:t>
            </a:r>
            <a:pPr indent="0" marL="0">
              <a:buNone/>
            </a:pPr>
            <a:r>
              <a:rPr lang="en-US" sz="1000" dirty="0">
                <a:solidFill>
                  <a:srgbClr val="6B7285"/>
                </a:solidFill>
                <a:latin typeface="Arial" pitchFamily="34" charset="0"/>
                <a:ea typeface="Arial" pitchFamily="34" charset="-122"/>
                <a:cs typeface="Arial" pitchFamily="34" charset="-120"/>
              </a:rPr>
              <a:t> [8]</a:t>
            </a:r>
            <a:endParaRPr lang="en-US" sz="1100" dirty="0"/>
          </a:p>
        </p:txBody>
      </p:sp>
      <p:sp>
        <p:nvSpPr>
          <p:cNvPr id="52" name="Text 50"/>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464E62"/>
                </a:solidFill>
                <a:latin typeface="Arial" pitchFamily="34" charset="0"/>
                <a:ea typeface="Arial" pitchFamily="34" charset="-122"/>
                <a:cs typeface="Arial"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07  </a:t>
            </a:r>
            <a:pPr indent="0" marL="0">
              <a:buNone/>
            </a:pPr>
            <a:r>
              <a:rPr lang="en-US" sz="1050" b="1" spc="200" kern="0" dirty="0">
                <a:solidFill>
                  <a:srgbClr val="1F2A44"/>
                </a:solidFill>
                <a:latin typeface="Arial" pitchFamily="34" charset="0"/>
                <a:ea typeface="Arial" pitchFamily="34" charset="-122"/>
                <a:cs typeface="Arial" pitchFamily="34" charset="-120"/>
              </a:rPr>
              <a:t>FUTURE PLAN</a:t>
            </a:r>
            <a:endParaRPr lang="en-US" sz="1050" dirty="0"/>
          </a:p>
        </p:txBody>
      </p:sp>
      <p:sp>
        <p:nvSpPr>
          <p:cNvPr id="4" name="Text 2"/>
          <p:cNvSpPr txBox="1"/>
          <p:nvPr/>
        </p:nvSpPr>
        <p:spPr>
          <a:xfrm>
            <a:off x="548640" y="841248"/>
            <a:ext cx="5943600" cy="1280160"/>
          </a:xfrm>
          <a:prstGeom prst="rect">
            <a:avLst/>
          </a:prstGeom>
          <a:noFill/>
          <a:ln/>
        </p:spPr>
        <p:txBody>
          <a:bodyPr wrap="square" lIns="0" tIns="0" rIns="0" bIns="0" rtlCol="0" anchor="t"/>
          <a:lstStyle/>
          <a:p>
            <a:pPr indent="0" marL="0">
              <a:lnSpc>
                <a:spcPct val="95000"/>
              </a:lnSpc>
              <a:buNone/>
            </a:pPr>
            <a:r>
              <a:rPr lang="en-US" sz="3000" b="1" dirty="0">
                <a:solidFill>
                  <a:srgbClr val="98A0B2"/>
                </a:solidFill>
                <a:latin typeface="Arial" pitchFamily="34" charset="0"/>
                <a:ea typeface="Arial" pitchFamily="34" charset="-122"/>
                <a:cs typeface="Arial" pitchFamily="34" charset="-120"/>
              </a:rPr>
              <a:t>From a stage demo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to a national rollout.</a:t>
            </a:r>
            <a:endParaRPr lang="en-US" sz="3000" dirty="0"/>
          </a:p>
        </p:txBody>
      </p:sp>
      <p:pic>
        <p:nvPicPr>
          <p:cNvPr id="5" name="Roadmap photo" descr="A developer at a laptop">    </p:cNvPr>
          <p:cNvPicPr>
            <a:picLocks noChangeAspect="1"/>
          </p:cNvPicPr>
          <p:nvPr/>
        </p:nvPicPr>
        <p:blipFill>
          <a:blip r:embed="rId1"/>
          <a:stretch>
            <a:fillRect/>
          </a:stretch>
        </p:blipFill>
        <p:spPr>
          <a:xfrm>
            <a:off x="7434072" y="502920"/>
            <a:ext cx="4206240" cy="1691640"/>
          </a:xfrm>
          <a:prstGeom prst="rect">
            <a:avLst/>
          </a:prstGeom>
        </p:spPr>
      </p:pic>
      <p:sp>
        <p:nvSpPr>
          <p:cNvPr id="6" name="Timeline"/>
          <p:cNvSpPr/>
          <p:nvPr/>
        </p:nvSpPr>
        <p:spPr>
          <a:xfrm>
            <a:off x="640080" y="2697480"/>
            <a:ext cx="10972800" cy="0"/>
          </a:xfrm>
          <a:prstGeom prst="line">
            <a:avLst/>
          </a:prstGeom>
          <a:noFill/>
          <a:ln w="12700">
            <a:solidFill>
              <a:srgbClr val="E3E5EA"/>
            </a:solidFill>
            <a:prstDash val="solid"/>
          </a:ln>
        </p:spPr>
      </p:sp>
      <p:sp>
        <p:nvSpPr>
          <p:cNvPr id="7" name="Dot 0"/>
          <p:cNvSpPr/>
          <p:nvPr/>
        </p:nvSpPr>
        <p:spPr>
          <a:xfrm>
            <a:off x="594360" y="2615184"/>
            <a:ext cx="164592" cy="164592"/>
          </a:xfrm>
          <a:prstGeom prst="ellipse">
            <a:avLst/>
          </a:prstGeom>
          <a:solidFill>
            <a:srgbClr val="F05A00"/>
          </a:solidFill>
          <a:ln w="12700">
            <a:solidFill>
              <a:srgbClr val="F05A00"/>
            </a:solidFill>
            <a:prstDash val="solid"/>
          </a:ln>
        </p:spPr>
      </p:sp>
      <p:sp>
        <p:nvSpPr>
          <p:cNvPr id="8" name="Text 5"/>
          <p:cNvSpPr txBox="1"/>
          <p:nvPr/>
        </p:nvSpPr>
        <p:spPr>
          <a:xfrm>
            <a:off x="841248" y="2596896"/>
            <a:ext cx="1463040" cy="201168"/>
          </a:xfrm>
          <a:prstGeom prst="rect">
            <a:avLst/>
          </a:prstGeom>
          <a:noFill/>
          <a:ln/>
        </p:spPr>
        <p:txBody>
          <a:bodyPr wrap="square" lIns="0" tIns="0" rIns="0" bIns="0" rtlCol="0" anchor="ctr"/>
          <a:lstStyle/>
          <a:p>
            <a:pPr indent="0" marL="0">
              <a:buNone/>
            </a:pPr>
            <a:r>
              <a:rPr lang="en-US" sz="850" b="1" spc="100" kern="0" dirty="0">
                <a:solidFill>
                  <a:srgbClr val="F05A00"/>
                </a:solidFill>
                <a:latin typeface="Arial" pitchFamily="34" charset="0"/>
                <a:ea typeface="Arial" pitchFamily="34" charset="-122"/>
                <a:cs typeface="Arial" pitchFamily="34" charset="-120"/>
              </a:rPr>
              <a:t>OCT 2026</a:t>
            </a:r>
            <a:endParaRPr lang="en-US" sz="850" dirty="0"/>
          </a:p>
        </p:txBody>
      </p:sp>
      <p:sp>
        <p:nvSpPr>
          <p:cNvPr id="9" name="Phase 0"/>
          <p:cNvSpPr/>
          <p:nvPr/>
        </p:nvSpPr>
        <p:spPr>
          <a:xfrm>
            <a:off x="548640" y="3017520"/>
            <a:ext cx="1755648" cy="2834640"/>
          </a:xfrm>
          <a:prstGeom prst="roundRect">
            <a:avLst>
              <a:gd name="adj" fmla="val 7292"/>
            </a:avLst>
          </a:prstGeom>
          <a:solidFill>
            <a:srgbClr val="FFF4EC"/>
          </a:solidFill>
          <a:ln w="9525">
            <a:solidFill>
              <a:srgbClr val="FFD7BF"/>
            </a:solidFill>
            <a:prstDash val="solid"/>
          </a:ln>
        </p:spPr>
      </p:sp>
      <p:sp>
        <p:nvSpPr>
          <p:cNvPr id="10" name="Icon tile"/>
          <p:cNvSpPr/>
          <p:nvPr/>
        </p:nvSpPr>
        <p:spPr>
          <a:xfrm>
            <a:off x="731520" y="3200400"/>
            <a:ext cx="329184" cy="329184"/>
          </a:xfrm>
          <a:prstGeom prst="roundRect">
            <a:avLst>
              <a:gd name="adj" fmla="val 22222"/>
            </a:avLst>
          </a:prstGeom>
          <a:solidFill>
            <a:srgbClr val="FFFFFF"/>
          </a:solidFill>
          <a:ln/>
        </p:spPr>
      </p:sp>
      <p:pic>
        <p:nvPicPr>
          <p:cNvPr id="11" name="Icon" descr="/private/tmp/claude-503/-Users-davark-Downloads-Everything-Github-Alodi-Regional-Codex-Hackathon-2026/91e569a8-486f-4c0b-b683-a4991468f039/scratchpad/deck/assets/mark-dot-orange.png">    </p:cNvPr>
          <p:cNvPicPr>
            <a:picLocks noChangeAspect="1"/>
          </p:cNvPicPr>
          <p:nvPr/>
        </p:nvPicPr>
        <p:blipFill>
          <a:blip r:embed="rId2"/>
          <a:stretch>
            <a:fillRect/>
          </a:stretch>
        </p:blipFill>
        <p:spPr>
          <a:xfrm>
            <a:off x="795528" y="3264408"/>
            <a:ext cx="201168" cy="201168"/>
          </a:xfrm>
          <a:prstGeom prst="rect">
            <a:avLst/>
          </a:prstGeom>
        </p:spPr>
      </p:pic>
      <p:sp>
        <p:nvSpPr>
          <p:cNvPr id="12" name="Text 8"/>
          <p:cNvSpPr txBox="1"/>
          <p:nvPr/>
        </p:nvSpPr>
        <p:spPr>
          <a:xfrm>
            <a:off x="73152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MVP demo</a:t>
            </a:r>
            <a:endParaRPr lang="en-US" sz="1400" dirty="0"/>
          </a:p>
        </p:txBody>
      </p:sp>
      <p:sp>
        <p:nvSpPr>
          <p:cNvPr id="13" name="Text 9"/>
          <p:cNvSpPr txBox="1"/>
          <p:nvPr/>
        </p:nvSpPr>
        <p:spPr>
          <a:xfrm>
            <a:off x="731520" y="4069080"/>
            <a:ext cx="1481328" cy="1691640"/>
          </a:xfrm>
          <a:prstGeom prst="rect">
            <a:avLst/>
          </a:prstGeom>
          <a:noFill/>
          <a:ln/>
        </p:spPr>
        <p:txBody>
          <a:bodyPr wrap="square" lIns="0" tIns="0" rIns="0" bIns="0" rtlCol="0" anchor="t"/>
          <a:lstStyle/>
          <a:p>
            <a:pPr indent="0" marL="0">
              <a:buNone/>
            </a:pPr>
            <a:r>
              <a:rPr lang="en-US" sz="1350" dirty="0">
                <a:solidFill>
                  <a:srgbClr val="2A3144"/>
                </a:solidFill>
                <a:latin typeface="Arial" pitchFamily="34" charset="0"/>
                <a:ea typeface="Arial" pitchFamily="34" charset="-122"/>
                <a:cs typeface="Arial" pitchFamily="34" charset="-120"/>
              </a:rPr>
              <a:t>Demo screens and a working backend, built at this hackathon</a:t>
            </a:r>
            <a:pPr indent="0" marL="0">
              <a:buNone/>
            </a:pPr>
            <a:r>
              <a:rPr lang="en-US" sz="1000" dirty="0">
                <a:solidFill>
                  <a:srgbClr val="6B7285"/>
                </a:solidFill>
                <a:latin typeface="Arial" pitchFamily="34" charset="0"/>
                <a:ea typeface="Arial" pitchFamily="34" charset="-122"/>
                <a:cs typeface="Arial" pitchFamily="34" charset="-120"/>
              </a:rPr>
              <a:t> [12]</a:t>
            </a:r>
            <a:endParaRPr lang="en-US" sz="1350" dirty="0"/>
          </a:p>
        </p:txBody>
      </p:sp>
      <p:sp>
        <p:nvSpPr>
          <p:cNvPr id="14" name="Dot 1"/>
          <p:cNvSpPr/>
          <p:nvPr/>
        </p:nvSpPr>
        <p:spPr>
          <a:xfrm>
            <a:off x="2459736" y="2615184"/>
            <a:ext cx="164592" cy="164592"/>
          </a:xfrm>
          <a:prstGeom prst="ellipse">
            <a:avLst/>
          </a:prstGeom>
          <a:solidFill>
            <a:srgbClr val="FFFFFF"/>
          </a:solidFill>
          <a:ln w="12700">
            <a:solidFill>
              <a:srgbClr val="98A0B2"/>
            </a:solidFill>
            <a:prstDash val="solid"/>
          </a:ln>
        </p:spPr>
      </p:sp>
      <p:sp>
        <p:nvSpPr>
          <p:cNvPr id="15" name="Text 11"/>
          <p:cNvSpPr txBox="1"/>
          <p:nvPr/>
        </p:nvSpPr>
        <p:spPr>
          <a:xfrm>
            <a:off x="2706624" y="2596896"/>
            <a:ext cx="1463040" cy="201168"/>
          </a:xfrm>
          <a:prstGeom prst="rect">
            <a:avLst/>
          </a:prstGeom>
          <a:noFill/>
          <a:ln/>
        </p:spPr>
        <p:txBody>
          <a:bodyPr wrap="square" lIns="0" tIns="0" rIns="0" bIns="0" rtlCol="0" anchor="ctr"/>
          <a:lstStyle/>
          <a:p>
            <a:pPr indent="0" marL="0">
              <a:buNone/>
            </a:pPr>
            <a:r>
              <a:rPr lang="en-US" sz="850" b="1" spc="100" kern="0" dirty="0">
                <a:solidFill>
                  <a:srgbClr val="464E62"/>
                </a:solidFill>
                <a:latin typeface="Arial" pitchFamily="34" charset="0"/>
                <a:ea typeface="Arial" pitchFamily="34" charset="-122"/>
                <a:cs typeface="Arial" pitchFamily="34" charset="-120"/>
              </a:rPr>
              <a:t>NOV 2026</a:t>
            </a:r>
            <a:endParaRPr lang="en-US" sz="850" dirty="0"/>
          </a:p>
        </p:txBody>
      </p:sp>
      <p:sp>
        <p:nvSpPr>
          <p:cNvPr id="16" name="Phase 1"/>
          <p:cNvSpPr/>
          <p:nvPr/>
        </p:nvSpPr>
        <p:spPr>
          <a:xfrm>
            <a:off x="2414016" y="3017520"/>
            <a:ext cx="1755648" cy="2834640"/>
          </a:xfrm>
          <a:prstGeom prst="roundRect">
            <a:avLst>
              <a:gd name="adj" fmla="val 7292"/>
            </a:avLst>
          </a:prstGeom>
          <a:solidFill>
            <a:srgbClr val="FFFFFF"/>
          </a:solidFill>
          <a:ln w="9525">
            <a:solidFill>
              <a:srgbClr val="E3E5EA"/>
            </a:solidFill>
            <a:prstDash val="solid"/>
          </a:ln>
        </p:spPr>
      </p:sp>
      <p:sp>
        <p:nvSpPr>
          <p:cNvPr id="17" name="Icon tile"/>
          <p:cNvSpPr/>
          <p:nvPr/>
        </p:nvSpPr>
        <p:spPr>
          <a:xfrm>
            <a:off x="2596896" y="3200400"/>
            <a:ext cx="329184" cy="329184"/>
          </a:xfrm>
          <a:prstGeom prst="roundRect">
            <a:avLst>
              <a:gd name="adj" fmla="val 22222"/>
            </a:avLst>
          </a:prstGeom>
          <a:solidFill>
            <a:srgbClr val="F1F2F5"/>
          </a:solidFill>
          <a:ln/>
        </p:spPr>
      </p:sp>
      <p:pic>
        <p:nvPicPr>
          <p:cNvPr id="18" name="Icon" descr="/private/tmp/claude-503/-Users-davark-Downloads-Everything-Github-Alodi-Regional-Codex-Hackathon-2026/91e569a8-486f-4c0b-b683-a4991468f039/scratchpad/deck/assets/mark-square-navy.png">    </p:cNvPr>
          <p:cNvPicPr>
            <a:picLocks noChangeAspect="1"/>
          </p:cNvPicPr>
          <p:nvPr/>
        </p:nvPicPr>
        <p:blipFill>
          <a:blip r:embed="rId3"/>
          <a:stretch>
            <a:fillRect/>
          </a:stretch>
        </p:blipFill>
        <p:spPr>
          <a:xfrm>
            <a:off x="2660904" y="3264408"/>
            <a:ext cx="201168" cy="201168"/>
          </a:xfrm>
          <a:prstGeom prst="rect">
            <a:avLst/>
          </a:prstGeom>
        </p:spPr>
      </p:pic>
      <p:sp>
        <p:nvSpPr>
          <p:cNvPr id="19" name="Text 14"/>
          <p:cNvSpPr txBox="1"/>
          <p:nvPr/>
        </p:nvSpPr>
        <p:spPr>
          <a:xfrm>
            <a:off x="2596896"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Full build</a:t>
            </a:r>
            <a:endParaRPr lang="en-US" sz="1400" dirty="0"/>
          </a:p>
        </p:txBody>
      </p:sp>
      <p:sp>
        <p:nvSpPr>
          <p:cNvPr id="20" name="Text 15"/>
          <p:cNvSpPr txBox="1"/>
          <p:nvPr/>
        </p:nvSpPr>
        <p:spPr>
          <a:xfrm>
            <a:off x="2596896" y="4069080"/>
            <a:ext cx="1481328" cy="1691640"/>
          </a:xfrm>
          <a:prstGeom prst="rect">
            <a:avLst/>
          </a:prstGeom>
          <a:noFill/>
          <a:ln/>
        </p:spPr>
        <p:txBody>
          <a:bodyPr wrap="square" lIns="0" tIns="0" rIns="0" bIns="0" rtlCol="0" anchor="t"/>
          <a:lstStyle/>
          <a:p>
            <a:pPr indent="0" marL="0">
              <a:buNone/>
            </a:pPr>
            <a:r>
              <a:rPr lang="en-US" sz="1350" dirty="0">
                <a:solidFill>
                  <a:srgbClr val="2A3144"/>
                </a:solidFill>
                <a:latin typeface="Arial" pitchFamily="34" charset="0"/>
                <a:ea typeface="Arial" pitchFamily="34" charset="-122"/>
                <a:cs typeface="Arial" pitchFamily="34" charset="-120"/>
              </a:rPr>
              <a:t>Connect the demo to the backend, real call audio, ≥ 200 eval samples</a:t>
            </a:r>
            <a:endParaRPr lang="en-US" sz="1350" dirty="0"/>
          </a:p>
        </p:txBody>
      </p:sp>
      <p:sp>
        <p:nvSpPr>
          <p:cNvPr id="21" name="Dot 2"/>
          <p:cNvSpPr/>
          <p:nvPr/>
        </p:nvSpPr>
        <p:spPr>
          <a:xfrm>
            <a:off x="4325112" y="2615184"/>
            <a:ext cx="164592" cy="164592"/>
          </a:xfrm>
          <a:prstGeom prst="ellipse">
            <a:avLst/>
          </a:prstGeom>
          <a:solidFill>
            <a:srgbClr val="FFFFFF"/>
          </a:solidFill>
          <a:ln w="12700">
            <a:solidFill>
              <a:srgbClr val="98A0B2"/>
            </a:solidFill>
            <a:prstDash val="solid"/>
          </a:ln>
        </p:spPr>
      </p:sp>
      <p:sp>
        <p:nvSpPr>
          <p:cNvPr id="22" name="Text 17"/>
          <p:cNvSpPr txBox="1"/>
          <p:nvPr/>
        </p:nvSpPr>
        <p:spPr>
          <a:xfrm>
            <a:off x="4572000" y="2596896"/>
            <a:ext cx="1463040" cy="201168"/>
          </a:xfrm>
          <a:prstGeom prst="rect">
            <a:avLst/>
          </a:prstGeom>
          <a:noFill/>
          <a:ln/>
        </p:spPr>
        <p:txBody>
          <a:bodyPr wrap="square" lIns="0" tIns="0" rIns="0" bIns="0" rtlCol="0" anchor="ctr"/>
          <a:lstStyle/>
          <a:p>
            <a:pPr indent="0" marL="0">
              <a:buNone/>
            </a:pPr>
            <a:r>
              <a:rPr lang="en-US" sz="850" b="1" spc="100" kern="0" dirty="0">
                <a:solidFill>
                  <a:srgbClr val="464E62"/>
                </a:solidFill>
                <a:latin typeface="Arial" pitchFamily="34" charset="0"/>
                <a:ea typeface="Arial" pitchFamily="34" charset="-122"/>
                <a:cs typeface="Arial" pitchFamily="34" charset="-120"/>
              </a:rPr>
              <a:t>Q1 2027</a:t>
            </a:r>
            <a:endParaRPr lang="en-US" sz="850" dirty="0"/>
          </a:p>
        </p:txBody>
      </p:sp>
      <p:sp>
        <p:nvSpPr>
          <p:cNvPr id="23" name="Phase 2"/>
          <p:cNvSpPr/>
          <p:nvPr/>
        </p:nvSpPr>
        <p:spPr>
          <a:xfrm>
            <a:off x="4279392" y="3017520"/>
            <a:ext cx="1755648" cy="2834640"/>
          </a:xfrm>
          <a:prstGeom prst="roundRect">
            <a:avLst>
              <a:gd name="adj" fmla="val 7292"/>
            </a:avLst>
          </a:prstGeom>
          <a:solidFill>
            <a:srgbClr val="FFFFFF"/>
          </a:solidFill>
          <a:ln w="9525">
            <a:solidFill>
              <a:srgbClr val="E3E5EA"/>
            </a:solidFill>
            <a:prstDash val="solid"/>
          </a:ln>
        </p:spPr>
      </p:sp>
      <p:sp>
        <p:nvSpPr>
          <p:cNvPr id="24" name="Icon tile"/>
          <p:cNvSpPr/>
          <p:nvPr/>
        </p:nvSpPr>
        <p:spPr>
          <a:xfrm>
            <a:off x="4462272" y="3200400"/>
            <a:ext cx="329184" cy="329184"/>
          </a:xfrm>
          <a:prstGeom prst="roundRect">
            <a:avLst>
              <a:gd name="adj" fmla="val 22222"/>
            </a:avLst>
          </a:prstGeom>
          <a:solidFill>
            <a:srgbClr val="F1F2F5"/>
          </a:solidFill>
          <a:ln/>
        </p:spPr>
      </p:sp>
      <p:pic>
        <p:nvPicPr>
          <p:cNvPr id="25" name="Icon" descr="/private/tmp/claude-503/-Users-davark-Downloads-Everything-Github-Alodi-Regional-Codex-Hackathon-2026/91e569a8-486f-4c0b-b683-a4991468f039/scratchpad/deck/assets/mark-bars-navy.png">    </p:cNvPr>
          <p:cNvPicPr>
            <a:picLocks noChangeAspect="1"/>
          </p:cNvPicPr>
          <p:nvPr/>
        </p:nvPicPr>
        <p:blipFill>
          <a:blip r:embed="rId4"/>
          <a:stretch>
            <a:fillRect/>
          </a:stretch>
        </p:blipFill>
        <p:spPr>
          <a:xfrm>
            <a:off x="4526280" y="3264408"/>
            <a:ext cx="201168" cy="201168"/>
          </a:xfrm>
          <a:prstGeom prst="rect">
            <a:avLst/>
          </a:prstGeom>
        </p:spPr>
      </p:pic>
      <p:sp>
        <p:nvSpPr>
          <p:cNvPr id="26" name="Text 20"/>
          <p:cNvSpPr txBox="1"/>
          <p:nvPr/>
        </p:nvSpPr>
        <p:spPr>
          <a:xfrm>
            <a:off x="4462272"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Shadow mode</a:t>
            </a:r>
            <a:endParaRPr lang="en-US" sz="1400" dirty="0"/>
          </a:p>
        </p:txBody>
      </p:sp>
      <p:sp>
        <p:nvSpPr>
          <p:cNvPr id="27" name="Text 21"/>
          <p:cNvSpPr txBox="1"/>
          <p:nvPr/>
        </p:nvSpPr>
        <p:spPr>
          <a:xfrm>
            <a:off x="4462272" y="4069080"/>
            <a:ext cx="1481328" cy="1691640"/>
          </a:xfrm>
          <a:prstGeom prst="rect">
            <a:avLst/>
          </a:prstGeom>
          <a:noFill/>
          <a:ln/>
        </p:spPr>
        <p:txBody>
          <a:bodyPr wrap="square" lIns="0" tIns="0" rIns="0" bIns="0" rtlCol="0" anchor="t"/>
          <a:lstStyle/>
          <a:p>
            <a:pPr indent="0" marL="0">
              <a:buNone/>
            </a:pPr>
            <a:r>
              <a:rPr lang="en-US" sz="1350" dirty="0">
                <a:solidFill>
                  <a:srgbClr val="2A3144"/>
                </a:solidFill>
                <a:latin typeface="Arial" pitchFamily="34" charset="0"/>
                <a:ea typeface="Arial" pitchFamily="34" charset="-122"/>
                <a:cs typeface="Arial" pitchFamily="34" charset="-120"/>
              </a:rPr>
              <a:t>One area, real events, no buyer contact</a:t>
            </a:r>
            <a:endParaRPr lang="en-US" sz="1350" dirty="0"/>
          </a:p>
        </p:txBody>
      </p:sp>
      <p:sp>
        <p:nvSpPr>
          <p:cNvPr id="28" name="Dot 3"/>
          <p:cNvSpPr/>
          <p:nvPr/>
        </p:nvSpPr>
        <p:spPr>
          <a:xfrm>
            <a:off x="6190488" y="2615184"/>
            <a:ext cx="164592" cy="164592"/>
          </a:xfrm>
          <a:prstGeom prst="ellipse">
            <a:avLst/>
          </a:prstGeom>
          <a:solidFill>
            <a:srgbClr val="FFFFFF"/>
          </a:solidFill>
          <a:ln w="12700">
            <a:solidFill>
              <a:srgbClr val="98A0B2"/>
            </a:solidFill>
            <a:prstDash val="solid"/>
          </a:ln>
        </p:spPr>
      </p:sp>
      <p:sp>
        <p:nvSpPr>
          <p:cNvPr id="29" name="Text 23"/>
          <p:cNvSpPr txBox="1"/>
          <p:nvPr/>
        </p:nvSpPr>
        <p:spPr>
          <a:xfrm>
            <a:off x="6437376" y="2596896"/>
            <a:ext cx="1463040" cy="201168"/>
          </a:xfrm>
          <a:prstGeom prst="rect">
            <a:avLst/>
          </a:prstGeom>
          <a:noFill/>
          <a:ln/>
        </p:spPr>
        <p:txBody>
          <a:bodyPr wrap="square" lIns="0" tIns="0" rIns="0" bIns="0" rtlCol="0" anchor="ctr"/>
          <a:lstStyle/>
          <a:p>
            <a:pPr indent="0" marL="0">
              <a:buNone/>
            </a:pPr>
            <a:r>
              <a:rPr lang="en-US" sz="850" b="1" spc="100" kern="0" dirty="0">
                <a:solidFill>
                  <a:srgbClr val="464E62"/>
                </a:solidFill>
                <a:latin typeface="Arial" pitchFamily="34" charset="0"/>
                <a:ea typeface="Arial" pitchFamily="34" charset="-122"/>
                <a:cs typeface="Arial" pitchFamily="34" charset="-120"/>
              </a:rPr>
              <a:t>Q2 2027</a:t>
            </a:r>
            <a:endParaRPr lang="en-US" sz="850" dirty="0"/>
          </a:p>
        </p:txBody>
      </p:sp>
      <p:sp>
        <p:nvSpPr>
          <p:cNvPr id="30" name="Phase 3"/>
          <p:cNvSpPr/>
          <p:nvPr/>
        </p:nvSpPr>
        <p:spPr>
          <a:xfrm>
            <a:off x="6144768" y="3017520"/>
            <a:ext cx="1755648" cy="2834640"/>
          </a:xfrm>
          <a:prstGeom prst="roundRect">
            <a:avLst>
              <a:gd name="adj" fmla="val 7292"/>
            </a:avLst>
          </a:prstGeom>
          <a:solidFill>
            <a:srgbClr val="FFFFFF"/>
          </a:solidFill>
          <a:ln w="9525">
            <a:solidFill>
              <a:srgbClr val="E3E5EA"/>
            </a:solidFill>
            <a:prstDash val="solid"/>
          </a:ln>
        </p:spPr>
      </p:sp>
      <p:sp>
        <p:nvSpPr>
          <p:cNvPr id="31" name="Icon tile"/>
          <p:cNvSpPr/>
          <p:nvPr/>
        </p:nvSpPr>
        <p:spPr>
          <a:xfrm>
            <a:off x="6327648" y="3200400"/>
            <a:ext cx="329184" cy="329184"/>
          </a:xfrm>
          <a:prstGeom prst="roundRect">
            <a:avLst>
              <a:gd name="adj" fmla="val 22222"/>
            </a:avLst>
          </a:prstGeom>
          <a:solidFill>
            <a:srgbClr val="F1F2F5"/>
          </a:solidFill>
          <a:ln/>
        </p:spPr>
      </p:sp>
      <p:pic>
        <p:nvPicPr>
          <p:cNvPr id="32" name="Icon" descr="/private/tmp/claude-503/-Users-davark-Downloads-Everything-Github-Alodi-Regional-Codex-Hackathon-2026/91e569a8-486f-4c0b-b683-a4991468f039/scratchpad/deck/assets/mark-check-navy.png">    </p:cNvPr>
          <p:cNvPicPr>
            <a:picLocks noChangeAspect="1"/>
          </p:cNvPicPr>
          <p:nvPr/>
        </p:nvPicPr>
        <p:blipFill>
          <a:blip r:embed="rId5"/>
          <a:stretch>
            <a:fillRect/>
          </a:stretch>
        </p:blipFill>
        <p:spPr>
          <a:xfrm>
            <a:off x="6391656" y="3264408"/>
            <a:ext cx="201168" cy="201168"/>
          </a:xfrm>
          <a:prstGeom prst="rect">
            <a:avLst/>
          </a:prstGeom>
        </p:spPr>
      </p:pic>
      <p:sp>
        <p:nvSpPr>
          <p:cNvPr id="33" name="Text 26"/>
          <p:cNvSpPr txBox="1"/>
          <p:nvPr/>
        </p:nvSpPr>
        <p:spPr>
          <a:xfrm>
            <a:off x="6327648"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Real channels</a:t>
            </a:r>
            <a:endParaRPr lang="en-US" sz="1400" dirty="0"/>
          </a:p>
        </p:txBody>
      </p:sp>
      <p:sp>
        <p:nvSpPr>
          <p:cNvPr id="34" name="Text 27"/>
          <p:cNvSpPr txBox="1"/>
          <p:nvPr/>
        </p:nvSpPr>
        <p:spPr>
          <a:xfrm>
            <a:off x="6327648" y="4069080"/>
            <a:ext cx="1481328" cy="1691640"/>
          </a:xfrm>
          <a:prstGeom prst="rect">
            <a:avLst/>
          </a:prstGeom>
          <a:noFill/>
          <a:ln/>
        </p:spPr>
        <p:txBody>
          <a:bodyPr wrap="square" lIns="0" tIns="0" rIns="0" bIns="0" rtlCol="0" anchor="t"/>
          <a:lstStyle/>
          <a:p>
            <a:pPr indent="0" marL="0">
              <a:buNone/>
            </a:pPr>
            <a:r>
              <a:rPr lang="en-US" sz="1350" dirty="0">
                <a:solidFill>
                  <a:srgbClr val="2A3144"/>
                </a:solidFill>
                <a:latin typeface="Arial" pitchFamily="34" charset="0"/>
                <a:ea typeface="Arial" pitchFamily="34" charset="-122"/>
                <a:cs typeface="Arial" pitchFamily="34" charset="-120"/>
              </a:rPr>
              <a:t>Chat and GPT-Live-1 calls for risky orders</a:t>
            </a:r>
            <a:endParaRPr lang="en-US" sz="1350" dirty="0"/>
          </a:p>
        </p:txBody>
      </p:sp>
      <p:sp>
        <p:nvSpPr>
          <p:cNvPr id="35" name="Dot 4"/>
          <p:cNvSpPr/>
          <p:nvPr/>
        </p:nvSpPr>
        <p:spPr>
          <a:xfrm>
            <a:off x="8055864" y="2615184"/>
            <a:ext cx="164592" cy="164592"/>
          </a:xfrm>
          <a:prstGeom prst="ellipse">
            <a:avLst/>
          </a:prstGeom>
          <a:solidFill>
            <a:srgbClr val="FFFFFF"/>
          </a:solidFill>
          <a:ln w="12700">
            <a:solidFill>
              <a:srgbClr val="98A0B2"/>
            </a:solidFill>
            <a:prstDash val="solid"/>
          </a:ln>
        </p:spPr>
      </p:sp>
      <p:sp>
        <p:nvSpPr>
          <p:cNvPr id="36" name="Text 29"/>
          <p:cNvSpPr txBox="1"/>
          <p:nvPr/>
        </p:nvSpPr>
        <p:spPr>
          <a:xfrm>
            <a:off x="8302752" y="2596896"/>
            <a:ext cx="1463040" cy="201168"/>
          </a:xfrm>
          <a:prstGeom prst="rect">
            <a:avLst/>
          </a:prstGeom>
          <a:noFill/>
          <a:ln/>
        </p:spPr>
        <p:txBody>
          <a:bodyPr wrap="square" lIns="0" tIns="0" rIns="0" bIns="0" rtlCol="0" anchor="ctr"/>
          <a:lstStyle/>
          <a:p>
            <a:pPr indent="0" marL="0">
              <a:buNone/>
            </a:pPr>
            <a:r>
              <a:rPr lang="en-US" sz="850" b="1" spc="100" kern="0" dirty="0">
                <a:solidFill>
                  <a:srgbClr val="464E62"/>
                </a:solidFill>
                <a:latin typeface="Arial" pitchFamily="34" charset="0"/>
                <a:ea typeface="Arial" pitchFamily="34" charset="-122"/>
                <a:cs typeface="Arial" pitchFamily="34" charset="-120"/>
              </a:rPr>
              <a:t>H2 2027</a:t>
            </a:r>
            <a:endParaRPr lang="en-US" sz="850" dirty="0"/>
          </a:p>
        </p:txBody>
      </p:sp>
      <p:sp>
        <p:nvSpPr>
          <p:cNvPr id="37" name="Phase 4"/>
          <p:cNvSpPr/>
          <p:nvPr/>
        </p:nvSpPr>
        <p:spPr>
          <a:xfrm>
            <a:off x="8010144" y="3017520"/>
            <a:ext cx="1755648" cy="2834640"/>
          </a:xfrm>
          <a:prstGeom prst="roundRect">
            <a:avLst>
              <a:gd name="adj" fmla="val 7292"/>
            </a:avLst>
          </a:prstGeom>
          <a:solidFill>
            <a:srgbClr val="FFFFFF"/>
          </a:solidFill>
          <a:ln w="9525">
            <a:solidFill>
              <a:srgbClr val="E3E5EA"/>
            </a:solidFill>
            <a:prstDash val="solid"/>
          </a:ln>
        </p:spPr>
      </p:sp>
      <p:sp>
        <p:nvSpPr>
          <p:cNvPr id="38" name="Icon tile"/>
          <p:cNvSpPr/>
          <p:nvPr/>
        </p:nvSpPr>
        <p:spPr>
          <a:xfrm>
            <a:off x="8193024" y="3200400"/>
            <a:ext cx="329184" cy="329184"/>
          </a:xfrm>
          <a:prstGeom prst="roundRect">
            <a:avLst>
              <a:gd name="adj" fmla="val 22222"/>
            </a:avLst>
          </a:prstGeom>
          <a:solidFill>
            <a:srgbClr val="F1F2F5"/>
          </a:solidFill>
          <a:ln/>
        </p:spPr>
      </p:sp>
      <p:pic>
        <p:nvPicPr>
          <p:cNvPr id="39" name="Icon" descr="/private/tmp/claude-503/-Users-davark-Downloads-Everything-Github-Alodi-Regional-Codex-Hackathon-2026/91e569a8-486f-4c0b-b683-a4991468f039/scratchpad/deck/assets/mark-dot-navy.png">    </p:cNvPr>
          <p:cNvPicPr>
            <a:picLocks noChangeAspect="1"/>
          </p:cNvPicPr>
          <p:nvPr/>
        </p:nvPicPr>
        <p:blipFill>
          <a:blip r:embed="rId6"/>
          <a:stretch>
            <a:fillRect/>
          </a:stretch>
        </p:blipFill>
        <p:spPr>
          <a:xfrm>
            <a:off x="8257032" y="3264408"/>
            <a:ext cx="201168" cy="201168"/>
          </a:xfrm>
          <a:prstGeom prst="rect">
            <a:avLst/>
          </a:prstGeom>
        </p:spPr>
      </p:pic>
      <p:sp>
        <p:nvSpPr>
          <p:cNvPr id="40" name="Text 32"/>
          <p:cNvSpPr txBox="1"/>
          <p:nvPr/>
        </p:nvSpPr>
        <p:spPr>
          <a:xfrm>
            <a:off x="8193024"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Region</a:t>
            </a:r>
            <a:endParaRPr lang="en-US" sz="1400" dirty="0"/>
          </a:p>
        </p:txBody>
      </p:sp>
      <p:sp>
        <p:nvSpPr>
          <p:cNvPr id="41" name="Text 33"/>
          <p:cNvSpPr txBox="1"/>
          <p:nvPr/>
        </p:nvSpPr>
        <p:spPr>
          <a:xfrm>
            <a:off x="8193024" y="4069080"/>
            <a:ext cx="1481328" cy="1691640"/>
          </a:xfrm>
          <a:prstGeom prst="rect">
            <a:avLst/>
          </a:prstGeom>
          <a:noFill/>
          <a:ln/>
        </p:spPr>
        <p:txBody>
          <a:bodyPr wrap="square" lIns="0" tIns="0" rIns="0" bIns="0" rtlCol="0" anchor="t"/>
          <a:lstStyle/>
          <a:p>
            <a:pPr indent="0" marL="0">
              <a:buNone/>
            </a:pPr>
            <a:r>
              <a:rPr lang="en-US" sz="1350" dirty="0">
                <a:solidFill>
                  <a:srgbClr val="2A3144"/>
                </a:solidFill>
                <a:latin typeface="Arial" pitchFamily="34" charset="0"/>
                <a:ea typeface="Arial" pitchFamily="34" charset="-122"/>
                <a:cs typeface="Arial" pitchFamily="34" charset="-120"/>
              </a:rPr>
              <a:t>5–20 hubs, cost per case on target</a:t>
            </a:r>
            <a:endParaRPr lang="en-US" sz="1350" dirty="0"/>
          </a:p>
        </p:txBody>
      </p:sp>
      <p:sp>
        <p:nvSpPr>
          <p:cNvPr id="42" name="Dot 5"/>
          <p:cNvSpPr/>
          <p:nvPr/>
        </p:nvSpPr>
        <p:spPr>
          <a:xfrm>
            <a:off x="9921240" y="2615184"/>
            <a:ext cx="164592" cy="164592"/>
          </a:xfrm>
          <a:prstGeom prst="ellipse">
            <a:avLst/>
          </a:prstGeom>
          <a:solidFill>
            <a:srgbClr val="FFFFFF"/>
          </a:solidFill>
          <a:ln w="12700">
            <a:solidFill>
              <a:srgbClr val="98A0B2"/>
            </a:solidFill>
            <a:prstDash val="solid"/>
          </a:ln>
        </p:spPr>
      </p:sp>
      <p:sp>
        <p:nvSpPr>
          <p:cNvPr id="43" name="Text 35"/>
          <p:cNvSpPr txBox="1"/>
          <p:nvPr/>
        </p:nvSpPr>
        <p:spPr>
          <a:xfrm>
            <a:off x="10168128" y="2596896"/>
            <a:ext cx="1463040" cy="201168"/>
          </a:xfrm>
          <a:prstGeom prst="rect">
            <a:avLst/>
          </a:prstGeom>
          <a:noFill/>
          <a:ln/>
        </p:spPr>
        <p:txBody>
          <a:bodyPr wrap="square" lIns="0" tIns="0" rIns="0" bIns="0" rtlCol="0" anchor="ctr"/>
          <a:lstStyle/>
          <a:p>
            <a:pPr indent="0" marL="0">
              <a:buNone/>
            </a:pPr>
            <a:r>
              <a:rPr lang="en-US" sz="850" b="1" spc="100" kern="0" dirty="0">
                <a:solidFill>
                  <a:srgbClr val="464E62"/>
                </a:solidFill>
                <a:latin typeface="Arial" pitchFamily="34" charset="0"/>
                <a:ea typeface="Arial" pitchFamily="34" charset="-122"/>
                <a:cs typeface="Arial" pitchFamily="34" charset="-120"/>
              </a:rPr>
              <a:t>2028</a:t>
            </a:r>
            <a:endParaRPr lang="en-US" sz="850" dirty="0"/>
          </a:p>
        </p:txBody>
      </p:sp>
      <p:sp>
        <p:nvSpPr>
          <p:cNvPr id="44" name="Phase 5"/>
          <p:cNvSpPr/>
          <p:nvPr/>
        </p:nvSpPr>
        <p:spPr>
          <a:xfrm>
            <a:off x="9875520" y="3017520"/>
            <a:ext cx="1755648" cy="2834640"/>
          </a:xfrm>
          <a:prstGeom prst="roundRect">
            <a:avLst>
              <a:gd name="adj" fmla="val 7292"/>
            </a:avLst>
          </a:prstGeom>
          <a:solidFill>
            <a:srgbClr val="FFFFFF"/>
          </a:solidFill>
          <a:ln w="9525">
            <a:solidFill>
              <a:srgbClr val="E3E5EA"/>
            </a:solidFill>
            <a:prstDash val="solid"/>
          </a:ln>
        </p:spPr>
      </p:sp>
      <p:sp>
        <p:nvSpPr>
          <p:cNvPr id="45" name="Icon tile"/>
          <p:cNvSpPr/>
          <p:nvPr/>
        </p:nvSpPr>
        <p:spPr>
          <a:xfrm>
            <a:off x="10058400" y="3200400"/>
            <a:ext cx="329184" cy="329184"/>
          </a:xfrm>
          <a:prstGeom prst="roundRect">
            <a:avLst>
              <a:gd name="adj" fmla="val 22222"/>
            </a:avLst>
          </a:prstGeom>
          <a:solidFill>
            <a:srgbClr val="F1F2F5"/>
          </a:solidFill>
          <a:ln/>
        </p:spPr>
      </p:sp>
      <p:pic>
        <p:nvPicPr>
          <p:cNvPr id="46" name="Icon" descr="/private/tmp/claude-503/-Users-davark-Downloads-Everything-Github-Alodi-Regional-Codex-Hackathon-2026/91e569a8-486f-4c0b-b683-a4991468f039/scratchpad/deck/assets/mark-check-navy.png">    </p:cNvPr>
          <p:cNvPicPr>
            <a:picLocks noChangeAspect="1"/>
          </p:cNvPicPr>
          <p:nvPr/>
        </p:nvPicPr>
        <p:blipFill>
          <a:blip r:embed="rId7"/>
          <a:stretch>
            <a:fillRect/>
          </a:stretch>
        </p:blipFill>
        <p:spPr>
          <a:xfrm>
            <a:off x="10122408" y="3264408"/>
            <a:ext cx="201168" cy="201168"/>
          </a:xfrm>
          <a:prstGeom prst="rect">
            <a:avLst/>
          </a:prstGeom>
        </p:spPr>
      </p:pic>
      <p:sp>
        <p:nvSpPr>
          <p:cNvPr id="47" name="Text 38"/>
          <p:cNvSpPr txBox="1"/>
          <p:nvPr/>
        </p:nvSpPr>
        <p:spPr>
          <a:xfrm>
            <a:off x="1005840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National</a:t>
            </a:r>
            <a:endParaRPr lang="en-US" sz="1400" dirty="0"/>
          </a:p>
        </p:txBody>
      </p:sp>
      <p:sp>
        <p:nvSpPr>
          <p:cNvPr id="48" name="Text 39"/>
          <p:cNvSpPr txBox="1"/>
          <p:nvPr/>
        </p:nvSpPr>
        <p:spPr>
          <a:xfrm>
            <a:off x="10058400" y="4069080"/>
            <a:ext cx="1481328" cy="1691640"/>
          </a:xfrm>
          <a:prstGeom prst="rect">
            <a:avLst/>
          </a:prstGeom>
          <a:noFill/>
          <a:ln/>
        </p:spPr>
        <p:txBody>
          <a:bodyPr wrap="square" lIns="0" tIns="0" rIns="0" bIns="0" rtlCol="0" anchor="t"/>
          <a:lstStyle/>
          <a:p>
            <a:pPr indent="0" marL="0">
              <a:buNone/>
            </a:pPr>
            <a:r>
              <a:rPr lang="en-US" sz="1350" dirty="0">
                <a:solidFill>
                  <a:srgbClr val="2A3144"/>
                </a:solidFill>
                <a:latin typeface="Arial" pitchFamily="34" charset="0"/>
                <a:ea typeface="Arial" pitchFamily="34" charset="-122"/>
                <a:cs typeface="Arial" pitchFamily="34" charset="-120"/>
              </a:rPr>
              <a:t>20–100 hubs, break-even</a:t>
            </a:r>
            <a:endParaRPr lang="en-US" sz="1350" dirty="0"/>
          </a:p>
        </p:txBody>
      </p:sp>
      <p:sp>
        <p:nvSpPr>
          <p:cNvPr id="49" name="Text 40"/>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464E62"/>
                </a:solidFill>
                <a:latin typeface="Arial" pitchFamily="34" charset="0"/>
                <a:ea typeface="Arial" pitchFamily="34" charset="-122"/>
                <a:cs typeface="Arial"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08  </a:t>
            </a:r>
            <a:pPr indent="0" marL="0">
              <a:buNone/>
            </a:pPr>
            <a:r>
              <a:rPr lang="en-US" sz="1050" b="1" spc="200" kern="0" dirty="0">
                <a:solidFill>
                  <a:srgbClr val="1F2A44"/>
                </a:solidFill>
                <a:latin typeface="Arial" pitchFamily="34" charset="0"/>
                <a:ea typeface="Arial" pitchFamily="34" charset="-122"/>
                <a:cs typeface="Arial" pitchFamily="34" charset="-120"/>
              </a:rPr>
              <a:t>TEAM</a:t>
            </a:r>
            <a:endParaRPr lang="en-US" sz="1050" dirty="0"/>
          </a:p>
        </p:txBody>
      </p:sp>
      <p:sp>
        <p:nvSpPr>
          <p:cNvPr id="4" name="Text 2"/>
          <p:cNvSpPr txBox="1"/>
          <p:nvPr/>
        </p:nvSpPr>
        <p:spPr>
          <a:xfrm>
            <a:off x="548640" y="841248"/>
            <a:ext cx="10515600" cy="822960"/>
          </a:xfrm>
          <a:prstGeom prst="rect">
            <a:avLst/>
          </a:prstGeom>
          <a:noFill/>
          <a:ln/>
        </p:spPr>
        <p:txBody>
          <a:bodyPr wrap="square" lIns="0" tIns="0" rIns="0" bIns="0" rtlCol="0" anchor="t"/>
          <a:lstStyle/>
          <a:p>
            <a:pPr indent="0" marL="0">
              <a:lnSpc>
                <a:spcPct val="95000"/>
              </a:lnSpc>
              <a:buNone/>
            </a:pPr>
            <a:r>
              <a:rPr lang="en-US" sz="3000" b="1" dirty="0">
                <a:solidFill>
                  <a:srgbClr val="98A0B2"/>
                </a:solidFill>
                <a:latin typeface="Arial" pitchFamily="34" charset="0"/>
                <a:ea typeface="Arial" pitchFamily="34" charset="-122"/>
                <a:cs typeface="Arial" pitchFamily="34" charset="-120"/>
              </a:rPr>
              <a:t>Team Develarper.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Four people, one agent.</a:t>
            </a:r>
            <a:endParaRPr lang="en-US" sz="3000" dirty="0"/>
          </a:p>
        </p:txBody>
      </p:sp>
      <p:sp>
        <p:nvSpPr>
          <p:cNvPr id="5" name="Member 1"/>
          <p:cNvSpPr/>
          <p:nvPr/>
        </p:nvSpPr>
        <p:spPr>
          <a:xfrm>
            <a:off x="548640" y="1828800"/>
            <a:ext cx="2670048" cy="4206240"/>
          </a:xfrm>
          <a:prstGeom prst="roundRect">
            <a:avLst>
              <a:gd name="adj" fmla="val 4795"/>
            </a:avLst>
          </a:prstGeom>
          <a:solidFill>
            <a:srgbClr val="FFFFFF"/>
          </a:solidFill>
          <a:ln w="9525">
            <a:solidFill>
              <a:srgbClr val="E3E5EA"/>
            </a:solidFill>
            <a:prstDash val="solid"/>
          </a:ln>
        </p:spPr>
      </p:sp>
      <p:pic>
        <p:nvPicPr>
          <p:cNvPr id="6" name="Portrait 1" descr="Nomura Yoshio">    </p:cNvPr>
          <p:cNvPicPr>
            <a:picLocks noChangeAspect="1"/>
          </p:cNvPicPr>
          <p:nvPr/>
        </p:nvPicPr>
        <p:blipFill>
          <a:blip r:embed="rId1"/>
          <a:stretch>
            <a:fillRect/>
          </a:stretch>
        </p:blipFill>
        <p:spPr>
          <a:xfrm>
            <a:off x="731520" y="2011680"/>
            <a:ext cx="2304288" cy="2240280"/>
          </a:xfrm>
          <a:prstGeom prst="rect">
            <a:avLst/>
          </a:prstGeom>
        </p:spPr>
      </p:pic>
      <p:sp>
        <p:nvSpPr>
          <p:cNvPr id="7" name="Text 4"/>
          <p:cNvSpPr txBox="1"/>
          <p:nvPr/>
        </p:nvSpPr>
        <p:spPr>
          <a:xfrm>
            <a:off x="731520"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Nomura Yoshio</a:t>
            </a:r>
            <a:endParaRPr lang="en-US" sz="1500" dirty="0"/>
          </a:p>
        </p:txBody>
      </p:sp>
      <p:sp>
        <p:nvSpPr>
          <p:cNvPr id="8" name="Text 5"/>
          <p:cNvSpPr txBox="1"/>
          <p:nvPr/>
        </p:nvSpPr>
        <p:spPr>
          <a:xfrm>
            <a:off x="731520"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Team Lead · Presenter</a:t>
            </a:r>
            <a:endParaRPr lang="en-US" sz="1150" dirty="0"/>
          </a:p>
        </p:txBody>
      </p:sp>
      <p:sp>
        <p:nvSpPr>
          <p:cNvPr id="9" name="Text 6"/>
          <p:cNvSpPr txBox="1"/>
          <p:nvPr/>
        </p:nvSpPr>
        <p:spPr>
          <a:xfrm>
            <a:off x="731520" y="5029200"/>
            <a:ext cx="2304288" cy="777240"/>
          </a:xfrm>
          <a:prstGeom prst="rect">
            <a:avLst/>
          </a:prstGeom>
          <a:noFill/>
          <a:ln/>
        </p:spPr>
        <p:txBody>
          <a:bodyPr wrap="square" lIns="0" tIns="0" rIns="0" bIns="0" rtlCol="0" anchor="t"/>
          <a:lstStyle/>
          <a:p>
            <a:pPr indent="0" marL="0">
              <a:buNone/>
            </a:pPr>
            <a:r>
              <a:rPr lang="en-US" sz="1250" dirty="0">
                <a:solidFill>
                  <a:srgbClr val="2A3144"/>
                </a:solidFill>
                <a:latin typeface="Arial" pitchFamily="34" charset="0"/>
                <a:ea typeface="Arial" pitchFamily="34" charset="-122"/>
                <a:cs typeface="Arial" pitchFamily="34" charset="-120"/>
              </a:rPr>
              <a:t>Product, demo script, pitch</a:t>
            </a:r>
            <a:endParaRPr lang="en-US" sz="1250" dirty="0"/>
          </a:p>
        </p:txBody>
      </p:sp>
      <p:sp>
        <p:nvSpPr>
          <p:cNvPr id="10" name="Member 2"/>
          <p:cNvSpPr/>
          <p:nvPr/>
        </p:nvSpPr>
        <p:spPr>
          <a:xfrm>
            <a:off x="3355848" y="1828800"/>
            <a:ext cx="2670048" cy="4206240"/>
          </a:xfrm>
          <a:prstGeom prst="roundRect">
            <a:avLst>
              <a:gd name="adj" fmla="val 4795"/>
            </a:avLst>
          </a:prstGeom>
          <a:solidFill>
            <a:srgbClr val="FFFFFF"/>
          </a:solidFill>
          <a:ln w="9525">
            <a:solidFill>
              <a:srgbClr val="E3E5EA"/>
            </a:solidFill>
            <a:prstDash val="solid"/>
          </a:ln>
        </p:spPr>
      </p:sp>
      <p:pic>
        <p:nvPicPr>
          <p:cNvPr id="11" name="Portrait 2" descr="Long Quan Ton">    </p:cNvPr>
          <p:cNvPicPr>
            <a:picLocks noChangeAspect="1"/>
          </p:cNvPicPr>
          <p:nvPr/>
        </p:nvPicPr>
        <p:blipFill>
          <a:blip r:embed="rId2"/>
          <a:stretch>
            <a:fillRect/>
          </a:stretch>
        </p:blipFill>
        <p:spPr>
          <a:xfrm>
            <a:off x="3538728" y="2011680"/>
            <a:ext cx="2304288" cy="2240280"/>
          </a:xfrm>
          <a:prstGeom prst="rect">
            <a:avLst/>
          </a:prstGeom>
        </p:spPr>
      </p:pic>
      <p:sp>
        <p:nvSpPr>
          <p:cNvPr id="12" name="Text 8"/>
          <p:cNvSpPr txBox="1"/>
          <p:nvPr/>
        </p:nvSpPr>
        <p:spPr>
          <a:xfrm>
            <a:off x="3538728"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Long Quan Ton</a:t>
            </a:r>
            <a:endParaRPr lang="en-US" sz="1500" dirty="0"/>
          </a:p>
        </p:txBody>
      </p:sp>
      <p:sp>
        <p:nvSpPr>
          <p:cNvPr id="13" name="Text 9"/>
          <p:cNvSpPr txBox="1"/>
          <p:nvPr/>
        </p:nvSpPr>
        <p:spPr>
          <a:xfrm>
            <a:off x="3538728"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AI Engineer · Solution Architect</a:t>
            </a:r>
            <a:endParaRPr lang="en-US" sz="1150" dirty="0"/>
          </a:p>
        </p:txBody>
      </p:sp>
      <p:sp>
        <p:nvSpPr>
          <p:cNvPr id="14" name="Text 10"/>
          <p:cNvSpPr txBox="1"/>
          <p:nvPr/>
        </p:nvSpPr>
        <p:spPr>
          <a:xfrm>
            <a:off x="3538728" y="5029200"/>
            <a:ext cx="2304288" cy="777240"/>
          </a:xfrm>
          <a:prstGeom prst="rect">
            <a:avLst/>
          </a:prstGeom>
          <a:noFill/>
          <a:ln/>
        </p:spPr>
        <p:txBody>
          <a:bodyPr wrap="square" lIns="0" tIns="0" rIns="0" bIns="0" rtlCol="0" anchor="t"/>
          <a:lstStyle/>
          <a:p>
            <a:pPr indent="0" marL="0">
              <a:buNone/>
            </a:pPr>
            <a:r>
              <a:rPr lang="en-US" sz="1250" dirty="0">
                <a:solidFill>
                  <a:srgbClr val="2A3144"/>
                </a:solidFill>
                <a:latin typeface="Arial" pitchFamily="34" charset="0"/>
                <a:ea typeface="Arial" pitchFamily="34" charset="-122"/>
                <a:cs typeface="Arial" pitchFamily="34" charset="-120"/>
              </a:rPr>
              <a:t>Orchestrator, voice agent, eval loop</a:t>
            </a:r>
            <a:endParaRPr lang="en-US" sz="1250" dirty="0"/>
          </a:p>
        </p:txBody>
      </p:sp>
      <p:sp>
        <p:nvSpPr>
          <p:cNvPr id="15" name="Member 3"/>
          <p:cNvSpPr/>
          <p:nvPr/>
        </p:nvSpPr>
        <p:spPr>
          <a:xfrm>
            <a:off x="6163056" y="1828800"/>
            <a:ext cx="2670048" cy="4206240"/>
          </a:xfrm>
          <a:prstGeom prst="roundRect">
            <a:avLst>
              <a:gd name="adj" fmla="val 4795"/>
            </a:avLst>
          </a:prstGeom>
          <a:solidFill>
            <a:srgbClr val="FFFFFF"/>
          </a:solidFill>
          <a:ln w="9525">
            <a:solidFill>
              <a:srgbClr val="E3E5EA"/>
            </a:solidFill>
            <a:prstDash val="solid"/>
          </a:ln>
        </p:spPr>
      </p:sp>
      <p:pic>
        <p:nvPicPr>
          <p:cNvPr id="16" name="Portrait 3" descr="Khanh Tuong Huynh">    </p:cNvPr>
          <p:cNvPicPr>
            <a:picLocks noChangeAspect="1"/>
          </p:cNvPicPr>
          <p:nvPr/>
        </p:nvPicPr>
        <p:blipFill>
          <a:blip r:embed="rId3"/>
          <a:stretch>
            <a:fillRect/>
          </a:stretch>
        </p:blipFill>
        <p:spPr>
          <a:xfrm>
            <a:off x="6345936" y="2011680"/>
            <a:ext cx="2304288" cy="2240280"/>
          </a:xfrm>
          <a:prstGeom prst="rect">
            <a:avLst/>
          </a:prstGeom>
        </p:spPr>
      </p:pic>
      <p:sp>
        <p:nvSpPr>
          <p:cNvPr id="17" name="Text 12"/>
          <p:cNvSpPr txBox="1"/>
          <p:nvPr/>
        </p:nvSpPr>
        <p:spPr>
          <a:xfrm>
            <a:off x="6345936"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Khanh Tuong Huynh</a:t>
            </a:r>
            <a:endParaRPr lang="en-US" sz="1500" dirty="0"/>
          </a:p>
        </p:txBody>
      </p:sp>
      <p:sp>
        <p:nvSpPr>
          <p:cNvPr id="18" name="Text 13"/>
          <p:cNvSpPr txBox="1"/>
          <p:nvPr/>
        </p:nvSpPr>
        <p:spPr>
          <a:xfrm>
            <a:off x="6345936"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AI Engineer · Deployment</a:t>
            </a:r>
            <a:endParaRPr lang="en-US" sz="1150" dirty="0"/>
          </a:p>
        </p:txBody>
      </p:sp>
      <p:sp>
        <p:nvSpPr>
          <p:cNvPr id="19" name="Text 14"/>
          <p:cNvSpPr txBox="1"/>
          <p:nvPr/>
        </p:nvSpPr>
        <p:spPr>
          <a:xfrm>
            <a:off x="6345936" y="5029200"/>
            <a:ext cx="2304288" cy="777240"/>
          </a:xfrm>
          <a:prstGeom prst="rect">
            <a:avLst/>
          </a:prstGeom>
          <a:noFill/>
          <a:ln/>
        </p:spPr>
        <p:txBody>
          <a:bodyPr wrap="square" lIns="0" tIns="0" rIns="0" bIns="0" rtlCol="0" anchor="t"/>
          <a:lstStyle/>
          <a:p>
            <a:pPr indent="0" marL="0">
              <a:buNone/>
            </a:pPr>
            <a:r>
              <a:rPr lang="en-US" sz="1250" dirty="0">
                <a:solidFill>
                  <a:srgbClr val="2A3144"/>
                </a:solidFill>
                <a:latin typeface="Arial" pitchFamily="34" charset="0"/>
                <a:ea typeface="Arial" pitchFamily="34" charset="-122"/>
                <a:cs typeface="Arial" pitchFamily="34" charset="-120"/>
              </a:rPr>
              <a:t>Context extractor, ASR, policy guard</a:t>
            </a:r>
            <a:endParaRPr lang="en-US" sz="1250" dirty="0"/>
          </a:p>
        </p:txBody>
      </p:sp>
      <p:sp>
        <p:nvSpPr>
          <p:cNvPr id="20" name="Member 4"/>
          <p:cNvSpPr/>
          <p:nvPr/>
        </p:nvSpPr>
        <p:spPr>
          <a:xfrm>
            <a:off x="8970264" y="1828800"/>
            <a:ext cx="2670048" cy="4206240"/>
          </a:xfrm>
          <a:prstGeom prst="roundRect">
            <a:avLst>
              <a:gd name="adj" fmla="val 4795"/>
            </a:avLst>
          </a:prstGeom>
          <a:solidFill>
            <a:srgbClr val="FFFFFF"/>
          </a:solidFill>
          <a:ln w="9525">
            <a:solidFill>
              <a:srgbClr val="E3E5EA"/>
            </a:solidFill>
            <a:prstDash val="solid"/>
          </a:ln>
        </p:spPr>
      </p:sp>
      <p:pic>
        <p:nvPicPr>
          <p:cNvPr id="21" name="Portrait 4" descr="Thanh Loi Tran">    </p:cNvPr>
          <p:cNvPicPr>
            <a:picLocks noChangeAspect="1"/>
          </p:cNvPicPr>
          <p:nvPr/>
        </p:nvPicPr>
        <p:blipFill>
          <a:blip r:embed="rId4"/>
          <a:stretch>
            <a:fillRect/>
          </a:stretch>
        </p:blipFill>
        <p:spPr>
          <a:xfrm>
            <a:off x="9153144" y="2011680"/>
            <a:ext cx="2304288" cy="2240280"/>
          </a:xfrm>
          <a:prstGeom prst="rect">
            <a:avLst/>
          </a:prstGeom>
        </p:spPr>
      </p:pic>
      <p:sp>
        <p:nvSpPr>
          <p:cNvPr id="22" name="Text 16"/>
          <p:cNvSpPr txBox="1"/>
          <p:nvPr/>
        </p:nvSpPr>
        <p:spPr>
          <a:xfrm>
            <a:off x="9153144"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Thanh Loi Tran</a:t>
            </a:r>
            <a:endParaRPr lang="en-US" sz="1500" dirty="0"/>
          </a:p>
        </p:txBody>
      </p:sp>
      <p:sp>
        <p:nvSpPr>
          <p:cNvPr id="23" name="Text 17"/>
          <p:cNvSpPr txBox="1"/>
          <p:nvPr/>
        </p:nvSpPr>
        <p:spPr>
          <a:xfrm>
            <a:off x="9153144"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Data Engineer · Backend</a:t>
            </a:r>
            <a:endParaRPr lang="en-US" sz="1150" dirty="0"/>
          </a:p>
        </p:txBody>
      </p:sp>
      <p:sp>
        <p:nvSpPr>
          <p:cNvPr id="24" name="Text 18"/>
          <p:cNvSpPr txBox="1"/>
          <p:nvPr/>
        </p:nvSpPr>
        <p:spPr>
          <a:xfrm>
            <a:off x="9153144" y="5029200"/>
            <a:ext cx="2304288" cy="777240"/>
          </a:xfrm>
          <a:prstGeom prst="rect">
            <a:avLst/>
          </a:prstGeom>
          <a:noFill/>
          <a:ln/>
        </p:spPr>
        <p:txBody>
          <a:bodyPr wrap="square" lIns="0" tIns="0" rIns="0" bIns="0" rtlCol="0" anchor="t"/>
          <a:lstStyle/>
          <a:p>
            <a:pPr indent="0" marL="0">
              <a:buNone/>
            </a:pPr>
            <a:r>
              <a:rPr lang="en-US" sz="1250" dirty="0">
                <a:solidFill>
                  <a:srgbClr val="2A3144"/>
                </a:solidFill>
                <a:latin typeface="Arial" pitchFamily="34" charset="0"/>
                <a:ea typeface="Arial" pitchFamily="34" charset="-122"/>
                <a:cs typeface="Arial" pitchFamily="34" charset="-120"/>
              </a:rPr>
              <a:t>Order Context Object, APIs, metrics log</a:t>
            </a:r>
            <a:endParaRPr lang="en-US" sz="1250" dirty="0"/>
          </a:p>
        </p:txBody>
      </p:sp>
      <p:sp>
        <p:nvSpPr>
          <p:cNvPr id="25" name="Text 1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464E62"/>
                </a:solidFill>
                <a:latin typeface="Arial" pitchFamily="34" charset="0"/>
                <a:ea typeface="Arial" pitchFamily="34" charset="-122"/>
                <a:cs typeface="Arial"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Close photo" descr="Ho Chi Minh City street">    </p:cNvPr>
          <p:cNvPicPr>
            <a:picLocks noChangeAspect="1"/>
          </p:cNvPicPr>
          <p:nvPr/>
        </p:nvPicPr>
        <p:blipFill>
          <a:blip r:embed="rId1"/>
          <a:stretch>
            <a:fillRect/>
          </a:stretch>
        </p:blipFill>
        <p:spPr>
          <a:xfrm>
            <a:off x="0" y="0"/>
            <a:ext cx="12191695" cy="6858000"/>
          </a:xfrm>
          <a:prstGeom prst="rect">
            <a:avLst/>
          </a:prstGeom>
        </p:spPr>
      </p:pic>
      <p:pic>
        <p:nvPicPr>
          <p:cNvPr id="3" name="Wash" descr="/private/tmp/claude-503/-Users-davark-Downloads-Everything-Github-Alodi-Regional-Codex-Hackathon-2026/91e569a8-486f-4c0b-b683-a4991468f039/scratchpad/deck/assets/wash-close.png">    </p:cNvPr>
          <p:cNvPicPr>
            <a:picLocks noChangeAspect="1"/>
          </p:cNvPicPr>
          <p:nvPr/>
        </p:nvPicPr>
        <p:blipFill>
          <a:blip r:embed="rId2"/>
          <a:stretch>
            <a:fillRect/>
          </a:stretch>
        </p:blipFill>
        <p:spPr>
          <a:xfrm>
            <a:off x="0" y="0"/>
            <a:ext cx="12191695" cy="6858000"/>
          </a:xfrm>
          <a:prstGeom prst="rect">
            <a:avLst/>
          </a:prstGeom>
        </p:spPr>
      </p:pic>
      <p:pic>
        <p:nvPicPr>
          <p:cNvPr id="4" name="Logo" descr="/private/tmp/claude-503/-Users-davark-Downloads-Everything-Github-Alodi-Regional-Codex-Hackathon-2026/91e569a8-486f-4c0b-b683-a4991468f039/scratchpad/deck/assets/logo-white.png">    </p:cNvPr>
          <p:cNvPicPr>
            <a:picLocks noChangeAspect="1"/>
          </p:cNvPicPr>
          <p:nvPr/>
        </p:nvPicPr>
        <p:blipFill>
          <a:blip r:embed="rId3"/>
          <a:stretch>
            <a:fillRect/>
          </a:stretch>
        </p:blipFill>
        <p:spPr>
          <a:xfrm>
            <a:off x="548640" y="548640"/>
            <a:ext cx="914400" cy="393192"/>
          </a:xfrm>
          <a:prstGeom prst="rect">
            <a:avLst/>
          </a:prstGeom>
        </p:spPr>
      </p:pic>
      <p:sp>
        <p:nvSpPr>
          <p:cNvPr id="5" name="Text 0"/>
          <p:cNvSpPr txBox="1"/>
          <p:nvPr/>
        </p:nvSpPr>
        <p:spPr>
          <a:xfrm>
            <a:off x="548640" y="2057400"/>
            <a:ext cx="5486400" cy="274320"/>
          </a:xfrm>
          <a:prstGeom prst="rect">
            <a:avLst/>
          </a:prstGeom>
          <a:noFill/>
          <a:ln/>
        </p:spPr>
        <p:txBody>
          <a:bodyPr wrap="square" lIns="0" tIns="0" rIns="0" bIns="0" rtlCol="0" anchor="ctr"/>
          <a:lstStyle/>
          <a:p>
            <a:pPr indent="0" marL="0">
              <a:buNone/>
            </a:pPr>
            <a:r>
              <a:rPr lang="en-US" sz="1200" b="1" spc="300" kern="0" dirty="0">
                <a:solidFill>
                  <a:srgbClr val="F05A00"/>
                </a:solidFill>
                <a:latin typeface="Arial" pitchFamily="34" charset="0"/>
                <a:ea typeface="Arial" pitchFamily="34" charset="-122"/>
                <a:cs typeface="Arial" pitchFamily="34" charset="-120"/>
              </a:rPr>
              <a:t>THANK YOU</a:t>
            </a:r>
            <a:endParaRPr lang="en-US" sz="1200" dirty="0"/>
          </a:p>
        </p:txBody>
      </p:sp>
      <p:sp>
        <p:nvSpPr>
          <p:cNvPr id="6" name="Text 1"/>
          <p:cNvSpPr txBox="1"/>
          <p:nvPr/>
        </p:nvSpPr>
        <p:spPr>
          <a:xfrm>
            <a:off x="548640" y="2423160"/>
            <a:ext cx="8229600" cy="1920240"/>
          </a:xfrm>
          <a:prstGeom prst="rect">
            <a:avLst/>
          </a:prstGeom>
          <a:noFill/>
          <a:ln/>
        </p:spPr>
        <p:txBody>
          <a:bodyPr wrap="square" lIns="0" tIns="0" rIns="0" bIns="0" rtlCol="0" anchor="ctr"/>
          <a:lstStyle/>
          <a:p>
            <a:pPr indent="0" marL="0">
              <a:lnSpc>
                <a:spcPct val="92000"/>
              </a:lnSpc>
              <a:buNone/>
            </a:pPr>
            <a:r>
              <a:rPr lang="en-US" sz="6600" i="1" dirty="0">
                <a:solidFill>
                  <a:srgbClr val="FFFFFF"/>
                </a:solidFill>
                <a:latin typeface="Cambria" pitchFamily="34" charset="0"/>
                <a:ea typeface="Cambria" pitchFamily="34" charset="-122"/>
                <a:cs typeface="Cambria" pitchFamily="34" charset="-120"/>
              </a:rPr>
              <a:t>Make the second</a:t>
            </a:r>
            <a:endParaRPr lang="en-US" sz="6600" dirty="0"/>
          </a:p>
          <a:p>
            <a:pPr indent="0" marL="0">
              <a:lnSpc>
                <a:spcPct val="92000"/>
              </a:lnSpc>
              <a:buNone/>
            </a:pPr>
            <a:r>
              <a:rPr lang="en-US" sz="6600" i="1" dirty="0">
                <a:solidFill>
                  <a:srgbClr val="F05A00"/>
                </a:solidFill>
                <a:latin typeface="Cambria" pitchFamily="34" charset="0"/>
                <a:ea typeface="Cambria" pitchFamily="34" charset="-122"/>
                <a:cs typeface="Cambria" pitchFamily="34" charset="-120"/>
              </a:rPr>
              <a:t>drop land.</a:t>
            </a:r>
            <a:endParaRPr lang="en-US" sz="6600" dirty="0"/>
          </a:p>
        </p:txBody>
      </p:sp>
      <p:sp>
        <p:nvSpPr>
          <p:cNvPr id="7" name="Text 2"/>
          <p:cNvSpPr txBox="1"/>
          <p:nvPr/>
        </p:nvSpPr>
        <p:spPr>
          <a:xfrm>
            <a:off x="548640" y="6400800"/>
            <a:ext cx="7315200" cy="219456"/>
          </a:xfrm>
          <a:prstGeom prst="rect">
            <a:avLst/>
          </a:prstGeom>
          <a:noFill/>
          <a:ln/>
        </p:spPr>
        <p:txBody>
          <a:bodyPr wrap="square" lIns="0" tIns="0" rIns="0" bIns="0" rtlCol="0" anchor="ctr"/>
          <a:lstStyle/>
          <a:p>
            <a:pPr indent="0" marL="0">
              <a:buNone/>
            </a:pPr>
            <a:r>
              <a:rPr lang="en-US" sz="900" dirty="0">
                <a:solidFill>
                  <a:srgbClr val="D2D7E1"/>
                </a:solidFill>
                <a:latin typeface="Arial" pitchFamily="34" charset="0"/>
                <a:ea typeface="Arial" pitchFamily="34" charset="-122"/>
                <a:cs typeface="Arial" pitchFamily="34" charset="-120"/>
              </a:rPr>
              <a:t>Team Develarper · Sea × OpenAI Regional Codex Hackathon · October 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6B7285"/>
                </a:solidFill>
                <a:latin typeface="Arial" pitchFamily="34" charset="0"/>
                <a:ea typeface="Arial" pitchFamily="34" charset="-122"/>
                <a:cs typeface="Arial" pitchFamily="34" charset="-120"/>
              </a:rPr>
              <a:t>09  </a:t>
            </a:r>
            <a:pPr indent="0" marL="0">
              <a:buNone/>
            </a:pPr>
            <a:r>
              <a:rPr lang="en-US" sz="1050" b="1" spc="200" kern="0" dirty="0">
                <a:solidFill>
                  <a:srgbClr val="1F2A44"/>
                </a:solidFill>
                <a:latin typeface="Arial" pitchFamily="34" charset="0"/>
                <a:ea typeface="Arial" pitchFamily="34" charset="-122"/>
                <a:cs typeface="Arial" pitchFamily="34" charset="-120"/>
              </a:rPr>
              <a:t>REFERENCES</a:t>
            </a:r>
            <a:endParaRPr lang="en-US" sz="1050" dirty="0"/>
          </a:p>
        </p:txBody>
      </p:sp>
      <p:sp>
        <p:nvSpPr>
          <p:cNvPr id="4" name="Text 2"/>
          <p:cNvSpPr txBox="1"/>
          <p:nvPr/>
        </p:nvSpPr>
        <p:spPr>
          <a:xfrm>
            <a:off x="548640" y="841248"/>
            <a:ext cx="10515600" cy="914400"/>
          </a:xfrm>
          <a:prstGeom prst="rect">
            <a:avLst/>
          </a:prstGeom>
          <a:noFill/>
          <a:ln/>
        </p:spPr>
        <p:txBody>
          <a:bodyPr wrap="square" lIns="0" tIns="0" rIns="0" bIns="0" rtlCol="0" anchor="t"/>
          <a:lstStyle/>
          <a:p>
            <a:pPr indent="0" marL="0">
              <a:lnSpc>
                <a:spcPct val="95000"/>
              </a:lnSpc>
              <a:buNone/>
            </a:pPr>
            <a:r>
              <a:rPr lang="en-US" sz="3000" b="1" dirty="0">
                <a:solidFill>
                  <a:srgbClr val="98A0B2"/>
                </a:solidFill>
                <a:latin typeface="Arial" pitchFamily="34" charset="0"/>
                <a:ea typeface="Arial" pitchFamily="34" charset="-122"/>
                <a:cs typeface="Arial" pitchFamily="34" charset="-120"/>
              </a:rPr>
              <a:t>Every number,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and where it comes from.</a:t>
            </a:r>
            <a:endParaRPr lang="en-US" sz="3000" dirty="0"/>
          </a:p>
        </p:txBody>
      </p:sp>
      <p:sp>
        <p:nvSpPr>
          <p:cNvPr id="5" name="Ref rule 0"/>
          <p:cNvSpPr/>
          <p:nvPr/>
        </p:nvSpPr>
        <p:spPr>
          <a:xfrm>
            <a:off x="548640" y="1874520"/>
            <a:ext cx="5440680" cy="0"/>
          </a:xfrm>
          <a:prstGeom prst="line">
            <a:avLst/>
          </a:prstGeom>
          <a:noFill/>
          <a:ln w="9525">
            <a:solidFill>
              <a:srgbClr val="E3E5EA"/>
            </a:solidFill>
            <a:prstDash val="solid"/>
          </a:ln>
        </p:spPr>
      </p:sp>
      <p:sp>
        <p:nvSpPr>
          <p:cNvPr id="6" name="Text 4"/>
          <p:cNvSpPr txBox="1"/>
          <p:nvPr/>
        </p:nvSpPr>
        <p:spPr>
          <a:xfrm>
            <a:off x="54864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100584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survey: 100 buyers, 12 couriers; placeholder values pending the interview export</a:t>
            </a:r>
            <a:endParaRPr lang="en-US" sz="1050" dirty="0"/>
          </a:p>
        </p:txBody>
      </p:sp>
      <p:sp>
        <p:nvSpPr>
          <p:cNvPr id="8" name="Text 6"/>
          <p:cNvSpPr txBox="1"/>
          <p:nvPr/>
        </p:nvSpPr>
        <p:spPr>
          <a:xfrm>
            <a:off x="1005840" y="222199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prep/06-survey</a:t>
            </a:r>
            <a:endParaRPr lang="en-US" sz="950" dirty="0"/>
          </a:p>
        </p:txBody>
      </p:sp>
      <p:sp>
        <p:nvSpPr>
          <p:cNvPr id="9" name="Ref rule 1"/>
          <p:cNvSpPr/>
          <p:nvPr/>
        </p:nvSpPr>
        <p:spPr>
          <a:xfrm>
            <a:off x="548640" y="2514600"/>
            <a:ext cx="5440680" cy="0"/>
          </a:xfrm>
          <a:prstGeom prst="line">
            <a:avLst/>
          </a:prstGeom>
          <a:noFill/>
          <a:ln w="9525">
            <a:solidFill>
              <a:srgbClr val="E3E5EA"/>
            </a:solidFill>
            <a:prstDash val="solid"/>
          </a:ln>
        </p:spPr>
      </p:sp>
      <p:sp>
        <p:nvSpPr>
          <p:cNvPr id="10" name="Text 8"/>
          <p:cNvSpPr txBox="1"/>
          <p:nvPr/>
        </p:nvSpPr>
        <p:spPr>
          <a:xfrm>
            <a:off x="54864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100584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Refund Policy §7.1: seller pays return shipping on failed orders</a:t>
            </a:r>
            <a:endParaRPr lang="en-US" sz="1050" dirty="0"/>
          </a:p>
        </p:txBody>
      </p:sp>
      <p:sp>
        <p:nvSpPr>
          <p:cNvPr id="12" name="Text 10"/>
          <p:cNvSpPr txBox="1"/>
          <p:nvPr/>
        </p:nvSpPr>
        <p:spPr>
          <a:xfrm>
            <a:off x="1005840" y="286207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help.shopee.vn/portal/4/article/77251</a:t>
            </a:r>
            <a:endParaRPr lang="en-US" sz="950" dirty="0"/>
          </a:p>
        </p:txBody>
      </p:sp>
      <p:sp>
        <p:nvSpPr>
          <p:cNvPr id="13" name="Ref rule 2"/>
          <p:cNvSpPr/>
          <p:nvPr/>
        </p:nvSpPr>
        <p:spPr>
          <a:xfrm>
            <a:off x="548640" y="3154680"/>
            <a:ext cx="5440680" cy="0"/>
          </a:xfrm>
          <a:prstGeom prst="line">
            <a:avLst/>
          </a:prstGeom>
          <a:noFill/>
          <a:ln w="9525">
            <a:solidFill>
              <a:srgbClr val="E3E5EA"/>
            </a:solidFill>
            <a:prstDash val="solid"/>
          </a:ln>
        </p:spPr>
      </p:sp>
      <p:sp>
        <p:nvSpPr>
          <p:cNvPr id="14" name="Text 12"/>
          <p:cNvSpPr txBox="1"/>
          <p:nvPr/>
        </p:nvSpPr>
        <p:spPr>
          <a:xfrm>
            <a:off x="54864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100584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₫40,000 return-fee cap per order since 1 Apr 2025 (₫20,000 express)</a:t>
            </a:r>
            <a:endParaRPr lang="en-US" sz="1050" dirty="0"/>
          </a:p>
        </p:txBody>
      </p:sp>
      <p:sp>
        <p:nvSpPr>
          <p:cNvPr id="16" name="Text 14"/>
          <p:cNvSpPr txBox="1"/>
          <p:nvPr/>
        </p:nvSpPr>
        <p:spPr>
          <a:xfrm>
            <a:off x="1005840" y="350215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ghn.vn/blogs/tip-ban-hang/tra-hang-shopee-ai-chiu-phi</a:t>
            </a:r>
            <a:endParaRPr lang="en-US" sz="950" dirty="0"/>
          </a:p>
        </p:txBody>
      </p:sp>
      <p:sp>
        <p:nvSpPr>
          <p:cNvPr id="17" name="Ref rule 3"/>
          <p:cNvSpPr/>
          <p:nvPr/>
        </p:nvSpPr>
        <p:spPr>
          <a:xfrm>
            <a:off x="548640" y="3794760"/>
            <a:ext cx="5440680" cy="0"/>
          </a:xfrm>
          <a:prstGeom prst="line">
            <a:avLst/>
          </a:prstGeom>
          <a:noFill/>
          <a:ln w="9525">
            <a:solidFill>
              <a:srgbClr val="E3E5EA"/>
            </a:solidFill>
            <a:prstDash val="solid"/>
          </a:ln>
        </p:spPr>
      </p:sp>
      <p:sp>
        <p:nvSpPr>
          <p:cNvPr id="18" name="Text 16"/>
          <p:cNvSpPr txBox="1"/>
          <p:nvPr/>
        </p:nvSpPr>
        <p:spPr>
          <a:xfrm>
            <a:off x="54864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100584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Nguoi Lao Dong, 19 Jul 2025: refusal rates, VECOM and Tran Anh Tung</a:t>
            </a:r>
            <a:endParaRPr lang="en-US" sz="1050" dirty="0"/>
          </a:p>
        </p:txBody>
      </p:sp>
      <p:sp>
        <p:nvSpPr>
          <p:cNvPr id="20" name="Text 18"/>
          <p:cNvSpPr txBox="1"/>
          <p:nvPr/>
        </p:nvSpPr>
        <p:spPr>
          <a:xfrm>
            <a:off x="1005840" y="414223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tuoitre.vn/nld/nhuc-nhoi-nan-bom-hang-19625071822023801.htm</a:t>
            </a:r>
            <a:endParaRPr lang="en-US" sz="950" dirty="0"/>
          </a:p>
        </p:txBody>
      </p:sp>
      <p:sp>
        <p:nvSpPr>
          <p:cNvPr id="21" name="Ref rule 4"/>
          <p:cNvSpPr/>
          <p:nvPr/>
        </p:nvSpPr>
        <p:spPr>
          <a:xfrm>
            <a:off x="548640" y="4434840"/>
            <a:ext cx="5440680" cy="0"/>
          </a:xfrm>
          <a:prstGeom prst="line">
            <a:avLst/>
          </a:prstGeom>
          <a:noFill/>
          <a:ln w="9525">
            <a:solidFill>
              <a:srgbClr val="E3E5EA"/>
            </a:solidFill>
            <a:prstDash val="solid"/>
          </a:ln>
        </p:spPr>
      </p:sp>
      <p:sp>
        <p:nvSpPr>
          <p:cNvPr id="22" name="Text 20"/>
          <p:cNvSpPr txBox="1"/>
          <p:nvPr/>
        </p:nvSpPr>
        <p:spPr>
          <a:xfrm>
            <a:off x="54864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[5]</a:t>
            </a:r>
            <a:endParaRPr lang="en-US" sz="1100" dirty="0"/>
          </a:p>
        </p:txBody>
      </p:sp>
      <p:sp>
        <p:nvSpPr>
          <p:cNvPr id="23" name="Text 21"/>
          <p:cNvSpPr txBox="1"/>
          <p:nvPr/>
        </p:nvSpPr>
        <p:spPr>
          <a:xfrm>
            <a:off x="100584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79559: no specific delivery time can be chosen</a:t>
            </a:r>
            <a:endParaRPr lang="en-US" sz="1050" dirty="0"/>
          </a:p>
        </p:txBody>
      </p:sp>
      <p:sp>
        <p:nvSpPr>
          <p:cNvPr id="24" name="Text 22"/>
          <p:cNvSpPr txBox="1"/>
          <p:nvPr/>
        </p:nvSpPr>
        <p:spPr>
          <a:xfrm>
            <a:off x="1005840" y="478231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help.shopee.vn/portal/4/article/79559</a:t>
            </a:r>
            <a:endParaRPr lang="en-US" sz="950" dirty="0"/>
          </a:p>
        </p:txBody>
      </p:sp>
      <p:sp>
        <p:nvSpPr>
          <p:cNvPr id="25" name="Ref rule 5"/>
          <p:cNvSpPr/>
          <p:nvPr/>
        </p:nvSpPr>
        <p:spPr>
          <a:xfrm>
            <a:off x="548640" y="5074920"/>
            <a:ext cx="5440680" cy="0"/>
          </a:xfrm>
          <a:prstGeom prst="line">
            <a:avLst/>
          </a:prstGeom>
          <a:noFill/>
          <a:ln w="9525">
            <a:solidFill>
              <a:srgbClr val="E3E5EA"/>
            </a:solidFill>
            <a:prstDash val="solid"/>
          </a:ln>
        </p:spPr>
      </p:sp>
      <p:sp>
        <p:nvSpPr>
          <p:cNvPr id="26" name="Text 24"/>
          <p:cNvSpPr txBox="1"/>
          <p:nvPr/>
        </p:nvSpPr>
        <p:spPr>
          <a:xfrm>
            <a:off x="54864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[6]</a:t>
            </a:r>
            <a:endParaRPr lang="en-US" sz="1100" dirty="0"/>
          </a:p>
        </p:txBody>
      </p:sp>
      <p:sp>
        <p:nvSpPr>
          <p:cNvPr id="27" name="Text 25"/>
          <p:cNvSpPr txBox="1"/>
          <p:nvPr/>
        </p:nvSpPr>
        <p:spPr>
          <a:xfrm>
            <a:off x="100584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79569: 2–3 contacts, reschedule within 5 days</a:t>
            </a:r>
            <a:endParaRPr lang="en-US" sz="1050" dirty="0"/>
          </a:p>
        </p:txBody>
      </p:sp>
      <p:sp>
        <p:nvSpPr>
          <p:cNvPr id="28" name="Text 26"/>
          <p:cNvSpPr txBox="1"/>
          <p:nvPr/>
        </p:nvSpPr>
        <p:spPr>
          <a:xfrm>
            <a:off x="1005840" y="542239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help.shopee.vn/portal/4/article/79569</a:t>
            </a:r>
            <a:endParaRPr lang="en-US" sz="950" dirty="0"/>
          </a:p>
        </p:txBody>
      </p:sp>
      <p:sp>
        <p:nvSpPr>
          <p:cNvPr id="29" name="Ref rule 6"/>
          <p:cNvSpPr/>
          <p:nvPr/>
        </p:nvSpPr>
        <p:spPr>
          <a:xfrm>
            <a:off x="6172200" y="1874520"/>
            <a:ext cx="5440680" cy="0"/>
          </a:xfrm>
          <a:prstGeom prst="line">
            <a:avLst/>
          </a:prstGeom>
          <a:noFill/>
          <a:ln w="9525">
            <a:solidFill>
              <a:srgbClr val="E3E5EA"/>
            </a:solidFill>
            <a:prstDash val="solid"/>
          </a:ln>
        </p:spPr>
      </p:sp>
      <p:sp>
        <p:nvSpPr>
          <p:cNvPr id="30" name="Text 28"/>
          <p:cNvSpPr txBox="1"/>
          <p:nvPr/>
        </p:nvSpPr>
        <p:spPr>
          <a:xfrm>
            <a:off x="617220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[7]</a:t>
            </a:r>
            <a:endParaRPr lang="en-US" sz="1100" dirty="0"/>
          </a:p>
        </p:txBody>
      </p:sp>
      <p:sp>
        <p:nvSpPr>
          <p:cNvPr id="31" name="Text 29"/>
          <p:cNvSpPr txBox="1"/>
          <p:nvPr/>
        </p:nvSpPr>
        <p:spPr>
          <a:xfrm>
            <a:off x="662940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courier earns ₫6,000–8,000 per delivered order</a:t>
            </a:r>
            <a:endParaRPr lang="en-US" sz="1050" dirty="0"/>
          </a:p>
        </p:txBody>
      </p:sp>
      <p:sp>
        <p:nvSpPr>
          <p:cNvPr id="32" name="Text 30"/>
          <p:cNvSpPr txBox="1"/>
          <p:nvPr/>
        </p:nvSpPr>
        <p:spPr>
          <a:xfrm>
            <a:off x="6629400" y="222199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ghn.vn/blogs/tip-ban-hang/mot-don-hang-shipper-shopee-duoc-bao-nhieu-tien</a:t>
            </a:r>
            <a:endParaRPr lang="en-US" sz="950" dirty="0"/>
          </a:p>
        </p:txBody>
      </p:sp>
      <p:sp>
        <p:nvSpPr>
          <p:cNvPr id="33" name="Ref rule 7"/>
          <p:cNvSpPr/>
          <p:nvPr/>
        </p:nvSpPr>
        <p:spPr>
          <a:xfrm>
            <a:off x="6172200" y="2514600"/>
            <a:ext cx="5440680" cy="0"/>
          </a:xfrm>
          <a:prstGeom prst="line">
            <a:avLst/>
          </a:prstGeom>
          <a:noFill/>
          <a:ln w="9525">
            <a:solidFill>
              <a:srgbClr val="E3E5EA"/>
            </a:solidFill>
            <a:prstDash val="solid"/>
          </a:ln>
        </p:spPr>
      </p:sp>
      <p:sp>
        <p:nvSpPr>
          <p:cNvPr id="34" name="Text 32"/>
          <p:cNvSpPr txBox="1"/>
          <p:nvPr/>
        </p:nvSpPr>
        <p:spPr>
          <a:xfrm>
            <a:off x="617220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[8]</a:t>
            </a:r>
            <a:endParaRPr lang="en-US" sz="1100" dirty="0"/>
          </a:p>
        </p:txBody>
      </p:sp>
      <p:sp>
        <p:nvSpPr>
          <p:cNvPr id="35" name="Text 33"/>
          <p:cNvSpPr txBox="1"/>
          <p:nvPr/>
        </p:nvSpPr>
        <p:spPr>
          <a:xfrm>
            <a:off x="662940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Shipsy: rescue 20–30% industry, 50–65% best-in-class (vendor)</a:t>
            </a:r>
            <a:endParaRPr lang="en-US" sz="1050" dirty="0"/>
          </a:p>
        </p:txBody>
      </p:sp>
      <p:sp>
        <p:nvSpPr>
          <p:cNvPr id="36" name="Text 34"/>
          <p:cNvSpPr txBox="1"/>
          <p:nvPr/>
        </p:nvSpPr>
        <p:spPr>
          <a:xfrm>
            <a:off x="6629400" y="286207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shipsy.ai/insights/what-is-ndr-non-delivery-report-management</a:t>
            </a:r>
            <a:endParaRPr lang="en-US" sz="950" dirty="0"/>
          </a:p>
        </p:txBody>
      </p:sp>
      <p:sp>
        <p:nvSpPr>
          <p:cNvPr id="37" name="Ref rule 8"/>
          <p:cNvSpPr/>
          <p:nvPr/>
        </p:nvSpPr>
        <p:spPr>
          <a:xfrm>
            <a:off x="6172200" y="3154680"/>
            <a:ext cx="5440680" cy="0"/>
          </a:xfrm>
          <a:prstGeom prst="line">
            <a:avLst/>
          </a:prstGeom>
          <a:noFill/>
          <a:ln w="9525">
            <a:solidFill>
              <a:srgbClr val="E3E5EA"/>
            </a:solidFill>
            <a:prstDash val="solid"/>
          </a:ln>
        </p:spPr>
      </p:sp>
      <p:sp>
        <p:nvSpPr>
          <p:cNvPr id="38" name="Text 36"/>
          <p:cNvSpPr txBox="1"/>
          <p:nvPr/>
        </p:nvSpPr>
        <p:spPr>
          <a:xfrm>
            <a:off x="617220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[9]</a:t>
            </a:r>
            <a:endParaRPr lang="en-US" sz="1100" dirty="0"/>
          </a:p>
        </p:txBody>
      </p:sp>
      <p:sp>
        <p:nvSpPr>
          <p:cNvPr id="39" name="Text 37"/>
          <p:cNvSpPr txBox="1"/>
          <p:nvPr/>
        </p:nvSpPr>
        <p:spPr>
          <a:xfrm>
            <a:off x="662940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cost model, PRD §18.8: one area, 20 couriers, 4,000 orders a day</a:t>
            </a:r>
            <a:endParaRPr lang="en-US" sz="1050" dirty="0"/>
          </a:p>
        </p:txBody>
      </p:sp>
      <p:sp>
        <p:nvSpPr>
          <p:cNvPr id="40" name="Text 38"/>
          <p:cNvSpPr txBox="1"/>
          <p:nvPr/>
        </p:nvSpPr>
        <p:spPr>
          <a:xfrm>
            <a:off x="6629400" y="350215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prep/02-technical/cost-model · alodi-numbers.pdf</a:t>
            </a:r>
            <a:endParaRPr lang="en-US" sz="950" dirty="0"/>
          </a:p>
        </p:txBody>
      </p:sp>
      <p:sp>
        <p:nvSpPr>
          <p:cNvPr id="41" name="Ref rule 9"/>
          <p:cNvSpPr/>
          <p:nvPr/>
        </p:nvSpPr>
        <p:spPr>
          <a:xfrm>
            <a:off x="6172200" y="3794760"/>
            <a:ext cx="5440680" cy="0"/>
          </a:xfrm>
          <a:prstGeom prst="line">
            <a:avLst/>
          </a:prstGeom>
          <a:noFill/>
          <a:ln w="9525">
            <a:solidFill>
              <a:srgbClr val="E3E5EA"/>
            </a:solidFill>
            <a:prstDash val="solid"/>
          </a:ln>
        </p:spPr>
      </p:sp>
      <p:sp>
        <p:nvSpPr>
          <p:cNvPr id="42" name="Text 40"/>
          <p:cNvSpPr txBox="1"/>
          <p:nvPr/>
        </p:nvSpPr>
        <p:spPr>
          <a:xfrm>
            <a:off x="617220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[10]</a:t>
            </a:r>
            <a:endParaRPr lang="en-US" sz="1100" dirty="0"/>
          </a:p>
        </p:txBody>
      </p:sp>
      <p:sp>
        <p:nvSpPr>
          <p:cNvPr id="43" name="Text 41"/>
          <p:cNvSpPr txBox="1"/>
          <p:nvPr/>
        </p:nvSpPr>
        <p:spPr>
          <a:xfrm>
            <a:off x="662940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OpenAI: GPT-Live-1, GPT-6.1 Terra, Decisions API on GPT-6 Luna</a:t>
            </a:r>
            <a:endParaRPr lang="en-US" sz="1050" dirty="0"/>
          </a:p>
        </p:txBody>
      </p:sp>
      <p:sp>
        <p:nvSpPr>
          <p:cNvPr id="44" name="Text 42"/>
          <p:cNvSpPr txBox="1"/>
          <p:nvPr/>
        </p:nvSpPr>
        <p:spPr>
          <a:xfrm>
            <a:off x="6629400" y="414223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developers.openai.com · openai.com/index/decisions-api · checked 31 Oct 2026</a:t>
            </a:r>
            <a:endParaRPr lang="en-US" sz="950" dirty="0"/>
          </a:p>
        </p:txBody>
      </p:sp>
      <p:sp>
        <p:nvSpPr>
          <p:cNvPr id="45" name="Ref rule 10"/>
          <p:cNvSpPr/>
          <p:nvPr/>
        </p:nvSpPr>
        <p:spPr>
          <a:xfrm>
            <a:off x="6172200" y="4434840"/>
            <a:ext cx="5440680" cy="0"/>
          </a:xfrm>
          <a:prstGeom prst="line">
            <a:avLst/>
          </a:prstGeom>
          <a:noFill/>
          <a:ln w="9525">
            <a:solidFill>
              <a:srgbClr val="E3E5EA"/>
            </a:solidFill>
            <a:prstDash val="solid"/>
          </a:ln>
        </p:spPr>
      </p:sp>
      <p:sp>
        <p:nvSpPr>
          <p:cNvPr id="46" name="Text 44"/>
          <p:cNvSpPr txBox="1"/>
          <p:nvPr/>
        </p:nvSpPr>
        <p:spPr>
          <a:xfrm>
            <a:off x="617220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[11]</a:t>
            </a:r>
            <a:endParaRPr lang="en-US" sz="1100" dirty="0"/>
          </a:p>
        </p:txBody>
      </p:sp>
      <p:sp>
        <p:nvSpPr>
          <p:cNvPr id="47" name="Text 45"/>
          <p:cNvSpPr txBox="1"/>
          <p:nvPr/>
        </p:nvSpPr>
        <p:spPr>
          <a:xfrm>
            <a:off x="662940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§2.3, §16.7 and §23: stack, output metrics and evaluation targets</a:t>
            </a:r>
            <a:endParaRPr lang="en-US" sz="1050" dirty="0"/>
          </a:p>
        </p:txBody>
      </p:sp>
      <p:sp>
        <p:nvSpPr>
          <p:cNvPr id="48" name="Text 46"/>
          <p:cNvSpPr txBox="1"/>
          <p:nvPr/>
        </p:nvSpPr>
        <p:spPr>
          <a:xfrm>
            <a:off x="6629400" y="478231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prep/02-technical/PRD.md</a:t>
            </a:r>
            <a:endParaRPr lang="en-US" sz="950" dirty="0"/>
          </a:p>
        </p:txBody>
      </p:sp>
      <p:sp>
        <p:nvSpPr>
          <p:cNvPr id="49" name="Ref rule 11"/>
          <p:cNvSpPr/>
          <p:nvPr/>
        </p:nvSpPr>
        <p:spPr>
          <a:xfrm>
            <a:off x="6172200" y="5074920"/>
            <a:ext cx="5440680" cy="0"/>
          </a:xfrm>
          <a:prstGeom prst="line">
            <a:avLst/>
          </a:prstGeom>
          <a:noFill/>
          <a:ln w="9525">
            <a:solidFill>
              <a:srgbClr val="E3E5EA"/>
            </a:solidFill>
            <a:prstDash val="solid"/>
          </a:ln>
        </p:spPr>
      </p:sp>
      <p:sp>
        <p:nvSpPr>
          <p:cNvPr id="50" name="Text 48"/>
          <p:cNvSpPr txBox="1"/>
          <p:nvPr/>
        </p:nvSpPr>
        <p:spPr>
          <a:xfrm>
            <a:off x="617220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[12]</a:t>
            </a:r>
            <a:endParaRPr lang="en-US" sz="1100" dirty="0"/>
          </a:p>
        </p:txBody>
      </p:sp>
      <p:sp>
        <p:nvSpPr>
          <p:cNvPr id="51" name="Text 49"/>
          <p:cNvSpPr txBox="1"/>
          <p:nvPr/>
        </p:nvSpPr>
        <p:spPr>
          <a:xfrm>
            <a:off x="662940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§28: release plan</a:t>
            </a:r>
            <a:endParaRPr lang="en-US" sz="1050" dirty="0"/>
          </a:p>
        </p:txBody>
      </p:sp>
      <p:sp>
        <p:nvSpPr>
          <p:cNvPr id="52" name="Text 50"/>
          <p:cNvSpPr txBox="1"/>
          <p:nvPr/>
        </p:nvSpPr>
        <p:spPr>
          <a:xfrm>
            <a:off x="6629400" y="5422392"/>
            <a:ext cx="4983480" cy="219456"/>
          </a:xfrm>
          <a:prstGeom prst="rect">
            <a:avLst/>
          </a:prstGeom>
          <a:noFill/>
          <a:ln/>
        </p:spPr>
        <p:txBody>
          <a:bodyPr wrap="square" lIns="0" tIns="0" rIns="0" bIns="0" rtlCol="0" anchor="ctr"/>
          <a:lstStyle/>
          <a:p>
            <a:pPr indent="0" marL="0">
              <a:buNone/>
            </a:pPr>
            <a:r>
              <a:rPr lang="en-US" sz="950" dirty="0">
                <a:solidFill>
                  <a:srgbClr val="464E62"/>
                </a:solidFill>
                <a:latin typeface="Arial" pitchFamily="34" charset="0"/>
                <a:ea typeface="Arial" pitchFamily="34" charset="-122"/>
                <a:cs typeface="Arial" pitchFamily="34" charset="-120"/>
              </a:rPr>
              <a:t>prep/02-technical/PRD.md</a:t>
            </a:r>
            <a:endParaRPr lang="en-US" sz="950" dirty="0"/>
          </a:p>
        </p:txBody>
      </p:sp>
      <p:sp>
        <p:nvSpPr>
          <p:cNvPr id="53" name="Text 51"/>
          <p:cNvSpPr txBox="1"/>
          <p:nvPr/>
        </p:nvSpPr>
        <p:spPr>
          <a:xfrm>
            <a:off x="548640" y="5852160"/>
            <a:ext cx="1828800" cy="219456"/>
          </a:xfrm>
          <a:prstGeom prst="rect">
            <a:avLst/>
          </a:prstGeom>
          <a:noFill/>
          <a:ln/>
        </p:spPr>
        <p:txBody>
          <a:bodyPr wrap="square" lIns="0" tIns="0" rIns="0" bIns="0" rtlCol="0" anchor="ctr"/>
          <a:lstStyle/>
          <a:p>
            <a:pPr indent="0" marL="0">
              <a:buNone/>
            </a:pPr>
            <a:r>
              <a:rPr lang="en-US" sz="900" spc="150" kern="0" dirty="0">
                <a:solidFill>
                  <a:srgbClr val="464E62"/>
                </a:solidFill>
                <a:latin typeface="Arial" pitchFamily="34" charset="0"/>
                <a:ea typeface="Arial" pitchFamily="34" charset="-122"/>
                <a:cs typeface="Arial" pitchFamily="34" charset="-120"/>
              </a:rPr>
              <a:t>PHOTOS</a:t>
            </a:r>
            <a:endParaRPr lang="en-US" sz="900" dirty="0"/>
          </a:p>
        </p:txBody>
      </p:sp>
      <p:sp>
        <p:nvSpPr>
          <p:cNvPr id="54" name="Text 52"/>
          <p:cNvSpPr txBox="1"/>
          <p:nvPr/>
        </p:nvSpPr>
        <p:spPr>
          <a:xfrm>
            <a:off x="1371600" y="5824728"/>
            <a:ext cx="10241280" cy="274320"/>
          </a:xfrm>
          <a:prstGeom prst="rect">
            <a:avLst/>
          </a:prstGeom>
          <a:noFill/>
          <a:ln/>
        </p:spPr>
        <p:txBody>
          <a:bodyPr wrap="square" lIns="0" tIns="0" rIns="0" bIns="0" rtlCol="0" anchor="ctr"/>
          <a:lstStyle/>
          <a:p>
            <a:pPr indent="0" marL="0">
              <a:buNone/>
            </a:pPr>
            <a:r>
              <a:rPr lang="en-US" sz="1000" dirty="0">
                <a:solidFill>
                  <a:srgbClr val="464E62"/>
                </a:solidFill>
                <a:latin typeface="Arial" pitchFamily="34" charset="0"/>
                <a:ea typeface="Arial" pitchFamily="34" charset="-122"/>
                <a:cs typeface="Arial" pitchFamily="34" charset="-120"/>
              </a:rPr>
              <a:t>frank mckenna (cover), Lemic302 (slides 3, 14), Samson Vowles (slide 4), Tirza van Dijk (slide 12): CC0 via Wikimedia Commons. SPX hub (slide 5): Team Develarper field visit.</a:t>
            </a:r>
            <a:endParaRPr lang="en-US" sz="1000" dirty="0"/>
          </a:p>
        </p:txBody>
      </p:sp>
      <p:sp>
        <p:nvSpPr>
          <p:cNvPr id="55" name="Text 53"/>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464E62"/>
                </a:solidFill>
                <a:latin typeface="Arial" pitchFamily="34" charset="0"/>
                <a:ea typeface="Arial" pitchFamily="34" charset="-122"/>
                <a:cs typeface="Arial" pitchFamily="34" charset="-120"/>
              </a:rPr>
              <a:t>15 / 15</a:t>
            </a:r>
            <a:endParaRPr lang="en-US" sz="900" dirty="0"/>
          </a:p>
        </p:txBody>
      </p:sp>
    </p:spTree>
  </p:cSld>
  <p:clrMapOvr>
    <a:masterClrMapping/>
  </p:clrMapOvr>
</p:sld>
</file>

<file path=ppt/theme/theme1.xml><?xml version="1.0" encoding="utf-8"?>
<a:theme xmlns:a="http://schemas.openxmlformats.org/drawingml/2006/main" name="Alodi">
  <a:themeElements>
    <a:clrScheme name="Alodi">
      <a:dk1>
        <a:srgbClr val="121A2C"/>
      </a:dk1>
      <a:lt1>
        <a:srgbClr val="FFFFFF"/>
      </a:lt1>
      <a:dk2>
        <a:srgbClr val="1F2A44"/>
      </a:dk2>
      <a:lt2>
        <a:srgbClr val="F7F7F8"/>
      </a:lt2>
      <a:accent1>
        <a:srgbClr val="F05A00"/>
      </a:accent1>
      <a:accent2>
        <a:srgbClr val="FF9D66"/>
      </a:accent2>
      <a:accent3>
        <a:srgbClr val="5B6275"/>
      </a:accent3>
      <a:accent4>
        <a:srgbClr val="C3C7D0"/>
      </a:accent4>
      <a:accent5>
        <a:srgbClr val="E6E8EC"/>
      </a:accent5>
      <a:accent6>
        <a:srgbClr val="0E8A6C"/>
      </a:accent6>
      <a:hlink>
        <a:srgbClr val="F05A00"/>
      </a:hlink>
      <a:folHlink>
        <a:srgbClr val="C94B00"/>
      </a:folHlink>
    </a:clrScheme>
    <a:fontScheme name="Alod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Team Develarper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Alodi · Make the second drop land</dc:title>
  <dc:subject>PptxGenJS Presentation</dc:subject>
  <dc:creator>Team Develarper</dc:creator>
  <cp:lastModifiedBy>Team Develarper</cp:lastModifiedBy>
  <cp:revision>1</cp:revision>
  <dcterms:created xsi:type="dcterms:W3CDTF">2026-10-31T07:18:37Z</dcterms:created>
  <dcterms:modified xsi:type="dcterms:W3CDTF">2026-10-31T07:18:37Z</dcterms:modified>
</cp:coreProperties>
</file>