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fec8e31-1c49-6a01-59a0-775ff9200879}">
          <p14:sldIdLst>
            <p14:sldId id="256"/>
          </p14:sldIdLst>
        </p14:section>
        <p14:section name="Problem" id="{640a6937-72a4-5b74-f4f9-fa009203e1b9}">
          <p14:sldIdLst>
            <p14:sldId id="257"/>
            <p14:sldId id="258"/>
            <p14:sldId id="259"/>
          </p14:sldIdLst>
        </p14:section>
        <p14:section name="Alodi" id="{aeec1d48-cfe6-bbb8-b8c4-4b4a2baa2635}">
          <p14:sldIdLst>
            <p14:sldId id="260"/>
            <p14:sldId id="261"/>
            <p14:sldId id="262"/>
          </p14:sldIdLst>
        </p14:section>
        <p14:section name="Technology" id="{8a340491-aba1-51ef-a983-8d462557cf8e}">
          <p14:sldIdLst>
            <p14:sldId id="263"/>
          </p14:sldIdLst>
        </p14:section>
        <p14:section name="Close" id="{e133c2c9-92a6-1560-6649-7e3a8a69844b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44"/>
                </a:solidFill>
                <a:latin typeface="+mn-lt"/>
              </a:rPr>
              <a:t>Monthly loss in one area, ₫ million (midpoints)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₫M a month</c:v>
                </c:pt>
              </c:strCache>
            </c:strRef>
          </c:tx>
          <c:spPr>
            <a:solidFill>
              <a:srgbClr val="CECA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ECA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1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5A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Courier door time</c:v>
                  </c:pt>
                  <c:pt idx="1">
                    <c:v>CS call-backs</c:v>
                  </c:pt>
                  <c:pt idx="2">
                    <c:v>Redelivery pay</c:v>
                  </c:pt>
                  <c:pt idx="3">
                    <c:v>Return fees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45</c:v>
                </c:pt>
                <c:pt idx="2">
                  <c:v>101</c:v>
                </c:pt>
                <c:pt idx="3">
                  <c:v>288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moment everyone knows: the courier calls, you are in a meeting, the parcel goes back. Alodi makes the second drop 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failed delivery is a time negotiation that happens off the system. The context that would fix it is compressed into one error code, so the next attempt repeats the same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fees alone are ₫288M a month for one area. The survey tests the two sides of the same call: buyers who can't pick a time, couriers whose calls go unanswered. Replace the survey values with the interview export before the final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cause is not routing. It is that the buyer's answer never enters the system. Three numbers: zero windows, one error code, about five callers per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two-minute film here. To embed it: Insert &gt; Video &gt; This Device, then resize to the dark frame and delete the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Courier phone, buyer chat, ops console and a control screen stay in sync. The demo runs on a fast-forward clock and mock data for one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 are measured live from the event log and the eval set. Money is projected: ₫473M lost a month, Alodi recovers ₫215M, costs ₫21M to run, ₫194M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Draft: more OpenAI components will be added. Runtime: one agent built on the Agents SDK with six workers, gpt-oss-20b on the area server, the API only as a masked fallback. Build time: Codex from spec to review and the eval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Next: a full build in November, shadow mode at one area in Q1 2027 with no buyer contact, then controlled real channels, a region and national scale by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line: make the second drop land. Point to the QR code for the live demo. Replace the QR placeholder with the final link once the demo is deployed.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rgbClr val="F6F3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davark-Downloads-Everything-Github-Alodi-Regional-Codex-Hackathon-2026/91e569a8-486f-4c0b-b683-a4991468f039/scratchpad/deck/assets/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420624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Sea × OpenAI Regional Codex Hackathon · 31 Oct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dark">
    <p:bg>
      <p:bgPr>
        <a:solidFill>
          <a:srgbClr val="12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davark-Downloads-Everything-Github-Alodi-Regional-Codex-Hackathon-2026/91e569a8-486f-4c0b-b683-a4991468f039/scratchpad/deck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0"/>
            <a:ext cx="420624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6382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Sea × OpenAI Regional Codex Hackathon · 31 Oct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ECA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photo" descr="Riders in evening traffic, Ho Chi Minh 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5352" y="548640"/>
            <a:ext cx="5394960" cy="5760720"/>
          </a:xfrm>
          <a:prstGeom prst="rect">
            <a:avLst/>
          </a:prstGeom>
        </p:spPr>
      </p:pic>
      <p:pic>
        <p:nvPicPr>
          <p:cNvPr id="3" name="Logo" descr="/private/tmp/claude-503/-Users-davark-Downloads-Everything-Github-Alodi-Regional-Codex-Hackathon-2026/91e569a8-486f-4c0b-b683-a4991468f039/scratchpad/deck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6928"/>
            <a:ext cx="1051560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× OPENAI REGIONAL CODEX HACKATHON · 31 OCT 2026</a:t>
            </a:r>
            <a:endParaRPr lang="en-US" sz="11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945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second</a:t>
            </a:r>
            <a:endParaRPr lang="en-US" sz="5400" dirty="0"/>
          </a:p>
          <a:p>
            <a:pPr indent="0" marL="0">
              <a:buNone/>
            </a:pPr>
            <a:r>
              <a:rPr lang="en-US" sz="54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land.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0690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Alodi rescues failed deliveries for Vietnamese e-commerce. The courier taps once; the agent messages, calls and hands back the context for the next attempt.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8978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Develarper</a:t>
            </a:r>
            <a:pPr indent="0" marL="0">
              <a:buNone/>
            </a:pPr>
            <a:r>
              <a:rPr lang="en-US" sz="110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Nomura Yoshio · Long Quan Ton · Khanh Tuong Huynh · Thanh Loi Tran</a:t>
            </a:r>
            <a:endParaRPr lang="en-US" sz="1100" dirty="0"/>
          </a:p>
        </p:txBody>
      </p:sp>
      <p:sp>
        <p:nvSpPr>
          <p:cNvPr id="8" name="Rescue card"/>
          <p:cNvSpPr/>
          <p:nvPr/>
        </p:nvSpPr>
        <p:spPr>
          <a:xfrm>
            <a:off x="6629400" y="4343400"/>
            <a:ext cx="329184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85800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10:02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745236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taps · No answer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4956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4956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sent to the buyer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5385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11:18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5385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card ready · 0.94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9692640" y="6035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frank mckenna, CC0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courier calls. </a:t>
            </a:r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buyer is in a meeting. The parcel goes back.</a:t>
            </a:r>
            <a:endParaRPr lang="en-US" sz="3000" dirty="0"/>
          </a:p>
        </p:txBody>
      </p:sp>
      <p:pic>
        <p:nvPicPr>
          <p:cNvPr id="4" name="Hook photo" descr="A rider carrying goods on a motorbike, Ho Chi Minh 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1965960"/>
            <a:ext cx="420624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34072" y="6163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Lemic302, CC0</a:t>
            </a:r>
            <a:endParaRPr lang="en-US" sz="900" dirty="0"/>
          </a:p>
        </p:txBody>
      </p:sp>
      <p:sp>
        <p:nvSpPr>
          <p:cNvPr id="6" name="Timeline"/>
          <p:cNvSpPr/>
          <p:nvPr/>
        </p:nvSpPr>
        <p:spPr>
          <a:xfrm>
            <a:off x="713232" y="2240280"/>
            <a:ext cx="0" cy="3291840"/>
          </a:xfrm>
          <a:prstGeom prst="line">
            <a:avLst/>
          </a:prstGeom>
          <a:noFill/>
          <a:ln w="12700">
            <a:solidFill>
              <a:srgbClr val="CECAC8"/>
            </a:solidFill>
            <a:prstDash val="solid"/>
          </a:ln>
        </p:spPr>
      </p:sp>
      <p:sp>
        <p:nvSpPr>
          <p:cNvPr id="7" name="Beat 1"/>
          <p:cNvSpPr/>
          <p:nvPr/>
        </p:nvSpPr>
        <p:spPr>
          <a:xfrm>
            <a:off x="621792" y="2148840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Courier calls twice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2441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answer. The buyer is in a meeting.</a:t>
            </a:r>
            <a:endParaRPr lang="en-US" sz="1400" dirty="0"/>
          </a:p>
        </p:txBody>
      </p:sp>
      <p:sp>
        <p:nvSpPr>
          <p:cNvPr id="11" name="Beat 2"/>
          <p:cNvSpPr/>
          <p:nvPr/>
        </p:nvSpPr>
        <p:spPr>
          <a:xfrm>
            <a:off x="621792" y="3136392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044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965960" y="3044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error code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“Buyer unreachable”. When, where and who are lost.</a:t>
            </a:r>
            <a:endParaRPr lang="en-US" sz="1400" dirty="0"/>
          </a:p>
        </p:txBody>
      </p:sp>
      <p:sp>
        <p:nvSpPr>
          <p:cNvPr id="15" name="Beat 3"/>
          <p:cNvSpPr/>
          <p:nvPr/>
        </p:nvSpPr>
        <p:spPr>
          <a:xfrm>
            <a:off x="621792" y="4123944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05840" y="40325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40325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route, same time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965960" y="4416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attempt repeats the first, and fails.</a:t>
            </a:r>
            <a:endParaRPr lang="en-US" sz="1400" dirty="0"/>
          </a:p>
        </p:txBody>
      </p:sp>
      <p:sp>
        <p:nvSpPr>
          <p:cNvPr id="19" name="Beat 4"/>
          <p:cNvSpPr/>
          <p:nvPr/>
        </p:nvSpPr>
        <p:spPr>
          <a:xfrm>
            <a:off x="621792" y="5111496"/>
            <a:ext cx="182880" cy="182880"/>
          </a:xfrm>
          <a:prstGeom prst="ellipse">
            <a:avLst/>
          </a:prstGeom>
          <a:solidFill>
            <a:srgbClr val="F05A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05840" y="50200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965960" y="50200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to the seller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965960" y="5404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₫40,000 return fee. The buyer edges toward a COD lock.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01 · THE PROBLEM IN NUMBERS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happens every day. </a:t>
            </a:r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someone always pays.</a:t>
            </a:r>
            <a:endParaRPr lang="en-US" sz="3000" dirty="0"/>
          </a:p>
        </p:txBody>
      </p:sp>
      <p:sp>
        <p:nvSpPr>
          <p:cNvPr id="4" name="Stat 1"/>
          <p:cNvSpPr/>
          <p:nvPr/>
        </p:nvSpPr>
        <p:spPr>
          <a:xfrm>
            <a:off x="548640" y="196596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₫40,000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fee the seller pays per failed order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19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§7.1 · GHN</a:t>
            </a:r>
            <a:endParaRPr lang="en-US" sz="1000" dirty="0"/>
          </a:p>
        </p:txBody>
      </p:sp>
      <p:sp>
        <p:nvSpPr>
          <p:cNvPr id="8" name="Stat 2"/>
          <p:cNvSpPr/>
          <p:nvPr/>
        </p:nvSpPr>
        <p:spPr>
          <a:xfrm>
            <a:off x="3337560" y="196596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8–12%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072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refused at the door, nationwide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3192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VECOM, NLĐ Jul 2025</a:t>
            </a:r>
            <a:endParaRPr lang="en-US" sz="1000" dirty="0"/>
          </a:p>
        </p:txBody>
      </p:sp>
      <p:sp>
        <p:nvSpPr>
          <p:cNvPr id="12" name="Stat 3"/>
          <p:cNvSpPr/>
          <p:nvPr/>
        </p:nvSpPr>
        <p:spPr>
          <a:xfrm>
            <a:off x="548640" y="379476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6360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windows a Shopee buyer can choose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1480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 Help 79559</a:t>
            </a:r>
            <a:endParaRPr lang="en-US" sz="1000" dirty="0"/>
          </a:p>
        </p:txBody>
      </p:sp>
      <p:sp>
        <p:nvSpPr>
          <p:cNvPr id="16" name="Stat 4"/>
          <p:cNvSpPr/>
          <p:nvPr/>
        </p:nvSpPr>
        <p:spPr>
          <a:xfrm>
            <a:off x="3337560" y="3794760"/>
            <a:ext cx="2651760" cy="1691640"/>
          </a:xfrm>
          <a:prstGeom prst="roundRect">
            <a:avLst>
              <a:gd name="adj" fmla="val 8649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3977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₫473M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6360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 month in one area of 4,000 orders a day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514807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model, PRD §18.8</a:t>
            </a:r>
            <a:endParaRPr lang="en-US" sz="1000" dirty="0"/>
          </a:p>
        </p:txBody>
      </p:sp>
      <p:graphicFrame>
        <p:nvGraphicFramePr>
          <p:cNvPr id="20" name="Loss chart" descr=""/>
          <p:cNvGraphicFramePr/>
          <p:nvPr/>
        </p:nvGraphicFramePr>
        <p:xfrm>
          <a:off x="6355080" y="1920240"/>
          <a:ext cx="53035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urvey"/>
          <p:cNvSpPr/>
          <p:nvPr/>
        </p:nvSpPr>
        <p:spPr>
          <a:xfrm>
            <a:off x="6355080" y="4297680"/>
            <a:ext cx="5285232" cy="1645920"/>
          </a:xfrm>
          <a:prstGeom prst="roundRect">
            <a:avLst>
              <a:gd name="adj" fmla="val 8889"/>
            </a:avLst>
          </a:prstGeom>
          <a:solidFill>
            <a:srgbClr val="121A2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8368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BOTH SIDES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778240" y="4434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until the interview export lands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0" y="4754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528523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want to pick a window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45552" y="4754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7845552" y="528523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couldn’t reach the courier back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9107424" y="4754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107424" y="528523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calls go unanswered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369296" y="4754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10369296" y="5285232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 would use Alodi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05332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Shopee Return &amp; Refund Policy §7.1 and GHN (₫40,000 cap since Apr 2025); VECOM via Nguoi Lao Dong (19 Jul 2025); Shopee Help Center 79559; team cost model PRD §18.8. Survey: buyers n = 100, couriers n = 12.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01 · THE ROOT CAUSE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broken in the route. </a:t>
            </a:r>
            <a:pPr indent="0" marL="0">
              <a:buNone/>
            </a:pPr>
            <a:r>
              <a:rPr lang="en-US" sz="3000" dirty="0">
                <a:solidFill>
                  <a:srgbClr val="F6F3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dies in a phone call.</a:t>
            </a:r>
            <a:endParaRPr lang="en-US" sz="3000" dirty="0"/>
          </a:p>
        </p:txBody>
      </p:sp>
      <p:pic>
        <p:nvPicPr>
          <p:cNvPr id="4" name="Field photo" descr="SPX Express hub, Ho Chi Minh 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38328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630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 · SPX Express hub, HCMC</a:t>
            </a:r>
            <a:endParaRPr lang="en-US" sz="900" dirty="0"/>
          </a:p>
        </p:txBody>
      </p:sp>
      <p:sp>
        <p:nvSpPr>
          <p:cNvPr id="6" name="Cause 1"/>
          <p:cNvSpPr/>
          <p:nvPr/>
        </p:nvSpPr>
        <p:spPr>
          <a:xfrm>
            <a:off x="4206240" y="1965960"/>
            <a:ext cx="7434072" cy="1280160"/>
          </a:xfrm>
          <a:prstGeom prst="roundRect">
            <a:avLst>
              <a:gd name="adj" fmla="val 11429"/>
            </a:avLst>
          </a:prstGeom>
          <a:solidFill>
            <a:srgbClr val="1C26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480560" y="2148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1671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to choose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56946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is negotiated by phone, outside every system the carrier runs.</a:t>
            </a:r>
            <a:endParaRPr lang="en-US" sz="1400" dirty="0"/>
          </a:p>
        </p:txBody>
      </p:sp>
      <p:sp>
        <p:nvSpPr>
          <p:cNvPr id="10" name="Cause 2"/>
          <p:cNvSpPr/>
          <p:nvPr/>
        </p:nvSpPr>
        <p:spPr>
          <a:xfrm>
            <a:off x="4206240" y="3383280"/>
            <a:ext cx="7434072" cy="1280160"/>
          </a:xfrm>
          <a:prstGeom prst="roundRect">
            <a:avLst>
              <a:gd name="adj" fmla="val 11429"/>
            </a:avLst>
          </a:prstGeom>
          <a:solidFill>
            <a:srgbClr val="1C264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80560" y="35661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584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code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986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answer” replaces when, where and who. The next courier starts from zero.</a:t>
            </a:r>
            <a:endParaRPr lang="en-US" sz="1400" dirty="0"/>
          </a:p>
        </p:txBody>
      </p:sp>
      <p:sp>
        <p:nvSpPr>
          <p:cNvPr id="14" name="Cause 3"/>
          <p:cNvSpPr/>
          <p:nvPr/>
        </p:nvSpPr>
        <p:spPr>
          <a:xfrm>
            <a:off x="4206240" y="4800600"/>
            <a:ext cx="7434072" cy="1280160"/>
          </a:xfrm>
          <a:prstGeom prst="roundRect">
            <a:avLst>
              <a:gd name="adj" fmla="val 11429"/>
            </a:avLst>
          </a:prstGeom>
          <a:solidFill>
            <a:srgbClr val="1C264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80560" y="4983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5001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full-time callers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54041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area, just to phone 320 buyers twice a day. People don’t scale; rules 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ECA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02 · INTRODUCING ALODI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Alodi is the AI agent </a:t>
            </a:r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rescues failed deliveries.</a:t>
            </a:r>
            <a:endParaRPr lang="en-US" sz="3000" dirty="0"/>
          </a:p>
        </p:txBody>
      </p:sp>
      <p:sp>
        <p:nvSpPr>
          <p:cNvPr id="4" name="Rule 1"/>
          <p:cNvSpPr/>
          <p:nvPr/>
        </p:nvSpPr>
        <p:spPr>
          <a:xfrm>
            <a:off x="548640" y="2011680"/>
            <a:ext cx="4114800" cy="0"/>
          </a:xfrm>
          <a:prstGeom prst="line">
            <a:avLst/>
          </a:prstGeom>
          <a:noFill/>
          <a:ln w="9525">
            <a:solidFill>
              <a:srgbClr val="CECAC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39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0312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like SPX, their couriers and buyers</a:t>
            </a:r>
            <a:endParaRPr lang="en-US" sz="1400" dirty="0"/>
          </a:p>
        </p:txBody>
      </p:sp>
      <p:sp>
        <p:nvSpPr>
          <p:cNvPr id="7" name="Rule 2"/>
          <p:cNvSpPr/>
          <p:nvPr/>
        </p:nvSpPr>
        <p:spPr>
          <a:xfrm>
            <a:off x="548640" y="2798064"/>
            <a:ext cx="4114800" cy="0"/>
          </a:xfrm>
          <a:prstGeom prst="line">
            <a:avLst/>
          </a:prstGeom>
          <a:noFill/>
          <a:ln w="9525">
            <a:solidFill>
              <a:srgbClr val="CECA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88950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tap: No answer · Rescheduled · Refused</a:t>
            </a:r>
            <a:endParaRPr lang="en-US" sz="1400" dirty="0"/>
          </a:p>
        </p:txBody>
      </p:sp>
      <p:sp>
        <p:nvSpPr>
          <p:cNvPr id="10" name="Rule 3"/>
          <p:cNvSpPr/>
          <p:nvPr/>
        </p:nvSpPr>
        <p:spPr>
          <a:xfrm>
            <a:off x="548640" y="3584448"/>
            <a:ext cx="4114800" cy="0"/>
          </a:xfrm>
          <a:prstGeom prst="line">
            <a:avLst/>
          </a:prstGeom>
          <a:noFill/>
          <a:ln w="9525">
            <a:solidFill>
              <a:srgbClr val="CECA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12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67588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now, calls if silent, writes a context card</a:t>
            </a:r>
            <a:endParaRPr lang="en-US" sz="1400" dirty="0"/>
          </a:p>
        </p:txBody>
      </p:sp>
      <p:sp>
        <p:nvSpPr>
          <p:cNvPr id="13" name="Rule 4"/>
          <p:cNvSpPr/>
          <p:nvPr/>
        </p:nvSpPr>
        <p:spPr>
          <a:xfrm>
            <a:off x="548640" y="4370832"/>
            <a:ext cx="4114800" cy="0"/>
          </a:xfrm>
          <a:prstGeom prst="line">
            <a:avLst/>
          </a:prstGeom>
          <a:noFill/>
          <a:ln w="9525">
            <a:solidFill>
              <a:srgbClr val="CECA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988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6227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or returns an order without a person</a:t>
            </a:r>
            <a:endParaRPr lang="en-US" sz="1400" dirty="0"/>
          </a:p>
        </p:txBody>
      </p:sp>
      <p:sp>
        <p:nvSpPr>
          <p:cNvPr id="16" name="Rule 5"/>
          <p:cNvSpPr/>
          <p:nvPr/>
        </p:nvSpPr>
        <p:spPr>
          <a:xfrm>
            <a:off x="548640" y="5157216"/>
            <a:ext cx="4114800" cy="0"/>
          </a:xfrm>
          <a:prstGeom prst="line">
            <a:avLst/>
          </a:prstGeom>
          <a:noFill/>
          <a:ln w="9525">
            <a:solidFill>
              <a:srgbClr val="CECA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24865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SDK, gpt-oss-20b, Codex</a:t>
            </a:r>
            <a:endParaRPr lang="en-US" sz="1400" dirty="0"/>
          </a:p>
        </p:txBody>
      </p:sp>
      <p:sp>
        <p:nvSpPr>
          <p:cNvPr id="19" name="Video placeholder"/>
          <p:cNvSpPr/>
          <p:nvPr/>
        </p:nvSpPr>
        <p:spPr>
          <a:xfrm>
            <a:off x="5056632" y="1965960"/>
            <a:ext cx="6583680" cy="3703320"/>
          </a:xfrm>
          <a:prstGeom prst="roundRect">
            <a:avLst>
              <a:gd name="adj" fmla="val 3951"/>
            </a:avLst>
          </a:prstGeom>
          <a:solidFill>
            <a:srgbClr val="121A2C"/>
          </a:solidFill>
          <a:ln/>
        </p:spPr>
      </p:sp>
      <p:sp>
        <p:nvSpPr>
          <p:cNvPr id="20" name="Play button"/>
          <p:cNvSpPr/>
          <p:nvPr/>
        </p:nvSpPr>
        <p:spPr>
          <a:xfrm>
            <a:off x="7982712" y="3154680"/>
            <a:ext cx="731520" cy="731520"/>
          </a:xfrm>
          <a:prstGeom prst="ellipse">
            <a:avLst/>
          </a:prstGeom>
          <a:solidFill>
            <a:srgbClr val="F05A00"/>
          </a:solidFill>
          <a:ln/>
        </p:spPr>
      </p:sp>
      <p:sp>
        <p:nvSpPr>
          <p:cNvPr id="21" name="Play icon"/>
          <p:cNvSpPr/>
          <p:nvPr/>
        </p:nvSpPr>
        <p:spPr>
          <a:xfrm rot="5400000">
            <a:off x="8247888" y="3346704"/>
            <a:ext cx="292608" cy="347472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56632" y="4069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· 2:00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056632" y="44348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film here: Insert › Video, then fit it to this frame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56632" y="57790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rescue: the courier’s tap, the chat, the AI call, the context card and the second drop.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02 · WHAT WE BUILT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screens, one agent, </a:t>
            </a:r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on stage.</a:t>
            </a:r>
            <a:endParaRPr lang="en-US" sz="3000" dirty="0"/>
          </a:p>
        </p:txBody>
      </p:sp>
      <p:pic>
        <p:nvPicPr>
          <p:cNvPr id="4" name="Demo screenshot" descr="Alodi demo stage: courier app, buyer chat and operations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0240"/>
            <a:ext cx="6766560" cy="4229100"/>
          </a:xfrm>
          <a:prstGeom prst="rect">
            <a:avLst/>
          </a:prstGeom>
        </p:spPr>
      </p:pic>
      <p:sp>
        <p:nvSpPr>
          <p:cNvPr id="5" name="Cap dot 1"/>
          <p:cNvSpPr/>
          <p:nvPr/>
        </p:nvSpPr>
        <p:spPr>
          <a:xfrm>
            <a:off x="7635240" y="1984248"/>
            <a:ext cx="201168" cy="201168"/>
          </a:xfrm>
          <a:prstGeom prst="ellipse">
            <a:avLst/>
          </a:prstGeom>
          <a:solidFill>
            <a:srgbClr val="F05A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01000" y="19202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tap, no typing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2258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courier picks No answer, Rescheduled or Refused.</a:t>
            </a:r>
            <a:endParaRPr lang="en-US" sz="1200" dirty="0"/>
          </a:p>
        </p:txBody>
      </p:sp>
      <p:sp>
        <p:nvSpPr>
          <p:cNvPr id="8" name="Cap dot 2"/>
          <p:cNvSpPr/>
          <p:nvPr/>
        </p:nvSpPr>
        <p:spPr>
          <a:xfrm>
            <a:off x="7635240" y="2834640"/>
            <a:ext cx="201168" cy="20116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01000" y="2770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first, call if silent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at once; AI call after 60′, again after 2 h. 08:00–20:30 only.</a:t>
            </a:r>
            <a:endParaRPr lang="en-US" sz="1200" dirty="0"/>
          </a:p>
        </p:txBody>
      </p:sp>
      <p:sp>
        <p:nvSpPr>
          <p:cNvPr id="11" name="Cap dot 3"/>
          <p:cNvSpPr/>
          <p:nvPr/>
        </p:nvSpPr>
        <p:spPr>
          <a:xfrm>
            <a:off x="7635240" y="3685032"/>
            <a:ext cx="201168" cy="20116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01000" y="3621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card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959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Window, drop-off, backup receiver as JSON. ≥ 0.85 applies itself.</a:t>
            </a:r>
            <a:endParaRPr lang="en-US" sz="1200" dirty="0"/>
          </a:p>
        </p:txBody>
      </p:sp>
      <p:sp>
        <p:nvSpPr>
          <p:cNvPr id="14" name="Cap dot 4"/>
          <p:cNvSpPr/>
          <p:nvPr/>
        </p:nvSpPr>
        <p:spPr>
          <a:xfrm>
            <a:off x="7635240" y="4535424"/>
            <a:ext cx="201168" cy="20116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01000" y="4471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decide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48097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Refusals, labels and returns always go to customer service.</a:t>
            </a:r>
            <a:endParaRPr lang="en-US" sz="1200" dirty="0"/>
          </a:p>
        </p:txBody>
      </p:sp>
      <p:sp>
        <p:nvSpPr>
          <p:cNvPr id="17" name="Cap dot 5"/>
          <p:cNvSpPr/>
          <p:nvPr/>
        </p:nvSpPr>
        <p:spPr>
          <a:xfrm>
            <a:off x="7635240" y="5385816"/>
            <a:ext cx="201168" cy="20116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01000" y="5321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dashboard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5660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hub view on a 4,000-order mock day: pipeline, routes, CS queue.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02 · OUTCOMES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stage. </a:t>
            </a:r>
            <a:pPr indent="0" marL="0">
              <a:buNone/>
            </a:pPr>
            <a:r>
              <a:rPr lang="en-US" sz="3000" dirty="0">
                <a:solidFill>
                  <a:srgbClr val="F6F3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for one area.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STAGE · PRD §2.3, §23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AREA · PROJECTED · PRD §18.8</a:t>
            </a:r>
            <a:endParaRPr lang="en-US" sz="1000" dirty="0"/>
          </a:p>
        </p:txBody>
      </p:sp>
      <p:sp>
        <p:nvSpPr>
          <p:cNvPr id="6" name="Outcome 0-0"/>
          <p:cNvSpPr/>
          <p:nvPr/>
        </p:nvSpPr>
        <p:spPr>
          <a:xfrm>
            <a:off x="548640" y="224028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048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 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time-to-context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55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buyer’s answer → courier’s card</a:t>
            </a:r>
            <a:endParaRPr lang="en-US" sz="1100" dirty="0"/>
          </a:p>
        </p:txBody>
      </p:sp>
      <p:sp>
        <p:nvSpPr>
          <p:cNvPr id="10" name="Outcome 0-1"/>
          <p:cNvSpPr/>
          <p:nvPr/>
        </p:nvSpPr>
        <p:spPr>
          <a:xfrm>
            <a:off x="3346704" y="224028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75304" y="24048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0.90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575304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75304" y="3355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chat, call and memo</a:t>
            </a:r>
            <a:endParaRPr lang="en-US" sz="1100" dirty="0"/>
          </a:p>
        </p:txBody>
      </p:sp>
      <p:sp>
        <p:nvSpPr>
          <p:cNvPr id="14" name="Outcome 0-2"/>
          <p:cNvSpPr/>
          <p:nvPr/>
        </p:nvSpPr>
        <p:spPr>
          <a:xfrm>
            <a:off x="6144768" y="224028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3368" y="24048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2%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373368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auto-applies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3355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closed alone</a:t>
            </a:r>
            <a:endParaRPr lang="en-US" sz="1100" dirty="0"/>
          </a:p>
        </p:txBody>
      </p:sp>
      <p:sp>
        <p:nvSpPr>
          <p:cNvPr id="18" name="Outcome 0-3"/>
          <p:cNvSpPr/>
          <p:nvPr/>
        </p:nvSpPr>
        <p:spPr>
          <a:xfrm>
            <a:off x="8942832" y="224028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71432" y="240487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person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3355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labels, returns, calls out of hours</a:t>
            </a:r>
            <a:endParaRPr lang="en-US" sz="1100" dirty="0"/>
          </a:p>
        </p:txBody>
      </p:sp>
      <p:sp>
        <p:nvSpPr>
          <p:cNvPr id="22" name="Outcome 1-0"/>
          <p:cNvSpPr/>
          <p:nvPr/>
        </p:nvSpPr>
        <p:spPr>
          <a:xfrm>
            <a:off x="548640" y="425196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44165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093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calls a day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by the agent, ≈ 28 h</a:t>
            </a:r>
            <a:endParaRPr lang="en-US" sz="1100" dirty="0"/>
          </a:p>
        </p:txBody>
      </p:sp>
      <p:sp>
        <p:nvSpPr>
          <p:cNvPr id="26" name="Outcome 1-1"/>
          <p:cNvSpPr/>
          <p:nvPr/>
        </p:nvSpPr>
        <p:spPr>
          <a:xfrm>
            <a:off x="3346704" y="425196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75304" y="44165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3575304" y="5093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wasted trips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575304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day, 320 × 0.3 attempts</a:t>
            </a:r>
            <a:endParaRPr lang="en-US" sz="1100" dirty="0"/>
          </a:p>
        </p:txBody>
      </p:sp>
      <p:sp>
        <p:nvSpPr>
          <p:cNvPr id="30" name="Outcome 1-2"/>
          <p:cNvSpPr/>
          <p:nvPr/>
        </p:nvSpPr>
        <p:spPr>
          <a:xfrm>
            <a:off x="6144768" y="425196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73368" y="44165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min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6373368" y="5093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per courier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73368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100" dirty="0"/>
          </a:p>
        </p:txBody>
      </p:sp>
      <p:sp>
        <p:nvSpPr>
          <p:cNvPr id="34" name="Outcome 1-3"/>
          <p:cNvSpPr/>
          <p:nvPr/>
        </p:nvSpPr>
        <p:spPr>
          <a:xfrm>
            <a:off x="8942832" y="4251960"/>
            <a:ext cx="2670048" cy="1554480"/>
          </a:xfrm>
          <a:prstGeom prst="roundRect">
            <a:avLst>
              <a:gd name="adj" fmla="val 9412"/>
            </a:avLst>
          </a:prstGeom>
          <a:solidFill>
            <a:srgbClr val="1C264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171432" y="44165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₫194M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9171432" y="5093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saving a month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171432" y="5367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the ₫473M loss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05332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§2.3 and §23 targets; team cost model PRD §18.8, best-in-class rescue 25% → 65% (Shipsy vendor range), base case ₫99M a month. Full formulas: alodi-numbers.pdf.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ECA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03 · OPENAI ECOSYSTEM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OpenAI, </a:t>
            </a:r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first line to the last call.</a:t>
            </a:r>
            <a:endParaRPr lang="en-US" sz="3000" dirty="0"/>
          </a:p>
        </p:txBody>
      </p:sp>
      <p:sp>
        <p:nvSpPr>
          <p:cNvPr id="4" name="OpenAI panel"/>
          <p:cNvSpPr/>
          <p:nvPr/>
        </p:nvSpPr>
        <p:spPr>
          <a:xfrm>
            <a:off x="548640" y="1920240"/>
            <a:ext cx="11091672" cy="40233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75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· ONE AGENT, SIX WORKERS</a:t>
            </a:r>
            <a:endParaRPr lang="en-US" sz="1000" dirty="0"/>
          </a:p>
        </p:txBody>
      </p:sp>
      <p:sp>
        <p:nvSpPr>
          <p:cNvPr id="6" name="Link 1"/>
          <p:cNvSpPr/>
          <p:nvPr/>
        </p:nvSpPr>
        <p:spPr>
          <a:xfrm>
            <a:off x="2331720" y="2962656"/>
            <a:ext cx="2448763" cy="73152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7" name="Worker 1"/>
          <p:cNvSpPr/>
          <p:nvPr/>
        </p:nvSpPr>
        <p:spPr>
          <a:xfrm>
            <a:off x="914400" y="2395728"/>
            <a:ext cx="283464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8" name="OpenAI 1" descr="/private/tmp/claude-503/-Users-davark-Downloads-Everything-Github-Alodi-Regional-Codex-Hackathon-2026/91e569a8-486f-4c0b-b683-a4991468f039/scratchpad/deck/assets/openai-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6946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89888" y="2468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389888" y="2697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</a:t>
            </a:r>
            <a:endParaRPr lang="en-US" sz="1000" dirty="0"/>
          </a:p>
        </p:txBody>
      </p:sp>
      <p:sp>
        <p:nvSpPr>
          <p:cNvPr id="11" name="Link 2"/>
          <p:cNvSpPr/>
          <p:nvPr/>
        </p:nvSpPr>
        <p:spPr>
          <a:xfrm>
            <a:off x="6099048" y="2962656"/>
            <a:ext cx="914" cy="73152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2" name="Worker 2"/>
          <p:cNvSpPr/>
          <p:nvPr/>
        </p:nvSpPr>
        <p:spPr>
          <a:xfrm>
            <a:off x="4681728" y="2395728"/>
            <a:ext cx="283464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3" name="OpenAI 2" descr="/private/tmp/claude-503/-Users-davark-Downloads-Everything-Github-Alodi-Regional-Codex-Hackathon-2026/91e569a8-486f-4c0b-b683-a4991468f039/scratchpad/deck/assets/openai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6946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57216" y="2468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chat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157216" y="2697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gpt-oss-20b</a:t>
            </a:r>
            <a:endParaRPr lang="en-US" sz="1000" dirty="0"/>
          </a:p>
        </p:txBody>
      </p:sp>
      <p:sp>
        <p:nvSpPr>
          <p:cNvPr id="16" name="Link 3"/>
          <p:cNvSpPr/>
          <p:nvPr/>
        </p:nvSpPr>
        <p:spPr>
          <a:xfrm flipH="1">
            <a:off x="7420813" y="2962656"/>
            <a:ext cx="2454707" cy="73152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17" name="Worker 3"/>
          <p:cNvSpPr/>
          <p:nvPr/>
        </p:nvSpPr>
        <p:spPr>
          <a:xfrm>
            <a:off x="8458200" y="2395728"/>
            <a:ext cx="283464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8" name="OpenAI 3" descr="/private/tmp/claude-503/-Users-davark-Downloads-Everything-Github-Alodi-Regional-Codex-Hackathon-2026/91e569a8-486f-4c0b-b683-a4991468f039/scratchpad/deck/assets/openai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5694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33688" y="24688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933688" y="2697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gpt-4o-mini-tts</a:t>
            </a:r>
            <a:endParaRPr lang="en-US" sz="1000" dirty="0"/>
          </a:p>
        </p:txBody>
      </p:sp>
      <p:sp>
        <p:nvSpPr>
          <p:cNvPr id="21" name="Link 4"/>
          <p:cNvSpPr/>
          <p:nvPr/>
        </p:nvSpPr>
        <p:spPr>
          <a:xfrm>
            <a:off x="2331720" y="3785616"/>
            <a:ext cx="2448763" cy="283464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22" name="Worker 4"/>
          <p:cNvSpPr/>
          <p:nvPr/>
        </p:nvSpPr>
        <p:spPr>
          <a:xfrm>
            <a:off x="914400" y="4069080"/>
            <a:ext cx="283464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23" name="OpenAI 4" descr="/private/tmp/claude-503/-Users-davark-Downloads-Everything-Github-Alodi-Regional-Codex-Hackathon-2026/91e569a8-486f-4c0b-b683-a4991468f039/scratchpad/deck/assets/openai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24281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9888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389888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000" dirty="0"/>
          </a:p>
        </p:txBody>
      </p:sp>
      <p:sp>
        <p:nvSpPr>
          <p:cNvPr id="26" name="Link 5"/>
          <p:cNvSpPr/>
          <p:nvPr/>
        </p:nvSpPr>
        <p:spPr>
          <a:xfrm>
            <a:off x="6099048" y="3785616"/>
            <a:ext cx="914" cy="283464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27" name="Worker 5"/>
          <p:cNvSpPr/>
          <p:nvPr/>
        </p:nvSpPr>
        <p:spPr>
          <a:xfrm>
            <a:off x="4681728" y="4069080"/>
            <a:ext cx="283464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28" name="OpenAI 5" descr="/private/tmp/claude-503/-Users-davark-Downloads-Everything-Github-Alodi-Regional-Codex-Hackathon-2026/91e569a8-486f-4c0b-b683-a4991468f039/scratchpad/deck/assets/openai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242816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157216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5157216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API · masked</a:t>
            </a:r>
            <a:endParaRPr lang="en-US" sz="1000" dirty="0"/>
          </a:p>
        </p:txBody>
      </p:sp>
      <p:sp>
        <p:nvSpPr>
          <p:cNvPr id="31" name="Link 6"/>
          <p:cNvSpPr/>
          <p:nvPr/>
        </p:nvSpPr>
        <p:spPr>
          <a:xfrm flipH="1">
            <a:off x="7420813" y="3785616"/>
            <a:ext cx="2454707" cy="283464"/>
          </a:xfrm>
          <a:prstGeom prst="line">
            <a:avLst/>
          </a:prstGeom>
          <a:noFill/>
          <a:ln w="12700">
            <a:solidFill>
              <a:srgbClr val="D4D4D4"/>
            </a:solidFill>
            <a:prstDash val="solid"/>
          </a:ln>
        </p:spPr>
      </p:sp>
      <p:sp>
        <p:nvSpPr>
          <p:cNvPr id="32" name="Worker 6"/>
          <p:cNvSpPr/>
          <p:nvPr/>
        </p:nvSpPr>
        <p:spPr>
          <a:xfrm>
            <a:off x="8458200" y="4069080"/>
            <a:ext cx="283464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33" name="OpenAI 6" descr="/private/tmp/claude-503/-Users-davark-Downloads-Everything-Github-Alodi-Regional-Codex-Hackathon-2026/91e569a8-486f-4c0b-b683-a4991468f039/scratchpad/deck/assets/openai-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242816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933688" y="4142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8933688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SDK guardrails</a:t>
            </a:r>
            <a:endParaRPr lang="en-US" sz="1000" dirty="0"/>
          </a:p>
        </p:txBody>
      </p:sp>
      <p:sp>
        <p:nvSpPr>
          <p:cNvPr id="36" name="Agent hub"/>
          <p:cNvSpPr/>
          <p:nvPr/>
        </p:nvSpPr>
        <p:spPr>
          <a:xfrm>
            <a:off x="4544568" y="3035808"/>
            <a:ext cx="3108960" cy="74980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/>
        </p:spPr>
      </p:sp>
      <p:pic>
        <p:nvPicPr>
          <p:cNvPr id="37" name="OpenAI hub" descr="/private/tmp/claude-503/-Users-davark-Downloads-Everything-Github-Alodi-Regional-Codex-Hackathon-2026/91e569a8-486f-4c0b-b683-a4991468f039/scratchpad/deck/assets/openai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218688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5367528" y="3145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Alodi Agent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5367528" y="3447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SDK · gpt-oss-20b</a:t>
            </a:r>
            <a:endParaRPr lang="en-US" sz="1100" dirty="0"/>
          </a:p>
        </p:txBody>
      </p:sp>
      <p:sp>
        <p:nvSpPr>
          <p:cNvPr id="40" name="Divider"/>
          <p:cNvSpPr/>
          <p:nvPr/>
        </p:nvSpPr>
        <p:spPr>
          <a:xfrm>
            <a:off x="822960" y="4846320"/>
            <a:ext cx="10543032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822960" y="4956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 · CODEX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82296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Specify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822960" y="5550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→ scripts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2953512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Build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2953512" y="5550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CLI · AGENTS.md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5084064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Parallelise</a:t>
            </a:r>
            <a:endParaRPr lang="en-US" sz="1400" dirty="0"/>
          </a:p>
        </p:txBody>
      </p:sp>
      <p:sp>
        <p:nvSpPr>
          <p:cNvPr id="47" name="Text 38"/>
          <p:cNvSpPr txBox="1"/>
          <p:nvPr/>
        </p:nvSpPr>
        <p:spPr>
          <a:xfrm>
            <a:off x="5084064" y="5550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cloud tasks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7214616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Review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7214616" y="5550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in GitHub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9345168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Evaluate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9345168" y="5550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 per round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548640" y="605332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§16.7 OpenAI platform, §18.8 local-first deployment. Production design; the demo runs the OpenAI API behind the same interfaces.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04 · WHAT COMES NEXT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74980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8A91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stage demo </a:t>
            </a:r>
            <a:pPr indent="0" marL="0">
              <a:buNone/>
            </a:pPr>
            <a:r>
              <a:rPr lang="en-US" sz="3000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national rollout.</a:t>
            </a:r>
            <a:endParaRPr lang="en-US" sz="3000" dirty="0"/>
          </a:p>
        </p:txBody>
      </p:sp>
      <p:pic>
        <p:nvPicPr>
          <p:cNvPr id="4" name="Roadmap photo" descr="A hand holding a smart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352" y="502920"/>
            <a:ext cx="3108960" cy="1417320"/>
          </a:xfrm>
          <a:prstGeom prst="rect">
            <a:avLst/>
          </a:prstGeom>
        </p:spPr>
      </p:pic>
      <p:sp>
        <p:nvSpPr>
          <p:cNvPr id="5" name="Roadmap line"/>
          <p:cNvSpPr/>
          <p:nvPr/>
        </p:nvSpPr>
        <p:spPr>
          <a:xfrm>
            <a:off x="640080" y="2395728"/>
            <a:ext cx="10972800" cy="0"/>
          </a:xfrm>
          <a:prstGeom prst="line">
            <a:avLst/>
          </a:prstGeom>
          <a:noFill/>
          <a:ln w="12700">
            <a:solidFill>
              <a:srgbClr val="CECAC8"/>
            </a:solidFill>
            <a:prstDash val="solid"/>
          </a:ln>
        </p:spPr>
      </p:sp>
      <p:sp>
        <p:nvSpPr>
          <p:cNvPr id="6" name="Phase dot 1"/>
          <p:cNvSpPr/>
          <p:nvPr/>
        </p:nvSpPr>
        <p:spPr>
          <a:xfrm>
            <a:off x="566928" y="2304288"/>
            <a:ext cx="182880" cy="182880"/>
          </a:xfrm>
          <a:prstGeom prst="ellipse">
            <a:avLst/>
          </a:prstGeom>
          <a:solidFill>
            <a:srgbClr val="F05A00"/>
          </a:solidFill>
          <a:ln/>
        </p:spPr>
      </p:sp>
      <p:sp>
        <p:nvSpPr>
          <p:cNvPr id="7" name="Phase 1"/>
          <p:cNvSpPr/>
          <p:nvPr/>
        </p:nvSpPr>
        <p:spPr>
          <a:xfrm>
            <a:off x="548640" y="2697480"/>
            <a:ext cx="1737360" cy="251460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OCT 2026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demo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384048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screens, mock data, AC-01 to AC-15 pass in rehearsal</a:t>
            </a:r>
            <a:endParaRPr lang="en-US" sz="1200" dirty="0"/>
          </a:p>
        </p:txBody>
      </p:sp>
      <p:sp>
        <p:nvSpPr>
          <p:cNvPr id="11" name="Phase dot 2"/>
          <p:cNvSpPr/>
          <p:nvPr/>
        </p:nvSpPr>
        <p:spPr>
          <a:xfrm>
            <a:off x="2423160" y="2304288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2" name="Phase 2"/>
          <p:cNvSpPr/>
          <p:nvPr/>
        </p:nvSpPr>
        <p:spPr>
          <a:xfrm>
            <a:off x="2404872" y="2697480"/>
            <a:ext cx="1737360" cy="2514600"/>
          </a:xfrm>
          <a:prstGeom prst="roundRect">
            <a:avLst>
              <a:gd name="adj" fmla="val 8421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69464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569464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build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569464" y="384048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engine, real call audio, ≥ 200 eval samples</a:t>
            </a:r>
            <a:endParaRPr lang="en-US" sz="1200" dirty="0"/>
          </a:p>
        </p:txBody>
      </p:sp>
      <p:sp>
        <p:nvSpPr>
          <p:cNvPr id="16" name="Phase dot 3"/>
          <p:cNvSpPr/>
          <p:nvPr/>
        </p:nvSpPr>
        <p:spPr>
          <a:xfrm>
            <a:off x="4279392" y="2304288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7" name="Phase 3"/>
          <p:cNvSpPr/>
          <p:nvPr/>
        </p:nvSpPr>
        <p:spPr>
          <a:xfrm>
            <a:off x="4261104" y="2697480"/>
            <a:ext cx="1737360" cy="2514600"/>
          </a:xfrm>
          <a:prstGeom prst="roundRect">
            <a:avLst>
              <a:gd name="adj" fmla="val 8421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25696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425696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 mode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425696" y="384048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area, real events, no buyer contact; thresholds tuned</a:t>
            </a:r>
            <a:endParaRPr lang="en-US" sz="1200" dirty="0"/>
          </a:p>
        </p:txBody>
      </p:sp>
      <p:sp>
        <p:nvSpPr>
          <p:cNvPr id="21" name="Phase dot 4"/>
          <p:cNvSpPr/>
          <p:nvPr/>
        </p:nvSpPr>
        <p:spPr>
          <a:xfrm>
            <a:off x="6135624" y="2304288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2" name="Phase 4"/>
          <p:cNvSpPr/>
          <p:nvPr/>
        </p:nvSpPr>
        <p:spPr>
          <a:xfrm>
            <a:off x="6117336" y="2697480"/>
            <a:ext cx="1737360" cy="2514600"/>
          </a:xfrm>
          <a:prstGeom prst="roundRect">
            <a:avLst>
              <a:gd name="adj" fmla="val 8421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81928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281928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channels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281928" y="384048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chat and calls for risky orders; rescue rate measured</a:t>
            </a:r>
            <a:endParaRPr lang="en-US" sz="1200" dirty="0"/>
          </a:p>
        </p:txBody>
      </p:sp>
      <p:sp>
        <p:nvSpPr>
          <p:cNvPr id="26" name="Phase dot 5"/>
          <p:cNvSpPr/>
          <p:nvPr/>
        </p:nvSpPr>
        <p:spPr>
          <a:xfrm>
            <a:off x="7991856" y="2304288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7" name="Phase 5"/>
          <p:cNvSpPr/>
          <p:nvPr/>
        </p:nvSpPr>
        <p:spPr>
          <a:xfrm>
            <a:off x="7973568" y="2697480"/>
            <a:ext cx="1737360" cy="2514600"/>
          </a:xfrm>
          <a:prstGeom prst="roundRect">
            <a:avLst>
              <a:gd name="adj" fmla="val 8421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38160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138160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384048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hubs; Vietnamese ASR and TTS self-hosted</a:t>
            </a:r>
            <a:endParaRPr lang="en-US" sz="1200" dirty="0"/>
          </a:p>
        </p:txBody>
      </p:sp>
      <p:sp>
        <p:nvSpPr>
          <p:cNvPr id="31" name="Phase dot 6"/>
          <p:cNvSpPr/>
          <p:nvPr/>
        </p:nvSpPr>
        <p:spPr>
          <a:xfrm>
            <a:off x="9848088" y="2304288"/>
            <a:ext cx="182880" cy="18288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32" name="Phase 6"/>
          <p:cNvSpPr/>
          <p:nvPr/>
        </p:nvSpPr>
        <p:spPr>
          <a:xfrm>
            <a:off x="9829800" y="2697480"/>
            <a:ext cx="1737360" cy="2514600"/>
          </a:xfrm>
          <a:prstGeom prst="roundRect">
            <a:avLst>
              <a:gd name="adj" fmla="val 8421"/>
            </a:avLst>
          </a:prstGeom>
          <a:solidFill>
            <a:srgbClr val="FBF9F7"/>
          </a:solidFill>
          <a:ln w="9525">
            <a:solidFill>
              <a:srgbClr val="CECAC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994392" y="2852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9994392" y="31546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9994392" y="3840480"/>
            <a:ext cx="1444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20–100 hubs, GPU pool, break-even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05332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PRD §28 release plan. Photo: Samson Vowles, CC0.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private/tmp/claude-503/-Users-davark-Downloads-Everything-Github-Alodi-Regional-Codex-Hackathon-2026/91e569a8-486f-4c0b-b683-a4991468f039/scratchpad/deck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"/>
            <a:ext cx="105156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2588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second</a:t>
            </a:r>
            <a:endParaRPr lang="en-US" sz="4800" dirty="0"/>
          </a:p>
          <a:p>
            <a:pPr indent="0" marL="0">
              <a:buNone/>
            </a:pPr>
            <a:r>
              <a:rPr lang="en-US" sz="4800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land.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9260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Couriers stop repeating failed attempts. Buyers get asked, not chased. Every high-stakes decision stays with a person.</a:t>
            </a:r>
            <a:endParaRPr lang="en-US" sz="1500" dirty="0"/>
          </a:p>
        </p:txBody>
      </p:sp>
      <p:pic>
        <p:nvPicPr>
          <p:cNvPr id="5" name="Team 1" descr="Nomura Yosh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6908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Nomura Yoshio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577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· Presenter</a:t>
            </a:r>
            <a:endParaRPr lang="en-US" sz="1000" dirty="0"/>
          </a:p>
        </p:txBody>
      </p:sp>
      <p:pic>
        <p:nvPicPr>
          <p:cNvPr id="8" name="Team 2" descr="Long Quan T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069080"/>
            <a:ext cx="1143000" cy="11430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48840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Quan Ton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2148840" y="5577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Architect</a:t>
            </a:r>
            <a:endParaRPr lang="en-US" sz="1000" dirty="0"/>
          </a:p>
        </p:txBody>
      </p:sp>
      <p:pic>
        <p:nvPicPr>
          <p:cNvPr id="11" name="Team 3" descr="Khanh Tuong Huyn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069080"/>
            <a:ext cx="1143000" cy="11430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749040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Khanh Tuong Huynh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3749040" y="5577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Deployment</a:t>
            </a:r>
            <a:endParaRPr lang="en-US" sz="1000" dirty="0"/>
          </a:p>
        </p:txBody>
      </p:sp>
      <p:pic>
        <p:nvPicPr>
          <p:cNvPr id="14" name="Team 4" descr="Thanh Loi Tr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4069080"/>
            <a:ext cx="1143000" cy="11430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349240" y="5303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Loi Tran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5349240" y="5577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· Backend</a:t>
            </a:r>
            <a:endParaRPr lang="en-US" sz="1000" dirty="0"/>
          </a:p>
        </p:txBody>
      </p:sp>
      <p:sp>
        <p:nvSpPr>
          <p:cNvPr id="17" name="QR card"/>
          <p:cNvSpPr/>
          <p:nvPr/>
        </p:nvSpPr>
        <p:spPr>
          <a:xfrm>
            <a:off x="8257032" y="1325880"/>
            <a:ext cx="3383280" cy="42062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8" name="QR placeholder"/>
          <p:cNvSpPr/>
          <p:nvPr/>
        </p:nvSpPr>
        <p:spPr>
          <a:xfrm>
            <a:off x="8851392" y="1691640"/>
            <a:ext cx="2194560" cy="2194560"/>
          </a:xfrm>
          <a:prstGeom prst="roundRect">
            <a:avLst>
              <a:gd name="adj" fmla="val 4167"/>
            </a:avLst>
          </a:prstGeom>
          <a:solidFill>
            <a:srgbClr val="F6F3F1"/>
          </a:solidFill>
          <a:ln w="12700">
            <a:solidFill>
              <a:srgbClr val="CECAC8"/>
            </a:solidFill>
            <a:prstDash val="dash"/>
          </a:ln>
        </p:spPr>
      </p:sp>
      <p:sp>
        <p:nvSpPr>
          <p:cNvPr id="19" name="Text 12"/>
          <p:cNvSpPr txBox="1"/>
          <p:nvPr/>
        </p:nvSpPr>
        <p:spPr>
          <a:xfrm>
            <a:off x="8851392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live demo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8531352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8531352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the four-screen demo and the ops dashboard.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Develarper · Sea × OpenAI Regional Codex Hackathon · 31 Oct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odi">
  <a:themeElements>
    <a:clrScheme name="Alodi">
      <a:dk1>
        <a:srgbClr val="1F2A44"/>
      </a:dk1>
      <a:lt1>
        <a:srgbClr val="FFFFFF"/>
      </a:lt1>
      <a:dk2>
        <a:srgbClr val="121A2C"/>
      </a:dk2>
      <a:lt2>
        <a:srgbClr val="F6F3F1"/>
      </a:lt2>
      <a:accent1>
        <a:srgbClr val="F05A00"/>
      </a:accent1>
      <a:accent2>
        <a:srgbClr val="C94B00"/>
      </a:accent2>
      <a:accent3>
        <a:srgbClr val="6B7183"/>
      </a:accent3>
      <a:accent4>
        <a:srgbClr val="CECAC8"/>
      </a:accent4>
      <a:accent5>
        <a:srgbClr val="3F5FAE"/>
      </a:accent5>
      <a:accent6>
        <a:srgbClr val="0E8A6C"/>
      </a:accent6>
      <a:hlink>
        <a:srgbClr val="F05A00"/>
      </a:hlink>
      <a:folHlink>
        <a:srgbClr val="C94B00"/>
      </a:folHlink>
    </a:clrScheme>
    <a:fontScheme name="Alod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Develarper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Alodi · Make the second drop land</dc:title>
  <dc:subject>PptxGenJS Presentation</dc:subject>
  <dc:creator>Team Develarper</dc:creator>
  <cp:lastModifiedBy>Team Develarper</cp:lastModifiedBy>
  <cp:revision>1</cp:revision>
  <dcterms:created xsi:type="dcterms:W3CDTF">2026-10-31T05:02:55Z</dcterms:created>
  <dcterms:modified xsi:type="dcterms:W3CDTF">2026-10-31T05:02:55Z</dcterms:modified>
</cp:coreProperties>
</file>